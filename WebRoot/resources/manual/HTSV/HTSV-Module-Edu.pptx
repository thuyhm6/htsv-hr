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notesMasterIdLst>
    <p:notesMasterId r:id="rId25"/>
  </p:notesMasterIdLst>
  <p:handoutMasterIdLst>
    <p:handoutMasterId r:id="rId26"/>
  </p:handoutMasterIdLst>
  <p:sldIdLst>
    <p:sldId id="702" r:id="rId2"/>
    <p:sldId id="703" r:id="rId3"/>
    <p:sldId id="588" r:id="rId4"/>
    <p:sldId id="648" r:id="rId5"/>
    <p:sldId id="630" r:id="rId6"/>
    <p:sldId id="589" r:id="rId7"/>
    <p:sldId id="699" r:id="rId8"/>
    <p:sldId id="667" r:id="rId9"/>
    <p:sldId id="668" r:id="rId10"/>
    <p:sldId id="669" r:id="rId11"/>
    <p:sldId id="670" r:id="rId12"/>
    <p:sldId id="671" r:id="rId13"/>
    <p:sldId id="672" r:id="rId14"/>
    <p:sldId id="673" r:id="rId15"/>
    <p:sldId id="700" r:id="rId16"/>
    <p:sldId id="674" r:id="rId17"/>
    <p:sldId id="675" r:id="rId18"/>
    <p:sldId id="676" r:id="rId19"/>
    <p:sldId id="677" r:id="rId20"/>
    <p:sldId id="678" r:id="rId21"/>
    <p:sldId id="679" r:id="rId22"/>
    <p:sldId id="680" r:id="rId23"/>
    <p:sldId id="681" r:id="rId24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8">
          <p15:clr>
            <a:srgbClr val="A4A3A4"/>
          </p15:clr>
        </p15:guide>
        <p15:guide id="2" pos="215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3366FF"/>
    <a:srgbClr val="FF6600"/>
    <a:srgbClr val="FF9933"/>
    <a:srgbClr val="000099"/>
    <a:srgbClr val="33CCCC"/>
    <a:srgbClr val="3399FF"/>
    <a:srgbClr val="9999FF"/>
    <a:srgbClr val="99CC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4" autoAdjust="0"/>
    <p:restoredTop sz="86477" autoAdjust="0"/>
  </p:normalViewPr>
  <p:slideViewPr>
    <p:cSldViewPr>
      <p:cViewPr varScale="1">
        <p:scale>
          <a:sx n="80" d="100"/>
          <a:sy n="80" d="100"/>
        </p:scale>
        <p:origin x="1278" y="78"/>
      </p:cViewPr>
      <p:guideLst>
        <p:guide orient="horz" pos="1888"/>
        <p:guide pos="2154"/>
      </p:guideLst>
    </p:cSldViewPr>
  </p:slideViewPr>
  <p:outlineViewPr>
    <p:cViewPr>
      <p:scale>
        <a:sx n="33" d="100"/>
        <a:sy n="33" d="100"/>
      </p:scale>
      <p:origin x="0" y="18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192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/>
            </a:lvl1pPr>
          </a:lstStyle>
          <a:p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F809E35-B4AC-482C-BF96-601431D08808}" type="datetimeFigureOut">
              <a:rPr lang="zh-CN" altLang="en-US">
                <a:ea typeface="微软雅黑" pitchFamily="34" charset="-122"/>
              </a:rPr>
              <a:pPr/>
              <a:t>2018/1/26</a:t>
            </a:fld>
            <a:endParaRPr lang="en-US" altLang="zh-CN" dirty="0">
              <a:ea typeface="微软雅黑" pitchFamily="34" charset="-122"/>
            </a:endParaRPr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/>
            </a:lvl1pPr>
          </a:lstStyle>
          <a:p>
            <a:endParaRPr lang="en-US" altLang="zh-CN" dirty="0">
              <a:ea typeface="微软雅黑" pitchFamily="34" charset="-122"/>
            </a:endParaRPr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C84FA5D-D624-4E8D-8EB8-90950245F5C5}" type="slidenum">
              <a:rPr lang="zh-CN" altLang="en-US">
                <a:ea typeface="微软雅黑" pitchFamily="34" charset="-122"/>
              </a:rPr>
              <a:pPr/>
              <a:t>‹#›</a:t>
            </a:fld>
            <a:endParaRPr lang="en-US" altLang="zh-CN" dirty="0"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987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9019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91288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3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19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0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0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6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9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73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graphicFrame>
        <p:nvGraphicFramePr>
          <p:cNvPr id="3" name="Group 16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66814301"/>
              </p:ext>
            </p:extLst>
          </p:nvPr>
        </p:nvGraphicFramePr>
        <p:xfrm>
          <a:off x="35496" y="116632"/>
          <a:ext cx="9015536" cy="274638"/>
        </p:xfrm>
        <a:graphic>
          <a:graphicData uri="http://schemas.openxmlformats.org/drawingml/2006/table">
            <a:tbl>
              <a:tblPr/>
              <a:tblGrid>
                <a:gridCol w="13785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6318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4311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080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822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4450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6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26.1.2018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822" r:id="rId6"/>
    <p:sldLayoutId id="2147483795" r:id="rId7"/>
    <p:sldLayoutId id="2147483796" r:id="rId8"/>
    <p:sldLayoutId id="2147483823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446" y="2443826"/>
            <a:ext cx="738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HƯỚNG DẪN SỬ DỤNG</a:t>
            </a:r>
            <a:endParaRPr lang="zh-CN" altLang="en-US" sz="3200" dirty="0">
              <a:latin typeface="Times New Roman" pitchFamily="18" charset="0"/>
              <a:ea typeface="Arial Unicode MS" pitchFamily="34" charset="-122"/>
              <a:cs typeface="Times New Roman" pitchFamily="18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951323" y="3140968"/>
            <a:ext cx="4864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83568" y="3501008"/>
            <a:ext cx="739961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 Module Đào tạo -</a:t>
            </a:r>
          </a:p>
        </p:txBody>
      </p:sp>
    </p:spTree>
    <p:extLst>
      <p:ext uri="{BB962C8B-B14F-4D97-AF65-F5344CB8AC3E}">
        <p14:creationId xmlns:p14="http://schemas.microsoft.com/office/powerpoint/2010/main" val="101025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竖排文字占位符 1"/>
          <p:cNvSpPr txBox="1">
            <a:spLocks noChangeArrowheads="1"/>
          </p:cNvSpPr>
          <p:nvPr/>
        </p:nvSpPr>
        <p:spPr bwMode="auto">
          <a:xfrm>
            <a:off x="1403648" y="116632"/>
            <a:ext cx="4852231" cy="26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en-US" altLang="zh-CN" sz="120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Hệ thống nhân sự</a:t>
            </a:r>
            <a:r>
              <a:rPr lang="zh-CN" altLang="en-US" sz="1200" b="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b="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&gt; </a:t>
            </a:r>
            <a:r>
              <a:rPr lang="en-US" altLang="zh-CN" sz="120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Đăng nhập</a:t>
            </a:r>
            <a:endParaRPr lang="zh-CN" altLang="en-US" sz="1200" kern="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52113" y="548680"/>
            <a:ext cx="4586356" cy="433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477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Địa chỉ đăng nhập</a:t>
            </a:r>
            <a:r>
              <a:rPr lang="en-US" altLang="zh-CN" sz="1477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en-US" altLang="zh-CN" sz="1477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http://10.42.200.56:9100</a:t>
            </a:r>
            <a:endParaRPr lang="zh-CN" altLang="en-US" sz="1477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2644401" y="4962087"/>
            <a:ext cx="4586356" cy="9871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USER ID</a:t>
            </a:r>
            <a:r>
              <a:rPr lang="zh-CN" altLang="en-US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Mã nhân viên</a:t>
            </a:r>
            <a:r>
              <a:rPr lang="zh-CN" altLang="en-US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</a:t>
            </a:r>
            <a:endParaRPr lang="en-US" altLang="zh-CN" sz="1292" dirty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PASSWORD</a:t>
            </a: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</a:t>
            </a:r>
            <a:endParaRPr lang="en-US" altLang="zh-CN" sz="1292" dirty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Hệ thống</a:t>
            </a:r>
            <a:r>
              <a:rPr lang="zh-CN" altLang="en-US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Hub</a:t>
            </a:r>
            <a:endParaRPr lang="zh-CN" altLang="en-US" sz="1292" dirty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85811"/>
            <a:ext cx="7559490" cy="40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8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732240" y="1084250"/>
            <a:ext cx="207170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</a:t>
            </a:r>
            <a:r>
              <a:rPr lang="en-US" altLang="zh-CN" sz="1200" dirty="0">
                <a:latin typeface="+mj-lt"/>
                <a:ea typeface="微软雅黑" pitchFamily="34" charset="-122"/>
              </a:rPr>
              <a:t>hực hiện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 thiết lập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loại hình đào tạo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Thêm mới/Sửa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Click “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hêm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mới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” hiển thị cửa sổ,  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thêm các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thông tin thích hợp của loại hình đào tạo, sau đó chọn 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“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L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ưu” để hoàn thành thao tác. </a:t>
            </a:r>
            <a:endParaRPr lang="en-US" altLang="zh-CN" sz="1200" dirty="0">
              <a:solidFill>
                <a:srgbClr val="000000"/>
              </a:solidFill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Chọn mục cần sửa,  click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 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“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S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ửa"  hiển thị cửa sổ,  tiến hành sửa sau đó 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chọn 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“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L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</a:rPr>
              <a:t>ưu" hoàn thành thao tác.</a:t>
            </a:r>
          </a:p>
          <a:p>
            <a:pPr algn="l">
              <a:spcBef>
                <a:spcPct val="50000"/>
              </a:spcBef>
            </a:pPr>
            <a:r>
              <a:rPr lang="vi-V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 chú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Mã loại hình đào tạo trong toàn module đào tạo là duy nhất,  không thể trùng lặp,  không thể sửa!</a:t>
            </a:r>
            <a:endParaRPr lang="en-US" altLang="zh-CN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 loại hình đào tạo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hợp mã đào tạo, ví dụ: 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SVP000001, </a:t>
            </a: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(dùng chữ số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1-9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+mj-lt"/>
              <a:ea typeface="微软雅黑" pitchFamily="34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657659"/>
              </p:ext>
            </p:extLst>
          </p:nvPr>
        </p:nvGraphicFramePr>
        <p:xfrm>
          <a:off x="0" y="1104433"/>
          <a:ext cx="6608092" cy="177047"/>
        </p:xfrm>
        <a:graphic>
          <a:graphicData uri="http://schemas.openxmlformats.org/drawingml/2006/table">
            <a:tbl>
              <a:tblPr/>
              <a:tblGrid>
                <a:gridCol w="66080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7613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 </a:t>
                      </a:r>
                      <a:r>
                        <a:rPr lang="vi-VN" altLang="zh-CN" sz="1100" b="1" i="0" u="none" strike="noStrike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Thiết </a:t>
                      </a:r>
                      <a:r>
                        <a:rPr lang="vi-VN" altLang="zh-CN" sz="1100" b="1" i="0" u="none" strike="noStrike">
                          <a:solidFill>
                            <a:srgbClr val="FFFFFF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lập chương trình đào tạo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9407" marR="9407" marT="940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406" y="3789040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+mj-lt"/>
                <a:ea typeface="微软雅黑" pitchFamily="34" charset="-122"/>
              </a:rPr>
              <a:t>Trang thêm </a:t>
            </a:r>
            <a:r>
              <a:rPr lang="vi-VN" altLang="zh-CN" sz="1200" b="1">
                <a:latin typeface="+mj-lt"/>
                <a:ea typeface="微软雅黑" pitchFamily="34" charset="-122"/>
              </a:rPr>
              <a:t>và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43006"/>
              </p:ext>
            </p:extLst>
          </p:nvPr>
        </p:nvGraphicFramePr>
        <p:xfrm>
          <a:off x="0" y="4103306"/>
          <a:ext cx="6643702" cy="177047"/>
        </p:xfrm>
        <a:graphic>
          <a:graphicData uri="http://schemas.openxmlformats.org/drawingml/2006/table">
            <a:tbl>
              <a:tblPr/>
              <a:tblGrid>
                <a:gridCol w="66437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7497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r>
                        <a:rPr lang="vi-VN" altLang="zh-CN" sz="11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微软雅黑" pitchFamily="34" charset="-122"/>
                        </a:rPr>
                        <a:t>Thiết </a:t>
                      </a:r>
                      <a:r>
                        <a:rPr lang="vi-VN" altLang="zh-CN" sz="1100" b="1" i="0" u="none" strike="noStrike">
                          <a:solidFill>
                            <a:srgbClr val="FFFFFF"/>
                          </a:solidFill>
                          <a:latin typeface="+mj-lt"/>
                          <a:ea typeface="微软雅黑" pitchFamily="34" charset="-122"/>
                        </a:rPr>
                        <a:t>lập chương tình đào tạo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+mj-lt"/>
                        <a:ea typeface="微软雅黑" pitchFamily="34" charset="-122"/>
                      </a:endParaRPr>
                    </a:p>
                  </a:txBody>
                  <a:tcPr marL="9407" marR="9407" marT="940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141846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200" dirty="0">
                <a:latin typeface="+mj-lt"/>
                <a:ea typeface="微软雅黑" pitchFamily="34" charset="-122"/>
              </a:rPr>
              <a:t>Thiết </a:t>
            </a:r>
            <a:r>
              <a:rPr lang="vi-VN" altLang="zh-CN" sz="1200">
                <a:latin typeface="+mj-lt"/>
                <a:ea typeface="微软雅黑" pitchFamily="34" charset="-122"/>
              </a:rPr>
              <a:t>lập đào tạo </a:t>
            </a:r>
            <a:r>
              <a:rPr lang="vi-VN" altLang="zh-CN" sz="1200">
                <a:latin typeface="+mj-lt"/>
                <a:ea typeface="微软雅黑" pitchFamily="34" charset="-122"/>
                <a:sym typeface="Wingdings" panose="05000000000000000000" pitchFamily="2" charset="2"/>
              </a:rPr>
              <a:t> Hệ thống đào tạo</a:t>
            </a:r>
            <a:endParaRPr lang="zh-CN" altLang="en-US" sz="1200" dirty="0">
              <a:latin typeface="+mj-lt"/>
              <a:ea typeface="微软雅黑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4B5D060-4657-4204-BD95-FD6A424CF3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0"/>
          <a:stretch/>
        </p:blipFill>
        <p:spPr>
          <a:xfrm>
            <a:off x="0" y="1281479"/>
            <a:ext cx="5940152" cy="25936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0965B4D-42B1-4866-8703-28722EE4C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0" y="4328938"/>
            <a:ext cx="6094146" cy="20537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0F46458-EC90-40E1-949D-C58CD3418AF5}"/>
              </a:ext>
            </a:extLst>
          </p:cNvPr>
          <p:cNvSpPr/>
          <p:nvPr/>
        </p:nvSpPr>
        <p:spPr>
          <a:xfrm>
            <a:off x="1259632" y="4725144"/>
            <a:ext cx="3672408" cy="1224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9922C52-D263-45D9-B03E-EFBFE8909AF3}"/>
              </a:ext>
            </a:extLst>
          </p:cNvPr>
          <p:cNvSpPr/>
          <p:nvPr/>
        </p:nvSpPr>
        <p:spPr>
          <a:xfrm>
            <a:off x="4399396" y="5617336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9362417-2691-4EE7-BB8B-3A201E87C3B5}"/>
              </a:ext>
            </a:extLst>
          </p:cNvPr>
          <p:cNvSpPr/>
          <p:nvPr/>
        </p:nvSpPr>
        <p:spPr>
          <a:xfrm>
            <a:off x="4903452" y="1605677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475656" y="116632"/>
            <a:ext cx="3096344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200">
                <a:latin typeface="+mj-lt"/>
                <a:ea typeface="微软雅黑" pitchFamily="34" charset="-122"/>
              </a:rPr>
              <a:t>Thiết lập đào tạo </a:t>
            </a:r>
            <a:r>
              <a:rPr lang="vi-VN" altLang="zh-CN" sz="1200">
                <a:latin typeface="+mj-lt"/>
                <a:ea typeface="微软雅黑" pitchFamily="34" charset="-122"/>
                <a:sym typeface="Wingdings" panose="05000000000000000000" pitchFamily="2" charset="2"/>
              </a:rPr>
              <a:t> Hệ thống đào tạo</a:t>
            </a:r>
            <a:endParaRPr lang="zh-CN" altLang="en-US" sz="1200" dirty="0">
              <a:latin typeface="+mj-lt"/>
              <a:ea typeface="微软雅黑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260722"/>
              </p:ext>
            </p:extLst>
          </p:nvPr>
        </p:nvGraphicFramePr>
        <p:xfrm>
          <a:off x="179512" y="1524102"/>
          <a:ext cx="8424936" cy="34890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74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864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610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23729"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altLang="zh-CN" sz="1400" b="1" u="none" strike="noStrike" dirty="0">
                          <a:effectLst/>
                          <a:latin typeface="+mj-lt"/>
                          <a:ea typeface="+mn-ea"/>
                        </a:rPr>
                        <a:t>Thứ tự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Mã chương trình đào tạo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altLang="zh-CN" sz="1400" b="1" u="none" strike="noStrike">
                          <a:effectLst/>
                          <a:latin typeface="+mj-lt"/>
                          <a:ea typeface="+mn-ea"/>
                        </a:rPr>
                        <a:t>Loại hình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  <a:latin typeface="+mj-lt"/>
                          <a:ea typeface="+mn-ea"/>
                        </a:rPr>
                        <a:t>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SVP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Đào tạo nhập môn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  <a:latin typeface="+mj-lt"/>
                          <a:ea typeface="+mn-ea"/>
                        </a:rPr>
                        <a:t>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Đào tạo thăng chức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  <a:latin typeface="+mj-lt"/>
                          <a:ea typeface="+mn-ea"/>
                        </a:rPr>
                        <a:t>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SLP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b="0">
                          <a:effectLst/>
                          <a:latin typeface="Helvetica" panose="020B0604020202020204" pitchFamily="34" charset="0"/>
                        </a:rPr>
                        <a:t>Khả năng lãnh đạo</a:t>
                      </a:r>
                    </a:p>
                  </a:txBody>
                  <a:tcPr marL="28575" marR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  <a:latin typeface="+mj-lt"/>
                          <a:ea typeface="+mn-ea"/>
                        </a:rPr>
                        <a:t>4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b="0">
                          <a:effectLst/>
                          <a:latin typeface="Helvetica" panose="020B0604020202020204" pitchFamily="34" charset="0"/>
                        </a:rPr>
                        <a:t>Khác</a:t>
                      </a:r>
                    </a:p>
                  </a:txBody>
                  <a:tcPr marL="28575" marR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  <a:latin typeface="+mj-lt"/>
                          <a:ea typeface="+mn-ea"/>
                        </a:rPr>
                        <a:t>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vi-VN" b="0">
                          <a:effectLst/>
                          <a:latin typeface="Helvetica" panose="020B0604020202020204" pitchFamily="34" charset="0"/>
                        </a:rPr>
                        <a:t>SEP</a:t>
                      </a:r>
                    </a:p>
                  </a:txBody>
                  <a:tcPr marL="28575" marR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Phát triển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u="none" strike="noStrike">
                          <a:effectLst/>
                          <a:latin typeface="+mj-lt"/>
                          <a:ea typeface="+mn-ea"/>
                        </a:rPr>
                        <a:t>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Khác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SGP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Đào tạo ngôn ngữ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54916293"/>
                  </a:ext>
                </a:extLst>
              </a:tr>
              <a:tr h="395668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Khác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070327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Quản lý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Thiết lập nội dung tên chương trình đào tạo.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thêm mới, sửa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các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“Thêm mới”, thêm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tạo, sau đó “Lưu”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1 dữ liệu-&gt; “Sửa”, thay đổi thông tin cân thiết sau đó “Lưu”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6164264-4089-4F0B-896F-BE6BA9F7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2" y="836712"/>
            <a:ext cx="6714194" cy="2880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57114" y="3656057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+mj-lt"/>
                <a:ea typeface="微软雅黑" pitchFamily="34" charset="-122"/>
              </a:rPr>
              <a:t>Trang thêm </a:t>
            </a:r>
            <a:r>
              <a:rPr lang="vi-VN" altLang="zh-CN" sz="1200" b="1">
                <a:latin typeface="+mj-lt"/>
                <a:ea typeface="微软雅黑" pitchFamily="34" charset="-122"/>
              </a:rPr>
              <a:t>và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B789D49-82AC-49E3-985F-301C9897E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9729"/>
            <a:ext cx="6786578" cy="21363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4521332-1FF3-40F2-817F-990DAAA18E1D}"/>
              </a:ext>
            </a:extLst>
          </p:cNvPr>
          <p:cNvSpPr/>
          <p:nvPr/>
        </p:nvSpPr>
        <p:spPr>
          <a:xfrm>
            <a:off x="1378716" y="4530969"/>
            <a:ext cx="4057379" cy="1224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106F114-D7DE-4D5D-A685-D45C598B9A9F}"/>
              </a:ext>
            </a:extLst>
          </p:cNvPr>
          <p:cNvSpPr/>
          <p:nvPr/>
        </p:nvSpPr>
        <p:spPr>
          <a:xfrm>
            <a:off x="4860032" y="5445224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C30B271-85B5-4C42-A870-59DAE63E2009}"/>
              </a:ext>
            </a:extLst>
          </p:cNvPr>
          <p:cNvSpPr/>
          <p:nvPr/>
        </p:nvSpPr>
        <p:spPr>
          <a:xfrm>
            <a:off x="5652120" y="1216491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03819" y="980728"/>
            <a:ext cx="207170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+mj-lt"/>
                <a:ea typeface="微软雅黑" pitchFamily="34" charset="-122"/>
              </a:rPr>
              <a:t>Thực hiện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 kế hoạch làm việc cho công ty.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Có thể tiến hành thiết lập thay đổi ca làm,  ngày nghỉ,  ngày làm việc. Chức năng</a:t>
            </a:r>
            <a:r>
              <a:rPr lang="en-US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:Tra cứu/T</a:t>
            </a:r>
            <a:r>
              <a:rPr lang="vi-VN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hêm</a:t>
            </a:r>
            <a:r>
              <a:rPr lang="en-US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mới</a:t>
            </a:r>
            <a:r>
              <a:rPr lang="vi-VN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</a:t>
            </a:r>
            <a:r>
              <a:rPr lang="vi-VN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ửa.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solidFill>
                <a:srgbClr val="000000"/>
              </a:solidFill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tháng bất kỳ, hệ thống tự động hiển thị lịch làm việc vủa công ty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Click “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hêm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mới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hiển thị khung mới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  điền thông tin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sau đó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“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L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ưu” hoàn thành thao tác. 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Click "Sửa"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hệ thống hiển thị các ô nhỏ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ngày cần sửa  sửa thông tin ca làm, sau đó “Lưu”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.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475656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200">
                <a:latin typeface="+mj-lt"/>
                <a:ea typeface="微软雅黑" pitchFamily="34" charset="-122"/>
              </a:rPr>
              <a:t>Kế hoạch đào tạo</a:t>
            </a:r>
            <a:endParaRPr lang="zh-CN" altLang="en-US" sz="1200" dirty="0">
              <a:latin typeface="+mj-lt"/>
              <a:ea typeface="微软雅黑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C245D03-2EC4-4EEE-8F85-BB6B9478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" y="548680"/>
            <a:ext cx="6768752" cy="2824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022FE9-F8C1-4963-9F12-F1422BD112D7}"/>
              </a:ext>
            </a:extLst>
          </p:cNvPr>
          <p:cNvSpPr txBox="1"/>
          <p:nvPr/>
        </p:nvSpPr>
        <p:spPr>
          <a:xfrm>
            <a:off x="57114" y="3212976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+mj-lt"/>
                <a:ea typeface="微软雅黑" pitchFamily="34" charset="-122"/>
              </a:rPr>
              <a:t>Trang thêm </a:t>
            </a:r>
            <a:r>
              <a:rPr lang="vi-VN" altLang="zh-CN" sz="1200" b="1">
                <a:latin typeface="+mj-lt"/>
                <a:ea typeface="微软雅黑" pitchFamily="34" charset="-122"/>
              </a:rPr>
              <a:t>và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396EC71-6D2E-453A-9465-A86C064D1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" y="3489975"/>
            <a:ext cx="6001331" cy="29303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3DC772A-DF51-4544-B535-7CBC5268ED56}"/>
              </a:ext>
            </a:extLst>
          </p:cNvPr>
          <p:cNvSpPr/>
          <p:nvPr/>
        </p:nvSpPr>
        <p:spPr>
          <a:xfrm>
            <a:off x="1619672" y="3606828"/>
            <a:ext cx="3528392" cy="27024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1876FB1-CE33-4121-866A-6E8795590BFE}"/>
              </a:ext>
            </a:extLst>
          </p:cNvPr>
          <p:cNvSpPr/>
          <p:nvPr/>
        </p:nvSpPr>
        <p:spPr>
          <a:xfrm>
            <a:off x="4644008" y="6021288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A07CF1F-9B19-4472-A4B8-E76A7029DB4C}"/>
              </a:ext>
            </a:extLst>
          </p:cNvPr>
          <p:cNvSpPr/>
          <p:nvPr/>
        </p:nvSpPr>
        <p:spPr>
          <a:xfrm>
            <a:off x="5443296" y="892204"/>
            <a:ext cx="1216935" cy="232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593904" y="980728"/>
            <a:ext cx="344259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vi-VN" sz="1200" dirty="0">
                <a:latin typeface="+mj-lt"/>
                <a:ea typeface="微软雅黑" pitchFamily="34" charset="-122"/>
              </a:rPr>
              <a:t>＊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không được để trống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Chọn tên đào tạo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Nhập thời gian, chọn đơn vị( tháng, ngày, giờ)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Ghi chú:dùng để phần biệt mỗi lần đào tạo, không thể lặp lại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Hình thức đào tạo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：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hiện trường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，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trực tuyến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，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khác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（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sau này, trưởng phòng đào tạo </a:t>
            </a:r>
            <a:r>
              <a:rPr lang="vi-VN" altLang="zh-CN" sz="1200" dirty="0" smtClean="0">
                <a:latin typeface="+mj-lt"/>
                <a:ea typeface="微软雅黑" pitchFamily="34" charset="-122"/>
              </a:rPr>
              <a:t>c</a:t>
            </a:r>
            <a:r>
              <a:rPr lang="en-US" altLang="zh-CN" sz="1200" dirty="0">
                <a:latin typeface="+mj-lt"/>
                <a:ea typeface="微软雅黑" pitchFamily="34" charset="-122"/>
              </a:rPr>
              <a:t>ó</a:t>
            </a:r>
            <a:r>
              <a:rPr lang="vi-VN" altLang="zh-CN" sz="1200" dirty="0" smtClean="0">
                <a:latin typeface="+mj-lt"/>
                <a:ea typeface="微软雅黑" pitchFamily="34" charset="-122"/>
              </a:rPr>
              <a:t> 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thể tăng thêm hạng mục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）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Tiến hành kỳ kiểm tra, sau đó điển điểm số lên hệ thống, mở mục lựa chọn này, trưởng phòng nhân sự cần thêm điểm số</a:t>
            </a: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+mj-lt"/>
                <a:ea typeface="微软雅黑" pitchFamily="34" charset="-122"/>
              </a:rPr>
              <a:t>Xin phép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：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yêu cầu CNV xin phép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，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Không</a:t>
            </a:r>
            <a:r>
              <a:rPr lang="zh-CN" altLang="vi-VN" sz="1200" dirty="0">
                <a:latin typeface="+mj-lt"/>
                <a:ea typeface="微软雅黑" pitchFamily="34" charset="-122"/>
              </a:rPr>
              <a:t>：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CNV không thể xin phép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Phòng ban chỉ định: Không chọn mặc định tất cả CNV có thể xin phép, bộ phận được chọn chỉ có CNV bộ phận đó được xin phép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Nhân viên chỉ định: Không chọn mặc định tất cả CNV bộ phận, sau khi chọn chỉ có CNV được chọn của bộ phận có thể xin </a:t>
            </a:r>
            <a:r>
              <a:rPr lang="vi-VN" altLang="zh-CN" sz="1200" dirty="0" smtClean="0">
                <a:latin typeface="+mj-lt"/>
                <a:ea typeface="微软雅黑" pitchFamily="34" charset="-122"/>
              </a:rPr>
              <a:t>phép.C</a:t>
            </a:r>
            <a:r>
              <a:rPr lang="en-US" altLang="zh-CN" sz="1200" dirty="0">
                <a:latin typeface="+mj-lt"/>
                <a:ea typeface="微软雅黑" pitchFamily="34" charset="-122"/>
              </a:rPr>
              <a:t>ó</a:t>
            </a:r>
            <a:r>
              <a:rPr lang="vi-VN" altLang="zh-CN" sz="1200" dirty="0" smtClean="0">
                <a:latin typeface="+mj-lt"/>
                <a:ea typeface="微软雅黑" pitchFamily="34" charset="-122"/>
              </a:rPr>
              <a:t> 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thể chọn nhiều CNV.</a:t>
            </a: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...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475656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200">
                <a:latin typeface="+mj-lt"/>
                <a:ea typeface="微软雅黑" pitchFamily="34" charset="-122"/>
              </a:rPr>
              <a:t>Kế hoạch đào tạo</a:t>
            </a:r>
            <a:endParaRPr lang="zh-CN" altLang="en-US" sz="1200" dirty="0">
              <a:latin typeface="+mj-lt"/>
              <a:ea typeface="微软雅黑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68B0905-7258-4199-BCE5-C44861A28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561975"/>
            <a:ext cx="54864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5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ea typeface="微软雅黑" pitchFamily="34" charset="-122"/>
              </a:rPr>
              <a:t>Kế hoạch đào tạo</a:t>
            </a:r>
            <a:endParaRPr lang="zh-CN" altLang="en-US" sz="1000" dirty="0">
              <a:ea typeface="微软雅黑" pitchFamily="34" charset="-122"/>
            </a:endParaRPr>
          </a:p>
        </p:txBody>
      </p:sp>
      <p:graphicFrame>
        <p:nvGraphicFramePr>
          <p:cNvPr id="8" name="表格 5">
            <a:extLst>
              <a:ext uri="{FF2B5EF4-FFF2-40B4-BE49-F238E27FC236}">
                <a16:creationId xmlns="" xmlns:a16="http://schemas.microsoft.com/office/drawing/2014/main" id="{79C30349-867A-498A-808E-C066B8376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913116"/>
              </p:ext>
            </p:extLst>
          </p:nvPr>
        </p:nvGraphicFramePr>
        <p:xfrm>
          <a:off x="179512" y="1844824"/>
          <a:ext cx="8642350" cy="2103120"/>
        </p:xfrm>
        <a:graphic>
          <a:graphicData uri="http://schemas.openxmlformats.org/drawingml/2006/table">
            <a:tbl>
              <a:tblPr/>
              <a:tblGrid>
                <a:gridCol w="22329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8753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218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046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đào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tạo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Nhập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bằng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tay. </a:t>
                      </a:r>
                      <a:endParaRPr kumimoji="0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046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ng</a:t>
                      </a:r>
                      <a:r>
                        <a:rPr kumimoji="0" lang="vi-V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ười đào tạo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                ＊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đa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ng</a:t>
                      </a:r>
                      <a:r>
                        <a:rPr kumimoji="0" lang="vi-V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ời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tham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gia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đào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tạo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046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không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□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   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□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viên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□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đào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tạo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Lựa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3 loại:  do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nào, 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thì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giá, 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7442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liệu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lên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kiện, 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tất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cả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kiếm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17442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bảng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học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xuống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module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bảng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học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</a:t>
                      </a:r>
                      <a:r>
                        <a:rPr kumimoji="0" lang="vi-V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bảng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hang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chế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, 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kiếm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bảng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hiển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thị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ở n</a:t>
                      </a:r>
                      <a:r>
                        <a:rPr kumimoji="0" lang="vi-V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i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charset="-122"/>
                          <a:cs typeface="Times New Roman" panose="02020603050405020304" pitchFamily="18" charset="0"/>
                        </a:rPr>
                        <a:t>xuống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charset="-122"/>
                        <a:cs typeface="Times New Roman" panose="02020603050405020304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表格 6">
            <a:extLst>
              <a:ext uri="{FF2B5EF4-FFF2-40B4-BE49-F238E27FC236}">
                <a16:creationId xmlns="" xmlns:a16="http://schemas.microsoft.com/office/drawing/2014/main" id="{92EB6930-0C58-4177-BB46-21C5D2563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06910"/>
              </p:ext>
            </p:extLst>
          </p:nvPr>
        </p:nvGraphicFramePr>
        <p:xfrm>
          <a:off x="2843808" y="4577680"/>
          <a:ext cx="5328592" cy="13716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581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07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227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6995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6995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079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 khóa học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 học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 gian bắt đầu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 gian kết thúc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Địa điểm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61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Sổ tay nhân công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3 / 6 / 2015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08: 00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10: 00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Phòng học 203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61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Sổ tay nhân công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4 / 6 / 2015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08: 00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10: 00</a:t>
                      </a:r>
                      <a:endParaRPr lang="zh-CN" altLang="en-US" sz="120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Phòng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204</a:t>
                      </a:r>
                      <a:endParaRPr lang="zh-CN" altLang="en-US" sz="1200" dirty="0"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" name="直接箭头连接符 8">
            <a:extLst>
              <a:ext uri="{FF2B5EF4-FFF2-40B4-BE49-F238E27FC236}">
                <a16:creationId xmlns="" xmlns:a16="http://schemas.microsoft.com/office/drawing/2014/main" id="{CDE51D4D-3F12-461A-935B-D2168996FA5C}"/>
              </a:ext>
            </a:extLst>
          </p:cNvPr>
          <p:cNvCxnSpPr/>
          <p:nvPr/>
        </p:nvCxnSpPr>
        <p:spPr>
          <a:xfrm>
            <a:off x="3286313" y="3967683"/>
            <a:ext cx="720080" cy="504056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82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Quản lý giảng viên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đặt thông tin giảng viên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thêm mới, sửa, xóa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thông tin các giảng viên.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“Thêm mới”, thêm thông tin giảng viên, sau đó “Lưu”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1 dữ liệu-&gt; “Sửa”, thay đổi thông tin cân thiết sau đó “Lưu”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57114" y="3007985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+mj-lt"/>
                <a:ea typeface="微软雅黑" pitchFamily="34" charset="-122"/>
              </a:rPr>
              <a:t>Trang thêm </a:t>
            </a:r>
            <a:r>
              <a:rPr lang="vi-VN" altLang="zh-CN" sz="1200" b="1">
                <a:latin typeface="+mj-lt"/>
                <a:ea typeface="微软雅黑" pitchFamily="34" charset="-122"/>
              </a:rPr>
              <a:t>và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0B29EA9-8AB0-4418-8DA5-97DD94130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210"/>
            <a:ext cx="6660232" cy="2164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A473F0A-FBA7-4B95-9F2A-92CDCE013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5" y="3309933"/>
            <a:ext cx="6225837" cy="30330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4640164-6D24-4A60-8FDE-DFEB5BA89B20}"/>
              </a:ext>
            </a:extLst>
          </p:cNvPr>
          <p:cNvSpPr/>
          <p:nvPr/>
        </p:nvSpPr>
        <p:spPr>
          <a:xfrm>
            <a:off x="285720" y="3309933"/>
            <a:ext cx="3627290" cy="3033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552BB19-F686-4D62-B670-D8FA474643A1}"/>
              </a:ext>
            </a:extLst>
          </p:cNvPr>
          <p:cNvSpPr/>
          <p:nvPr/>
        </p:nvSpPr>
        <p:spPr>
          <a:xfrm>
            <a:off x="3313338" y="5945782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67FA64D-8550-4BCE-B015-157A7C04543F}"/>
              </a:ext>
            </a:extLst>
          </p:cNvPr>
          <p:cNvSpPr/>
          <p:nvPr/>
        </p:nvSpPr>
        <p:spPr>
          <a:xfrm>
            <a:off x="5295980" y="1412776"/>
            <a:ext cx="1220235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359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Quản lý hợp đồng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Thiết lập thông tin hợp đồng.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thêm mới, sửa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các hợp đồng.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“Thêm mới”, thêm hợp đồng mới, sau đó “Lưu”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1 dữ liệu-&gt; “Sửa”, thay đổi thông tin cân thiết sau đó “Lưu”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thể tải về, tải lên hoặc tải bảng mẫu về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8CDAD63B-80BF-4BC2-9578-46B0BDF9D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672"/>
            <a:ext cx="6516216" cy="2924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6E889CC-D2A4-49C4-AF5D-B756DFB1A3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31" r="2292"/>
          <a:stretch/>
        </p:blipFill>
        <p:spPr>
          <a:xfrm>
            <a:off x="1814603" y="2420888"/>
            <a:ext cx="2887009" cy="28222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ECF24EF-E31F-4904-9897-EDC9387AE974}"/>
              </a:ext>
            </a:extLst>
          </p:cNvPr>
          <p:cNvSpPr/>
          <p:nvPr/>
        </p:nvSpPr>
        <p:spPr>
          <a:xfrm>
            <a:off x="4261102" y="1051214"/>
            <a:ext cx="2183105" cy="165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3720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Đơn vị đào tạo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cs typeface="Times New Roman" panose="02020603050405020304" pitchFamily="18" charset="0"/>
              </a:rPr>
              <a:t>Quản lý cơ sở đào tạo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thêm</a:t>
            </a:r>
            <a:r>
              <a:rPr lang="en-US" altLang="zh-CN" sz="1200" dirty="0">
                <a:latin typeface="+mj-lt"/>
                <a:ea typeface="微软雅黑" pitchFamily="34" charset="-122"/>
              </a:rPr>
              <a:t> mới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, sửa, xóa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Giải thích </a:t>
            </a:r>
            <a:r>
              <a:rPr lang="vi-VN" altLang="zh-CN" sz="1200" b="1" dirty="0" smtClean="0">
                <a:latin typeface="+mj-lt"/>
                <a:ea typeface="微软雅黑" pitchFamily="34" charset="-122"/>
              </a:rPr>
              <a:t>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các đ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vị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“Thêm mới”, thêm đ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vị đào tạo, sau đó “Lưu”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1 dữ liệu-&gt; “Sửa”, thay đổi thông tin cân thiết sau đó “Lưu”.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thể click vào tên đơn vị để xem chi tiết nội dung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(Giao diện nội dung giống với giao diện thêm mới)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57114" y="3079993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+mj-lt"/>
                <a:ea typeface="微软雅黑" pitchFamily="34" charset="-122"/>
              </a:rPr>
              <a:t>Trang thêm </a:t>
            </a:r>
            <a:r>
              <a:rPr lang="vi-VN" altLang="zh-CN" sz="1200" b="1">
                <a:latin typeface="+mj-lt"/>
                <a:ea typeface="微软雅黑" pitchFamily="34" charset="-122"/>
              </a:rPr>
              <a:t>và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95902F3-E528-425B-9BAF-989D3D1B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985"/>
            <a:ext cx="6516216" cy="23469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A38BF09-B204-476E-B37F-3C3995657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0538"/>
            <a:ext cx="6443682" cy="26227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357791D-CBE4-4267-91A0-60E60785A547}"/>
              </a:ext>
            </a:extLst>
          </p:cNvPr>
          <p:cNvSpPr/>
          <p:nvPr/>
        </p:nvSpPr>
        <p:spPr>
          <a:xfrm>
            <a:off x="1259632" y="3571404"/>
            <a:ext cx="3816424" cy="2377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706411-560C-4F09-978C-3F7188E512BF}"/>
              </a:ext>
            </a:extLst>
          </p:cNvPr>
          <p:cNvSpPr/>
          <p:nvPr/>
        </p:nvSpPr>
        <p:spPr>
          <a:xfrm>
            <a:off x="4572000" y="5196075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D4BB708-0DCD-4ADC-ACB0-88EDC7C34141}"/>
              </a:ext>
            </a:extLst>
          </p:cNvPr>
          <p:cNvSpPr/>
          <p:nvPr/>
        </p:nvSpPr>
        <p:spPr>
          <a:xfrm>
            <a:off x="5076056" y="134076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344817A-2269-4EA2-B55F-C1E8F3D52138}"/>
              </a:ext>
            </a:extLst>
          </p:cNvPr>
          <p:cNvSpPr/>
          <p:nvPr/>
        </p:nvSpPr>
        <p:spPr>
          <a:xfrm>
            <a:off x="5652120" y="1747892"/>
            <a:ext cx="720080" cy="600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434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Thông tin cơ bản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641020"/>
            <a:ext cx="2300308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đặt thông tin đào tạo chi tiết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thêm mới, sửa, xóa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các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đào tạo chi tiết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“Thêm mới”, thêm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đào tạo chi tiết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 sau đó “Lưu”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1 dữ liệu-&gt; “Sửa”, thay đổi thông tin cân thiết sau đó “Lưu”.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này bao gồm bảng thông tin c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bản. Click vào ch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tình đào tạo có thể xem nội dung chi tiết.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th</a:t>
            </a:r>
            <a:r>
              <a:rPr lang="vi-V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 giảng viên nhập trong kế hoạch đào tạo, đánh giá giảng viên phải để học viên đánh giá. Sau khi tổng kết số ng</a:t>
            </a:r>
            <a:r>
              <a:rPr lang="vi-V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ời ở đối t</a:t>
            </a:r>
            <a:r>
              <a:rPr lang="vi-V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kế hoạch đào tạo và đối t</a:t>
            </a:r>
            <a:r>
              <a:rPr lang="vi-VN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thực tế đào tạo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57114" y="3152001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+mj-lt"/>
                <a:ea typeface="微软雅黑" pitchFamily="34" charset="-122"/>
              </a:rPr>
              <a:t>Trang thêm </a:t>
            </a:r>
            <a:r>
              <a:rPr lang="vi-VN" altLang="zh-CN" sz="1200" b="1">
                <a:latin typeface="+mj-lt"/>
                <a:ea typeface="微软雅黑" pitchFamily="34" charset="-122"/>
              </a:rPr>
              <a:t>và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1E53D72-39CD-4700-BF02-A5AD07563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20688"/>
            <a:ext cx="6660232" cy="25841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34A6CDA-54B0-40DB-9FF9-566E11D81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" y="3533666"/>
            <a:ext cx="6623720" cy="27756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87E468-6959-444E-B9F0-F1CE3CEFBE0F}"/>
              </a:ext>
            </a:extLst>
          </p:cNvPr>
          <p:cNvSpPr/>
          <p:nvPr/>
        </p:nvSpPr>
        <p:spPr>
          <a:xfrm>
            <a:off x="971600" y="3645024"/>
            <a:ext cx="4824536" cy="2592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04E6F24-C890-439C-80ED-C2168A7B0DC5}"/>
              </a:ext>
            </a:extLst>
          </p:cNvPr>
          <p:cNvSpPr/>
          <p:nvPr/>
        </p:nvSpPr>
        <p:spPr>
          <a:xfrm>
            <a:off x="5285094" y="5661248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DEDB2C8-BD7F-491D-A7E4-A30566C6C558}"/>
              </a:ext>
            </a:extLst>
          </p:cNvPr>
          <p:cNvSpPr/>
          <p:nvPr/>
        </p:nvSpPr>
        <p:spPr>
          <a:xfrm>
            <a:off x="5364088" y="1124744"/>
            <a:ext cx="115212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2502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Đánh giá học viên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01568" y="692696"/>
            <a:ext cx="227042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Tiến hành đánh giá học viên sau khi kết thúc đào tạo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đánh giá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”Tìm kiếm” xem tên các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“Đánh giá”, tiến hành đánh giá học viên tham gia khóa học, sau đó “Lưu” (có thể tải bản mãu về và nhập sau đó import vào hệ thống).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Click “xem” để xem thông tin đánh giá học viên.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trình đào tạo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màu đen nghĩa là không có đánh giá, màu xanh là đã đánh giá</a:t>
            </a:r>
            <a:endParaRPr lang="en-US" altLang="zh-CN" sz="1200" dirty="0">
              <a:solidFill>
                <a:srgbClr val="000000"/>
              </a:solidFill>
              <a:latin typeface="+mj-lt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17443" y="2916859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>
                <a:latin typeface="+mj-lt"/>
                <a:ea typeface="微软雅黑" pitchFamily="34" charset="-122"/>
              </a:rPr>
              <a:t>Trang đánh giá và xem: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A91FDD9-2E9E-4DDB-ADC6-4647BE5E5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" y="586590"/>
            <a:ext cx="6660232" cy="23842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761D83C-AEA5-4E3C-B3FF-8BF36B3EC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" y="3193858"/>
            <a:ext cx="6651397" cy="25417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EFB2829-99A8-438C-B6EF-175D935EBC75}"/>
              </a:ext>
            </a:extLst>
          </p:cNvPr>
          <p:cNvSpPr/>
          <p:nvPr/>
        </p:nvSpPr>
        <p:spPr>
          <a:xfrm>
            <a:off x="1475656" y="3193858"/>
            <a:ext cx="3888432" cy="2423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B845DAC-D940-46E0-AF35-ACFBE7BAC78C}"/>
              </a:ext>
            </a:extLst>
          </p:cNvPr>
          <p:cNvSpPr/>
          <p:nvPr/>
        </p:nvSpPr>
        <p:spPr>
          <a:xfrm>
            <a:off x="3707904" y="3356992"/>
            <a:ext cx="165618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73DA2AE-A368-418A-AE8A-510C507DB351}"/>
              </a:ext>
            </a:extLst>
          </p:cNvPr>
          <p:cNvSpPr/>
          <p:nvPr/>
        </p:nvSpPr>
        <p:spPr>
          <a:xfrm>
            <a:off x="5724408" y="1131943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376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Đánh giá giảng viên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54940" y="575284"/>
            <a:ext cx="22095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ea typeface="微软雅黑" pitchFamily="34" charset="-122"/>
              </a:rPr>
              <a:t>Công dụng: </a:t>
            </a:r>
            <a:endParaRPr lang="en-US" altLang="zh-CN" sz="1200" b="1" dirty="0"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Tiến hành đánh giá giảng viên sau khi kết thúc đào tạo</a:t>
            </a:r>
            <a:r>
              <a:rPr lang="vi-VN" altLang="zh-CN" sz="1200" dirty="0">
                <a:ea typeface="微软雅黑" pitchFamily="34" charset="-122"/>
              </a:rPr>
              <a:t>.</a:t>
            </a:r>
            <a:endParaRPr lang="zh-CN" altLang="en-US" sz="1200" dirty="0"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ea typeface="微软雅黑" pitchFamily="34" charset="-122"/>
              </a:rPr>
              <a:t>Chức năng: </a:t>
            </a:r>
            <a:endParaRPr lang="en-US" altLang="zh-CN" sz="1200" b="1" dirty="0"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ea typeface="微软雅黑" pitchFamily="34" charset="-122"/>
              </a:rPr>
              <a:t>Tra cứu, đánh giá</a:t>
            </a:r>
            <a:endParaRPr lang="en-US" altLang="zh-CN" sz="1200" dirty="0"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ea typeface="微软雅黑" pitchFamily="34" charset="-122"/>
              </a:rPr>
              <a:t>Giải thích: </a:t>
            </a:r>
            <a:endParaRPr lang="en-US" altLang="zh-CN" sz="1200" dirty="0"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”Tìm kiếm” xem tên các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“Đánh giá”, tiến hành đánh giá giảng viên tham gia khóa học, tải bản mãu về và nhập sau đó click “Nhập” để import vào hệ thống rồi “Lưu”.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Click “xem” để xem thông tin đánh giá giảng viên.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trình đào tạo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màu đen nghĩa là không có đánh giá, màu xanh là đã đánh giá</a:t>
            </a:r>
            <a:endParaRPr lang="en-US" altLang="zh-CN" sz="1200" dirty="0">
              <a:solidFill>
                <a:srgbClr val="000000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47580" y="2969262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>
                <a:latin typeface="+mj-lt"/>
                <a:ea typeface="微软雅黑" pitchFamily="34" charset="-122"/>
              </a:rPr>
              <a:t>Trang đánh giá và xem: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7A03AED-367B-471D-965E-51AEE6D7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4" y="575284"/>
            <a:ext cx="6660232" cy="23939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17B47C-E2D7-4961-A2A1-A80EE985D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" y="3429000"/>
            <a:ext cx="6516216" cy="2556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13338B4-CC04-4C66-AEC1-78B033A825A5}"/>
              </a:ext>
            </a:extLst>
          </p:cNvPr>
          <p:cNvSpPr/>
          <p:nvPr/>
        </p:nvSpPr>
        <p:spPr>
          <a:xfrm>
            <a:off x="1115616" y="3573016"/>
            <a:ext cx="4320480" cy="2067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F4042D9-E930-4DB9-A5EF-E2092AAF0109}"/>
              </a:ext>
            </a:extLst>
          </p:cNvPr>
          <p:cNvSpPr/>
          <p:nvPr/>
        </p:nvSpPr>
        <p:spPr>
          <a:xfrm>
            <a:off x="4785472" y="3717032"/>
            <a:ext cx="65062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30EE23C-057F-4BBC-A03F-4A5EBA4179D1}"/>
              </a:ext>
            </a:extLst>
          </p:cNvPr>
          <p:cNvSpPr/>
          <p:nvPr/>
        </p:nvSpPr>
        <p:spPr>
          <a:xfrm>
            <a:off x="5703838" y="1124744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EB0F873-2D34-4343-BE22-AF0963548877}"/>
              </a:ext>
            </a:extLst>
          </p:cNvPr>
          <p:cNvSpPr/>
          <p:nvPr/>
        </p:nvSpPr>
        <p:spPr>
          <a:xfrm>
            <a:off x="5004048" y="4466034"/>
            <a:ext cx="432048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3CF3B9F-6B14-4C95-9B2D-10FC9E6ADFBA}"/>
              </a:ext>
            </a:extLst>
          </p:cNvPr>
          <p:cNvSpPr/>
          <p:nvPr/>
        </p:nvSpPr>
        <p:spPr>
          <a:xfrm>
            <a:off x="2955182" y="4466034"/>
            <a:ext cx="432048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61FA8302-1E85-4213-9581-A37CAA999651}"/>
              </a:ext>
            </a:extLst>
          </p:cNvPr>
          <p:cNvSpPr/>
          <p:nvPr/>
        </p:nvSpPr>
        <p:spPr>
          <a:xfrm>
            <a:off x="5868144" y="1471532"/>
            <a:ext cx="432048" cy="1237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075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Kết quả đào tạo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54940" y="575284"/>
            <a:ext cx="220954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ea typeface="微软雅黑" pitchFamily="34" charset="-122"/>
              </a:rPr>
              <a:t>Công dụng: </a:t>
            </a:r>
            <a:endParaRPr lang="en-US" altLang="zh-CN" sz="1200" b="1" dirty="0"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khóa đào tạo đã tham gia, và tải lên báo cáo đào tạo</a:t>
            </a:r>
            <a:r>
              <a:rPr lang="vi-VN" altLang="zh-CN" sz="1200" dirty="0">
                <a:ea typeface="微软雅黑" pitchFamily="34" charset="-122"/>
              </a:rPr>
              <a:t>.</a:t>
            </a:r>
            <a:endParaRPr lang="zh-CN" altLang="en-US" sz="1200" dirty="0"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đánh giá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”Tìm kiếm” xem tên các ch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Nếu ch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a đánh giá, click “Ch</a:t>
            </a:r>
            <a:r>
              <a:rPr lang="vi-VN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a đánh giá”, tiến hành đánh giá khóa học, tải bản mãu về và nhập sau đó click “Chèn file” để import vào hệ thống rồi “Lưu”.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+mj-lt"/>
                <a:ea typeface="微软雅黑" pitchFamily="34" charset="-122"/>
                <a:cs typeface="Times New Roman" panose="02020603050405020304" pitchFamily="18" charset="0"/>
              </a:rPr>
              <a:t>ĐánhClick “xem” để xem thông tin đánh giá khóa học.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47580" y="2969262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>
                <a:latin typeface="+mj-lt"/>
                <a:ea typeface="微软雅黑" pitchFamily="34" charset="-122"/>
              </a:rPr>
              <a:t>Trang đánh giá và xem: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E06B841-C41E-4354-9E38-445AE7076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" y="773543"/>
            <a:ext cx="6516216" cy="2151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CA703BD-3799-401E-9084-86AEBA10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" y="3599164"/>
            <a:ext cx="6516216" cy="24233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DDA8C26-586E-4B21-9192-40C0E21BAED5}"/>
              </a:ext>
            </a:extLst>
          </p:cNvPr>
          <p:cNvSpPr/>
          <p:nvPr/>
        </p:nvSpPr>
        <p:spPr>
          <a:xfrm>
            <a:off x="1115616" y="3920481"/>
            <a:ext cx="4320480" cy="19567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2E9C38E-7BC1-48FE-934D-DF94836AFD2F}"/>
              </a:ext>
            </a:extLst>
          </p:cNvPr>
          <p:cNvSpPr/>
          <p:nvPr/>
        </p:nvSpPr>
        <p:spPr>
          <a:xfrm>
            <a:off x="3985828" y="4077072"/>
            <a:ext cx="1018219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CD44B3E-1C0A-48DA-BBC0-BD5C74226BAA}"/>
              </a:ext>
            </a:extLst>
          </p:cNvPr>
          <p:cNvSpPr/>
          <p:nvPr/>
        </p:nvSpPr>
        <p:spPr>
          <a:xfrm>
            <a:off x="5436096" y="1672196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9291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Chi phí đào tạo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chi phí khi kết thúc đào tạo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sửa, xuất Excel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thông tin chi phí các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1 dữ liệu-&gt; “Sửa”, thay đổi thông tin cân thiết sau đó “Lưu”</a:t>
            </a:r>
            <a:endParaRPr lang="en-US" altLang="zh-CN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57114" y="2924944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>
                <a:latin typeface="+mj-lt"/>
                <a:ea typeface="微软雅黑" pitchFamily="34" charset="-122"/>
              </a:rPr>
              <a:t>Trang sửa: 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402CCABA-CC69-4378-BA12-EA466C33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" y="540795"/>
            <a:ext cx="6660232" cy="2457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00462F2-84EE-43FE-BE2C-4A8DA6F57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" y="3234871"/>
            <a:ext cx="6660232" cy="25500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766BAC2-A667-4DF4-89DF-35304E80EAB4}"/>
              </a:ext>
            </a:extLst>
          </p:cNvPr>
          <p:cNvSpPr/>
          <p:nvPr/>
        </p:nvSpPr>
        <p:spPr>
          <a:xfrm>
            <a:off x="827584" y="3399279"/>
            <a:ext cx="4968552" cy="2117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12F8E3D-DFAC-4FC2-B4C0-ED8A7F8D0724}"/>
              </a:ext>
            </a:extLst>
          </p:cNvPr>
          <p:cNvSpPr/>
          <p:nvPr/>
        </p:nvSpPr>
        <p:spPr>
          <a:xfrm>
            <a:off x="4572000" y="3573016"/>
            <a:ext cx="93610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7C8BCD7-FC11-4296-86FA-0B6255CAD4F8}"/>
              </a:ext>
            </a:extLst>
          </p:cNvPr>
          <p:cNvSpPr/>
          <p:nvPr/>
        </p:nvSpPr>
        <p:spPr>
          <a:xfrm>
            <a:off x="5580112" y="1082678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428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Lịch đào tạo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 kế hoạch đào tạo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Lịch đào tạo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có thể chi tiết 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đào tạo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Phía dưới cùng của giao diện kế hoạch chi tiết hiển thị bảng khóa học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xem 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đào tạo</a:t>
            </a:r>
            <a:endParaRPr lang="en-US" altLang="zh-CN" sz="1200" dirty="0">
              <a:latin typeface="+mj-lt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AA53256-3541-48C3-977A-E333EA10E692}"/>
              </a:ext>
            </a:extLst>
          </p:cNvPr>
          <p:cNvSpPr txBox="1"/>
          <p:nvPr/>
        </p:nvSpPr>
        <p:spPr>
          <a:xfrm>
            <a:off x="57114" y="3140968"/>
            <a:ext cx="264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>
                <a:latin typeface="+mj-lt"/>
                <a:ea typeface="微软雅黑" pitchFamily="34" charset="-122"/>
              </a:rPr>
              <a:t>Trang thông tin ké hoạch đào tạo</a:t>
            </a:r>
            <a:endParaRPr lang="zh-CN" altLang="en-US" sz="1200" b="1" dirty="0"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9BC2731-2E39-41E9-961B-0050BB90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" y="612283"/>
            <a:ext cx="6660232" cy="2607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40ADB19-909E-4BAC-BFDF-D1369C54B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81" y="3468469"/>
            <a:ext cx="6588224" cy="26690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118B2A9-8B4C-4C3B-89D9-B0432C0BC44A}"/>
              </a:ext>
            </a:extLst>
          </p:cNvPr>
          <p:cNvSpPr/>
          <p:nvPr/>
        </p:nvSpPr>
        <p:spPr>
          <a:xfrm>
            <a:off x="1246380" y="3922054"/>
            <a:ext cx="3901684" cy="1883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FF398A2-4E90-4810-925B-00EAAECDAB06}"/>
              </a:ext>
            </a:extLst>
          </p:cNvPr>
          <p:cNvSpPr/>
          <p:nvPr/>
        </p:nvSpPr>
        <p:spPr>
          <a:xfrm>
            <a:off x="285720" y="1616532"/>
            <a:ext cx="6374512" cy="1326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027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Hồ sơ đào tạo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491749"/>
            <a:ext cx="20717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 kế hoạch đào tạo cá nhân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sắp xếp của nhân sự và đươn xin cảu cá nhân thông qua quyết định đào tạo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thông tin hồ s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đào tạo.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7C053C1-100B-4A18-B82E-BBE85133F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412"/>
            <a:ext cx="6660232" cy="32397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D60DA8F-C610-4B94-A3C2-C3375EBF82C4}"/>
              </a:ext>
            </a:extLst>
          </p:cNvPr>
          <p:cNvSpPr/>
          <p:nvPr/>
        </p:nvSpPr>
        <p:spPr>
          <a:xfrm>
            <a:off x="5695540" y="2060848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4636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Đăng ký khóa học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17791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Xin phép tham gia khóa học.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thêm người duyệt, xin phép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các khóa học muốn tham gia 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khóa học muốn tham gia (có thể click vào “Thêm ng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ời phê duyệt” để them ng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ời phê duyệt), sau đó ghi lý do và click “Xin phép”.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D7D6BB7-87EF-44EA-ACFF-F960B4B6D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820"/>
            <a:ext cx="6660232" cy="30375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4A941E3-F1EE-4827-8678-2C2337094BF5}"/>
              </a:ext>
            </a:extLst>
          </p:cNvPr>
          <p:cNvSpPr/>
          <p:nvPr/>
        </p:nvSpPr>
        <p:spPr>
          <a:xfrm>
            <a:off x="5508104" y="1916832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3FC2F4C-FBE9-4441-BBEA-6A756AF14A6F}"/>
              </a:ext>
            </a:extLst>
          </p:cNvPr>
          <p:cNvSpPr/>
          <p:nvPr/>
        </p:nvSpPr>
        <p:spPr>
          <a:xfrm>
            <a:off x="5557913" y="2459865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7825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Phê duyệt đào tạo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/>
              <a:t>Người phê duyệt thực hiện phê duyệt đối với thông tin khóa đào tạo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duyệt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các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người muốn phê duyệt khóa học, click duyệt để tiền hành duyệt cho ng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ời đó tham gia khóa học.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90102F0-754D-4456-B557-E934335D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943"/>
            <a:ext cx="6786578" cy="31024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F264D84-1D51-4119-8F8F-EB35C81A6EF0}"/>
              </a:ext>
            </a:extLst>
          </p:cNvPr>
          <p:cNvSpPr/>
          <p:nvPr/>
        </p:nvSpPr>
        <p:spPr>
          <a:xfrm>
            <a:off x="5652120" y="2060848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8DA0D28-CCF4-4B7B-A631-452E22366EED}"/>
              </a:ext>
            </a:extLst>
          </p:cNvPr>
          <p:cNvSpPr/>
          <p:nvPr/>
        </p:nvSpPr>
        <p:spPr>
          <a:xfrm>
            <a:off x="0" y="2492896"/>
            <a:ext cx="17951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280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Xác nhận khóa học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+mj-lt"/>
              </a:rPr>
              <a:t>Người xác nhận thực hiện xác nhận cho ng</a:t>
            </a:r>
            <a:r>
              <a:rPr lang="vi-VN" altLang="zh-CN" sz="1200" dirty="0">
                <a:latin typeface="+mj-lt"/>
              </a:rPr>
              <a:t>ư</a:t>
            </a:r>
            <a:r>
              <a:rPr lang="en-US" altLang="zh-CN" sz="1200" dirty="0">
                <a:latin typeface="+mj-lt"/>
              </a:rPr>
              <a:t>ời muốn tham gia khóa học</a:t>
            </a:r>
            <a:r>
              <a:rPr lang="vi-VN" altLang="zh-CN" sz="1200" dirty="0">
                <a:latin typeface="+mj-lt"/>
                <a:ea typeface="微软雅黑" pitchFamily="34" charset="-122"/>
              </a:rPr>
              <a:t>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cứu, xác nhận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tên các ch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ơng trình đào tạo.</a:t>
            </a: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nhân viên muốn tham gia khóa học, click “Xác nhận” để tiền hành xác nhận cho ng</a:t>
            </a:r>
            <a:r>
              <a:rPr lang="vi-VN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ư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ời đó tham gia khóa học.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5F0B7E5-1FA7-4B98-84A6-3ED50101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630"/>
            <a:ext cx="6786578" cy="3188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76E5126-8915-4ED9-99A6-0097A06B675E}"/>
              </a:ext>
            </a:extLst>
          </p:cNvPr>
          <p:cNvSpPr/>
          <p:nvPr/>
        </p:nvSpPr>
        <p:spPr>
          <a:xfrm>
            <a:off x="5652120" y="1988840"/>
            <a:ext cx="964692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C86816D-47CE-4058-8AEA-DBA6EAA2E6EB}"/>
              </a:ext>
            </a:extLst>
          </p:cNvPr>
          <p:cNvSpPr/>
          <p:nvPr/>
        </p:nvSpPr>
        <p:spPr>
          <a:xfrm>
            <a:off x="0" y="2492896"/>
            <a:ext cx="66602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338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Tình trạng khóa học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216491"/>
            <a:ext cx="20717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 tình hình khóa học.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Tra cứu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”Tra cứu” xem tình hình các khóa học tham gia.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4558AB7-9CB9-4998-AA21-C2BCA622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7" y="1314633"/>
            <a:ext cx="6764401" cy="30850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E129655-B027-4BBE-9972-4300EC26180C}"/>
              </a:ext>
            </a:extLst>
          </p:cNvPr>
          <p:cNvSpPr/>
          <p:nvPr/>
        </p:nvSpPr>
        <p:spPr>
          <a:xfrm>
            <a:off x="6156176" y="2060848"/>
            <a:ext cx="532644" cy="177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105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75656" y="117328"/>
            <a:ext cx="2592288" cy="24622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vi-VN" altLang="zh-CN" sz="1000">
                <a:latin typeface="+mj-lt"/>
                <a:ea typeface="微软雅黑" pitchFamily="34" charset="-122"/>
              </a:rPr>
              <a:t>Bảng biểu</a:t>
            </a:r>
            <a:endParaRPr lang="zh-CN" altLang="en-US" sz="1000" dirty="0">
              <a:latin typeface="+mj-lt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429033"/>
            <a:ext cx="20717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Công dụng: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Dựa vào các điều kiện để xuất bảng Excel.</a:t>
            </a:r>
            <a:endParaRPr lang="zh-CN" altLang="en-US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>
                <a:latin typeface="+mj-lt"/>
                <a:ea typeface="微软雅黑" pitchFamily="34" charset="-122"/>
              </a:rPr>
              <a:t>Chức năng: </a:t>
            </a:r>
            <a:endParaRPr lang="en-US" altLang="zh-CN" sz="1200" b="1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dirty="0">
                <a:latin typeface="+mj-lt"/>
                <a:ea typeface="微软雅黑" pitchFamily="34" charset="-122"/>
              </a:rPr>
              <a:t>Xuất Excel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vi-VN" altLang="zh-CN" sz="1200" b="1" dirty="0" smtClean="0">
                <a:latin typeface="+mj-lt"/>
                <a:ea typeface="微软雅黑" pitchFamily="34" charset="-122"/>
              </a:rPr>
              <a:t>Giải thích: </a:t>
            </a:r>
            <a:endParaRPr lang="en-US" altLang="zh-CN" sz="1200" dirty="0">
              <a:latin typeface="+mj-lt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Chọn điều kiện tìm kiếm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</a:t>
            </a:r>
            <a:r>
              <a:rPr lang="vi-VN" altLang="zh-CN" sz="12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Xuất Excel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” tra cứ thông tin đào tạo.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6DFC511-D78B-4EE2-954D-A5AF56D3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1300309"/>
            <a:ext cx="6660232" cy="31009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2E2A40B-D224-483B-8958-87B16F45A4EB}"/>
              </a:ext>
            </a:extLst>
          </p:cNvPr>
          <p:cNvSpPr/>
          <p:nvPr/>
        </p:nvSpPr>
        <p:spPr>
          <a:xfrm>
            <a:off x="5490433" y="1948805"/>
            <a:ext cx="504056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5B6EF37-5576-47A0-BCF5-ACEC7EFC3E9F}"/>
              </a:ext>
            </a:extLst>
          </p:cNvPr>
          <p:cNvSpPr/>
          <p:nvPr/>
        </p:nvSpPr>
        <p:spPr>
          <a:xfrm>
            <a:off x="83046" y="1628800"/>
            <a:ext cx="1176586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57AFFC0-0608-498C-B75B-F8148BE4A5FB}"/>
              </a:ext>
            </a:extLst>
          </p:cNvPr>
          <p:cNvSpPr/>
          <p:nvPr/>
        </p:nvSpPr>
        <p:spPr>
          <a:xfrm>
            <a:off x="1451322" y="1844824"/>
            <a:ext cx="3984773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vi-VN" sz="800" dirty="0">
              <a:solidFill>
                <a:schemeClr val="tx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557462"/>
      </p:ext>
    </p:extLst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l">
          <a:defRPr sz="800" dirty="0" smtClean="0">
            <a:solidFill>
              <a:schemeClr val="tx1"/>
            </a:solidFill>
            <a:ea typeface="微软雅黑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18997</TotalTime>
  <Words>2225</Words>
  <Application>Microsoft Office PowerPoint</Application>
  <PresentationFormat>On-screen Show (4:3)</PresentationFormat>
  <Paragraphs>244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 Unicode MS</vt:lpstr>
      <vt:lpstr>微软雅黑</vt:lpstr>
      <vt:lpstr>宋体</vt:lpstr>
      <vt:lpstr>Arial</vt:lpstr>
      <vt:lpstr>Calibri</vt:lpstr>
      <vt:lpstr>Helvetica</vt:lpstr>
      <vt:lpstr>Times New Roman</vt:lpstr>
      <vt:lpstr>Wingdings</vt:lpstr>
      <vt:lpstr>2_自定义设计方案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huong chuot</cp:lastModifiedBy>
  <cp:revision>1833</cp:revision>
  <dcterms:created xsi:type="dcterms:W3CDTF">2010-07-06T05:38:31Z</dcterms:created>
  <dcterms:modified xsi:type="dcterms:W3CDTF">2018-01-26T10:13:57Z</dcterms:modified>
</cp:coreProperties>
</file>