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Lst>
  <p:notesMasterIdLst>
    <p:notesMasterId r:id="rId37"/>
  </p:notesMasterIdLst>
  <p:handoutMasterIdLst>
    <p:handoutMasterId r:id="rId38"/>
  </p:handoutMasterIdLst>
  <p:sldIdLst>
    <p:sldId id="702" r:id="rId2"/>
    <p:sldId id="738" r:id="rId3"/>
    <p:sldId id="588" r:id="rId4"/>
    <p:sldId id="630" r:id="rId5"/>
    <p:sldId id="703" r:id="rId6"/>
    <p:sldId id="704" r:id="rId7"/>
    <p:sldId id="705" r:id="rId8"/>
    <p:sldId id="706" r:id="rId9"/>
    <p:sldId id="707" r:id="rId10"/>
    <p:sldId id="708" r:id="rId11"/>
    <p:sldId id="709" r:id="rId12"/>
    <p:sldId id="710" r:id="rId13"/>
    <p:sldId id="712" r:id="rId14"/>
    <p:sldId id="713" r:id="rId15"/>
    <p:sldId id="714" r:id="rId16"/>
    <p:sldId id="736" r:id="rId17"/>
    <p:sldId id="715" r:id="rId18"/>
    <p:sldId id="716" r:id="rId19"/>
    <p:sldId id="717" r:id="rId20"/>
    <p:sldId id="719" r:id="rId21"/>
    <p:sldId id="720" r:id="rId22"/>
    <p:sldId id="721" r:id="rId23"/>
    <p:sldId id="722" r:id="rId24"/>
    <p:sldId id="723" r:id="rId25"/>
    <p:sldId id="724" r:id="rId26"/>
    <p:sldId id="725" r:id="rId27"/>
    <p:sldId id="726" r:id="rId28"/>
    <p:sldId id="727" r:id="rId29"/>
    <p:sldId id="729" r:id="rId30"/>
    <p:sldId id="730" r:id="rId31"/>
    <p:sldId id="734" r:id="rId32"/>
    <p:sldId id="735" r:id="rId33"/>
    <p:sldId id="731" r:id="rId34"/>
    <p:sldId id="737" r:id="rId35"/>
    <p:sldId id="733" r:id="rId36"/>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itchFamily="34" charset="0"/>
        <a:ea typeface="宋体" pitchFamily="2" charset="-122"/>
        <a:cs typeface="+mn-cs"/>
      </a:defRPr>
    </a:lvl1pPr>
    <a:lvl2pPr marL="457200" algn="ctr" rtl="0" fontAlgn="base">
      <a:spcBef>
        <a:spcPct val="0"/>
      </a:spcBef>
      <a:spcAft>
        <a:spcPct val="0"/>
      </a:spcAft>
      <a:defRPr kern="1200">
        <a:solidFill>
          <a:schemeClr val="tx1"/>
        </a:solidFill>
        <a:latin typeface="Arial" pitchFamily="34" charset="0"/>
        <a:ea typeface="宋体" pitchFamily="2" charset="-122"/>
        <a:cs typeface="+mn-cs"/>
      </a:defRPr>
    </a:lvl2pPr>
    <a:lvl3pPr marL="914400" algn="ctr"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ctr"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ctr"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888">
          <p15:clr>
            <a:srgbClr val="A4A3A4"/>
          </p15:clr>
        </p15:guide>
        <p15:guide id="2" pos="215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3366FF"/>
    <a:srgbClr val="FF6600"/>
    <a:srgbClr val="FF9933"/>
    <a:srgbClr val="000099"/>
    <a:srgbClr val="33CCCC"/>
    <a:srgbClr val="3399FF"/>
    <a:srgbClr val="9999FF"/>
    <a:srgbClr val="99CC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44" autoAdjust="0"/>
    <p:restoredTop sz="86477" autoAdjust="0"/>
  </p:normalViewPr>
  <p:slideViewPr>
    <p:cSldViewPr>
      <p:cViewPr varScale="1">
        <p:scale>
          <a:sx n="80" d="100"/>
          <a:sy n="80" d="100"/>
        </p:scale>
        <p:origin x="1278" y="78"/>
      </p:cViewPr>
      <p:guideLst>
        <p:guide orient="horz" pos="1888"/>
        <p:guide pos="2154"/>
      </p:guideLst>
    </p:cSldViewPr>
  </p:slideViewPr>
  <p:outlineViewPr>
    <p:cViewPr>
      <p:scale>
        <a:sx n="33" d="100"/>
        <a:sy n="33" d="100"/>
      </p:scale>
      <p:origin x="0" y="1836"/>
    </p:cViewPr>
  </p:outlineViewPr>
  <p:notesTextViewPr>
    <p:cViewPr>
      <p:scale>
        <a:sx n="100" d="100"/>
        <a:sy n="100" d="100"/>
      </p:scale>
      <p:origin x="0" y="0"/>
    </p:cViewPr>
  </p:notesTextViewPr>
  <p:sorterViewPr>
    <p:cViewPr>
      <p:scale>
        <a:sx n="100" d="100"/>
        <a:sy n="100" d="100"/>
      </p:scale>
      <p:origin x="0" y="3192"/>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dirty="0">
              <a:ea typeface="微软雅黑" pitchFamily="34" charset="-122"/>
            </a:endParaRPr>
          </a:p>
        </p:txBody>
      </p:sp>
      <p:sp>
        <p:nvSpPr>
          <p:cNvPr id="1320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2F809E35-B4AC-482C-BF96-601431D08808}" type="datetimeFigureOut">
              <a:rPr lang="zh-CN" altLang="en-US">
                <a:ea typeface="微软雅黑" pitchFamily="34" charset="-122"/>
              </a:rPr>
              <a:pPr/>
              <a:t>2018/1/26</a:t>
            </a:fld>
            <a:endParaRPr lang="en-US" altLang="zh-CN" dirty="0">
              <a:ea typeface="微软雅黑" pitchFamily="34" charset="-122"/>
            </a:endParaRPr>
          </a:p>
        </p:txBody>
      </p:sp>
      <p:sp>
        <p:nvSpPr>
          <p:cNvPr id="1321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dirty="0">
              <a:ea typeface="微软雅黑" pitchFamily="34" charset="-122"/>
            </a:endParaRPr>
          </a:p>
        </p:txBody>
      </p:sp>
      <p:sp>
        <p:nvSpPr>
          <p:cNvPr id="1321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AC84FA5D-D624-4E8D-8EB8-90950245F5C5}" type="slidenum">
              <a:rPr lang="zh-CN" altLang="en-US">
                <a:ea typeface="微软雅黑" pitchFamily="34" charset="-122"/>
              </a:rPr>
              <a:pPr/>
              <a:t>‹#›</a:t>
            </a:fld>
            <a:endParaRPr lang="en-US" altLang="zh-CN" dirty="0">
              <a:ea typeface="微软雅黑" pitchFamily="34" charset="-122"/>
            </a:endParaRPr>
          </a:p>
        </p:txBody>
      </p:sp>
    </p:spTree>
    <p:extLst>
      <p:ext uri="{BB962C8B-B14F-4D97-AF65-F5344CB8AC3E}">
        <p14:creationId xmlns:p14="http://schemas.microsoft.com/office/powerpoint/2010/main" val="3639987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微软雅黑" pitchFamily="34" charset="-122"/>
              </a:defRPr>
            </a:lvl1pPr>
          </a:lstStyle>
          <a:p>
            <a:pPr>
              <a:defRPr/>
            </a:pPr>
            <a:endParaRPr lang="en-US" altLang="zh-CN" dirty="0"/>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5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微软雅黑" pitchFamily="34" charset="-122"/>
              </a:defRPr>
            </a:lvl1pPr>
          </a:lstStyle>
          <a:p>
            <a:pPr>
              <a:defRPr/>
            </a:pPr>
            <a:fld id="{7FD85DB2-E819-49CE-B234-25B8201BF18D}" type="slidenum">
              <a:rPr lang="en-US" altLang="zh-CN" smtClean="0"/>
              <a:pPr>
                <a:defRPr/>
              </a:pPr>
              <a:t>‹#›</a:t>
            </a:fld>
            <a:endParaRPr lang="en-US" altLang="zh-CN" dirty="0"/>
          </a:p>
        </p:txBody>
      </p:sp>
    </p:spTree>
    <p:extLst>
      <p:ext uri="{BB962C8B-B14F-4D97-AF65-F5344CB8AC3E}">
        <p14:creationId xmlns:p14="http://schemas.microsoft.com/office/powerpoint/2010/main" val="153901924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微软雅黑" pitchFamily="34" charset="-122"/>
        <a:cs typeface="+mn-cs"/>
      </a:defRPr>
    </a:lvl1pPr>
    <a:lvl2pPr marL="457200" algn="l" rtl="0" fontAlgn="base">
      <a:spcBef>
        <a:spcPct val="30000"/>
      </a:spcBef>
      <a:spcAft>
        <a:spcPct val="0"/>
      </a:spcAft>
      <a:defRPr sz="1200" kern="1200">
        <a:solidFill>
          <a:schemeClr val="tx1"/>
        </a:solidFill>
        <a:latin typeface="Arial" charset="0"/>
        <a:ea typeface="微软雅黑" pitchFamily="34" charset="-122"/>
        <a:cs typeface="+mn-cs"/>
      </a:defRPr>
    </a:lvl2pPr>
    <a:lvl3pPr marL="914400" algn="l" rtl="0" fontAlgn="base">
      <a:spcBef>
        <a:spcPct val="30000"/>
      </a:spcBef>
      <a:spcAft>
        <a:spcPct val="0"/>
      </a:spcAft>
      <a:defRPr sz="1200" kern="1200">
        <a:solidFill>
          <a:schemeClr val="tx1"/>
        </a:solidFill>
        <a:latin typeface="Arial" charset="0"/>
        <a:ea typeface="微软雅黑" pitchFamily="34" charset="-122"/>
        <a:cs typeface="+mn-cs"/>
      </a:defRPr>
    </a:lvl3pPr>
    <a:lvl4pPr marL="1371600" algn="l" rtl="0" fontAlgn="base">
      <a:spcBef>
        <a:spcPct val="30000"/>
      </a:spcBef>
      <a:spcAft>
        <a:spcPct val="0"/>
      </a:spcAft>
      <a:defRPr sz="1200" kern="1200">
        <a:solidFill>
          <a:schemeClr val="tx1"/>
        </a:solidFill>
        <a:latin typeface="Arial" charset="0"/>
        <a:ea typeface="微软雅黑" pitchFamily="34" charset="-122"/>
        <a:cs typeface="+mn-cs"/>
      </a:defRPr>
    </a:lvl4pPr>
    <a:lvl5pPr marL="1828800" algn="l" rtl="0" fontAlgn="base">
      <a:spcBef>
        <a:spcPct val="30000"/>
      </a:spcBef>
      <a:spcAft>
        <a:spcPct val="0"/>
      </a:spcAft>
      <a:defRPr sz="1200" kern="1200">
        <a:solidFill>
          <a:schemeClr val="tx1"/>
        </a:solidFill>
        <a:latin typeface="Arial" charset="0"/>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4"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1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0"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0"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26" name="Line 3"/>
          <p:cNvSpPr>
            <a:spLocks noChangeShapeType="1"/>
          </p:cNvSpPr>
          <p:nvPr userDrawn="1"/>
        </p:nvSpPr>
        <p:spPr bwMode="auto">
          <a:xfrm>
            <a:off x="0" y="6453336"/>
            <a:ext cx="9144000" cy="0"/>
          </a:xfrm>
          <a:prstGeom prst="line">
            <a:avLst/>
          </a:prstGeom>
          <a:noFill/>
          <a:ln w="9525">
            <a:solidFill>
              <a:schemeClr val="bg1">
                <a:lumMod val="85000"/>
              </a:schemeClr>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387465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graphicFrame>
        <p:nvGraphicFramePr>
          <p:cNvPr id="3" name="Group 165"/>
          <p:cNvGraphicFramePr>
            <a:graphicFrameLocks noGrp="1"/>
          </p:cNvGraphicFramePr>
          <p:nvPr userDrawn="1">
            <p:extLst>
              <p:ext uri="{D42A27DB-BD31-4B8C-83A1-F6EECF244321}">
                <p14:modId xmlns:p14="http://schemas.microsoft.com/office/powerpoint/2010/main" val="3266814301"/>
              </p:ext>
            </p:extLst>
          </p:nvPr>
        </p:nvGraphicFramePr>
        <p:xfrm>
          <a:off x="35496" y="116632"/>
          <a:ext cx="9015536" cy="274638"/>
        </p:xfrm>
        <a:graphic>
          <a:graphicData uri="http://schemas.openxmlformats.org/drawingml/2006/table">
            <a:tbl>
              <a:tblPr/>
              <a:tblGrid>
                <a:gridCol w="1378501">
                  <a:extLst>
                    <a:ext uri="{9D8B030D-6E8A-4147-A177-3AD203B41FA5}">
                      <a16:colId xmlns="" xmlns:a16="http://schemas.microsoft.com/office/drawing/2014/main" val="20000"/>
                    </a:ext>
                  </a:extLst>
                </a:gridCol>
                <a:gridCol w="3263187">
                  <a:extLst>
                    <a:ext uri="{9D8B030D-6E8A-4147-A177-3AD203B41FA5}">
                      <a16:colId xmlns="" xmlns:a16="http://schemas.microsoft.com/office/drawing/2014/main" val="20001"/>
                    </a:ext>
                  </a:extLst>
                </a:gridCol>
                <a:gridCol w="743114">
                  <a:extLst>
                    <a:ext uri="{9D8B030D-6E8A-4147-A177-3AD203B41FA5}">
                      <a16:colId xmlns="" xmlns:a16="http://schemas.microsoft.com/office/drawing/2014/main" val="20002"/>
                    </a:ext>
                  </a:extLst>
                </a:gridCol>
                <a:gridCol w="608002">
                  <a:extLst>
                    <a:ext uri="{9D8B030D-6E8A-4147-A177-3AD203B41FA5}">
                      <a16:colId xmlns="" xmlns:a16="http://schemas.microsoft.com/office/drawing/2014/main" val="20003"/>
                    </a:ext>
                  </a:extLst>
                </a:gridCol>
                <a:gridCol w="878226">
                  <a:extLst>
                    <a:ext uri="{9D8B030D-6E8A-4147-A177-3AD203B41FA5}">
                      <a16:colId xmlns="" xmlns:a16="http://schemas.microsoft.com/office/drawing/2014/main" val="20004"/>
                    </a:ext>
                  </a:extLst>
                </a:gridCol>
                <a:gridCol w="2144506">
                  <a:extLst>
                    <a:ext uri="{9D8B030D-6E8A-4147-A177-3AD203B41FA5}">
                      <a16:colId xmlns="" xmlns:a16="http://schemas.microsoft.com/office/drawing/2014/main" val="20005"/>
                    </a:ext>
                  </a:extLst>
                </a:gridCol>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822" r:id="rId6"/>
    <p:sldLayoutId id="2147483795" r:id="rId7"/>
    <p:sldLayoutId id="2147483796" r:id="rId8"/>
    <p:sldLayoutId id="2147483823"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1364" y="2484185"/>
            <a:ext cx="7383764" cy="584775"/>
          </a:xfrm>
          <a:prstGeom prst="rect">
            <a:avLst/>
          </a:prstGeom>
          <a:noFill/>
        </p:spPr>
        <p:txBody>
          <a:bodyPr wrap="square" rtlCol="0">
            <a:spAutoFit/>
          </a:bodyPr>
          <a:lstStyle/>
          <a:p>
            <a:r>
              <a:rPr lang="en-US" altLang="zh-CN" sz="3200" dirty="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sp>
        <p:nvSpPr>
          <p:cNvPr id="8" name="Line 5"/>
          <p:cNvSpPr>
            <a:spLocks noChangeShapeType="1"/>
          </p:cNvSpPr>
          <p:nvPr/>
        </p:nvSpPr>
        <p:spPr bwMode="auto">
          <a:xfrm>
            <a:off x="1971196" y="3068960"/>
            <a:ext cx="4864100" cy="0"/>
          </a:xfrm>
          <a:prstGeom prst="line">
            <a:avLst/>
          </a:prstGeom>
          <a:noFill/>
          <a:ln w="9525">
            <a:solidFill>
              <a:schemeClr val="tx1"/>
            </a:solidFill>
            <a:round/>
            <a:headEnd/>
            <a:tailEnd/>
          </a:ln>
          <a:effectLst/>
        </p:spPr>
        <p:txBody>
          <a:bodyPr/>
          <a:lstStyle/>
          <a:p>
            <a:pPr algn="l">
              <a:defRPr/>
            </a:pPr>
            <a:endParaRPr lang="zh-CN" altLang="en-US" dirty="0">
              <a:latin typeface="微软雅黑" pitchFamily="34" charset="-122"/>
              <a:ea typeface="微软雅黑" pitchFamily="34" charset="-122"/>
            </a:endParaRPr>
          </a:p>
        </p:txBody>
      </p:sp>
      <p:sp>
        <p:nvSpPr>
          <p:cNvPr id="9" name="Rectangle 4"/>
          <p:cNvSpPr>
            <a:spLocks noChangeArrowheads="1"/>
          </p:cNvSpPr>
          <p:nvPr/>
        </p:nvSpPr>
        <p:spPr bwMode="auto">
          <a:xfrm>
            <a:off x="683568" y="3356992"/>
            <a:ext cx="7399610" cy="477054"/>
          </a:xfrm>
          <a:prstGeom prst="rect">
            <a:avLst/>
          </a:prstGeom>
          <a:noFill/>
          <a:ln w="9525">
            <a:noFill/>
            <a:miter lim="800000"/>
            <a:headEnd/>
            <a:tailEnd/>
          </a:ln>
          <a:effectLst/>
        </p:spPr>
        <p:txBody>
          <a:bodyPr wrap="square">
            <a:spAutoFit/>
          </a:bodyPr>
          <a:lstStyle/>
          <a:p>
            <a:r>
              <a:rPr lang="en-US" altLang="zh-CN" sz="2500" b="1" dirty="0">
                <a:latin typeface="Times New Roman" pitchFamily="18" charset="0"/>
                <a:ea typeface="微软雅黑" pitchFamily="34" charset="-122"/>
                <a:cs typeface="Times New Roman" pitchFamily="18" charset="0"/>
              </a:rPr>
              <a:t>- Module Đánh giá -</a:t>
            </a:r>
          </a:p>
        </p:txBody>
      </p:sp>
    </p:spTree>
    <p:extLst>
      <p:ext uri="{BB962C8B-B14F-4D97-AF65-F5344CB8AC3E}">
        <p14:creationId xmlns:p14="http://schemas.microsoft.com/office/powerpoint/2010/main" val="1010256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548680"/>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4962087"/>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Hub</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885811"/>
            <a:ext cx="7559490" cy="4000460"/>
          </a:xfrm>
          <a:prstGeom prst="rect">
            <a:avLst/>
          </a:prstGeom>
        </p:spPr>
      </p:pic>
    </p:spTree>
    <p:extLst>
      <p:ext uri="{BB962C8B-B14F-4D97-AF65-F5344CB8AC3E}">
        <p14:creationId xmlns:p14="http://schemas.microsoft.com/office/powerpoint/2010/main" val="6277991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32240" y="1084250"/>
            <a:ext cx="2340354" cy="4062651"/>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dirty="0">
                <a:latin typeface="Times New Roman" pitchFamily="18" charset="0"/>
                <a:ea typeface="微软雅黑" pitchFamily="34" charset="-122"/>
                <a:cs typeface="Times New Roman" pitchFamily="18" charset="0"/>
              </a:rPr>
              <a:t>Thiết lập tên hạng mục, chu kỳ, giai đoạn đánh giá thành tích.</a:t>
            </a: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dirty="0">
                <a:latin typeface="Times New Roman" pitchFamily="18" charset="0"/>
                <a:ea typeface="微软雅黑" pitchFamily="34" charset="-122"/>
                <a:cs typeface="Times New Roman" pitchFamily="18" charset="0"/>
              </a:rPr>
              <a:t>Tra cứu; Thêm; Xóa; Lưu; EXCEL</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b="1" dirty="0">
              <a:latin typeface="+mj-lt"/>
              <a:ea typeface="微软雅黑" pitchFamily="34" charset="-122"/>
            </a:endParaRPr>
          </a:p>
          <a:p>
            <a:pPr algn="l">
              <a:spcBef>
                <a:spcPct val="50000"/>
              </a:spcBef>
            </a:pPr>
            <a:r>
              <a:rPr lang="en-US" altLang="zh-CN" sz="1200" dirty="0">
                <a:latin typeface="Times New Roman" pitchFamily="18" charset="0"/>
                <a:ea typeface="微软雅黑" pitchFamily="34" charset="-122"/>
                <a:cs typeface="Times New Roman" pitchFamily="18" charset="0"/>
              </a:rPr>
              <a:t>Ngày tiêu chuẩn: Những CNV đang làm việc đều có thể tham gia đánh giá</a:t>
            </a:r>
          </a:p>
          <a:p>
            <a:pPr algn="l">
              <a:spcBef>
                <a:spcPct val="50000"/>
              </a:spcBef>
            </a:pPr>
            <a:r>
              <a:rPr lang="en-US" altLang="zh-CN" sz="1200" dirty="0">
                <a:latin typeface="Times New Roman" pitchFamily="18" charset="0"/>
                <a:ea typeface="微软雅黑" pitchFamily="34" charset="-122"/>
                <a:cs typeface="Times New Roman" pitchFamily="18" charset="0"/>
              </a:rPr>
              <a:t>Tra cứu</a:t>
            </a:r>
            <a:r>
              <a:rPr lang="zh-CN" altLang="en-US" sz="1200" dirty="0">
                <a:latin typeface="Times New Roman" pitchFamily="18" charset="0"/>
                <a:ea typeface="微软雅黑" pitchFamily="34" charset="-122"/>
                <a:cs typeface="Times New Roman" pitchFamily="18" charset="0"/>
              </a:rPr>
              <a:t>：</a:t>
            </a:r>
            <a:r>
              <a:rPr lang="en-US" altLang="zh-CN" sz="1200" dirty="0">
                <a:latin typeface="Times New Roman" pitchFamily="18" charset="0"/>
                <a:ea typeface="微软雅黑" pitchFamily="34" charset="-122"/>
                <a:cs typeface="Times New Roman" pitchFamily="18" charset="0"/>
              </a:rPr>
              <a:t>Tra cứu nội dung tổng hợp của tất cả lần đánh giá thành tích, hiển thị tại bên trái</a:t>
            </a:r>
          </a:p>
          <a:p>
            <a:pPr algn="l">
              <a:spcBef>
                <a:spcPct val="50000"/>
              </a:spcBef>
            </a:pPr>
            <a:r>
              <a:rPr lang="en-US" altLang="zh-CN" sz="1200" dirty="0">
                <a:latin typeface="Times New Roman" pitchFamily="18" charset="0"/>
                <a:ea typeface="微软雅黑" pitchFamily="34" charset="-122"/>
                <a:cs typeface="Times New Roman" pitchFamily="18" charset="0"/>
              </a:rPr>
              <a:t>Thêm</a:t>
            </a:r>
            <a:r>
              <a:rPr lang="zh-CN" altLang="en-US" sz="1200" dirty="0">
                <a:latin typeface="Times New Roman" pitchFamily="18" charset="0"/>
                <a:ea typeface="微软雅黑" pitchFamily="34" charset="-122"/>
                <a:cs typeface="Times New Roman" pitchFamily="18" charset="0"/>
              </a:rPr>
              <a:t>：</a:t>
            </a:r>
            <a:r>
              <a:rPr lang="en-US" altLang="zh-CN" sz="1200" dirty="0">
                <a:latin typeface="Times New Roman" pitchFamily="18" charset="0"/>
                <a:ea typeface="微软雅黑" pitchFamily="34" charset="-122"/>
                <a:cs typeface="Times New Roman" pitchFamily="18" charset="0"/>
              </a:rPr>
              <a:t>Thêm 1 tổng hợp đánh giá thành tích mới</a:t>
            </a:r>
          </a:p>
          <a:p>
            <a:pPr algn="l">
              <a:spcBef>
                <a:spcPct val="50000"/>
              </a:spcBef>
            </a:pPr>
            <a:r>
              <a:rPr lang="en-US" altLang="zh-CN" sz="1200" dirty="0">
                <a:latin typeface="Times New Roman" pitchFamily="18" charset="0"/>
                <a:ea typeface="微软雅黑" pitchFamily="34" charset="-122"/>
                <a:cs typeface="Times New Roman" pitchFamily="18" charset="0"/>
              </a:rPr>
              <a:t>Xóa</a:t>
            </a:r>
            <a:r>
              <a:rPr lang="zh-CN" altLang="en-US" sz="1200" dirty="0">
                <a:latin typeface="Times New Roman" pitchFamily="18" charset="0"/>
                <a:ea typeface="微软雅黑" pitchFamily="34" charset="-122"/>
                <a:cs typeface="Times New Roman" pitchFamily="18" charset="0"/>
              </a:rPr>
              <a:t>：</a:t>
            </a:r>
            <a:r>
              <a:rPr lang="en-US" altLang="zh-CN" sz="1200" dirty="0">
                <a:latin typeface="Times New Roman" pitchFamily="18" charset="0"/>
                <a:ea typeface="微软雅黑" pitchFamily="34" charset="-122"/>
                <a:cs typeface="Times New Roman" pitchFamily="18" charset="0"/>
              </a:rPr>
              <a:t>Xóa 1 tổng hợp đánh giá Lưu</a:t>
            </a:r>
            <a:r>
              <a:rPr lang="zh-CN" altLang="en-US" sz="1200" dirty="0">
                <a:latin typeface="Times New Roman" pitchFamily="18" charset="0"/>
                <a:ea typeface="微软雅黑" pitchFamily="34" charset="-122"/>
                <a:cs typeface="Times New Roman" pitchFamily="18" charset="0"/>
              </a:rPr>
              <a:t>：</a:t>
            </a:r>
            <a:r>
              <a:rPr lang="en-US" altLang="zh-CN" sz="1200" dirty="0">
                <a:latin typeface="Times New Roman" pitchFamily="18" charset="0"/>
                <a:ea typeface="微软雅黑" pitchFamily="34" charset="-122"/>
                <a:cs typeface="Times New Roman" pitchFamily="18" charset="0"/>
              </a:rPr>
              <a:t>Lưu tổng hợp đánh giá mới</a:t>
            </a:r>
          </a:p>
          <a:p>
            <a:pPr algn="l">
              <a:spcBef>
                <a:spcPct val="50000"/>
              </a:spcBef>
            </a:pPr>
            <a:r>
              <a:rPr lang="en-US" altLang="zh-CN" sz="1200" dirty="0" smtClean="0">
                <a:latin typeface="Times New Roman" pitchFamily="18" charset="0"/>
                <a:ea typeface="微软雅黑" pitchFamily="34" charset="-122"/>
                <a:cs typeface="Times New Roman" pitchFamily="18" charset="0"/>
              </a:rPr>
              <a:t>2</a:t>
            </a:r>
            <a:r>
              <a:rPr lang="zh-CN" altLang="en-US" sz="1200" dirty="0" smtClean="0">
                <a:latin typeface="Times New Roman" pitchFamily="18" charset="0"/>
                <a:ea typeface="微软雅黑" pitchFamily="34" charset="-122"/>
                <a:cs typeface="Times New Roman" pitchFamily="18" charset="0"/>
              </a:rPr>
              <a:t>* </a:t>
            </a:r>
            <a:r>
              <a:rPr lang="en-US" altLang="zh-CN" sz="1200" dirty="0">
                <a:latin typeface="Times New Roman" pitchFamily="18" charset="0"/>
                <a:ea typeface="微软雅黑" pitchFamily="34" charset="-122"/>
                <a:cs typeface="Times New Roman" pitchFamily="18" charset="0"/>
              </a:rPr>
              <a:t>bắt buộc điền</a:t>
            </a:r>
            <a:endParaRPr lang="en-US" altLang="zh-CN" sz="1200" dirty="0">
              <a:solidFill>
                <a:srgbClr val="000000"/>
              </a:solidFill>
              <a:latin typeface="+mj-lt"/>
              <a:ea typeface="微软雅黑" pitchFamily="34" charset="-122"/>
            </a:endParaRPr>
          </a:p>
        </p:txBody>
      </p:sp>
      <p:graphicFrame>
        <p:nvGraphicFramePr>
          <p:cNvPr id="12" name="表格 11"/>
          <p:cNvGraphicFramePr>
            <a:graphicFrameLocks noGrp="1"/>
          </p:cNvGraphicFramePr>
          <p:nvPr>
            <p:extLst>
              <p:ext uri="{D42A27DB-BD31-4B8C-83A1-F6EECF244321}">
                <p14:modId xmlns:p14="http://schemas.microsoft.com/office/powerpoint/2010/main" val="1165085827"/>
              </p:ext>
            </p:extLst>
          </p:nvPr>
        </p:nvGraphicFramePr>
        <p:xfrm>
          <a:off x="0" y="692696"/>
          <a:ext cx="6608092" cy="177047"/>
        </p:xfrm>
        <a:graphic>
          <a:graphicData uri="http://schemas.openxmlformats.org/drawingml/2006/table">
            <a:tbl>
              <a:tblPr/>
              <a:tblGrid>
                <a:gridCol w="6608092">
                  <a:extLst>
                    <a:ext uri="{9D8B030D-6E8A-4147-A177-3AD203B41FA5}">
                      <a16:colId xmlns="" xmlns:a16="http://schemas.microsoft.com/office/drawing/2014/main" val="20000"/>
                    </a:ext>
                  </a:extLst>
                </a:gridCol>
              </a:tblGrid>
              <a:tr h="176137">
                <a:tc>
                  <a:txBody>
                    <a:bodyPr/>
                    <a:lstStyle/>
                    <a:p>
                      <a:pPr algn="l" fontAlgn="ctr"/>
                      <a:r>
                        <a:rPr lang="zh-CN" altLang="en-US" sz="1100" b="1" i="0" u="none" strike="noStrike" dirty="0">
                          <a:solidFill>
                            <a:srgbClr val="FFFFFF"/>
                          </a:solidFill>
                          <a:latin typeface="Times New Roman" pitchFamily="18" charset="0"/>
                          <a:ea typeface="微软雅黑" pitchFamily="34" charset="-122"/>
                          <a:cs typeface="Times New Roman" pitchFamily="18" charset="0"/>
                        </a:rPr>
                        <a:t> </a:t>
                      </a:r>
                      <a:r>
                        <a:rPr lang="vi-VN" altLang="zh-CN" sz="1100" b="1" i="0" u="none" strike="noStrike" dirty="0">
                          <a:solidFill>
                            <a:srgbClr val="FFFFFF"/>
                          </a:solidFill>
                          <a:latin typeface="Times New Roman" pitchFamily="18" charset="0"/>
                          <a:ea typeface="微软雅黑" pitchFamily="34" charset="-122"/>
                          <a:cs typeface="Times New Roman" pitchFamily="18" charset="0"/>
                        </a:rPr>
                        <a:t>Thiết </a:t>
                      </a:r>
                      <a:r>
                        <a:rPr lang="vi-VN" altLang="zh-CN" sz="1100" b="1" i="0" u="none" strike="noStrike">
                          <a:solidFill>
                            <a:srgbClr val="FFFFFF"/>
                          </a:solidFill>
                          <a:latin typeface="Times New Roman" pitchFamily="18" charset="0"/>
                          <a:ea typeface="微软雅黑" pitchFamily="34" charset="-122"/>
                          <a:cs typeface="Times New Roman" pitchFamily="18" charset="0"/>
                        </a:rPr>
                        <a:t>lập lần đánh giá thành tích</a:t>
                      </a:r>
                      <a:endParaRPr lang="zh-CN" altLang="en-US" sz="1100" b="1" i="0" u="none" strike="noStrike" dirty="0">
                        <a:solidFill>
                          <a:srgbClr val="FFFFFF"/>
                        </a:solidFill>
                        <a:latin typeface="Times New Roman" pitchFamily="18" charset="0"/>
                        <a:ea typeface="微软雅黑" pitchFamily="34" charset="-122"/>
                        <a:cs typeface="Times New Roman" pitchFamily="18" charset="0"/>
                      </a:endParaRPr>
                    </a:p>
                  </a:txBody>
                  <a:tcPr marL="9407" marR="9407" marT="9407" marB="0" anchor="ctr">
                    <a:lnL>
                      <a:noFill/>
                    </a:lnL>
                    <a:lnR>
                      <a:noFill/>
                    </a:lnR>
                    <a:lnT>
                      <a:noFill/>
                    </a:lnT>
                    <a:lnB>
                      <a:noFill/>
                    </a:lnB>
                    <a:solidFill>
                      <a:srgbClr val="8DB4E3"/>
                    </a:solidFill>
                  </a:tcPr>
                </a:tc>
                <a:extLst>
                  <a:ext uri="{0D108BD9-81ED-4DB2-BD59-A6C34878D82A}">
                    <a16:rowId xmlns="" xmlns:a16="http://schemas.microsoft.com/office/drawing/2014/main" val="10000"/>
                  </a:ext>
                </a:extLst>
              </a:tr>
            </a:tbl>
          </a:graphicData>
        </a:graphic>
      </p:graphicFrame>
      <p:sp>
        <p:nvSpPr>
          <p:cNvPr id="14" name="TextBox 13"/>
          <p:cNvSpPr txBox="1"/>
          <p:nvPr/>
        </p:nvSpPr>
        <p:spPr>
          <a:xfrm>
            <a:off x="71406" y="3789040"/>
            <a:ext cx="2643206" cy="276999"/>
          </a:xfrm>
          <a:prstGeom prst="rect">
            <a:avLst/>
          </a:prstGeom>
          <a:noFill/>
        </p:spPr>
        <p:txBody>
          <a:bodyPr wrap="square" rtlCol="0">
            <a:spAutoFit/>
          </a:bodyPr>
          <a:lstStyle/>
          <a:p>
            <a:pPr algn="l"/>
            <a:r>
              <a:rPr lang="vi-VN" altLang="zh-CN" sz="1200" b="1">
                <a:latin typeface="+mj-lt"/>
                <a:ea typeface="微软雅黑" pitchFamily="34" charset="-122"/>
              </a:rPr>
              <a:t>Trang thêm mới</a:t>
            </a:r>
            <a:endParaRPr lang="zh-CN" altLang="en-US" sz="1200" b="1" dirty="0">
              <a:latin typeface="+mj-lt"/>
              <a:ea typeface="微软雅黑" pitchFamily="34" charset="-122"/>
            </a:endParaRPr>
          </a:p>
        </p:txBody>
      </p:sp>
      <p:sp>
        <p:nvSpPr>
          <p:cNvPr id="24" name="Text Box 7"/>
          <p:cNvSpPr txBox="1">
            <a:spLocks noChangeArrowheads="1"/>
          </p:cNvSpPr>
          <p:nvPr/>
        </p:nvSpPr>
        <p:spPr bwMode="auto">
          <a:xfrm>
            <a:off x="1418468" y="116632"/>
            <a:ext cx="3153532"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a:latin typeface="+mj-lt"/>
                <a:ea typeface="微软雅黑" pitchFamily="34" charset="-122"/>
              </a:rPr>
              <a:t>Đánh giá thành tích </a:t>
            </a:r>
            <a:r>
              <a:rPr lang="vi-VN" altLang="zh-CN" sz="1200">
                <a:latin typeface="+mj-lt"/>
                <a:ea typeface="微软雅黑" pitchFamily="34" charset="-122"/>
                <a:sym typeface="Wingdings" panose="05000000000000000000" pitchFamily="2" charset="2"/>
              </a:rPr>
              <a:t> </a:t>
            </a:r>
            <a:r>
              <a:rPr lang="vi-VN" sz="1200">
                <a:latin typeface="+mj-lt"/>
                <a:ea typeface="微软雅黑" pitchFamily="34" charset="-122"/>
              </a:rPr>
              <a:t>Tổng hợp đánh giá</a:t>
            </a:r>
            <a:endParaRPr lang="zh-CN" altLang="en-US" sz="1200" dirty="0">
              <a:latin typeface="+mj-lt"/>
              <a:ea typeface="微软雅黑" pitchFamily="34" charset="-122"/>
            </a:endParaRPr>
          </a:p>
        </p:txBody>
      </p:sp>
      <p:pic>
        <p:nvPicPr>
          <p:cNvPr id="3" name="Picture 2">
            <a:extLst>
              <a:ext uri="{FF2B5EF4-FFF2-40B4-BE49-F238E27FC236}">
                <a16:creationId xmlns="" xmlns:a16="http://schemas.microsoft.com/office/drawing/2014/main" id="{8F21ED28-0244-4A49-8E98-259C92A97796}"/>
              </a:ext>
            </a:extLst>
          </p:cNvPr>
          <p:cNvPicPr>
            <a:picLocks noChangeAspect="1"/>
          </p:cNvPicPr>
          <p:nvPr/>
        </p:nvPicPr>
        <p:blipFill>
          <a:blip r:embed="rId2"/>
          <a:stretch>
            <a:fillRect/>
          </a:stretch>
        </p:blipFill>
        <p:spPr>
          <a:xfrm>
            <a:off x="0" y="908720"/>
            <a:ext cx="6516216" cy="2967120"/>
          </a:xfrm>
          <a:prstGeom prst="rect">
            <a:avLst/>
          </a:prstGeom>
        </p:spPr>
      </p:pic>
      <p:pic>
        <p:nvPicPr>
          <p:cNvPr id="6" name="Picture 5">
            <a:extLst>
              <a:ext uri="{FF2B5EF4-FFF2-40B4-BE49-F238E27FC236}">
                <a16:creationId xmlns="" xmlns:a16="http://schemas.microsoft.com/office/drawing/2014/main" id="{2ED3707D-BE3E-40B1-88E8-89743C518177}"/>
              </a:ext>
            </a:extLst>
          </p:cNvPr>
          <p:cNvPicPr>
            <a:picLocks noChangeAspect="1"/>
          </p:cNvPicPr>
          <p:nvPr/>
        </p:nvPicPr>
        <p:blipFill>
          <a:blip r:embed="rId3"/>
          <a:stretch>
            <a:fillRect/>
          </a:stretch>
        </p:blipFill>
        <p:spPr>
          <a:xfrm>
            <a:off x="65372" y="4066039"/>
            <a:ext cx="6516216" cy="2418537"/>
          </a:xfrm>
          <a:prstGeom prst="rect">
            <a:avLst/>
          </a:prstGeom>
        </p:spPr>
      </p:pic>
      <p:sp>
        <p:nvSpPr>
          <p:cNvPr id="2" name="Rectangle 1">
            <a:extLst>
              <a:ext uri="{FF2B5EF4-FFF2-40B4-BE49-F238E27FC236}">
                <a16:creationId xmlns="" xmlns:a16="http://schemas.microsoft.com/office/drawing/2014/main" id="{3A2DA7F8-59C6-4009-8864-F23822F019EA}"/>
              </a:ext>
            </a:extLst>
          </p:cNvPr>
          <p:cNvSpPr/>
          <p:nvPr/>
        </p:nvSpPr>
        <p:spPr>
          <a:xfrm>
            <a:off x="2339752" y="4365104"/>
            <a:ext cx="2736304" cy="1944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9" name="Rectangle 8">
            <a:extLst>
              <a:ext uri="{FF2B5EF4-FFF2-40B4-BE49-F238E27FC236}">
                <a16:creationId xmlns="" xmlns:a16="http://schemas.microsoft.com/office/drawing/2014/main" id="{2F642A8D-A363-470B-8B12-63FC2351EC3F}"/>
              </a:ext>
            </a:extLst>
          </p:cNvPr>
          <p:cNvSpPr/>
          <p:nvPr/>
        </p:nvSpPr>
        <p:spPr>
          <a:xfrm>
            <a:off x="5076056" y="4198852"/>
            <a:ext cx="153203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latin typeface="+mj-lt"/>
                <a:ea typeface="微软雅黑" pitchFamily="34" charset="-122"/>
              </a:rPr>
              <a:t>Quy trình đánh giá </a:t>
            </a:r>
            <a:r>
              <a:rPr lang="vi-VN" altLang="zh-CN" sz="1000">
                <a:latin typeface="+mj-lt"/>
                <a:ea typeface="微软雅黑" pitchFamily="34" charset="-122"/>
                <a:sym typeface="Wingdings" panose="05000000000000000000" pitchFamily="2" charset="2"/>
              </a:rPr>
              <a:t> Công ty</a:t>
            </a:r>
            <a:endParaRPr lang="zh-CN" altLang="en-US" sz="1000" dirty="0">
              <a:latin typeface="+mj-lt"/>
              <a:ea typeface="微软雅黑" pitchFamily="34" charset="-122"/>
            </a:endParaRPr>
          </a:p>
        </p:txBody>
      </p:sp>
      <p:sp>
        <p:nvSpPr>
          <p:cNvPr id="11" name="TextBox 10"/>
          <p:cNvSpPr txBox="1"/>
          <p:nvPr/>
        </p:nvSpPr>
        <p:spPr>
          <a:xfrm>
            <a:off x="6786578" y="1783263"/>
            <a:ext cx="2071702" cy="3877985"/>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công ty.</a:t>
            </a:r>
            <a:endParaRPr lang="vi-VN" altLang="zh-CN" sz="1200" b="1">
              <a:latin typeface="+mj-lt"/>
              <a:ea typeface="微软雅黑" pitchFamily="34" charset="-122"/>
            </a:endParaRPr>
          </a:p>
          <a:p>
            <a:pPr algn="l">
              <a:spcBef>
                <a:spcPct val="50000"/>
              </a:spcBef>
            </a:pPr>
            <a:r>
              <a:rPr lang="vi-VN" altLang="zh-CN" sz="1200" b="1">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quy trình đánh giá công ty mới,  phân biệt thực hiện đánh giá là mục lựa chọn,  nội dung bên trong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ADC1FEAE-4942-4520-977B-39A2C36FE17E}"/>
              </a:ext>
            </a:extLst>
          </p:cNvPr>
          <p:cNvPicPr>
            <a:picLocks noChangeAspect="1"/>
          </p:cNvPicPr>
          <p:nvPr/>
        </p:nvPicPr>
        <p:blipFill>
          <a:blip r:embed="rId2"/>
          <a:stretch>
            <a:fillRect/>
          </a:stretch>
        </p:blipFill>
        <p:spPr>
          <a:xfrm>
            <a:off x="0" y="1893857"/>
            <a:ext cx="6786578" cy="3120037"/>
          </a:xfrm>
          <a:prstGeom prst="rect">
            <a:avLst/>
          </a:prstGeom>
        </p:spPr>
      </p:pic>
      <p:sp>
        <p:nvSpPr>
          <p:cNvPr id="5" name="TextBox 4">
            <a:extLst>
              <a:ext uri="{FF2B5EF4-FFF2-40B4-BE49-F238E27FC236}">
                <a16:creationId xmlns="" xmlns:a16="http://schemas.microsoft.com/office/drawing/2014/main" id="{2CB13BFD-6E7F-41FC-97CB-B70A129391EA}"/>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thành tích,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2B7E68B3-9A82-43FB-A54A-79C2C2A2DA24}"/>
              </a:ext>
            </a:extLst>
          </p:cNvPr>
          <p:cNvSpPr/>
          <p:nvPr/>
        </p:nvSpPr>
        <p:spPr>
          <a:xfrm>
            <a:off x="5796136" y="2636912"/>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78360BD4-640A-4B2D-BFEA-374D632F17F3}"/>
              </a:ext>
            </a:extLst>
          </p:cNvPr>
          <p:cNvSpPr/>
          <p:nvPr/>
        </p:nvSpPr>
        <p:spPr>
          <a:xfrm>
            <a:off x="35496" y="2459493"/>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Quy trình đánh giá </a:t>
            </a:r>
            <a:r>
              <a:rPr lang="vi-VN" altLang="zh-CN" sz="1000">
                <a:ea typeface="微软雅黑" pitchFamily="34" charset="-122"/>
                <a:sym typeface="Wingdings" panose="05000000000000000000" pitchFamily="2" charset="2"/>
              </a:rPr>
              <a:t> Phòng ban</a:t>
            </a:r>
            <a:endParaRPr lang="zh-CN" altLang="en-US" sz="1000" dirty="0">
              <a:ea typeface="微软雅黑" pitchFamily="34" charset="-122"/>
            </a:endParaRPr>
          </a:p>
        </p:txBody>
      </p:sp>
      <p:sp>
        <p:nvSpPr>
          <p:cNvPr id="11" name="TextBox 10"/>
          <p:cNvSpPr txBox="1"/>
          <p:nvPr/>
        </p:nvSpPr>
        <p:spPr>
          <a:xfrm>
            <a:off x="6786578" y="1720547"/>
            <a:ext cx="2071702" cy="3877985"/>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theo phòng ban.</a:t>
            </a:r>
            <a:endParaRPr lang="vi-VN" altLang="zh-CN" sz="1200" b="1">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đánh giá theo bộ phận,  phân biệt thực hiện đánh giá,  mã loại bảng đánh giá là mục lựa chọn,  nội dung bên trong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pic>
        <p:nvPicPr>
          <p:cNvPr id="4" name="Picture 3">
            <a:extLst>
              <a:ext uri="{FF2B5EF4-FFF2-40B4-BE49-F238E27FC236}">
                <a16:creationId xmlns="" xmlns:a16="http://schemas.microsoft.com/office/drawing/2014/main" id="{75C18C14-8F5D-473B-A548-5D35BC6F7784}"/>
              </a:ext>
            </a:extLst>
          </p:cNvPr>
          <p:cNvPicPr>
            <a:picLocks noChangeAspect="1"/>
          </p:cNvPicPr>
          <p:nvPr/>
        </p:nvPicPr>
        <p:blipFill>
          <a:blip r:embed="rId2"/>
          <a:stretch>
            <a:fillRect/>
          </a:stretch>
        </p:blipFill>
        <p:spPr>
          <a:xfrm>
            <a:off x="0" y="2219393"/>
            <a:ext cx="6660232" cy="2496368"/>
          </a:xfrm>
          <a:prstGeom prst="rect">
            <a:avLst/>
          </a:prstGeom>
        </p:spPr>
      </p:pic>
      <p:sp>
        <p:nvSpPr>
          <p:cNvPr id="5" name="TextBox 4">
            <a:extLst>
              <a:ext uri="{FF2B5EF4-FFF2-40B4-BE49-F238E27FC236}">
                <a16:creationId xmlns="" xmlns:a16="http://schemas.microsoft.com/office/drawing/2014/main" id="{2B61086E-66A2-4E33-A70B-B82309420C33}"/>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thành tích,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C11414DB-FD1A-49E8-A67A-9B4DFF5A88A5}"/>
              </a:ext>
            </a:extLst>
          </p:cNvPr>
          <p:cNvSpPr/>
          <p:nvPr/>
        </p:nvSpPr>
        <p:spPr>
          <a:xfrm>
            <a:off x="5724128" y="292494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9647D7F5-A356-42A7-BC8F-EE4CDE4A0896}"/>
              </a:ext>
            </a:extLst>
          </p:cNvPr>
          <p:cNvSpPr/>
          <p:nvPr/>
        </p:nvSpPr>
        <p:spPr>
          <a:xfrm>
            <a:off x="395536" y="2819905"/>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4221686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Quy trình đánh giá </a:t>
            </a:r>
            <a:r>
              <a:rPr lang="vi-VN" altLang="zh-CN" sz="1000">
                <a:ea typeface="微软雅黑" pitchFamily="34" charset="-122"/>
                <a:sym typeface="Wingdings" panose="05000000000000000000" pitchFamily="2" charset="2"/>
              </a:rPr>
              <a:t> Cá nhân</a:t>
            </a:r>
            <a:endParaRPr lang="zh-CN" altLang="en-US" sz="1000" dirty="0">
              <a:ea typeface="微软雅黑" pitchFamily="34" charset="-122"/>
            </a:endParaRPr>
          </a:p>
        </p:txBody>
      </p:sp>
      <p:sp>
        <p:nvSpPr>
          <p:cNvPr id="11" name="TextBox 10"/>
          <p:cNvSpPr txBox="1"/>
          <p:nvPr/>
        </p:nvSpPr>
        <p:spPr>
          <a:xfrm>
            <a:off x="6786578" y="1576531"/>
            <a:ext cx="2071702" cy="4247317"/>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theo cá nhân.</a:t>
            </a:r>
            <a:endParaRPr lang="vi-VN" altLang="zh-CN" sz="1200" b="1">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đánh giá theo cá nhân,  phân biệt thực hiện đánh giá,  bộ phận,  chức vụ,  hình thức tiêu chuẩn là mục lựa chọn,  nội dung bên trong ngoài bộ phận,  chức vụ đều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51D55FE5-27A1-46B9-915F-AF184B193569}"/>
              </a:ext>
            </a:extLst>
          </p:cNvPr>
          <p:cNvPicPr>
            <a:picLocks noChangeAspect="1"/>
          </p:cNvPicPr>
          <p:nvPr/>
        </p:nvPicPr>
        <p:blipFill>
          <a:blip r:embed="rId2"/>
          <a:stretch>
            <a:fillRect/>
          </a:stretch>
        </p:blipFill>
        <p:spPr>
          <a:xfrm>
            <a:off x="0" y="2095459"/>
            <a:ext cx="6660232" cy="2467114"/>
          </a:xfrm>
          <a:prstGeom prst="rect">
            <a:avLst/>
          </a:prstGeom>
        </p:spPr>
      </p:pic>
      <p:sp>
        <p:nvSpPr>
          <p:cNvPr id="5" name="TextBox 4">
            <a:extLst>
              <a:ext uri="{FF2B5EF4-FFF2-40B4-BE49-F238E27FC236}">
                <a16:creationId xmlns="" xmlns:a16="http://schemas.microsoft.com/office/drawing/2014/main" id="{25BD82C0-F7B8-421F-BEB0-D90834163207}"/>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thành tích,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B1372F00-49B2-4E89-A33B-15B017E58692}"/>
              </a:ext>
            </a:extLst>
          </p:cNvPr>
          <p:cNvSpPr/>
          <p:nvPr/>
        </p:nvSpPr>
        <p:spPr>
          <a:xfrm>
            <a:off x="5724128" y="2819905"/>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352BA615-79F2-4E0D-A404-E9C989FDC029}"/>
              </a:ext>
            </a:extLst>
          </p:cNvPr>
          <p:cNvSpPr/>
          <p:nvPr/>
        </p:nvSpPr>
        <p:spPr>
          <a:xfrm>
            <a:off x="755576" y="2636912"/>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969210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Cấp đánh giá</a:t>
            </a:r>
            <a:endParaRPr lang="zh-CN" altLang="en-US" sz="1000" dirty="0">
              <a:latin typeface="+mj-lt"/>
              <a:ea typeface="微软雅黑" pitchFamily="34" charset="-122"/>
            </a:endParaRPr>
          </a:p>
        </p:txBody>
      </p:sp>
      <p:sp>
        <p:nvSpPr>
          <p:cNvPr id="11" name="TextBox 10"/>
          <p:cNvSpPr txBox="1"/>
          <p:nvPr/>
        </p:nvSpPr>
        <p:spPr>
          <a:xfrm>
            <a:off x="6786578" y="1648539"/>
            <a:ext cx="2071702" cy="3693319"/>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mj-lt"/>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cấp bậc đánh giá</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tạo mới 1 hàng cấp bậc đánh giá mới,  phân loại,  ten cấp đánh giá là mục lựa chọn,  nội dung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2E2896B4-8AB5-4B0B-B005-D85383A6E699}"/>
              </a:ext>
            </a:extLst>
          </p:cNvPr>
          <p:cNvPicPr>
            <a:picLocks noChangeAspect="1"/>
          </p:cNvPicPr>
          <p:nvPr/>
        </p:nvPicPr>
        <p:blipFill>
          <a:blip r:embed="rId2"/>
          <a:stretch>
            <a:fillRect/>
          </a:stretch>
        </p:blipFill>
        <p:spPr>
          <a:xfrm>
            <a:off x="0" y="2206131"/>
            <a:ext cx="6660232" cy="2410789"/>
          </a:xfrm>
          <a:prstGeom prst="rect">
            <a:avLst/>
          </a:prstGeom>
        </p:spPr>
      </p:pic>
      <p:sp>
        <p:nvSpPr>
          <p:cNvPr id="5" name="TextBox 4">
            <a:extLst>
              <a:ext uri="{FF2B5EF4-FFF2-40B4-BE49-F238E27FC236}">
                <a16:creationId xmlns="" xmlns:a16="http://schemas.microsoft.com/office/drawing/2014/main" id="{69F16EAC-3667-4DB8-AF91-4D9509703823}"/>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662C727F-DAAA-42DF-8AFC-4BF05E0D992E}"/>
              </a:ext>
            </a:extLst>
          </p:cNvPr>
          <p:cNvSpPr/>
          <p:nvPr/>
        </p:nvSpPr>
        <p:spPr>
          <a:xfrm>
            <a:off x="5796136" y="292494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1E7539F9-8465-40E1-ADEC-EA6ABF17DF32}"/>
              </a:ext>
            </a:extLst>
          </p:cNvPr>
          <p:cNvSpPr/>
          <p:nvPr/>
        </p:nvSpPr>
        <p:spPr>
          <a:xfrm>
            <a:off x="69696" y="2747897"/>
            <a:ext cx="54186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323949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Cấp hạng mục đánh giá</a:t>
            </a:r>
            <a:endParaRPr lang="zh-CN" altLang="en-US" sz="1000" dirty="0">
              <a:ea typeface="微软雅黑" pitchFamily="34" charset="-122"/>
            </a:endParaRPr>
          </a:p>
        </p:txBody>
      </p:sp>
      <p:sp>
        <p:nvSpPr>
          <p:cNvPr id="11" name="TextBox 10"/>
          <p:cNvSpPr txBox="1"/>
          <p:nvPr/>
        </p:nvSpPr>
        <p:spPr>
          <a:xfrm>
            <a:off x="6786578" y="1535881"/>
            <a:ext cx="2071702" cy="3877985"/>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cấp hạng mục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1.Tạo mới :  tạo mới 1 hàng cấp bậc đánh giá mới,  phân loại,  tên cấp đánh giá là mục lựa chọn,  nội dung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F2344169-E575-4721-B0BF-B1F0E22B762B}"/>
              </a:ext>
            </a:extLst>
          </p:cNvPr>
          <p:cNvPicPr>
            <a:picLocks noChangeAspect="1"/>
          </p:cNvPicPr>
          <p:nvPr/>
        </p:nvPicPr>
        <p:blipFill>
          <a:blip r:embed="rId2"/>
          <a:stretch>
            <a:fillRect/>
          </a:stretch>
        </p:blipFill>
        <p:spPr>
          <a:xfrm>
            <a:off x="0" y="2031380"/>
            <a:ext cx="6786578" cy="2548693"/>
          </a:xfrm>
          <a:prstGeom prst="rect">
            <a:avLst/>
          </a:prstGeom>
        </p:spPr>
      </p:pic>
      <p:sp>
        <p:nvSpPr>
          <p:cNvPr id="5" name="TextBox 4">
            <a:extLst>
              <a:ext uri="{FF2B5EF4-FFF2-40B4-BE49-F238E27FC236}">
                <a16:creationId xmlns="" xmlns:a16="http://schemas.microsoft.com/office/drawing/2014/main" id="{F7606DAA-C5AE-4EF0-ADC7-61AF1931C8C4}"/>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0CB25882-6033-4F67-8A53-45D3B86F582D}"/>
              </a:ext>
            </a:extLst>
          </p:cNvPr>
          <p:cNvSpPr/>
          <p:nvPr/>
        </p:nvSpPr>
        <p:spPr>
          <a:xfrm>
            <a:off x="5920284" y="2780928"/>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27C73E4B-FE08-4E78-97AF-8E5F65D45F51}"/>
              </a:ext>
            </a:extLst>
          </p:cNvPr>
          <p:cNvSpPr/>
          <p:nvPr/>
        </p:nvSpPr>
        <p:spPr>
          <a:xfrm>
            <a:off x="539552" y="2603881"/>
            <a:ext cx="86409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387678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Đối t</a:t>
            </a:r>
            <a:r>
              <a:rPr lang="vi-VN" altLang="zh-CN" sz="1000">
                <a:latin typeface="Times New Roman" pitchFamily="18" charset="0"/>
                <a:ea typeface="微软雅黑" pitchFamily="34" charset="-122"/>
                <a:cs typeface="Times New Roman" pitchFamily="18" charset="0"/>
              </a:rPr>
              <a:t>ư</a:t>
            </a:r>
            <a:r>
              <a:rPr lang="en-US" altLang="zh-CN" sz="1000">
                <a:latin typeface="Times New Roman" pitchFamily="18" charset="0"/>
                <a:ea typeface="微软雅黑" pitchFamily="34" charset="-122"/>
                <a:cs typeface="Times New Roman" pitchFamily="18" charset="0"/>
              </a:rPr>
              <a:t>ợng đánh giá</a:t>
            </a:r>
            <a:endParaRPr lang="zh-CN" altLang="en-US" sz="1000" dirty="0">
              <a:ea typeface="微软雅黑" pitchFamily="34" charset="-122"/>
            </a:endParaRPr>
          </a:p>
        </p:txBody>
      </p:sp>
      <p:sp>
        <p:nvSpPr>
          <p:cNvPr id="11" name="TextBox 10"/>
          <p:cNvSpPr txBox="1"/>
          <p:nvPr/>
        </p:nvSpPr>
        <p:spPr>
          <a:xfrm>
            <a:off x="6786578" y="1216491"/>
            <a:ext cx="2071702" cy="3693319"/>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vi-VN" altLang="zh-CN" sz="1200" dirty="0">
                <a:latin typeface="+mj-lt"/>
                <a:ea typeface="微软雅黑" pitchFamily="34" charset="-122"/>
              </a:rPr>
              <a:t>Thiết </a:t>
            </a:r>
            <a:r>
              <a:rPr lang="vi-VN" altLang="zh-CN" sz="1200">
                <a:latin typeface="+mj-lt"/>
                <a:ea typeface="微软雅黑" pitchFamily="34" charset="-122"/>
              </a:rPr>
              <a:t>lập </a:t>
            </a:r>
            <a:r>
              <a:rPr lang="en-US" altLang="zh-CN" sz="1200">
                <a:latin typeface="Times New Roman" pitchFamily="18" charset="0"/>
                <a:ea typeface="微软雅黑" pitchFamily="34" charset="-122"/>
                <a:cs typeface="Times New Roman" pitchFamily="18" charset="0"/>
              </a:rPr>
              <a:t>đối tượng đánh giá</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Chức năng tạo mới là tạo mới đối tượng đánh giá, hình thức tiêu chuẩn là mục chọn lựa, nội dung bên trong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thêm, nhập thủ công</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CB095E6A-46DA-4CC7-B2D5-407CC8FED0EE}"/>
              </a:ext>
            </a:extLst>
          </p:cNvPr>
          <p:cNvPicPr>
            <a:picLocks noChangeAspect="1"/>
          </p:cNvPicPr>
          <p:nvPr/>
        </p:nvPicPr>
        <p:blipFill>
          <a:blip r:embed="rId2"/>
          <a:stretch>
            <a:fillRect/>
          </a:stretch>
        </p:blipFill>
        <p:spPr>
          <a:xfrm>
            <a:off x="0" y="1865951"/>
            <a:ext cx="6786578" cy="2320155"/>
          </a:xfrm>
          <a:prstGeom prst="rect">
            <a:avLst/>
          </a:prstGeom>
        </p:spPr>
      </p:pic>
      <p:sp>
        <p:nvSpPr>
          <p:cNvPr id="5" name="TextBox 4">
            <a:extLst>
              <a:ext uri="{FF2B5EF4-FFF2-40B4-BE49-F238E27FC236}">
                <a16:creationId xmlns="" xmlns:a16="http://schemas.microsoft.com/office/drawing/2014/main" id="{1FE4BFBF-A0E0-40FA-B02A-B7C3B57FE84A}"/>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89565B33-2703-4E34-B151-78881A8AD358}"/>
              </a:ext>
            </a:extLst>
          </p:cNvPr>
          <p:cNvSpPr/>
          <p:nvPr/>
        </p:nvSpPr>
        <p:spPr>
          <a:xfrm>
            <a:off x="5920284" y="2603881"/>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3AA34892-4F58-44D6-B6A8-9117FF15A4CE}"/>
              </a:ext>
            </a:extLst>
          </p:cNvPr>
          <p:cNvSpPr/>
          <p:nvPr/>
        </p:nvSpPr>
        <p:spPr>
          <a:xfrm>
            <a:off x="1331640" y="2426834"/>
            <a:ext cx="720080"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176011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Bảng đánh giá</a:t>
            </a:r>
            <a:endParaRPr lang="zh-CN" altLang="en-US" sz="1000" dirty="0">
              <a:ea typeface="微软雅黑" pitchFamily="34" charset="-122"/>
            </a:endParaRPr>
          </a:p>
        </p:txBody>
      </p:sp>
      <p:sp>
        <p:nvSpPr>
          <p:cNvPr id="11" name="TextBox 10"/>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bảng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thêm 1 dòng mới,  Trạng thái tiến hành đánh giá,  hình thức tiêu chuẩn bố trí theo như thiết lập hệ thống,  nội dung bên trong.</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61830A3B-3279-4FE0-AB49-7C5FF3E593B7}"/>
              </a:ext>
            </a:extLst>
          </p:cNvPr>
          <p:cNvPicPr>
            <a:picLocks noChangeAspect="1"/>
          </p:cNvPicPr>
          <p:nvPr/>
        </p:nvPicPr>
        <p:blipFill>
          <a:blip r:embed="rId2"/>
          <a:stretch>
            <a:fillRect/>
          </a:stretch>
        </p:blipFill>
        <p:spPr>
          <a:xfrm>
            <a:off x="0" y="2185341"/>
            <a:ext cx="6588224" cy="2252343"/>
          </a:xfrm>
          <a:prstGeom prst="rect">
            <a:avLst/>
          </a:prstGeom>
        </p:spPr>
      </p:pic>
      <p:sp>
        <p:nvSpPr>
          <p:cNvPr id="5" name="TextBox 4">
            <a:extLst>
              <a:ext uri="{FF2B5EF4-FFF2-40B4-BE49-F238E27FC236}">
                <a16:creationId xmlns="" xmlns:a16="http://schemas.microsoft.com/office/drawing/2014/main" id="{A68A3C3A-0B03-4706-8DB1-B421934851BC}"/>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CA1BD713-0176-48E2-9AA3-54B00FB10EF3}"/>
              </a:ext>
            </a:extLst>
          </p:cNvPr>
          <p:cNvSpPr/>
          <p:nvPr/>
        </p:nvSpPr>
        <p:spPr>
          <a:xfrm>
            <a:off x="5724128" y="2891913"/>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AAFE22CA-16D8-45D0-AD00-B884F3922E81}"/>
              </a:ext>
            </a:extLst>
          </p:cNvPr>
          <p:cNvSpPr/>
          <p:nvPr/>
        </p:nvSpPr>
        <p:spPr>
          <a:xfrm>
            <a:off x="1907704" y="2748278"/>
            <a:ext cx="56527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20103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Nhóm nhân viên</a:t>
            </a:r>
            <a:endParaRPr lang="zh-CN" altLang="en-US" sz="1000" dirty="0">
              <a:ea typeface="微软雅黑" pitchFamily="34" charset="-122"/>
            </a:endParaRPr>
          </a:p>
        </p:txBody>
      </p:sp>
      <p:sp>
        <p:nvSpPr>
          <p:cNvPr id="11" name="TextBox 10"/>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nhóm nhân viên</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tạo 1 dòng nhóm đánh giá mới,  hình thức tiêu chuẩn là mục lựa chọn,  nội dung bên trong bố trí theo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9384BC2E-AA9B-45F2-B714-8B62AA877C74}"/>
              </a:ext>
            </a:extLst>
          </p:cNvPr>
          <p:cNvPicPr>
            <a:picLocks noChangeAspect="1"/>
          </p:cNvPicPr>
          <p:nvPr/>
        </p:nvPicPr>
        <p:blipFill>
          <a:blip r:embed="rId2"/>
          <a:stretch>
            <a:fillRect/>
          </a:stretch>
        </p:blipFill>
        <p:spPr>
          <a:xfrm>
            <a:off x="0" y="2014645"/>
            <a:ext cx="6660232" cy="2525622"/>
          </a:xfrm>
          <a:prstGeom prst="rect">
            <a:avLst/>
          </a:prstGeom>
        </p:spPr>
      </p:pic>
      <p:sp>
        <p:nvSpPr>
          <p:cNvPr id="5" name="TextBox 4">
            <a:extLst>
              <a:ext uri="{FF2B5EF4-FFF2-40B4-BE49-F238E27FC236}">
                <a16:creationId xmlns="" xmlns:a16="http://schemas.microsoft.com/office/drawing/2014/main" id="{C2B27BAE-08B4-4470-A063-95F42C5820AB}"/>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D4399AB6-7154-4673-8CE8-329F6CF0B888}"/>
              </a:ext>
            </a:extLst>
          </p:cNvPr>
          <p:cNvSpPr/>
          <p:nvPr/>
        </p:nvSpPr>
        <p:spPr>
          <a:xfrm>
            <a:off x="5724128" y="274789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1272716F-714D-49B2-B388-E007DBF91F92}"/>
              </a:ext>
            </a:extLst>
          </p:cNvPr>
          <p:cNvSpPr/>
          <p:nvPr/>
        </p:nvSpPr>
        <p:spPr>
          <a:xfrm>
            <a:off x="2489163" y="2570850"/>
            <a:ext cx="56527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124147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Nhóm chức vụ</a:t>
            </a:r>
            <a:endParaRPr lang="zh-CN" altLang="en-US" sz="1000" dirty="0">
              <a:ea typeface="微软雅黑" pitchFamily="34" charset="-122"/>
            </a:endParaRPr>
          </a:p>
        </p:txBody>
      </p:sp>
      <p:sp>
        <p:nvSpPr>
          <p:cNvPr id="11" name="TextBox 10"/>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nh</a:t>
            </a:r>
            <a:r>
              <a:rPr lang="vi-VN" altLang="zh-CN" sz="1200">
                <a:latin typeface="Times New Roman" pitchFamily="18" charset="0"/>
                <a:ea typeface="微软雅黑" pitchFamily="34" charset="-122"/>
                <a:cs typeface="Times New Roman" pitchFamily="18" charset="0"/>
              </a:rPr>
              <a:t>óm chức vụ</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tạo 1 dòng nhóm đánh giá mới,  hình thức tiêu chuẩn là mục lựa chọn,  nội dung bên trong bố trí theo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F616A19E-D85D-4443-93CD-628C4DBBBBC3}"/>
              </a:ext>
            </a:extLst>
          </p:cNvPr>
          <p:cNvPicPr>
            <a:picLocks noChangeAspect="1"/>
          </p:cNvPicPr>
          <p:nvPr/>
        </p:nvPicPr>
        <p:blipFill>
          <a:blip r:embed="rId2"/>
          <a:stretch>
            <a:fillRect/>
          </a:stretch>
        </p:blipFill>
        <p:spPr>
          <a:xfrm>
            <a:off x="0" y="2185341"/>
            <a:ext cx="6786578" cy="2320155"/>
          </a:xfrm>
          <a:prstGeom prst="rect">
            <a:avLst/>
          </a:prstGeom>
        </p:spPr>
      </p:pic>
      <p:sp>
        <p:nvSpPr>
          <p:cNvPr id="5" name="TextBox 4">
            <a:extLst>
              <a:ext uri="{FF2B5EF4-FFF2-40B4-BE49-F238E27FC236}">
                <a16:creationId xmlns="" xmlns:a16="http://schemas.microsoft.com/office/drawing/2014/main" id="{B41449AB-2A00-42CD-879E-7D0561667B40}"/>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6" name="Rectangle 5">
            <a:extLst>
              <a:ext uri="{FF2B5EF4-FFF2-40B4-BE49-F238E27FC236}">
                <a16:creationId xmlns="" xmlns:a16="http://schemas.microsoft.com/office/drawing/2014/main" id="{78DAEF77-F9BB-40B2-BF0C-EEF092CBEA33}"/>
              </a:ext>
            </a:extLst>
          </p:cNvPr>
          <p:cNvSpPr/>
          <p:nvPr/>
        </p:nvSpPr>
        <p:spPr>
          <a:xfrm>
            <a:off x="5920284" y="292494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EBBD5462-916D-47E1-8CBD-1D9CC38E46F5}"/>
              </a:ext>
            </a:extLst>
          </p:cNvPr>
          <p:cNvSpPr/>
          <p:nvPr/>
        </p:nvSpPr>
        <p:spPr>
          <a:xfrm>
            <a:off x="3059832" y="2747897"/>
            <a:ext cx="56527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576768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Người đánh giá</a:t>
            </a:r>
            <a:endParaRPr lang="zh-CN" altLang="en-US" sz="1000" dirty="0">
              <a:ea typeface="微软雅黑" pitchFamily="34" charset="-122"/>
            </a:endParaRPr>
          </a:p>
        </p:txBody>
      </p:sp>
      <p:sp>
        <p:nvSpPr>
          <p:cNvPr id="11" name="TextBox 10"/>
          <p:cNvSpPr txBox="1"/>
          <p:nvPr/>
        </p:nvSpPr>
        <p:spPr>
          <a:xfrm>
            <a:off x="6786578" y="1535881"/>
            <a:ext cx="2071702" cy="4247317"/>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ng</a:t>
            </a:r>
            <a:r>
              <a:rPr lang="vi-VN" altLang="zh-CN" sz="1200">
                <a:latin typeface="Times New Roman" pitchFamily="18" charset="0"/>
                <a:ea typeface="微软雅黑" pitchFamily="34" charset="-122"/>
                <a:cs typeface="Times New Roman" pitchFamily="18" charset="0"/>
              </a:rPr>
              <a:t>ư</a:t>
            </a:r>
            <a:r>
              <a:rPr lang="en-US" altLang="zh-CN" sz="1200">
                <a:latin typeface="Times New Roman" pitchFamily="18" charset="0"/>
                <a:ea typeface="微软雅黑" pitchFamily="34" charset="-122"/>
                <a:cs typeface="Times New Roman" pitchFamily="18" charset="0"/>
              </a:rPr>
              <a:t>ời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thêm 1 hàng tiêu chuẩn người đánh giá,  CODE loại người đánh giá,  Nhóm đánh giá,  ID quy tắc( Rule),  Hình thức tiêu chuẩn là mục lựa chọn,  nội dung bên trong ngoài Nhóm chức vụ đều bố trí tại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D4AB17F7-8F15-449C-BBBD-69FDF7B0C92B}"/>
              </a:ext>
            </a:extLst>
          </p:cNvPr>
          <p:cNvPicPr>
            <a:picLocks noChangeAspect="1"/>
          </p:cNvPicPr>
          <p:nvPr/>
        </p:nvPicPr>
        <p:blipFill>
          <a:blip r:embed="rId2"/>
          <a:stretch>
            <a:fillRect/>
          </a:stretch>
        </p:blipFill>
        <p:spPr>
          <a:xfrm>
            <a:off x="0" y="1974481"/>
            <a:ext cx="6799085" cy="2638005"/>
          </a:xfrm>
          <a:prstGeom prst="rect">
            <a:avLst/>
          </a:prstGeom>
        </p:spPr>
      </p:pic>
      <p:sp>
        <p:nvSpPr>
          <p:cNvPr id="5" name="TextBox 4">
            <a:extLst>
              <a:ext uri="{FF2B5EF4-FFF2-40B4-BE49-F238E27FC236}">
                <a16:creationId xmlns="" xmlns:a16="http://schemas.microsoft.com/office/drawing/2014/main" id="{C1E7E369-6759-4713-939A-6D4357594E6B}"/>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8" name="Rectangle 7">
            <a:extLst>
              <a:ext uri="{FF2B5EF4-FFF2-40B4-BE49-F238E27FC236}">
                <a16:creationId xmlns="" xmlns:a16="http://schemas.microsoft.com/office/drawing/2014/main" id="{03663761-97C9-49D2-85AC-D673CFA0C873}"/>
              </a:ext>
            </a:extLst>
          </p:cNvPr>
          <p:cNvSpPr/>
          <p:nvPr/>
        </p:nvSpPr>
        <p:spPr>
          <a:xfrm>
            <a:off x="5920284" y="2708920"/>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9" name="Rectangle 8">
            <a:extLst>
              <a:ext uri="{FF2B5EF4-FFF2-40B4-BE49-F238E27FC236}">
                <a16:creationId xmlns="" xmlns:a16="http://schemas.microsoft.com/office/drawing/2014/main" id="{70C8D2A9-CDBC-4FAF-A5C9-5A2A9F129F29}"/>
              </a:ext>
            </a:extLst>
          </p:cNvPr>
          <p:cNvSpPr/>
          <p:nvPr/>
        </p:nvSpPr>
        <p:spPr>
          <a:xfrm>
            <a:off x="4067943" y="2554382"/>
            <a:ext cx="659439"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73924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Thiết lập tỷ lệ</a:t>
            </a:r>
            <a:endParaRPr lang="zh-CN" altLang="en-US" sz="1000" dirty="0">
              <a:ea typeface="微软雅黑" pitchFamily="34" charset="-122"/>
            </a:endParaRPr>
          </a:p>
        </p:txBody>
      </p:sp>
      <p:sp>
        <p:nvSpPr>
          <p:cNvPr id="11" name="TextBox 10"/>
          <p:cNvSpPr txBox="1"/>
          <p:nvPr/>
        </p:nvSpPr>
        <p:spPr>
          <a:xfrm>
            <a:off x="6786578" y="1216491"/>
            <a:ext cx="2177910" cy="4985980"/>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Quản lý tỷ lệ đánh giá,  tỷ lệ đánh giá là thiết lập tỉ lệ của cấp đánh giá trong hệ thống đánh giá. Trang này có thể thiết lập tỉ lệ đánh giá tiêu chuẩn NV,   tiêu chuẩn cơ sở do hệ thống tự động sinh ra,  có thể sửa</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vi-VN" altLang="zh-CN" sz="1200">
                <a:latin typeface="+mj-lt"/>
                <a:ea typeface="微软雅黑" pitchFamily="34" charset="-122"/>
              </a:rPr>
              <a:t>Tra cứu, sửa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Tiêu chuẩn NV là do người quản lý đánh giá nhập dữ liệu tỉ lệ đánh giá NV. Nếu có tiêu chuẩn NV,  hệ thống thực hiện tỉ lệ của thiết lập trong tiêu chuẩn NV,  nếu không có thực hiện tỉ lệ theo tiêu chuẩn cơ sở</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thêm,  nhập thủ công</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8B891E17-635C-4367-A452-FB9878C7F02E}"/>
              </a:ext>
            </a:extLst>
          </p:cNvPr>
          <p:cNvPicPr>
            <a:picLocks noChangeAspect="1"/>
          </p:cNvPicPr>
          <p:nvPr/>
        </p:nvPicPr>
        <p:blipFill>
          <a:blip r:embed="rId2"/>
          <a:stretch>
            <a:fillRect/>
          </a:stretch>
        </p:blipFill>
        <p:spPr>
          <a:xfrm>
            <a:off x="0" y="1628315"/>
            <a:ext cx="6786578" cy="2672898"/>
          </a:xfrm>
          <a:prstGeom prst="rect">
            <a:avLst/>
          </a:prstGeom>
        </p:spPr>
      </p:pic>
      <p:sp>
        <p:nvSpPr>
          <p:cNvPr id="6" name="Rectangle 5">
            <a:extLst>
              <a:ext uri="{FF2B5EF4-FFF2-40B4-BE49-F238E27FC236}">
                <a16:creationId xmlns="" xmlns:a16="http://schemas.microsoft.com/office/drawing/2014/main" id="{AB6D853C-7E3E-4991-881B-02653EB09C28}"/>
              </a:ext>
            </a:extLst>
          </p:cNvPr>
          <p:cNvSpPr/>
          <p:nvPr/>
        </p:nvSpPr>
        <p:spPr>
          <a:xfrm>
            <a:off x="6156176" y="2387857"/>
            <a:ext cx="57606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8" name="Rectangle 7">
            <a:extLst>
              <a:ext uri="{FF2B5EF4-FFF2-40B4-BE49-F238E27FC236}">
                <a16:creationId xmlns="" xmlns:a16="http://schemas.microsoft.com/office/drawing/2014/main" id="{138C34D2-1C5E-4512-B3CA-9AD3EA9513DC}"/>
              </a:ext>
            </a:extLst>
          </p:cNvPr>
          <p:cNvSpPr/>
          <p:nvPr/>
        </p:nvSpPr>
        <p:spPr>
          <a:xfrm>
            <a:off x="107504" y="2210810"/>
            <a:ext cx="720080"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4184507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dirty="0" smtClean="0">
                <a:latin typeface="+mj-lt"/>
                <a:ea typeface="微软雅黑" pitchFamily="34" charset="-122"/>
              </a:rPr>
              <a:t>Đối tượng đánh giá và người đánh giá</a:t>
            </a:r>
            <a:endParaRPr lang="zh-CN" altLang="en-US" sz="1000" dirty="0">
              <a:latin typeface="+mj-lt"/>
              <a:ea typeface="微软雅黑" pitchFamily="34" charset="-122"/>
            </a:endParaRPr>
          </a:p>
        </p:txBody>
      </p:sp>
      <p:sp>
        <p:nvSpPr>
          <p:cNvPr id="11" name="TextBox 10"/>
          <p:cNvSpPr txBox="1"/>
          <p:nvPr/>
        </p:nvSpPr>
        <p:spPr>
          <a:xfrm>
            <a:off x="6786578" y="404664"/>
            <a:ext cx="2071702" cy="6278642"/>
          </a:xfrm>
          <a:prstGeom prst="rect">
            <a:avLst/>
          </a:prstGeom>
          <a:noFill/>
        </p:spPr>
        <p:txBody>
          <a:bodyPr wrap="square" rtlCol="0">
            <a:spAutoFit/>
          </a:bodyPr>
          <a:lstStyle/>
          <a:p>
            <a:pPr algn="l">
              <a:spcBef>
                <a:spcPct val="50000"/>
              </a:spcBef>
            </a:pPr>
            <a:r>
              <a:rPr lang="vi-VN" altLang="zh-CN" sz="1200" b="1">
                <a:latin typeface="+mj-lt"/>
                <a:ea typeface="微软雅黑" pitchFamily="34" charset="-122"/>
              </a:rPr>
              <a:t>Công dụng: </a:t>
            </a:r>
            <a:endParaRPr lang="en-US" altLang="zh-CN" sz="1200" b="1">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Thiết lập đối tượng đánh giá và người đánh giá. Có thể dựa vào thiết lập quy tắc trước đây tự động sinh ra đối tượng đánh giá và người đánh giá</a:t>
            </a:r>
            <a:r>
              <a:rPr lang="vi-VN" altLang="zh-CN" sz="1200">
                <a:latin typeface="+mj-lt"/>
                <a:ea typeface="微软雅黑" pitchFamily="34" charset="-122"/>
              </a:rPr>
              <a:t>.</a:t>
            </a:r>
            <a:endParaRPr lang="zh-CN" altLang="en-US" sz="1200">
              <a:latin typeface="+mj-lt"/>
              <a:ea typeface="微软雅黑" pitchFamily="34" charset="-122"/>
            </a:endParaRPr>
          </a:p>
          <a:p>
            <a:pPr algn="l">
              <a:spcBef>
                <a:spcPct val="50000"/>
              </a:spcBef>
            </a:pPr>
            <a:r>
              <a:rPr lang="vi-VN" altLang="zh-CN" sz="1200" b="1">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Create target:  Dựa vào nội dung đã thiết lập đánh giá trước đây tự động  sinh ra đối tượng muốn đánh giá. Dựa vào quan hệ phòng ban tự động sinh ra người đánh giá,  kết quả hiển thị bên dưới. Có thể chỉnh sửa thủ công người đánh giá</a:t>
            </a:r>
          </a:p>
          <a:p>
            <a:pPr algn="l">
              <a:spcBef>
                <a:spcPct val="50000"/>
              </a:spcBef>
            </a:pPr>
            <a:r>
              <a:rPr lang="en-US" altLang="zh-CN" sz="1200">
                <a:latin typeface="Times New Roman" pitchFamily="18" charset="0"/>
                <a:ea typeface="微软雅黑" pitchFamily="34" charset="-122"/>
                <a:cs typeface="Times New Roman" pitchFamily="18" charset="0"/>
              </a:rPr>
              <a:t>   Đối tượng chưa sinh ra: </a:t>
            </a:r>
          </a:p>
          <a:p>
            <a:pPr algn="l">
              <a:spcBef>
                <a:spcPct val="50000"/>
              </a:spcBef>
            </a:pPr>
            <a:r>
              <a:rPr lang="en-US" altLang="zh-CN" sz="1200">
                <a:latin typeface="Times New Roman" pitchFamily="18" charset="0"/>
                <a:ea typeface="微软雅黑" pitchFamily="34" charset="-122"/>
                <a:cs typeface="Times New Roman" pitchFamily="18" charset="0"/>
              </a:rPr>
              <a:t>Tìm kiếm đối tượng đánh giá chưa sinh ra trong hệ thống</a:t>
            </a:r>
          </a:p>
          <a:p>
            <a:pPr algn="l">
              <a:spcBef>
                <a:spcPct val="50000"/>
              </a:spcBef>
            </a:pPr>
            <a:r>
              <a:rPr lang="en-US" altLang="zh-CN" sz="1200">
                <a:latin typeface="Times New Roman" pitchFamily="18" charset="0"/>
                <a:ea typeface="微软雅黑" pitchFamily="34" charset="-122"/>
                <a:cs typeface="Times New Roman" pitchFamily="18" charset="0"/>
              </a:rPr>
              <a:t>Tra cứu: Tra cứu theo họ tên,  mã CNV,  CMND,  phòng ban,  nhóm đánh giá</a:t>
            </a:r>
          </a:p>
          <a:p>
            <a:pPr algn="l">
              <a:spcBef>
                <a:spcPct val="50000"/>
              </a:spcBef>
            </a:pPr>
            <a:r>
              <a:rPr lang="en-US" altLang="zh-CN" sz="1200">
                <a:latin typeface="Times New Roman" pitchFamily="18" charset="0"/>
                <a:ea typeface="微软雅黑" pitchFamily="34" charset="-122"/>
                <a:cs typeface="Times New Roman" pitchFamily="18" charset="0"/>
              </a:rPr>
              <a:t>Tạo mới:  Tạo mưới 1 đối tượng đánh giá,  trong trang tự động sinh ra 1 hàng</a:t>
            </a:r>
          </a:p>
          <a:p>
            <a:pPr algn="l">
              <a:spcBef>
                <a:spcPct val="50000"/>
              </a:spcBef>
            </a:pPr>
            <a:r>
              <a:rPr lang="en-US" altLang="zh-CN" sz="1200">
                <a:latin typeface="Times New Roman" pitchFamily="18" charset="0"/>
                <a:ea typeface="微软雅黑" pitchFamily="34" charset="-122"/>
                <a:cs typeface="Times New Roman" pitchFamily="18" charset="0"/>
              </a:rPr>
              <a:t> Xóa: Xóa 1 đối tượng đánh giá</a:t>
            </a:r>
          </a:p>
          <a:p>
            <a:pPr algn="l">
              <a:spcBef>
                <a:spcPct val="50000"/>
              </a:spcBef>
            </a:pPr>
            <a:r>
              <a:rPr lang="vi-VN" altLang="zh-CN" sz="1200">
                <a:latin typeface="Times New Roman" pitchFamily="18" charset="0"/>
                <a:ea typeface="微软雅黑" pitchFamily="34" charset="-122"/>
                <a:cs typeface="Times New Roman" pitchFamily="18" charset="0"/>
              </a:rPr>
              <a:t>Lưu</a:t>
            </a:r>
            <a:r>
              <a:rPr lang="en-US" altLang="zh-CN" sz="1200">
                <a:latin typeface="Times New Roman" pitchFamily="18" charset="0"/>
                <a:ea typeface="微软雅黑" pitchFamily="34" charset="-122"/>
                <a:cs typeface="Times New Roman" pitchFamily="18" charset="0"/>
              </a:rPr>
              <a:t>: Các thao tác cần Lưu mới có hiệu lực</a:t>
            </a:r>
            <a:endParaRPr lang="en-US" altLang="zh-CN" sz="1200" dirty="0">
              <a:latin typeface="+mj-lt"/>
              <a:ea typeface="微软雅黑" pitchFamily="34" charset="-122"/>
            </a:endParaRPr>
          </a:p>
        </p:txBody>
      </p:sp>
      <p:pic>
        <p:nvPicPr>
          <p:cNvPr id="2" name="Picture 1">
            <a:extLst>
              <a:ext uri="{FF2B5EF4-FFF2-40B4-BE49-F238E27FC236}">
                <a16:creationId xmlns="" xmlns:a16="http://schemas.microsoft.com/office/drawing/2014/main" id="{7784F2F5-10BD-4AD0-9268-9E7702BFDFD0}"/>
              </a:ext>
            </a:extLst>
          </p:cNvPr>
          <p:cNvPicPr>
            <a:picLocks noChangeAspect="1"/>
          </p:cNvPicPr>
          <p:nvPr/>
        </p:nvPicPr>
        <p:blipFill>
          <a:blip r:embed="rId2"/>
          <a:stretch>
            <a:fillRect/>
          </a:stretch>
        </p:blipFill>
        <p:spPr>
          <a:xfrm>
            <a:off x="0" y="723341"/>
            <a:ext cx="6660232" cy="2993691"/>
          </a:xfrm>
          <a:prstGeom prst="rect">
            <a:avLst/>
          </a:prstGeom>
        </p:spPr>
      </p:pic>
      <p:pic>
        <p:nvPicPr>
          <p:cNvPr id="3" name="Picture 2">
            <a:extLst>
              <a:ext uri="{FF2B5EF4-FFF2-40B4-BE49-F238E27FC236}">
                <a16:creationId xmlns="" xmlns:a16="http://schemas.microsoft.com/office/drawing/2014/main" id="{DF2C0E4E-7011-4E67-A480-64F1C343EE72}"/>
              </a:ext>
            </a:extLst>
          </p:cNvPr>
          <p:cNvPicPr>
            <a:picLocks noChangeAspect="1"/>
          </p:cNvPicPr>
          <p:nvPr/>
        </p:nvPicPr>
        <p:blipFill>
          <a:blip r:embed="rId3"/>
          <a:stretch>
            <a:fillRect/>
          </a:stretch>
        </p:blipFill>
        <p:spPr>
          <a:xfrm>
            <a:off x="3989" y="3963950"/>
            <a:ext cx="6584235" cy="2193139"/>
          </a:xfrm>
          <a:prstGeom prst="rect">
            <a:avLst/>
          </a:prstGeom>
        </p:spPr>
      </p:pic>
      <p:sp>
        <p:nvSpPr>
          <p:cNvPr id="8" name="AutoShape 23">
            <a:extLst>
              <a:ext uri="{FF2B5EF4-FFF2-40B4-BE49-F238E27FC236}">
                <a16:creationId xmlns="" xmlns:a16="http://schemas.microsoft.com/office/drawing/2014/main" id="{20D72B93-DE29-442F-8671-55A5A1FD868F}"/>
              </a:ext>
            </a:extLst>
          </p:cNvPr>
          <p:cNvSpPr>
            <a:spLocks noChangeArrowheads="1"/>
          </p:cNvSpPr>
          <p:nvPr/>
        </p:nvSpPr>
        <p:spPr bwMode="auto">
          <a:xfrm>
            <a:off x="0" y="1628800"/>
            <a:ext cx="6584235" cy="1872208"/>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AutoShape 23">
            <a:extLst>
              <a:ext uri="{FF2B5EF4-FFF2-40B4-BE49-F238E27FC236}">
                <a16:creationId xmlns="" xmlns:a16="http://schemas.microsoft.com/office/drawing/2014/main" id="{F950FBA3-AD34-4C10-B128-CC2AEFB06E22}"/>
              </a:ext>
            </a:extLst>
          </p:cNvPr>
          <p:cNvSpPr>
            <a:spLocks noChangeArrowheads="1"/>
          </p:cNvSpPr>
          <p:nvPr/>
        </p:nvSpPr>
        <p:spPr bwMode="auto">
          <a:xfrm>
            <a:off x="0" y="1052736"/>
            <a:ext cx="6660232" cy="286322"/>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0" name="椭圆 23">
            <a:extLst>
              <a:ext uri="{FF2B5EF4-FFF2-40B4-BE49-F238E27FC236}">
                <a16:creationId xmlns="" xmlns:a16="http://schemas.microsoft.com/office/drawing/2014/main" id="{DBC946DA-9A98-4601-A470-DD0B85684667}"/>
              </a:ext>
            </a:extLst>
          </p:cNvPr>
          <p:cNvSpPr/>
          <p:nvPr/>
        </p:nvSpPr>
        <p:spPr>
          <a:xfrm>
            <a:off x="4139952" y="112474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2" name="椭圆 24">
            <a:extLst>
              <a:ext uri="{FF2B5EF4-FFF2-40B4-BE49-F238E27FC236}">
                <a16:creationId xmlns="" xmlns:a16="http://schemas.microsoft.com/office/drawing/2014/main" id="{8F45EFA7-679F-4CE4-9E80-2E5994883872}"/>
              </a:ext>
            </a:extLst>
          </p:cNvPr>
          <p:cNvSpPr/>
          <p:nvPr/>
        </p:nvSpPr>
        <p:spPr>
          <a:xfrm>
            <a:off x="5436096" y="306896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1300040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dirty="0">
                <a:ea typeface="微软雅黑" pitchFamily="34" charset="-122"/>
              </a:rPr>
              <a:t>Đối tượng đánh giá và người đánh giá</a:t>
            </a:r>
            <a:endParaRPr lang="zh-CN" altLang="en-US" sz="1000" dirty="0">
              <a:ea typeface="微软雅黑" pitchFamily="34" charset="-122"/>
            </a:endParaRPr>
          </a:p>
        </p:txBody>
      </p:sp>
      <p:sp>
        <p:nvSpPr>
          <p:cNvPr id="11" name="TextBox 10"/>
          <p:cNvSpPr txBox="1"/>
          <p:nvPr/>
        </p:nvSpPr>
        <p:spPr>
          <a:xfrm>
            <a:off x="6786578" y="1216491"/>
            <a:ext cx="2071702" cy="3508653"/>
          </a:xfrm>
          <a:prstGeom prst="rect">
            <a:avLst/>
          </a:prstGeom>
          <a:noFill/>
        </p:spPr>
        <p:txBody>
          <a:bodyPr wrap="square" rtlCol="0">
            <a:spAutoFit/>
          </a:bodyPr>
          <a:lstStyle/>
          <a:p>
            <a:pPr algn="l">
              <a:spcBef>
                <a:spcPct val="50000"/>
              </a:spcBef>
            </a:pPr>
            <a:r>
              <a:rPr lang="en-US" altLang="zh-CN" sz="1200">
                <a:latin typeface="Times New Roman" pitchFamily="18" charset="0"/>
                <a:ea typeface="微软雅黑" pitchFamily="34" charset="-122"/>
                <a:cs typeface="Times New Roman" pitchFamily="18" charset="0"/>
              </a:rPr>
              <a:t>Thiết lập đối tượng đánh giá và người đánh giá. Có thể dựa vào thiết lập quy tắc trước đây tự động sinh ra đối tượng đánh giá và người đánh giá</a:t>
            </a:r>
            <a:endParaRPr lang="en-US" altLang="zh-CN" sz="1200">
              <a:solidFill>
                <a:srgbClr val="FF0000"/>
              </a:solidFill>
              <a:latin typeface="Times New Roman" pitchFamily="18" charset="0"/>
              <a:ea typeface="微软雅黑" pitchFamily="34" charset="-122"/>
              <a:cs typeface="Times New Roman" pitchFamily="18" charset="0"/>
            </a:endParaRPr>
          </a:p>
          <a:p>
            <a:pPr algn="l">
              <a:spcBef>
                <a:spcPct val="50000"/>
              </a:spcBef>
            </a:pPr>
            <a:r>
              <a:rPr lang="vi-VN" altLang="zh-CN" sz="1200" b="1">
                <a:latin typeface="Times New Roman" pitchFamily="18" charset="0"/>
                <a:ea typeface="微软雅黑" pitchFamily="34" charset="-122"/>
                <a:cs typeface="Times New Roman" pitchFamily="18" charset="0"/>
              </a:rPr>
              <a:t>Chức năng</a:t>
            </a:r>
            <a:r>
              <a:rPr lang="zh-CN" altLang="en-US" sz="1200" b="1">
                <a:latin typeface="Times New Roman" pitchFamily="18" charset="0"/>
                <a:ea typeface="微软雅黑" pitchFamily="34" charset="-122"/>
                <a:cs typeface="Times New Roman" pitchFamily="18" charset="0"/>
              </a:rPr>
              <a:t>：</a:t>
            </a:r>
            <a:r>
              <a:rPr lang="en-US" altLang="zh-CN" sz="1200" b="1">
                <a:solidFill>
                  <a:srgbClr val="FF0000"/>
                </a:solidFill>
                <a:latin typeface="Times New Roman" pitchFamily="18" charset="0"/>
                <a:ea typeface="微软雅黑" pitchFamily="34" charset="-122"/>
                <a:cs typeface="Times New Roman" pitchFamily="18" charset="0"/>
              </a:rPr>
              <a:t>Tiếp trang trước</a:t>
            </a:r>
          </a:p>
          <a:p>
            <a:pPr algn="l">
              <a:spcBef>
                <a:spcPct val="50000"/>
              </a:spcBef>
            </a:pPr>
            <a:r>
              <a:rPr lang="en-US" altLang="zh-CN" sz="1200">
                <a:latin typeface="Times New Roman" pitchFamily="18" charset="0"/>
                <a:ea typeface="微软雅黑" pitchFamily="34" charset="-122"/>
                <a:cs typeface="Times New Roman" pitchFamily="18" charset="0"/>
              </a:rPr>
              <a:t>Thực hiện tất cả : thay đổi hàng loạt người đánh giá của mỗi giai đoạn, chọn giai đoạn đánh giá, chọn người đánh giá, click “Thực hiện tất cả” có thể thay đổi tất cả người đánh giá trong giai đoạn này</a:t>
            </a:r>
          </a:p>
          <a:p>
            <a:pPr algn="l">
              <a:spcBef>
                <a:spcPct val="50000"/>
              </a:spcBef>
            </a:pPr>
            <a:r>
              <a:rPr lang="en-US" altLang="zh-CN" sz="1200">
                <a:latin typeface="Times New Roman" pitchFamily="18" charset="0"/>
                <a:ea typeface="微软雅黑" pitchFamily="34" charset="-122"/>
                <a:cs typeface="Times New Roman" pitchFamily="18" charset="0"/>
              </a:rPr>
              <a:t>Bắt đầu đánh giá: Sau khi thiết lập xong, bắt đầu đánh giá lần này</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7784F2F5-10BD-4AD0-9268-9E7702BFDFD0}"/>
              </a:ext>
            </a:extLst>
          </p:cNvPr>
          <p:cNvPicPr>
            <a:picLocks noChangeAspect="1"/>
          </p:cNvPicPr>
          <p:nvPr/>
        </p:nvPicPr>
        <p:blipFill>
          <a:blip r:embed="rId2"/>
          <a:stretch>
            <a:fillRect/>
          </a:stretch>
        </p:blipFill>
        <p:spPr>
          <a:xfrm>
            <a:off x="0" y="723341"/>
            <a:ext cx="6660232" cy="2993691"/>
          </a:xfrm>
          <a:prstGeom prst="rect">
            <a:avLst/>
          </a:prstGeom>
        </p:spPr>
      </p:pic>
      <p:sp>
        <p:nvSpPr>
          <p:cNvPr id="6" name="TextBox 5">
            <a:extLst>
              <a:ext uri="{FF2B5EF4-FFF2-40B4-BE49-F238E27FC236}">
                <a16:creationId xmlns="" xmlns:a16="http://schemas.microsoft.com/office/drawing/2014/main" id="{2535ACF2-5E56-41F2-A977-F1DBE5D232A3}"/>
              </a:ext>
            </a:extLst>
          </p:cNvPr>
          <p:cNvSpPr txBox="1"/>
          <p:nvPr/>
        </p:nvSpPr>
        <p:spPr>
          <a:xfrm>
            <a:off x="231812" y="4222320"/>
            <a:ext cx="6408712" cy="1869743"/>
          </a:xfrm>
          <a:prstGeom prst="rect">
            <a:avLst/>
          </a:prstGeom>
          <a:noFill/>
        </p:spPr>
        <p:txBody>
          <a:bodyPr wrap="square" rtlCol="0">
            <a:spAutoFit/>
          </a:bodyPr>
          <a:lstStyle/>
          <a:p>
            <a:pPr algn="l">
              <a:spcBef>
                <a:spcPct val="50000"/>
              </a:spcBef>
            </a:pPr>
            <a:r>
              <a:rPr lang="vi-VN" altLang="zh-CN" sz="1100" b="1" dirty="0">
                <a:latin typeface="Times New Roman" pitchFamily="18" charset="0"/>
                <a:ea typeface="微软雅黑" pitchFamily="34" charset="-122"/>
                <a:cs typeface="Times New Roman" pitchFamily="18" charset="0"/>
              </a:rPr>
              <a:t>Chức năng</a:t>
            </a:r>
            <a:r>
              <a:rPr lang="zh-CN" altLang="en-US" sz="1100" b="1" dirty="0">
                <a:latin typeface="Times New Roman" pitchFamily="18" charset="0"/>
                <a:ea typeface="微软雅黑" pitchFamily="34" charset="-122"/>
                <a:cs typeface="Times New Roman" pitchFamily="18" charset="0"/>
              </a:rPr>
              <a:t>：</a:t>
            </a:r>
            <a:endParaRPr lang="en-US" altLang="zh-CN" sz="1100" b="1" dirty="0">
              <a:latin typeface="Times New Roman" pitchFamily="18" charset="0"/>
              <a:ea typeface="微软雅黑" pitchFamily="34" charset="-122"/>
              <a:cs typeface="Times New Roman" pitchFamily="18" charset="0"/>
            </a:endParaRPr>
          </a:p>
          <a:p>
            <a:pPr algn="l">
              <a:spcBef>
                <a:spcPct val="50000"/>
              </a:spcBef>
            </a:pPr>
            <a:r>
              <a:rPr lang="en-US" altLang="zh-CN" sz="1100" dirty="0">
                <a:latin typeface="Times New Roman" pitchFamily="18" charset="0"/>
                <a:ea typeface="微软雅黑" pitchFamily="34" charset="-122"/>
                <a:cs typeface="Times New Roman" pitchFamily="18" charset="0"/>
              </a:rPr>
              <a:t>1. EXCEL:  Kết xuất EXCEl,  cần chọn dữ liệu muốn kết xuất. Trang kết xuất như dưới đây. Sau khi kết xuất,  tài liệu EXCEL tự động mở. Hình thức kết xuất gồm 2 dạng:  1 loại ưu tiên tốc độ ( Hạng mục đều hiển thị) ,  1 loại ưu tiên mẫu( Nội dung hạng mục bên trong giống với dạng nôi dung trang hệ thống </a:t>
            </a:r>
            <a:endParaRPr lang="en-US" altLang="zh-CN" sz="1100" dirty="0">
              <a:solidFill>
                <a:srgbClr val="FF0000"/>
              </a:solidFill>
              <a:latin typeface="Times New Roman" pitchFamily="18" charset="0"/>
              <a:ea typeface="微软雅黑" pitchFamily="34" charset="-122"/>
              <a:cs typeface="Times New Roman" pitchFamily="18" charset="0"/>
            </a:endParaRPr>
          </a:p>
          <a:p>
            <a:pPr algn="l">
              <a:spcBef>
                <a:spcPct val="50000"/>
              </a:spcBef>
            </a:pPr>
            <a:r>
              <a:rPr lang="en-US" altLang="zh-CN" sz="1100" dirty="0">
                <a:latin typeface="Times New Roman" pitchFamily="18" charset="0"/>
                <a:ea typeface="微软雅黑" pitchFamily="34" charset="-122"/>
                <a:cs typeface="Times New Roman" pitchFamily="18" charset="0"/>
              </a:rPr>
              <a:t>2. </a:t>
            </a:r>
            <a:r>
              <a:rPr lang="en-US" altLang="zh-CN" sz="1100" dirty="0" err="1">
                <a:latin typeface="Times New Roman" pitchFamily="18" charset="0"/>
                <a:ea typeface="微软雅黑" pitchFamily="34" charset="-122"/>
                <a:cs typeface="Times New Roman" pitchFamily="18" charset="0"/>
              </a:rPr>
              <a:t>Khu</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dữ</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liệu</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có</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thể</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tìm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kiếm</a:t>
            </a:r>
            <a:r>
              <a:rPr lang="en-US" altLang="zh-CN" sz="1100" dirty="0">
                <a:latin typeface="Times New Roman" pitchFamily="18" charset="0"/>
                <a:ea typeface="微软雅黑" pitchFamily="34" charset="-122"/>
                <a:cs typeface="Times New Roman" pitchFamily="18" charset="0"/>
              </a:rPr>
              <a:t> NV </a:t>
            </a:r>
            <a:r>
              <a:rPr lang="en-US" altLang="zh-CN" sz="1100" dirty="0" err="1">
                <a:latin typeface="Times New Roman" pitchFamily="18" charset="0"/>
                <a:ea typeface="微软雅黑" pitchFamily="34" charset="-122"/>
                <a:cs typeface="Times New Roman" pitchFamily="18" charset="0"/>
              </a:rPr>
              <a:t>dựa</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vào</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họ</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tên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tự</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động</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hiển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thị</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chức</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vụ</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mã</a:t>
            </a:r>
            <a:r>
              <a:rPr lang="en-US" altLang="zh-CN" sz="1100" dirty="0">
                <a:latin typeface="Times New Roman" pitchFamily="18" charset="0"/>
                <a:ea typeface="微软雅黑" pitchFamily="34" charset="-122"/>
                <a:cs typeface="Times New Roman" pitchFamily="18" charset="0"/>
              </a:rPr>
              <a:t> CNV, </a:t>
            </a:r>
            <a:r>
              <a:rPr lang="en-US" altLang="zh-CN" sz="1100" dirty="0" err="1">
                <a:latin typeface="Times New Roman" pitchFamily="18" charset="0"/>
                <a:ea typeface="微软雅黑" pitchFamily="34" charset="-122"/>
                <a:cs typeface="Times New Roman" pitchFamily="18" charset="0"/>
              </a:rPr>
              <a:t>tên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phòng</a:t>
            </a:r>
            <a:r>
              <a:rPr lang="en-US" altLang="zh-CN" sz="1100" dirty="0">
                <a:latin typeface="Times New Roman" pitchFamily="18" charset="0"/>
                <a:ea typeface="微软雅黑" pitchFamily="34" charset="-122"/>
                <a:cs typeface="Times New Roman" pitchFamily="18" charset="0"/>
              </a:rPr>
              <a:t> ban, </a:t>
            </a:r>
            <a:r>
              <a:rPr lang="en-US" altLang="zh-CN" sz="1100" dirty="0" err="1">
                <a:latin typeface="Times New Roman" pitchFamily="18" charset="0"/>
                <a:ea typeface="微软雅黑" pitchFamily="34" charset="-122"/>
                <a:cs typeface="Times New Roman" pitchFamily="18" charset="0"/>
              </a:rPr>
              <a:t>ngày</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vào</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làm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bảng</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nhóm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CODE </a:t>
            </a:r>
            <a:r>
              <a:rPr lang="en-US" altLang="zh-CN" sz="1100" dirty="0" err="1">
                <a:latin typeface="Times New Roman" pitchFamily="18" charset="0"/>
                <a:ea typeface="微软雅黑" pitchFamily="34" charset="-122"/>
                <a:cs typeface="Times New Roman" pitchFamily="18" charset="0"/>
              </a:rPr>
              <a:t>phân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biệt</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là</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mục</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lựa</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chọn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nội</a:t>
            </a:r>
            <a:r>
              <a:rPr lang="en-US" altLang="zh-CN" sz="1100" dirty="0">
                <a:latin typeface="Times New Roman" pitchFamily="18" charset="0"/>
                <a:ea typeface="微软雅黑" pitchFamily="34" charset="-122"/>
                <a:cs typeface="Times New Roman" pitchFamily="18" charset="0"/>
              </a:rPr>
              <a:t> dung </a:t>
            </a:r>
            <a:r>
              <a:rPr lang="en-US" altLang="zh-CN" sz="1100" dirty="0" err="1">
                <a:latin typeface="Times New Roman" pitchFamily="18" charset="0"/>
                <a:ea typeface="微软雅黑" pitchFamily="34" charset="-122"/>
                <a:cs typeface="Times New Roman" pitchFamily="18" charset="0"/>
              </a:rPr>
              <a:t>xem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trang</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thiết</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lập</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hệ</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thống</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endParaRPr lang="en-US" altLang="zh-CN" sz="1100" dirty="0">
              <a:latin typeface="Times New Roman" pitchFamily="18" charset="0"/>
              <a:ea typeface="微软雅黑" pitchFamily="34" charset="-122"/>
              <a:cs typeface="Times New Roman" pitchFamily="18" charset="0"/>
            </a:endParaRPr>
          </a:p>
          <a:p>
            <a:pPr algn="l">
              <a:spcBef>
                <a:spcPct val="50000"/>
              </a:spcBef>
            </a:pPr>
            <a:r>
              <a:rPr lang="en-US" altLang="zh-CN" sz="1100" dirty="0" err="1">
                <a:latin typeface="Times New Roman" pitchFamily="18" charset="0"/>
                <a:ea typeface="微软雅黑" pitchFamily="34" charset="-122"/>
                <a:cs typeface="Times New Roman" pitchFamily="18" charset="0"/>
              </a:rPr>
              <a:t>Tên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người</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lần</a:t>
            </a:r>
            <a:r>
              <a:rPr lang="en-US" altLang="zh-CN" sz="1100" dirty="0">
                <a:latin typeface="Times New Roman" pitchFamily="18" charset="0"/>
                <a:ea typeface="微软雅黑" pitchFamily="34" charset="-122"/>
                <a:cs typeface="Times New Roman" pitchFamily="18" charset="0"/>
              </a:rPr>
              <a:t> 1, </a:t>
            </a:r>
            <a:r>
              <a:rPr lang="en-US" altLang="zh-CN" sz="1100" dirty="0" err="1">
                <a:latin typeface="Times New Roman" pitchFamily="18" charset="0"/>
                <a:ea typeface="微软雅黑" pitchFamily="34" charset="-122"/>
                <a:cs typeface="Times New Roman" pitchFamily="18" charset="0"/>
              </a:rPr>
              <a:t>người</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lần</a:t>
            </a:r>
            <a:r>
              <a:rPr lang="en-US" altLang="zh-CN" sz="1100" dirty="0">
                <a:latin typeface="Times New Roman" pitchFamily="18" charset="0"/>
                <a:ea typeface="微软雅黑" pitchFamily="34" charset="-122"/>
                <a:cs typeface="Times New Roman" pitchFamily="18" charset="0"/>
              </a:rPr>
              <a:t> 2, </a:t>
            </a:r>
            <a:r>
              <a:rPr lang="en-US" altLang="zh-CN" sz="1100" dirty="0" err="1">
                <a:latin typeface="Times New Roman" pitchFamily="18" charset="0"/>
                <a:ea typeface="微软雅黑" pitchFamily="34" charset="-122"/>
                <a:cs typeface="Times New Roman" pitchFamily="18" charset="0"/>
              </a:rPr>
              <a:t>người</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lần</a:t>
            </a:r>
            <a:r>
              <a:rPr lang="en-US" altLang="zh-CN" sz="1100" dirty="0">
                <a:latin typeface="Times New Roman" pitchFamily="18" charset="0"/>
                <a:ea typeface="微软雅黑" pitchFamily="34" charset="-122"/>
                <a:cs typeface="Times New Roman" pitchFamily="18" charset="0"/>
              </a:rPr>
              <a:t> 3 </a:t>
            </a:r>
            <a:r>
              <a:rPr lang="en-US" altLang="zh-CN" sz="1100" dirty="0" err="1">
                <a:latin typeface="Times New Roman" pitchFamily="18" charset="0"/>
                <a:ea typeface="微软雅黑" pitchFamily="34" charset="-122"/>
                <a:cs typeface="Times New Roman" pitchFamily="18" charset="0"/>
              </a:rPr>
              <a:t>đều</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có</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thể</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tìm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kiếm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tự</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động</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hiển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thị</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nội</a:t>
            </a:r>
            <a:r>
              <a:rPr lang="en-US" altLang="zh-CN" sz="1100" dirty="0">
                <a:latin typeface="Times New Roman" pitchFamily="18" charset="0"/>
                <a:ea typeface="微软雅黑" pitchFamily="34" charset="-122"/>
                <a:cs typeface="Times New Roman" pitchFamily="18" charset="0"/>
              </a:rPr>
              <a:t> dung </a:t>
            </a:r>
            <a:r>
              <a:rPr lang="en-US" altLang="zh-CN" sz="1100" dirty="0" err="1">
                <a:latin typeface="Times New Roman" pitchFamily="18" charset="0"/>
                <a:ea typeface="微软雅黑" pitchFamily="34" charset="-122"/>
                <a:cs typeface="Times New Roman" pitchFamily="18" charset="0"/>
              </a:rPr>
              <a:t>liên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quan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đến</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chức</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vụ</a:t>
            </a:r>
            <a:endParaRPr lang="en-US" altLang="zh-CN" sz="1100" dirty="0">
              <a:latin typeface="Times New Roman" pitchFamily="18" charset="0"/>
              <a:ea typeface="微软雅黑" pitchFamily="34" charset="-122"/>
              <a:cs typeface="Times New Roman" pitchFamily="18" charset="0"/>
            </a:endParaRPr>
          </a:p>
        </p:txBody>
      </p:sp>
      <p:sp>
        <p:nvSpPr>
          <p:cNvPr id="8" name="AutoShape 23">
            <a:extLst>
              <a:ext uri="{FF2B5EF4-FFF2-40B4-BE49-F238E27FC236}">
                <a16:creationId xmlns="" xmlns:a16="http://schemas.microsoft.com/office/drawing/2014/main" id="{14BC3853-1A2D-4C53-8A51-4D1BC1C55E7D}"/>
              </a:ext>
            </a:extLst>
          </p:cNvPr>
          <p:cNvSpPr>
            <a:spLocks noChangeArrowheads="1"/>
          </p:cNvSpPr>
          <p:nvPr/>
        </p:nvSpPr>
        <p:spPr bwMode="auto">
          <a:xfrm>
            <a:off x="0" y="1628800"/>
            <a:ext cx="6584235" cy="1872208"/>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AutoShape 23">
            <a:extLst>
              <a:ext uri="{FF2B5EF4-FFF2-40B4-BE49-F238E27FC236}">
                <a16:creationId xmlns="" xmlns:a16="http://schemas.microsoft.com/office/drawing/2014/main" id="{468307E7-A2C0-4981-8888-179F14838A88}"/>
              </a:ext>
            </a:extLst>
          </p:cNvPr>
          <p:cNvSpPr>
            <a:spLocks noChangeArrowheads="1"/>
          </p:cNvSpPr>
          <p:nvPr/>
        </p:nvSpPr>
        <p:spPr bwMode="auto">
          <a:xfrm>
            <a:off x="0" y="1052736"/>
            <a:ext cx="6660232" cy="286322"/>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0" name="椭圆 23">
            <a:extLst>
              <a:ext uri="{FF2B5EF4-FFF2-40B4-BE49-F238E27FC236}">
                <a16:creationId xmlns="" xmlns:a16="http://schemas.microsoft.com/office/drawing/2014/main" id="{7F4F2CBF-7EAC-4681-8049-21165191A04C}"/>
              </a:ext>
            </a:extLst>
          </p:cNvPr>
          <p:cNvSpPr/>
          <p:nvPr/>
        </p:nvSpPr>
        <p:spPr>
          <a:xfrm>
            <a:off x="4139952" y="112474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2" name="椭圆 24">
            <a:extLst>
              <a:ext uri="{FF2B5EF4-FFF2-40B4-BE49-F238E27FC236}">
                <a16:creationId xmlns="" xmlns:a16="http://schemas.microsoft.com/office/drawing/2014/main" id="{9C7227D2-8243-4273-A90C-A531BE515770}"/>
              </a:ext>
            </a:extLst>
          </p:cNvPr>
          <p:cNvSpPr/>
          <p:nvPr/>
        </p:nvSpPr>
        <p:spPr>
          <a:xfrm>
            <a:off x="5436096" y="306896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807636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dirty="0" smtClean="0">
                <a:latin typeface="+mj-lt"/>
                <a:ea typeface="微软雅黑" pitchFamily="34" charset="-122"/>
              </a:rPr>
              <a:t>Trạng thái đánh giá</a:t>
            </a:r>
            <a:endParaRPr lang="zh-CN" altLang="en-US" sz="1000" dirty="0">
              <a:latin typeface="+mj-lt"/>
              <a:ea typeface="微软雅黑" pitchFamily="34" charset="-122"/>
            </a:endParaRPr>
          </a:p>
        </p:txBody>
      </p:sp>
      <p:sp>
        <p:nvSpPr>
          <p:cNvPr id="11" name="TextBox 10"/>
          <p:cNvSpPr txBox="1"/>
          <p:nvPr/>
        </p:nvSpPr>
        <p:spPr>
          <a:xfrm>
            <a:off x="6786578" y="1216491"/>
            <a:ext cx="2071702" cy="3970318"/>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Thông qua trạng thái tiến hành mục tiêu đánh giá, có thể xem được tình trạng đánh giá của mỗi đối tượng</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marL="228600" indent="-228600" algn="l">
              <a:spcBef>
                <a:spcPct val="50000"/>
              </a:spcBef>
            </a:pPr>
            <a:r>
              <a:rPr lang="en-US" altLang="zh-CN" sz="1200">
                <a:latin typeface="Times New Roman" pitchFamily="18" charset="0"/>
                <a:ea typeface="微软雅黑" pitchFamily="34" charset="-122"/>
                <a:cs typeface="Times New Roman" pitchFamily="18" charset="0"/>
              </a:rPr>
              <a:t>1. Tra cứu bảng đánh giá và in: tra cứu người đánh giá và kết xuất nội dung</a:t>
            </a:r>
          </a:p>
          <a:p>
            <a:pPr algn="l">
              <a:spcBef>
                <a:spcPct val="50000"/>
              </a:spcBef>
            </a:pPr>
            <a:r>
              <a:rPr lang="en-US" altLang="zh-CN" sz="1200">
                <a:latin typeface="Times New Roman" pitchFamily="18" charset="0"/>
                <a:ea typeface="微软雅黑" pitchFamily="34" charset="-122"/>
                <a:cs typeface="Times New Roman" pitchFamily="18" charset="0"/>
              </a:rPr>
              <a:t>Tra cứu: Tra cứu theo Họ tên, Mã CNV, CMND, phòng ban, nhóm đánh giá</a:t>
            </a:r>
          </a:p>
          <a:p>
            <a:pPr algn="l">
              <a:spcBef>
                <a:spcPct val="50000"/>
              </a:spcBef>
            </a:pPr>
            <a:r>
              <a:rPr lang="en-US" altLang="zh-CN" sz="1200">
                <a:latin typeface="Times New Roman" pitchFamily="18" charset="0"/>
                <a:ea typeface="微软雅黑" pitchFamily="34" charset="-122"/>
                <a:cs typeface="Times New Roman" pitchFamily="18" charset="0"/>
              </a:rPr>
              <a:t>EXCEL</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Kết xuất EXCEL</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Chọn mỗi số trong mục đánh giá mở ra trang chi tiết, xem nội dung cụ thể trong đó. Nội dung chi tiết xem trang sau.</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BF3C3457-E237-4DC5-9C58-BF70EA765920}"/>
              </a:ext>
            </a:extLst>
          </p:cNvPr>
          <p:cNvPicPr>
            <a:picLocks noChangeAspect="1"/>
          </p:cNvPicPr>
          <p:nvPr/>
        </p:nvPicPr>
        <p:blipFill>
          <a:blip r:embed="rId2"/>
          <a:stretch>
            <a:fillRect/>
          </a:stretch>
        </p:blipFill>
        <p:spPr>
          <a:xfrm>
            <a:off x="0" y="1454495"/>
            <a:ext cx="6786578" cy="2930913"/>
          </a:xfrm>
          <a:prstGeom prst="rect">
            <a:avLst/>
          </a:prstGeom>
        </p:spPr>
      </p:pic>
      <p:sp>
        <p:nvSpPr>
          <p:cNvPr id="5" name="AutoShape 23">
            <a:extLst>
              <a:ext uri="{FF2B5EF4-FFF2-40B4-BE49-F238E27FC236}">
                <a16:creationId xmlns="" xmlns:a16="http://schemas.microsoft.com/office/drawing/2014/main" id="{376B853E-39AE-483C-956D-26F2DECF5825}"/>
              </a:ext>
            </a:extLst>
          </p:cNvPr>
          <p:cNvSpPr>
            <a:spLocks noChangeArrowheads="1"/>
          </p:cNvSpPr>
          <p:nvPr/>
        </p:nvSpPr>
        <p:spPr bwMode="auto">
          <a:xfrm>
            <a:off x="3853630" y="2357430"/>
            <a:ext cx="502346" cy="1935666"/>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6" name="椭圆 24">
            <a:extLst>
              <a:ext uri="{FF2B5EF4-FFF2-40B4-BE49-F238E27FC236}">
                <a16:creationId xmlns="" xmlns:a16="http://schemas.microsoft.com/office/drawing/2014/main" id="{D0B0FBF0-28E1-48FA-8B76-FAC411412DDF}"/>
              </a:ext>
            </a:extLst>
          </p:cNvPr>
          <p:cNvSpPr/>
          <p:nvPr/>
        </p:nvSpPr>
        <p:spPr>
          <a:xfrm>
            <a:off x="5206309" y="1886528"/>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8" name="AutoShape 23">
            <a:extLst>
              <a:ext uri="{FF2B5EF4-FFF2-40B4-BE49-F238E27FC236}">
                <a16:creationId xmlns="" xmlns:a16="http://schemas.microsoft.com/office/drawing/2014/main" id="{CCEB5496-B55A-4DAB-80DE-FEA5CB89D37F}"/>
              </a:ext>
            </a:extLst>
          </p:cNvPr>
          <p:cNvSpPr>
            <a:spLocks noChangeArrowheads="1"/>
          </p:cNvSpPr>
          <p:nvPr/>
        </p:nvSpPr>
        <p:spPr bwMode="auto">
          <a:xfrm>
            <a:off x="-13764" y="1742512"/>
            <a:ext cx="6786577" cy="614918"/>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椭圆 9">
            <a:extLst>
              <a:ext uri="{FF2B5EF4-FFF2-40B4-BE49-F238E27FC236}">
                <a16:creationId xmlns="" xmlns:a16="http://schemas.microsoft.com/office/drawing/2014/main" id="{EF95D88D-C552-4C29-B165-31FC294414B2}"/>
              </a:ext>
            </a:extLst>
          </p:cNvPr>
          <p:cNvSpPr/>
          <p:nvPr/>
        </p:nvSpPr>
        <p:spPr>
          <a:xfrm>
            <a:off x="3996506" y="307181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933511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dirty="0" smtClean="0">
                <a:latin typeface="+mj-lt"/>
                <a:ea typeface="微软雅黑" pitchFamily="34" charset="-122"/>
              </a:rPr>
              <a:t>Kết quả đánh giá</a:t>
            </a:r>
            <a:endParaRPr lang="zh-CN" altLang="en-US" sz="1000" dirty="0">
              <a:latin typeface="+mj-lt"/>
              <a:ea typeface="微软雅黑" pitchFamily="34" charset="-122"/>
            </a:endParaRPr>
          </a:p>
        </p:txBody>
      </p:sp>
      <p:sp>
        <p:nvSpPr>
          <p:cNvPr id="11" name="TextBox 10"/>
          <p:cNvSpPr txBox="1"/>
          <p:nvPr/>
        </p:nvSpPr>
        <p:spPr>
          <a:xfrm>
            <a:off x="6786578" y="1216491"/>
            <a:ext cx="2071702" cy="4524315"/>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Ti</a:t>
            </a:r>
            <a:r>
              <a:rPr lang="vi-VN" altLang="zh-CN" sz="1200">
                <a:latin typeface="Times New Roman" panose="02020603050405020304" pitchFamily="18" charset="0"/>
                <a:ea typeface="微软雅黑" pitchFamily="34" charset="-122"/>
                <a:cs typeface="Times New Roman" panose="02020603050405020304" pitchFamily="18" charset="0"/>
              </a:rPr>
              <a:t>ến hành xác nh</a:t>
            </a:r>
            <a:r>
              <a:rPr lang="en-US" altLang="zh-CN" sz="1200">
                <a:latin typeface="Times New Roman" panose="02020603050405020304" pitchFamily="18" charset="0"/>
                <a:ea typeface="微软雅黑" pitchFamily="34" charset="-122"/>
                <a:cs typeface="Times New Roman" panose="02020603050405020304" pitchFamily="18" charset="0"/>
              </a:rPr>
              <a:t>ận l</a:t>
            </a:r>
            <a:r>
              <a:rPr lang="vi-VN" altLang="zh-CN" sz="1200">
                <a:latin typeface="Times New Roman" panose="02020603050405020304" pitchFamily="18" charset="0"/>
                <a:ea typeface="微软雅黑" pitchFamily="34" charset="-122"/>
                <a:cs typeface="Times New Roman" panose="02020603050405020304" pitchFamily="18" charset="0"/>
              </a:rPr>
              <a:t>ần cu</a:t>
            </a:r>
            <a:r>
              <a:rPr lang="en-US" altLang="zh-CN" sz="1200">
                <a:latin typeface="Times New Roman" panose="02020603050405020304" pitchFamily="18" charset="0"/>
                <a:ea typeface="微软雅黑" pitchFamily="34" charset="-122"/>
                <a:cs typeface="Times New Roman" panose="02020603050405020304" pitchFamily="18" charset="0"/>
              </a:rPr>
              <a:t>ối </a:t>
            </a:r>
            <a:r>
              <a:rPr lang="vi-VN" altLang="zh-CN" sz="1200">
                <a:latin typeface="Times New Roman" panose="02020603050405020304" pitchFamily="18" charset="0"/>
                <a:ea typeface="微软雅黑" pitchFamily="34" charset="-122"/>
                <a:cs typeface="Times New Roman" panose="02020603050405020304" pitchFamily="18" charset="0"/>
              </a:rPr>
              <a:t>đ</a:t>
            </a:r>
            <a:r>
              <a:rPr lang="en-US" altLang="zh-CN" sz="1200">
                <a:latin typeface="Times New Roman" panose="02020603050405020304" pitchFamily="18" charset="0"/>
                <a:ea typeface="微软雅黑" pitchFamily="34" charset="-122"/>
                <a:cs typeface="Times New Roman" panose="02020603050405020304" pitchFamily="18" charset="0"/>
              </a:rPr>
              <a:t>ối v</a:t>
            </a:r>
            <a:r>
              <a:rPr lang="vi-VN" altLang="zh-CN" sz="1200">
                <a:latin typeface="Times New Roman" panose="02020603050405020304" pitchFamily="18" charset="0"/>
                <a:ea typeface="微软雅黑" pitchFamily="34" charset="-122"/>
                <a:cs typeface="Times New Roman" panose="02020603050405020304" pitchFamily="18" charset="0"/>
              </a:rPr>
              <a:t>ới k</a:t>
            </a:r>
            <a:r>
              <a:rPr lang="en-US" altLang="zh-CN" sz="1200">
                <a:latin typeface="Times New Roman" panose="02020603050405020304" pitchFamily="18" charset="0"/>
                <a:ea typeface="微软雅黑" pitchFamily="34" charset="-122"/>
                <a:cs typeface="Times New Roman" panose="02020603050405020304" pitchFamily="18" charset="0"/>
              </a:rPr>
              <a:t>ết qu</a:t>
            </a:r>
            <a:r>
              <a:rPr lang="vi-VN" altLang="zh-CN" sz="1200">
                <a:latin typeface="Times New Roman" panose="02020603050405020304" pitchFamily="18" charset="0"/>
                <a:ea typeface="微软雅黑" pitchFamily="34" charset="-122"/>
                <a:cs typeface="Times New Roman" panose="02020603050405020304" pitchFamily="18" charset="0"/>
              </a:rPr>
              <a:t>ả </a:t>
            </a:r>
            <a:r>
              <a:rPr lang="en-US" altLang="zh-CN" sz="1200">
                <a:latin typeface="Times New Roman" panose="02020603050405020304" pitchFamily="18" charset="0"/>
                <a:ea typeface="微软雅黑" pitchFamily="34" charset="-122"/>
                <a:cs typeface="Times New Roman" panose="02020603050405020304" pitchFamily="18" charset="0"/>
              </a:rPr>
              <a:t>đ</a:t>
            </a:r>
            <a:r>
              <a:rPr lang="vi-VN" altLang="zh-CN" sz="1200">
                <a:latin typeface="Times New Roman" panose="02020603050405020304" pitchFamily="18" charset="0"/>
                <a:ea typeface="微软雅黑" pitchFamily="34" charset="-122"/>
                <a:cs typeface="Times New Roman" panose="02020603050405020304" pitchFamily="18" charset="0"/>
              </a:rPr>
              <a:t>ánh gi</a:t>
            </a:r>
            <a:r>
              <a:rPr lang="en-US" altLang="zh-CN" sz="1200">
                <a:latin typeface="Times New Roman" panose="02020603050405020304" pitchFamily="18" charset="0"/>
                <a:ea typeface="微软雅黑" pitchFamily="34" charset="-122"/>
                <a:cs typeface="Times New Roman" panose="02020603050405020304" pitchFamily="18" charset="0"/>
              </a:rPr>
              <a:t>á của đánh giá thành tích, C</a:t>
            </a:r>
            <a:r>
              <a:rPr lang="vi-VN" altLang="zh-CN" sz="1200">
                <a:latin typeface="Times New Roman" panose="02020603050405020304" pitchFamily="18" charset="0"/>
                <a:ea typeface="微软雅黑" pitchFamily="34" charset="-122"/>
                <a:cs typeface="Times New Roman" panose="02020603050405020304" pitchFamily="18" charset="0"/>
              </a:rPr>
              <a:t>ó thể sửa k</a:t>
            </a:r>
            <a:r>
              <a:rPr lang="en-US" altLang="zh-CN" sz="1200">
                <a:latin typeface="Times New Roman" panose="02020603050405020304" pitchFamily="18" charset="0"/>
                <a:ea typeface="微软雅黑" pitchFamily="34" charset="-122"/>
                <a:cs typeface="Times New Roman" panose="02020603050405020304" pitchFamily="18" charset="0"/>
              </a:rPr>
              <a:t>ết qu</a:t>
            </a:r>
            <a:r>
              <a:rPr lang="vi-VN" altLang="zh-CN" sz="1200">
                <a:latin typeface="Times New Roman" panose="02020603050405020304" pitchFamily="18" charset="0"/>
                <a:ea typeface="微软雅黑" pitchFamily="34" charset="-122"/>
                <a:cs typeface="Times New Roman" panose="02020603050405020304" pitchFamily="18" charset="0"/>
              </a:rPr>
              <a:t>ả l</a:t>
            </a:r>
            <a:r>
              <a:rPr lang="en-US" altLang="zh-CN" sz="1200">
                <a:latin typeface="Times New Roman" panose="02020603050405020304" pitchFamily="18" charset="0"/>
                <a:ea typeface="微软雅黑" pitchFamily="34" charset="-122"/>
                <a:cs typeface="Times New Roman" panose="02020603050405020304" pitchFamily="18" charset="0"/>
              </a:rPr>
              <a:t>ần cu</a:t>
            </a:r>
            <a:r>
              <a:rPr lang="vi-VN" altLang="zh-CN" sz="1200">
                <a:latin typeface="Times New Roman" panose="02020603050405020304" pitchFamily="18" charset="0"/>
                <a:ea typeface="微软雅黑" pitchFamily="34" charset="-122"/>
                <a:cs typeface="Times New Roman" panose="02020603050405020304" pitchFamily="18" charset="0"/>
              </a:rPr>
              <a:t>ối. Hoàn th</a:t>
            </a:r>
            <a:r>
              <a:rPr lang="en-US" altLang="zh-CN" sz="1200">
                <a:latin typeface="Times New Roman" panose="02020603050405020304" pitchFamily="18" charset="0"/>
                <a:ea typeface="微软雅黑" pitchFamily="34" charset="-122"/>
                <a:cs typeface="Times New Roman" panose="02020603050405020304" pitchFamily="18" charset="0"/>
              </a:rPr>
              <a:t>ành vi</a:t>
            </a:r>
            <a:r>
              <a:rPr lang="vi-VN" altLang="zh-CN" sz="1200">
                <a:latin typeface="Times New Roman" panose="02020603050405020304" pitchFamily="18" charset="0"/>
                <a:ea typeface="微软雅黑" pitchFamily="34" charset="-122"/>
                <a:cs typeface="Times New Roman" panose="02020603050405020304" pitchFamily="18" charset="0"/>
              </a:rPr>
              <a:t>ệc </a:t>
            </a:r>
            <a:r>
              <a:rPr lang="en-US" altLang="zh-CN" sz="1200">
                <a:latin typeface="Times New Roman" panose="02020603050405020304" pitchFamily="18" charset="0"/>
                <a:ea typeface="微软雅黑" pitchFamily="34" charset="-122"/>
                <a:cs typeface="Times New Roman" panose="02020603050405020304" pitchFamily="18" charset="0"/>
              </a:rPr>
              <a:t>đánh gi</a:t>
            </a:r>
            <a:r>
              <a:rPr lang="vi-VN" altLang="zh-CN" sz="1200">
                <a:latin typeface="Times New Roman" panose="02020603050405020304" pitchFamily="18" charset="0"/>
                <a:ea typeface="微软雅黑" pitchFamily="34" charset="-122"/>
                <a:cs typeface="Times New Roman" panose="02020603050405020304" pitchFamily="18" charset="0"/>
              </a:rPr>
              <a:t>á</a:t>
            </a:r>
            <a:r>
              <a:rPr lang="en-US" altLang="zh-CN" sz="1200" b="1">
                <a:latin typeface="Times New Roman" panose="02020603050405020304" pitchFamily="18" charset="0"/>
                <a:ea typeface="微软雅黑" pitchFamily="34" charset="-122"/>
                <a:cs typeface="Times New Roman" panose="02020603050405020304" pitchFamily="18" charset="0"/>
              </a:rPr>
              <a:t>. </a:t>
            </a:r>
            <a:endParaRPr lang="en-US" altLang="zh-CN" sz="1200" b="1">
              <a:solidFill>
                <a:srgbClr val="FF0000"/>
              </a:solidFill>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200" b="1">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1.</a:t>
            </a:r>
            <a:r>
              <a:rPr lang="zh-CN" altLang="en-US" sz="1200">
                <a:latin typeface="Times New Roman" panose="02020603050405020304" pitchFamily="18" charset="0"/>
                <a:ea typeface="微软雅黑" pitchFamily="34" charset="-122"/>
                <a:cs typeface="Times New Roman" panose="02020603050405020304" pitchFamily="18" charset="0"/>
              </a:rPr>
              <a:t> </a:t>
            </a:r>
            <a:r>
              <a:rPr lang="vi-VN" altLang="zh-CN" sz="1200">
                <a:latin typeface="Times New Roman" panose="02020603050405020304" pitchFamily="18" charset="0"/>
                <a:ea typeface="微软雅黑" pitchFamily="34" charset="-122"/>
                <a:cs typeface="Times New Roman" panose="02020603050405020304" pitchFamily="18" charset="0"/>
              </a:rPr>
              <a:t>Xác nh</a:t>
            </a:r>
            <a:r>
              <a:rPr lang="en-US" altLang="zh-CN" sz="1200">
                <a:latin typeface="Times New Roman" panose="02020603050405020304" pitchFamily="18" charset="0"/>
                <a:ea typeface="微软雅黑" pitchFamily="34" charset="-122"/>
                <a:cs typeface="Times New Roman" panose="02020603050405020304" pitchFamily="18" charset="0"/>
              </a:rPr>
              <a:t>ận cấp phản ứng: </a:t>
            </a:r>
            <a:r>
              <a:rPr lang="vi-VN" altLang="zh-CN" sz="1200">
                <a:latin typeface="Times New Roman" panose="02020603050405020304" pitchFamily="18" charset="0"/>
                <a:ea typeface="微软雅黑" pitchFamily="34" charset="-122"/>
                <a:cs typeface="Times New Roman" panose="02020603050405020304" pitchFamily="18" charset="0"/>
              </a:rPr>
              <a:t>đ</a:t>
            </a:r>
            <a:r>
              <a:rPr lang="en-US" altLang="zh-CN" sz="1200">
                <a:latin typeface="Times New Roman" panose="02020603050405020304" pitchFamily="18" charset="0"/>
                <a:ea typeface="微软雅黑" pitchFamily="34" charset="-122"/>
                <a:cs typeface="Times New Roman" panose="02020603050405020304" pitchFamily="18" charset="0"/>
              </a:rPr>
              <a:t>em k</a:t>
            </a:r>
            <a:r>
              <a:rPr lang="vi-VN" altLang="zh-CN" sz="1200">
                <a:latin typeface="Times New Roman" panose="02020603050405020304" pitchFamily="18" charset="0"/>
                <a:ea typeface="微软雅黑" pitchFamily="34" charset="-122"/>
                <a:cs typeface="Times New Roman" panose="02020603050405020304" pitchFamily="18" charset="0"/>
              </a:rPr>
              <a:t>ết </a:t>
            </a:r>
            <a:r>
              <a:rPr lang="en-US" altLang="zh-CN" sz="1200">
                <a:latin typeface="Times New Roman" panose="02020603050405020304" pitchFamily="18" charset="0"/>
                <a:ea typeface="微软雅黑" pitchFamily="34" charset="-122"/>
                <a:cs typeface="Times New Roman" panose="02020603050405020304" pitchFamily="18" charset="0"/>
              </a:rPr>
              <a:t>đánh gi</a:t>
            </a:r>
            <a:r>
              <a:rPr lang="vi-VN" altLang="zh-CN" sz="1200">
                <a:latin typeface="Times New Roman" panose="02020603050405020304" pitchFamily="18" charset="0"/>
                <a:ea typeface="微软雅黑" pitchFamily="34" charset="-122"/>
                <a:cs typeface="Times New Roman" panose="02020603050405020304" pitchFamily="18" charset="0"/>
              </a:rPr>
              <a:t>á l</a:t>
            </a:r>
            <a:r>
              <a:rPr lang="en-US" altLang="zh-CN" sz="1200">
                <a:latin typeface="Times New Roman" panose="02020603050405020304" pitchFamily="18" charset="0"/>
                <a:ea typeface="微软雅黑" pitchFamily="34" charset="-122"/>
                <a:cs typeface="Times New Roman" panose="02020603050405020304" pitchFamily="18" charset="0"/>
              </a:rPr>
              <a:t>ần cuối</a:t>
            </a:r>
            <a:r>
              <a:rPr lang="vi-VN" altLang="zh-CN" sz="1200">
                <a:latin typeface="Times New Roman" panose="02020603050405020304" pitchFamily="18" charset="0"/>
                <a:ea typeface="微软雅黑" pitchFamily="34" charset="-122"/>
                <a:cs typeface="Times New Roman" panose="02020603050405020304" pitchFamily="18" charset="0"/>
              </a:rPr>
              <a:t> làm k</a:t>
            </a:r>
            <a:r>
              <a:rPr lang="en-US" altLang="zh-CN" sz="1200">
                <a:latin typeface="Times New Roman" panose="02020603050405020304" pitchFamily="18" charset="0"/>
                <a:ea typeface="微软雅黑" pitchFamily="34" charset="-122"/>
                <a:cs typeface="Times New Roman" panose="02020603050405020304" pitchFamily="18" charset="0"/>
              </a:rPr>
              <a:t>ết qu</a:t>
            </a:r>
            <a:r>
              <a:rPr lang="vi-VN" altLang="zh-CN" sz="1200">
                <a:latin typeface="Times New Roman" panose="02020603050405020304" pitchFamily="18" charset="0"/>
                <a:ea typeface="微软雅黑" pitchFamily="34" charset="-122"/>
                <a:cs typeface="Times New Roman" panose="02020603050405020304" pitchFamily="18" charset="0"/>
              </a:rPr>
              <a:t>ả lần cu</a:t>
            </a:r>
            <a:r>
              <a:rPr lang="en-US" altLang="zh-CN" sz="1200">
                <a:latin typeface="Times New Roman" panose="02020603050405020304" pitchFamily="18" charset="0"/>
                <a:ea typeface="微软雅黑" pitchFamily="34" charset="-122"/>
                <a:cs typeface="Times New Roman" panose="02020603050405020304" pitchFamily="18" charset="0"/>
              </a:rPr>
              <a:t>ối cho v</a:t>
            </a:r>
            <a:r>
              <a:rPr lang="vi-VN" altLang="zh-CN" sz="1200">
                <a:latin typeface="Times New Roman" panose="02020603050405020304" pitchFamily="18" charset="0"/>
                <a:ea typeface="微软雅黑" pitchFamily="34" charset="-122"/>
                <a:cs typeface="Times New Roman" panose="02020603050405020304" pitchFamily="18" charset="0"/>
              </a:rPr>
              <a:t>ào h</a:t>
            </a:r>
            <a:r>
              <a:rPr lang="en-US" altLang="zh-CN" sz="1200">
                <a:latin typeface="Times New Roman" panose="02020603050405020304" pitchFamily="18" charset="0"/>
                <a:ea typeface="微软雅黑" pitchFamily="34" charset="-122"/>
                <a:cs typeface="Times New Roman" panose="02020603050405020304" pitchFamily="18" charset="0"/>
              </a:rPr>
              <a:t>ạng mục cấp</a:t>
            </a:r>
            <a:r>
              <a:rPr lang="vi-VN" altLang="zh-CN" sz="1200">
                <a:latin typeface="Times New Roman" panose="02020603050405020304" pitchFamily="18" charset="0"/>
                <a:ea typeface="微软雅黑" pitchFamily="34" charset="-122"/>
                <a:cs typeface="Times New Roman" panose="02020603050405020304" pitchFamily="18" charset="0"/>
              </a:rPr>
              <a:t> </a:t>
            </a:r>
            <a:r>
              <a:rPr lang="en-US" altLang="zh-CN" sz="1200">
                <a:latin typeface="Times New Roman" panose="02020603050405020304" pitchFamily="18" charset="0"/>
                <a:ea typeface="微软雅黑" pitchFamily="34" charset="-122"/>
                <a:cs typeface="Times New Roman" panose="02020603050405020304" pitchFamily="18" charset="0"/>
              </a:rPr>
              <a:t>đánh gi</a:t>
            </a:r>
            <a:r>
              <a:rPr lang="vi-VN" altLang="zh-CN" sz="1200">
                <a:latin typeface="Times New Roman" panose="02020603050405020304" pitchFamily="18" charset="0"/>
                <a:ea typeface="微软雅黑" pitchFamily="34" charset="-122"/>
                <a:cs typeface="Times New Roman" panose="02020603050405020304" pitchFamily="18" charset="0"/>
              </a:rPr>
              <a:t>á</a:t>
            </a:r>
            <a:r>
              <a:rPr lang="en-US" altLang="zh-CN" sz="1200">
                <a:latin typeface="Times New Roman" panose="02020603050405020304" pitchFamily="18" charset="0"/>
                <a:ea typeface="微软雅黑" pitchFamily="34" charset="-122"/>
                <a:cs typeface="Times New Roman" panose="02020603050405020304" pitchFamily="18" charset="0"/>
              </a:rPr>
              <a:t>, đảm nh</a:t>
            </a:r>
            <a:r>
              <a:rPr lang="vi-VN" altLang="zh-CN" sz="1200">
                <a:latin typeface="Times New Roman" panose="02020603050405020304" pitchFamily="18" charset="0"/>
                <a:ea typeface="微软雅黑" pitchFamily="34" charset="-122"/>
                <a:cs typeface="Times New Roman" panose="02020603050405020304" pitchFamily="18" charset="0"/>
              </a:rPr>
              <a:t>ận </a:t>
            </a:r>
            <a:r>
              <a:rPr lang="en-US" altLang="zh-CN" sz="1200">
                <a:latin typeface="Times New Roman" panose="02020603050405020304" pitchFamily="18" charset="0"/>
                <a:ea typeface="微软雅黑" pitchFamily="34" charset="-122"/>
                <a:cs typeface="Times New Roman" panose="02020603050405020304" pitchFamily="18" charset="0"/>
              </a:rPr>
              <a:t>đánh gi</a:t>
            </a:r>
            <a:r>
              <a:rPr lang="vi-VN" altLang="zh-CN" sz="1200">
                <a:latin typeface="Times New Roman" panose="02020603050405020304" pitchFamily="18" charset="0"/>
                <a:ea typeface="微软雅黑" pitchFamily="34" charset="-122"/>
                <a:cs typeface="Times New Roman" panose="02020603050405020304" pitchFamily="18" charset="0"/>
              </a:rPr>
              <a:t>á c</a:t>
            </a:r>
            <a:r>
              <a:rPr lang="en-US" altLang="zh-CN" sz="1200">
                <a:latin typeface="Times New Roman" panose="02020603050405020304" pitchFamily="18" charset="0"/>
                <a:ea typeface="微软雅黑" pitchFamily="34" charset="-122"/>
                <a:cs typeface="Times New Roman" panose="02020603050405020304" pitchFamily="18" charset="0"/>
              </a:rPr>
              <a:t>ó thể sửa k</a:t>
            </a:r>
            <a:r>
              <a:rPr lang="vi-VN" altLang="zh-CN" sz="1200">
                <a:latin typeface="Times New Roman" panose="02020603050405020304" pitchFamily="18" charset="0"/>
                <a:ea typeface="微软雅黑" pitchFamily="34" charset="-122"/>
                <a:cs typeface="Times New Roman" panose="02020603050405020304" pitchFamily="18" charset="0"/>
              </a:rPr>
              <a:t>ết qu</a:t>
            </a:r>
            <a:r>
              <a:rPr lang="en-US" altLang="zh-CN" sz="1200">
                <a:latin typeface="Times New Roman" panose="02020603050405020304" pitchFamily="18" charset="0"/>
                <a:ea typeface="微软雅黑" pitchFamily="34" charset="-122"/>
                <a:cs typeface="Times New Roman" panose="02020603050405020304" pitchFamily="18" charset="0"/>
              </a:rPr>
              <a:t>ả l</a:t>
            </a:r>
            <a:r>
              <a:rPr lang="vi-VN" altLang="zh-CN" sz="1200">
                <a:latin typeface="Times New Roman" panose="02020603050405020304" pitchFamily="18" charset="0"/>
                <a:ea typeface="微软雅黑" pitchFamily="34" charset="-122"/>
                <a:cs typeface="Times New Roman" panose="02020603050405020304" pitchFamily="18" charset="0"/>
              </a:rPr>
              <a:t>ần cu</a:t>
            </a:r>
            <a:r>
              <a:rPr lang="en-US" altLang="zh-CN" sz="1200">
                <a:latin typeface="Times New Roman" panose="02020603050405020304" pitchFamily="18" charset="0"/>
                <a:ea typeface="微软雅黑" pitchFamily="34" charset="-122"/>
                <a:cs typeface="Times New Roman" panose="02020603050405020304" pitchFamily="18" charset="0"/>
              </a:rPr>
              <a:t>ối, </a:t>
            </a:r>
            <a:r>
              <a:rPr lang="vi-VN" altLang="zh-CN" sz="1200">
                <a:latin typeface="Times New Roman" panose="02020603050405020304" pitchFamily="18" charset="0"/>
                <a:ea typeface="微软雅黑" pitchFamily="34" charset="-122"/>
                <a:cs typeface="Times New Roman" panose="02020603050405020304" pitchFamily="18" charset="0"/>
              </a:rPr>
              <a:t>ghi </a:t>
            </a:r>
            <a:r>
              <a:rPr lang="en-US" altLang="zh-CN" sz="1200">
                <a:latin typeface="Times New Roman" panose="02020603050405020304" pitchFamily="18" charset="0"/>
                <a:ea typeface="微软雅黑" pitchFamily="34" charset="-122"/>
                <a:cs typeface="Times New Roman" panose="02020603050405020304" pitchFamily="18" charset="0"/>
              </a:rPr>
              <a:t>ý ki</a:t>
            </a:r>
            <a:r>
              <a:rPr lang="vi-VN" altLang="zh-CN" sz="1200">
                <a:latin typeface="Times New Roman" panose="02020603050405020304" pitchFamily="18" charset="0"/>
                <a:ea typeface="微软雅黑" pitchFamily="34" charset="-122"/>
                <a:cs typeface="Times New Roman" panose="02020603050405020304" pitchFamily="18" charset="0"/>
              </a:rPr>
              <a:t>ến</a:t>
            </a:r>
            <a:r>
              <a:rPr lang="en-US" altLang="zh-CN" sz="1200">
                <a:latin typeface="Times New Roman" panose="02020603050405020304" pitchFamily="18" charset="0"/>
                <a:ea typeface="微软雅黑" pitchFamily="34" charset="-122"/>
                <a:cs typeface="Times New Roman" panose="02020603050405020304" pitchFamily="18" charset="0"/>
              </a:rPr>
              <a:t>, </a:t>
            </a:r>
            <a:r>
              <a:rPr lang="vi-VN" altLang="zh-CN" sz="1200">
                <a:latin typeface="Times New Roman" panose="02020603050405020304" pitchFamily="18" charset="0"/>
                <a:ea typeface="微软雅黑" pitchFamily="34" charset="-122"/>
                <a:cs typeface="Times New Roman" panose="02020603050405020304" pitchFamily="18" charset="0"/>
              </a:rPr>
              <a:t>xuất file cho cấp tr</a:t>
            </a:r>
            <a:r>
              <a:rPr lang="en-US" altLang="zh-CN" sz="1200">
                <a:latin typeface="Times New Roman" panose="02020603050405020304" pitchFamily="18" charset="0"/>
                <a:ea typeface="微软雅黑" pitchFamily="34" charset="-122"/>
                <a:cs typeface="Times New Roman" panose="02020603050405020304" pitchFamily="18" charset="0"/>
              </a:rPr>
              <a:t>ên xem. </a:t>
            </a:r>
            <a:r>
              <a:rPr lang="vi-VN" altLang="zh-CN" sz="1200">
                <a:latin typeface="Times New Roman" panose="02020603050405020304" pitchFamily="18" charset="0"/>
                <a:ea typeface="微软雅黑" pitchFamily="34" charset="-122"/>
                <a:cs typeface="Times New Roman" panose="02020603050405020304" pitchFamily="18" charset="0"/>
              </a:rPr>
              <a:t>Click tất c</a:t>
            </a:r>
            <a:r>
              <a:rPr lang="en-US" altLang="zh-CN" sz="1200">
                <a:latin typeface="Times New Roman" panose="02020603050405020304" pitchFamily="18" charset="0"/>
                <a:ea typeface="微软雅黑" pitchFamily="34" charset="-122"/>
                <a:cs typeface="Times New Roman" panose="02020603050405020304" pitchFamily="18" charset="0"/>
              </a:rPr>
              <a:t>ả t</a:t>
            </a:r>
            <a:r>
              <a:rPr lang="vi-VN" altLang="zh-CN" sz="1200">
                <a:latin typeface="Times New Roman" panose="02020603050405020304" pitchFamily="18" charset="0"/>
                <a:ea typeface="微软雅黑" pitchFamily="34" charset="-122"/>
                <a:cs typeface="Times New Roman" panose="02020603050405020304" pitchFamily="18" charset="0"/>
              </a:rPr>
              <a:t>ên s</a:t>
            </a:r>
            <a:r>
              <a:rPr lang="en-US" altLang="zh-CN" sz="1200">
                <a:latin typeface="Times New Roman" panose="02020603050405020304" pitchFamily="18" charset="0"/>
                <a:ea typeface="微软雅黑" pitchFamily="34" charset="-122"/>
                <a:cs typeface="Times New Roman" panose="02020603050405020304" pitchFamily="18" charset="0"/>
              </a:rPr>
              <a:t>ẽ tự </a:t>
            </a:r>
            <a:r>
              <a:rPr lang="vi-VN" altLang="zh-CN" sz="1200">
                <a:latin typeface="Times New Roman" panose="02020603050405020304" pitchFamily="18" charset="0"/>
                <a:ea typeface="微软雅黑" pitchFamily="34" charset="-122"/>
                <a:cs typeface="Times New Roman" panose="02020603050405020304" pitchFamily="18" charset="0"/>
              </a:rPr>
              <a:t>đ</a:t>
            </a:r>
            <a:r>
              <a:rPr lang="en-US" altLang="zh-CN" sz="1200">
                <a:latin typeface="Times New Roman" panose="02020603050405020304" pitchFamily="18" charset="0"/>
                <a:ea typeface="微软雅黑" pitchFamily="34" charset="-122"/>
                <a:cs typeface="Times New Roman" panose="02020603050405020304" pitchFamily="18" charset="0"/>
              </a:rPr>
              <a:t>ộng s</a:t>
            </a:r>
            <a:r>
              <a:rPr lang="vi-VN" altLang="zh-CN" sz="1200">
                <a:latin typeface="Times New Roman" panose="02020603050405020304" pitchFamily="18" charset="0"/>
                <a:ea typeface="微软雅黑" pitchFamily="34" charset="-122"/>
                <a:cs typeface="Times New Roman" panose="02020603050405020304" pitchFamily="18" charset="0"/>
              </a:rPr>
              <a:t>ắp x</a:t>
            </a:r>
            <a:r>
              <a:rPr lang="en-US" altLang="zh-CN" sz="1200">
                <a:latin typeface="Times New Roman" panose="02020603050405020304" pitchFamily="18" charset="0"/>
                <a:ea typeface="微软雅黑" pitchFamily="34" charset="-122"/>
                <a:cs typeface="Times New Roman" panose="02020603050405020304" pitchFamily="18" charset="0"/>
              </a:rPr>
              <a:t>ếp theo thứ t</a:t>
            </a:r>
            <a:r>
              <a:rPr lang="vi-VN" altLang="zh-CN" sz="1200">
                <a:latin typeface="Times New Roman" panose="02020603050405020304" pitchFamily="18" charset="0"/>
                <a:ea typeface="微软雅黑" pitchFamily="34" charset="-122"/>
                <a:cs typeface="Times New Roman" panose="02020603050405020304" pitchFamily="18" charset="0"/>
              </a:rPr>
              <a:t>ự.</a:t>
            </a:r>
            <a:r>
              <a:rPr lang="en-US" altLang="zh-CN" sz="1200">
                <a:latin typeface="Times New Roman" panose="02020603050405020304" pitchFamily="18" charset="0"/>
                <a:ea typeface="微软雅黑" pitchFamily="34" charset="-122"/>
                <a:cs typeface="Times New Roman" panose="02020603050405020304" pitchFamily="18" charset="0"/>
              </a:rPr>
              <a:t> </a:t>
            </a:r>
          </a:p>
          <a:p>
            <a:pPr algn="l">
              <a:spcBef>
                <a:spcPct val="50000"/>
              </a:spcBef>
            </a:pPr>
            <a:r>
              <a:rPr lang="vi-VN" altLang="zh-CN" sz="1200">
                <a:latin typeface="Times New Roman" panose="02020603050405020304" pitchFamily="18" charset="0"/>
                <a:ea typeface="微软雅黑" pitchFamily="34" charset="-122"/>
                <a:cs typeface="Times New Roman" panose="02020603050405020304" pitchFamily="18" charset="0"/>
              </a:rPr>
              <a:t>Tìm kiếm</a:t>
            </a:r>
            <a:r>
              <a:rPr lang="en-US" altLang="zh-CN" sz="1200">
                <a:latin typeface="Times New Roman" panose="02020603050405020304" pitchFamily="18" charset="0"/>
                <a:ea typeface="微软雅黑" pitchFamily="34" charset="-122"/>
                <a:cs typeface="Times New Roman" panose="02020603050405020304" pitchFamily="18" charset="0"/>
              </a:rPr>
              <a:t>: căn c</a:t>
            </a:r>
            <a:r>
              <a:rPr lang="vi-VN" altLang="zh-CN" sz="1200">
                <a:latin typeface="Times New Roman" panose="02020603050405020304" pitchFamily="18" charset="0"/>
                <a:ea typeface="微软雅黑" pitchFamily="34" charset="-122"/>
                <a:cs typeface="Times New Roman" panose="02020603050405020304" pitchFamily="18" charset="0"/>
              </a:rPr>
              <a:t>ứ vào t</a:t>
            </a:r>
            <a:r>
              <a:rPr lang="en-US" altLang="zh-CN" sz="1200">
                <a:latin typeface="Times New Roman" panose="02020603050405020304" pitchFamily="18" charset="0"/>
                <a:ea typeface="微软雅黑" pitchFamily="34" charset="-122"/>
                <a:cs typeface="Times New Roman" panose="02020603050405020304" pitchFamily="18" charset="0"/>
              </a:rPr>
              <a:t>ên, m</a:t>
            </a:r>
            <a:r>
              <a:rPr lang="vi-VN" altLang="zh-CN" sz="1200">
                <a:latin typeface="Times New Roman" panose="02020603050405020304" pitchFamily="18" charset="0"/>
                <a:ea typeface="微软雅黑" pitchFamily="34" charset="-122"/>
                <a:cs typeface="Times New Roman" panose="02020603050405020304" pitchFamily="18" charset="0"/>
              </a:rPr>
              <a:t>ã, số CMT, bộ ph</a:t>
            </a:r>
            <a:r>
              <a:rPr lang="en-US" altLang="zh-CN" sz="1200">
                <a:latin typeface="Times New Roman" panose="02020603050405020304" pitchFamily="18" charset="0"/>
                <a:ea typeface="微软雅黑" pitchFamily="34" charset="-122"/>
                <a:cs typeface="Times New Roman" panose="02020603050405020304" pitchFamily="18" charset="0"/>
              </a:rPr>
              <a:t>ận, nhóm </a:t>
            </a:r>
            <a:r>
              <a:rPr lang="vi-VN" altLang="zh-CN" sz="1200">
                <a:latin typeface="Times New Roman" panose="02020603050405020304" pitchFamily="18" charset="0"/>
                <a:ea typeface="微软雅黑" pitchFamily="34" charset="-122"/>
                <a:cs typeface="Times New Roman" panose="02020603050405020304" pitchFamily="18" charset="0"/>
              </a:rPr>
              <a:t>đánh gi</a:t>
            </a:r>
            <a:r>
              <a:rPr lang="en-US" altLang="zh-CN" sz="1200">
                <a:latin typeface="Times New Roman" panose="02020603050405020304" pitchFamily="18" charset="0"/>
                <a:ea typeface="微软雅黑" pitchFamily="34" charset="-122"/>
                <a:cs typeface="Times New Roman" panose="02020603050405020304" pitchFamily="18" charset="0"/>
              </a:rPr>
              <a:t>á </a:t>
            </a:r>
            <a:r>
              <a:rPr lang="vi-VN" altLang="zh-CN" sz="1200">
                <a:latin typeface="Times New Roman" panose="02020603050405020304" pitchFamily="18" charset="0"/>
                <a:ea typeface="微软雅黑" pitchFamily="34" charset="-122"/>
                <a:cs typeface="Times New Roman" panose="02020603050405020304" pitchFamily="18" charset="0"/>
              </a:rPr>
              <a:t>để tìm kiếm</a:t>
            </a:r>
            <a:r>
              <a:rPr lang="en-US" altLang="zh-CN" sz="1200">
                <a:latin typeface="Times New Roman" panose="02020603050405020304" pitchFamily="18" charset="0"/>
                <a:ea typeface="微软雅黑" pitchFamily="34" charset="-122"/>
                <a:cs typeface="Times New Roman" panose="02020603050405020304" pitchFamily="18" charset="0"/>
              </a:rPr>
              <a:t>. </a:t>
            </a:r>
          </a:p>
          <a:p>
            <a:pPr algn="l">
              <a:spcBef>
                <a:spcPct val="50000"/>
              </a:spcBef>
            </a:pPr>
            <a:r>
              <a:rPr lang="zh-CN" altLang="en-US" sz="1200">
                <a:latin typeface="Times New Roman" panose="02020603050405020304" pitchFamily="18" charset="0"/>
                <a:ea typeface="微软雅黑" pitchFamily="34" charset="-122"/>
                <a:cs typeface="Times New Roman" panose="02020603050405020304" pitchFamily="18" charset="0"/>
              </a:rPr>
              <a:t>      </a:t>
            </a:r>
            <a:r>
              <a:rPr lang="vi-VN" altLang="zh-CN" sz="1200">
                <a:latin typeface="Times New Roman" panose="02020603050405020304" pitchFamily="18" charset="0"/>
                <a:ea typeface="微软雅黑" pitchFamily="34" charset="-122"/>
                <a:cs typeface="Times New Roman" panose="02020603050405020304" pitchFamily="18" charset="0"/>
              </a:rPr>
              <a:t>Lưu</a:t>
            </a:r>
            <a:r>
              <a:rPr lang="en-US" altLang="zh-CN" sz="1200">
                <a:latin typeface="Times New Roman" panose="02020603050405020304" pitchFamily="18" charset="0"/>
                <a:ea typeface="微软雅黑" pitchFamily="34" charset="-122"/>
                <a:cs typeface="Times New Roman" panose="02020603050405020304" pitchFamily="18" charset="0"/>
              </a:rPr>
              <a:t>: Tất cả thao tác sau khi lưu mới có hiệu lực</a:t>
            </a: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     EXCEL: Xuất EXCEL</a:t>
            </a:r>
            <a:endParaRPr lang="en-US" altLang="zh-CN" sz="1200" dirty="0">
              <a:latin typeface="Times New Roman" panose="02020603050405020304" pitchFamily="18" charset="0"/>
              <a:ea typeface="微软雅黑" pitchFamily="34" charset="-122"/>
              <a:cs typeface="Times New Roman" panose="02020603050405020304" pitchFamily="18" charset="0"/>
            </a:endParaRPr>
          </a:p>
        </p:txBody>
      </p:sp>
      <p:pic>
        <p:nvPicPr>
          <p:cNvPr id="2" name="Picture 1">
            <a:extLst>
              <a:ext uri="{FF2B5EF4-FFF2-40B4-BE49-F238E27FC236}">
                <a16:creationId xmlns="" xmlns:a16="http://schemas.microsoft.com/office/drawing/2014/main" id="{D296AD4F-7CB6-45B1-8122-BA64F91F907A}"/>
              </a:ext>
            </a:extLst>
          </p:cNvPr>
          <p:cNvPicPr>
            <a:picLocks noChangeAspect="1"/>
          </p:cNvPicPr>
          <p:nvPr/>
        </p:nvPicPr>
        <p:blipFill>
          <a:blip r:embed="rId2"/>
          <a:stretch>
            <a:fillRect/>
          </a:stretch>
        </p:blipFill>
        <p:spPr>
          <a:xfrm>
            <a:off x="0" y="1272361"/>
            <a:ext cx="6786578" cy="3164751"/>
          </a:xfrm>
          <a:prstGeom prst="rect">
            <a:avLst/>
          </a:prstGeom>
        </p:spPr>
      </p:pic>
      <p:sp>
        <p:nvSpPr>
          <p:cNvPr id="5" name="AutoShape 23">
            <a:extLst>
              <a:ext uri="{FF2B5EF4-FFF2-40B4-BE49-F238E27FC236}">
                <a16:creationId xmlns="" xmlns:a16="http://schemas.microsoft.com/office/drawing/2014/main" id="{B8D6D314-FA6D-4E5A-B14E-E9AFFD330C7F}"/>
              </a:ext>
            </a:extLst>
          </p:cNvPr>
          <p:cNvSpPr>
            <a:spLocks noChangeArrowheads="1"/>
          </p:cNvSpPr>
          <p:nvPr/>
        </p:nvSpPr>
        <p:spPr bwMode="auto">
          <a:xfrm>
            <a:off x="0" y="1916832"/>
            <a:ext cx="6588224" cy="1080120"/>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6" name="椭圆 24">
            <a:extLst>
              <a:ext uri="{FF2B5EF4-FFF2-40B4-BE49-F238E27FC236}">
                <a16:creationId xmlns="" xmlns:a16="http://schemas.microsoft.com/office/drawing/2014/main" id="{4DDD665D-3B52-43DA-8EB6-19A588C6A9CF}"/>
              </a:ext>
            </a:extLst>
          </p:cNvPr>
          <p:cNvSpPr/>
          <p:nvPr/>
        </p:nvSpPr>
        <p:spPr>
          <a:xfrm>
            <a:off x="6156176" y="2636912"/>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8" name="AutoShape 23">
            <a:extLst>
              <a:ext uri="{FF2B5EF4-FFF2-40B4-BE49-F238E27FC236}">
                <a16:creationId xmlns="" xmlns:a16="http://schemas.microsoft.com/office/drawing/2014/main" id="{50E4E0E5-7A03-4690-8D74-64CE49182085}"/>
              </a:ext>
            </a:extLst>
          </p:cNvPr>
          <p:cNvSpPr>
            <a:spLocks noChangeArrowheads="1"/>
          </p:cNvSpPr>
          <p:nvPr/>
        </p:nvSpPr>
        <p:spPr bwMode="auto">
          <a:xfrm>
            <a:off x="-17414" y="3032957"/>
            <a:ext cx="6588224" cy="1404155"/>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椭圆 9">
            <a:extLst>
              <a:ext uri="{FF2B5EF4-FFF2-40B4-BE49-F238E27FC236}">
                <a16:creationId xmlns="" xmlns:a16="http://schemas.microsoft.com/office/drawing/2014/main" id="{F8A86C9E-985D-42E2-BF54-BDC5D3D2391A}"/>
              </a:ext>
            </a:extLst>
          </p:cNvPr>
          <p:cNvSpPr/>
          <p:nvPr/>
        </p:nvSpPr>
        <p:spPr>
          <a:xfrm>
            <a:off x="6084168" y="400506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1274152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732240" y="1084250"/>
            <a:ext cx="2340354" cy="4801314"/>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Thiết lập tên hạng mục, chu kỳ, giai đoạn đánh giá thành tích.</a:t>
            </a: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 EXCEL</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Ngày tiêu chuẩn: Những CNV đang làm việc đều có thể tham gia các khóa đào tạo</a:t>
            </a:r>
          </a:p>
          <a:p>
            <a:pPr algn="l">
              <a:spcBef>
                <a:spcPct val="50000"/>
              </a:spcBef>
            </a:pPr>
            <a:r>
              <a:rPr lang="en-US" altLang="zh-CN" sz="1200">
                <a:latin typeface="Times New Roman" pitchFamily="18" charset="0"/>
                <a:ea typeface="微软雅黑" pitchFamily="34" charset="-122"/>
                <a:cs typeface="Times New Roman" pitchFamily="18" charset="0"/>
              </a:rPr>
              <a:t>Tra cứu</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Tra cứu nội dung tổng hợp của tất cả lần đánh giá thành tích, hiển thị tại bên trái</a:t>
            </a:r>
          </a:p>
          <a:p>
            <a:pPr algn="l">
              <a:spcBef>
                <a:spcPct val="50000"/>
              </a:spcBef>
            </a:pPr>
            <a:r>
              <a:rPr lang="en-US" altLang="zh-CN" sz="1200">
                <a:latin typeface="Times New Roman" pitchFamily="18" charset="0"/>
                <a:ea typeface="微软雅黑" pitchFamily="34" charset="-122"/>
                <a:cs typeface="Times New Roman" pitchFamily="18" charset="0"/>
              </a:rPr>
              <a:t>Thêm</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Thêm 1 tổng hợp đánh giá thành tích mới</a:t>
            </a:r>
          </a:p>
          <a:p>
            <a:pPr algn="l">
              <a:spcBef>
                <a:spcPct val="50000"/>
              </a:spcBef>
            </a:pPr>
            <a:r>
              <a:rPr lang="en-US" altLang="zh-CN" sz="1200">
                <a:latin typeface="Times New Roman" pitchFamily="18" charset="0"/>
                <a:ea typeface="微软雅黑" pitchFamily="34" charset="-122"/>
                <a:cs typeface="Times New Roman" pitchFamily="18" charset="0"/>
              </a:rPr>
              <a:t>Xóa</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Xóa 1 tổng hợp đánh giá Lưu</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Lưu tổng hợp đánh giá mới</a:t>
            </a:r>
          </a:p>
          <a:p>
            <a:pPr algn="l">
              <a:spcBef>
                <a:spcPct val="50000"/>
              </a:spcBef>
            </a:pPr>
            <a:r>
              <a:rPr lang="en-US" altLang="zh-CN" sz="1200">
                <a:latin typeface="Times New Roman" pitchFamily="18" charset="0"/>
                <a:ea typeface="微软雅黑" pitchFamily="34" charset="-122"/>
                <a:cs typeface="Times New Roman" pitchFamily="18" charset="0"/>
              </a:rPr>
              <a:t>2.Chu kỳ, năm đánh giá, tháng đánh giá, tình trạng thực hiện, cấp đánh giá đều là hạng mục CODE, xem thiết lập hệ thống đánh giá. </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bắt buộc điền</a:t>
            </a:r>
            <a:endParaRPr lang="en-US" altLang="zh-CN" sz="1200" dirty="0">
              <a:solidFill>
                <a:srgbClr val="000000"/>
              </a:solidFill>
              <a:ea typeface="微软雅黑" pitchFamily="34" charset="-122"/>
            </a:endParaRPr>
          </a:p>
        </p:txBody>
      </p:sp>
      <p:graphicFrame>
        <p:nvGraphicFramePr>
          <p:cNvPr id="12" name="表格 11"/>
          <p:cNvGraphicFramePr>
            <a:graphicFrameLocks noGrp="1"/>
          </p:cNvGraphicFramePr>
          <p:nvPr>
            <p:extLst>
              <p:ext uri="{D42A27DB-BD31-4B8C-83A1-F6EECF244321}">
                <p14:modId xmlns:p14="http://schemas.microsoft.com/office/powerpoint/2010/main" val="1147614408"/>
              </p:ext>
            </p:extLst>
          </p:nvPr>
        </p:nvGraphicFramePr>
        <p:xfrm>
          <a:off x="0" y="692696"/>
          <a:ext cx="6608092" cy="177047"/>
        </p:xfrm>
        <a:graphic>
          <a:graphicData uri="http://schemas.openxmlformats.org/drawingml/2006/table">
            <a:tbl>
              <a:tblPr/>
              <a:tblGrid>
                <a:gridCol w="6608092">
                  <a:extLst>
                    <a:ext uri="{9D8B030D-6E8A-4147-A177-3AD203B41FA5}">
                      <a16:colId xmlns="" xmlns:a16="http://schemas.microsoft.com/office/drawing/2014/main" val="20000"/>
                    </a:ext>
                  </a:extLst>
                </a:gridCol>
              </a:tblGrid>
              <a:tr h="176137">
                <a:tc>
                  <a:txBody>
                    <a:bodyPr/>
                    <a:lstStyle/>
                    <a:p>
                      <a:pPr algn="l" fontAlgn="ctr"/>
                      <a:r>
                        <a:rPr lang="zh-CN" altLang="en-US" sz="1100" b="1" i="0" u="none" strike="noStrike" dirty="0">
                          <a:solidFill>
                            <a:srgbClr val="FFFFFF"/>
                          </a:solidFill>
                          <a:latin typeface="Times New Roman" pitchFamily="18" charset="0"/>
                          <a:ea typeface="微软雅黑" pitchFamily="34" charset="-122"/>
                          <a:cs typeface="Times New Roman" pitchFamily="18" charset="0"/>
                        </a:rPr>
                        <a:t> </a:t>
                      </a:r>
                      <a:r>
                        <a:rPr lang="vi-VN" altLang="zh-CN" sz="1100" b="1" i="0" u="none" strike="noStrike" dirty="0">
                          <a:solidFill>
                            <a:srgbClr val="FFFFFF"/>
                          </a:solidFill>
                          <a:latin typeface="Times New Roman" pitchFamily="18" charset="0"/>
                          <a:ea typeface="微软雅黑" pitchFamily="34" charset="-122"/>
                          <a:cs typeface="Times New Roman" pitchFamily="18" charset="0"/>
                        </a:rPr>
                        <a:t>Thiết </a:t>
                      </a:r>
                      <a:r>
                        <a:rPr lang="vi-VN" altLang="zh-CN" sz="1100" b="1" i="0" u="none" strike="noStrike">
                          <a:solidFill>
                            <a:srgbClr val="FFFFFF"/>
                          </a:solidFill>
                          <a:latin typeface="Times New Roman" pitchFamily="18" charset="0"/>
                          <a:ea typeface="微软雅黑" pitchFamily="34" charset="-122"/>
                          <a:cs typeface="Times New Roman" pitchFamily="18" charset="0"/>
                        </a:rPr>
                        <a:t>lập lần đánh giá năng lực</a:t>
                      </a:r>
                      <a:endParaRPr lang="zh-CN" altLang="en-US" sz="1100" b="1" i="0" u="none" strike="noStrike" dirty="0">
                        <a:solidFill>
                          <a:srgbClr val="FFFFFF"/>
                        </a:solidFill>
                        <a:latin typeface="Times New Roman" pitchFamily="18" charset="0"/>
                        <a:ea typeface="微软雅黑" pitchFamily="34" charset="-122"/>
                        <a:cs typeface="Times New Roman" pitchFamily="18" charset="0"/>
                      </a:endParaRPr>
                    </a:p>
                  </a:txBody>
                  <a:tcPr marL="9407" marR="9407" marT="9407" marB="0" anchor="ctr">
                    <a:lnL>
                      <a:noFill/>
                    </a:lnL>
                    <a:lnR>
                      <a:noFill/>
                    </a:lnR>
                    <a:lnT>
                      <a:noFill/>
                    </a:lnT>
                    <a:lnB>
                      <a:noFill/>
                    </a:lnB>
                    <a:solidFill>
                      <a:srgbClr val="8DB4E3"/>
                    </a:solidFill>
                  </a:tcPr>
                </a:tc>
                <a:extLst>
                  <a:ext uri="{0D108BD9-81ED-4DB2-BD59-A6C34878D82A}">
                    <a16:rowId xmlns="" xmlns:a16="http://schemas.microsoft.com/office/drawing/2014/main" val="10000"/>
                  </a:ext>
                </a:extLst>
              </a:tr>
            </a:tbl>
          </a:graphicData>
        </a:graphic>
      </p:graphicFrame>
      <p:sp>
        <p:nvSpPr>
          <p:cNvPr id="14" name="TextBox 13"/>
          <p:cNvSpPr txBox="1"/>
          <p:nvPr/>
        </p:nvSpPr>
        <p:spPr>
          <a:xfrm>
            <a:off x="71406" y="3429000"/>
            <a:ext cx="2643206" cy="276999"/>
          </a:xfrm>
          <a:prstGeom prst="rect">
            <a:avLst/>
          </a:prstGeom>
          <a:noFill/>
        </p:spPr>
        <p:txBody>
          <a:bodyPr wrap="square" rtlCol="0">
            <a:spAutoFit/>
          </a:bodyPr>
          <a:lstStyle/>
          <a:p>
            <a:pPr algn="l"/>
            <a:r>
              <a:rPr lang="vi-VN" altLang="zh-CN" sz="1200" b="1">
                <a:latin typeface="+mj-lt"/>
                <a:ea typeface="微软雅黑" pitchFamily="34" charset="-122"/>
              </a:rPr>
              <a:t>Trang thêm mới</a:t>
            </a:r>
            <a:endParaRPr lang="zh-CN" altLang="en-US" sz="1200" b="1" dirty="0">
              <a:latin typeface="+mj-lt"/>
              <a:ea typeface="微软雅黑" pitchFamily="34" charset="-122"/>
            </a:endParaRPr>
          </a:p>
        </p:txBody>
      </p:sp>
      <p:sp>
        <p:nvSpPr>
          <p:cNvPr id="24" name="Text Box 7"/>
          <p:cNvSpPr txBox="1">
            <a:spLocks noChangeArrowheads="1"/>
          </p:cNvSpPr>
          <p:nvPr/>
        </p:nvSpPr>
        <p:spPr bwMode="auto">
          <a:xfrm>
            <a:off x="1418468" y="116632"/>
            <a:ext cx="3153532"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a:latin typeface="+mj-lt"/>
                <a:ea typeface="微软雅黑" pitchFamily="34" charset="-122"/>
              </a:rPr>
              <a:t>Đánh giá năng lực </a:t>
            </a:r>
            <a:r>
              <a:rPr lang="vi-VN" altLang="zh-CN" sz="1200">
                <a:latin typeface="+mj-lt"/>
                <a:ea typeface="微软雅黑" pitchFamily="34" charset="-122"/>
                <a:sym typeface="Wingdings" panose="05000000000000000000" pitchFamily="2" charset="2"/>
              </a:rPr>
              <a:t> </a:t>
            </a:r>
            <a:r>
              <a:rPr lang="vi-VN" sz="1200">
                <a:latin typeface="+mj-lt"/>
                <a:ea typeface="微软雅黑" pitchFamily="34" charset="-122"/>
              </a:rPr>
              <a:t>Tổng hợp đánh giá</a:t>
            </a:r>
            <a:endParaRPr lang="zh-CN" altLang="en-US" sz="1200" dirty="0">
              <a:latin typeface="+mj-lt"/>
              <a:ea typeface="微软雅黑" pitchFamily="34" charset="-122"/>
            </a:endParaRPr>
          </a:p>
        </p:txBody>
      </p:sp>
      <p:pic>
        <p:nvPicPr>
          <p:cNvPr id="2" name="Picture 1">
            <a:extLst>
              <a:ext uri="{FF2B5EF4-FFF2-40B4-BE49-F238E27FC236}">
                <a16:creationId xmlns="" xmlns:a16="http://schemas.microsoft.com/office/drawing/2014/main" id="{9B7104CE-7311-4D04-8CB7-4F634605BC5C}"/>
              </a:ext>
            </a:extLst>
          </p:cNvPr>
          <p:cNvPicPr>
            <a:picLocks noChangeAspect="1"/>
          </p:cNvPicPr>
          <p:nvPr/>
        </p:nvPicPr>
        <p:blipFill>
          <a:blip r:embed="rId2"/>
          <a:stretch>
            <a:fillRect/>
          </a:stretch>
        </p:blipFill>
        <p:spPr>
          <a:xfrm>
            <a:off x="35780" y="836712"/>
            <a:ext cx="6516216" cy="2504402"/>
          </a:xfrm>
          <a:prstGeom prst="rect">
            <a:avLst/>
          </a:prstGeom>
        </p:spPr>
      </p:pic>
      <p:pic>
        <p:nvPicPr>
          <p:cNvPr id="4" name="Picture 3">
            <a:extLst>
              <a:ext uri="{FF2B5EF4-FFF2-40B4-BE49-F238E27FC236}">
                <a16:creationId xmlns="" xmlns:a16="http://schemas.microsoft.com/office/drawing/2014/main" id="{1ED23821-02BD-4FBE-9D47-3DBF98FC8B2F}"/>
              </a:ext>
            </a:extLst>
          </p:cNvPr>
          <p:cNvPicPr>
            <a:picLocks noChangeAspect="1"/>
          </p:cNvPicPr>
          <p:nvPr/>
        </p:nvPicPr>
        <p:blipFill>
          <a:blip r:embed="rId3"/>
          <a:stretch>
            <a:fillRect/>
          </a:stretch>
        </p:blipFill>
        <p:spPr>
          <a:xfrm>
            <a:off x="35780" y="3717032"/>
            <a:ext cx="6608092" cy="2554226"/>
          </a:xfrm>
          <a:prstGeom prst="rect">
            <a:avLst/>
          </a:prstGeom>
        </p:spPr>
      </p:pic>
      <p:sp>
        <p:nvSpPr>
          <p:cNvPr id="8" name="Rectangle 7">
            <a:extLst>
              <a:ext uri="{FF2B5EF4-FFF2-40B4-BE49-F238E27FC236}">
                <a16:creationId xmlns="" xmlns:a16="http://schemas.microsoft.com/office/drawing/2014/main" id="{11035D03-19D9-4061-8D90-3B6CAB33D806}"/>
              </a:ext>
            </a:extLst>
          </p:cNvPr>
          <p:cNvSpPr/>
          <p:nvPr/>
        </p:nvSpPr>
        <p:spPr>
          <a:xfrm>
            <a:off x="2267744" y="4171316"/>
            <a:ext cx="2736304" cy="1944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9" name="Rectangle 8">
            <a:extLst>
              <a:ext uri="{FF2B5EF4-FFF2-40B4-BE49-F238E27FC236}">
                <a16:creationId xmlns="" xmlns:a16="http://schemas.microsoft.com/office/drawing/2014/main" id="{E23046C1-A75C-42D9-A704-DDC238DABDA3}"/>
              </a:ext>
            </a:extLst>
          </p:cNvPr>
          <p:cNvSpPr/>
          <p:nvPr/>
        </p:nvSpPr>
        <p:spPr>
          <a:xfrm>
            <a:off x="5004048" y="4005064"/>
            <a:ext cx="153203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142350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7B7529D-0A1C-4F25-A324-B92E4F8AD031}"/>
              </a:ext>
            </a:extLst>
          </p:cNvPr>
          <p:cNvPicPr>
            <a:picLocks noChangeAspect="1"/>
          </p:cNvPicPr>
          <p:nvPr/>
        </p:nvPicPr>
        <p:blipFill>
          <a:blip r:embed="rId2"/>
          <a:stretch>
            <a:fillRect/>
          </a:stretch>
        </p:blipFill>
        <p:spPr>
          <a:xfrm>
            <a:off x="0" y="1843829"/>
            <a:ext cx="6786578" cy="2305251"/>
          </a:xfrm>
          <a:prstGeom prst="rect">
            <a:avLst/>
          </a:prstGeom>
        </p:spPr>
      </p:pic>
      <p:sp>
        <p:nvSpPr>
          <p:cNvPr id="5" name="TextBox 4">
            <a:extLst>
              <a:ext uri="{FF2B5EF4-FFF2-40B4-BE49-F238E27FC236}">
                <a16:creationId xmlns="" xmlns:a16="http://schemas.microsoft.com/office/drawing/2014/main" id="{82EBBF62-4135-459A-A1FC-AEF74B97699A}"/>
              </a:ext>
            </a:extLst>
          </p:cNvPr>
          <p:cNvSpPr txBox="1"/>
          <p:nvPr/>
        </p:nvSpPr>
        <p:spPr>
          <a:xfrm>
            <a:off x="6786578" y="1783263"/>
            <a:ext cx="2071702" cy="3877985"/>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công ty.</a:t>
            </a:r>
            <a:endParaRPr lang="vi-VN" altLang="zh-CN" sz="1200" b="1">
              <a:latin typeface="+mj-lt"/>
              <a:ea typeface="微软雅黑" pitchFamily="34" charset="-122"/>
            </a:endParaRPr>
          </a:p>
          <a:p>
            <a:pPr algn="l">
              <a:spcBef>
                <a:spcPct val="50000"/>
              </a:spcBef>
            </a:pPr>
            <a:r>
              <a:rPr lang="vi-VN" altLang="zh-CN" sz="1200" b="1">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quy trình đánh giá công ty mới,  phân biệt thực hiện đánh giá là mục lựa chọn,  nội dung bên trong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sp>
        <p:nvSpPr>
          <p:cNvPr id="6" name="TextBox 5">
            <a:extLst>
              <a:ext uri="{FF2B5EF4-FFF2-40B4-BE49-F238E27FC236}">
                <a16:creationId xmlns="" xmlns:a16="http://schemas.microsoft.com/office/drawing/2014/main" id="{0F0091F2-D85F-4D8F-95F4-D6070DCB9F93}"/>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năng lực,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8" name="Text Box 7">
            <a:extLst>
              <a:ext uri="{FF2B5EF4-FFF2-40B4-BE49-F238E27FC236}">
                <a16:creationId xmlns="" xmlns:a16="http://schemas.microsoft.com/office/drawing/2014/main" id="{B2A6EB12-2605-4FC0-A7D9-4C7F70FBDC78}"/>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latin typeface="+mj-lt"/>
                <a:ea typeface="微软雅黑" pitchFamily="34" charset="-122"/>
              </a:rPr>
              <a:t>Quy trình đánh giá </a:t>
            </a:r>
            <a:r>
              <a:rPr lang="vi-VN" altLang="zh-CN" sz="1000">
                <a:latin typeface="+mj-lt"/>
                <a:ea typeface="微软雅黑" pitchFamily="34" charset="-122"/>
                <a:sym typeface="Wingdings" panose="05000000000000000000" pitchFamily="2" charset="2"/>
              </a:rPr>
              <a:t> Công ty</a:t>
            </a:r>
            <a:endParaRPr lang="zh-CN" altLang="en-US" sz="1000" dirty="0">
              <a:latin typeface="+mj-lt"/>
              <a:ea typeface="微软雅黑" pitchFamily="34" charset="-122"/>
            </a:endParaRPr>
          </a:p>
        </p:txBody>
      </p:sp>
      <p:sp>
        <p:nvSpPr>
          <p:cNvPr id="9" name="Rectangle 8">
            <a:extLst>
              <a:ext uri="{FF2B5EF4-FFF2-40B4-BE49-F238E27FC236}">
                <a16:creationId xmlns="" xmlns:a16="http://schemas.microsoft.com/office/drawing/2014/main" id="{5A049D12-765D-4406-8EB5-3962AF62926C}"/>
              </a:ext>
            </a:extLst>
          </p:cNvPr>
          <p:cNvSpPr/>
          <p:nvPr/>
        </p:nvSpPr>
        <p:spPr>
          <a:xfrm>
            <a:off x="5796136" y="256490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3FC5C443-7F35-4740-96EE-9068BB3946E1}"/>
              </a:ext>
            </a:extLst>
          </p:cNvPr>
          <p:cNvSpPr/>
          <p:nvPr/>
        </p:nvSpPr>
        <p:spPr>
          <a:xfrm>
            <a:off x="35496" y="2420888"/>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135984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9E2DCF0B-04C3-4EEF-BB9C-2111964419EC}"/>
              </a:ext>
            </a:extLst>
          </p:cNvPr>
          <p:cNvPicPr>
            <a:picLocks noChangeAspect="1"/>
          </p:cNvPicPr>
          <p:nvPr/>
        </p:nvPicPr>
        <p:blipFill>
          <a:blip r:embed="rId2"/>
          <a:stretch>
            <a:fillRect/>
          </a:stretch>
        </p:blipFill>
        <p:spPr>
          <a:xfrm>
            <a:off x="0" y="1804021"/>
            <a:ext cx="6786578" cy="2489075"/>
          </a:xfrm>
          <a:prstGeom prst="rect">
            <a:avLst/>
          </a:prstGeom>
        </p:spPr>
      </p:pic>
      <p:sp>
        <p:nvSpPr>
          <p:cNvPr id="5" name="TextBox 4">
            <a:extLst>
              <a:ext uri="{FF2B5EF4-FFF2-40B4-BE49-F238E27FC236}">
                <a16:creationId xmlns="" xmlns:a16="http://schemas.microsoft.com/office/drawing/2014/main" id="{F9F0E520-7001-4FE0-A835-12592503007B}"/>
              </a:ext>
            </a:extLst>
          </p:cNvPr>
          <p:cNvSpPr txBox="1"/>
          <p:nvPr/>
        </p:nvSpPr>
        <p:spPr>
          <a:xfrm>
            <a:off x="6786578" y="1720547"/>
            <a:ext cx="2071702" cy="3877985"/>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theo phòng ban.</a:t>
            </a:r>
            <a:endParaRPr lang="vi-VN" altLang="zh-CN" sz="1200" b="1">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đánh giá theo bộ phận,  phân biệt thực hiện đánh giá,  mã loại bảng đánh giá là mục lựa chọn,  nội dung bên trong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sp>
        <p:nvSpPr>
          <p:cNvPr id="6" name="TextBox 5">
            <a:extLst>
              <a:ext uri="{FF2B5EF4-FFF2-40B4-BE49-F238E27FC236}">
                <a16:creationId xmlns="" xmlns:a16="http://schemas.microsoft.com/office/drawing/2014/main" id="{E9A9B38C-3017-42C7-A82E-E699A75AE1A9}"/>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thành tích,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8" name="Text Box 7">
            <a:extLst>
              <a:ext uri="{FF2B5EF4-FFF2-40B4-BE49-F238E27FC236}">
                <a16:creationId xmlns="" xmlns:a16="http://schemas.microsoft.com/office/drawing/2014/main" id="{F9F52F88-CFBC-41B2-A689-473CF1CDFEA1}"/>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Quy trình đánh giá </a:t>
            </a:r>
            <a:r>
              <a:rPr lang="vi-VN" altLang="zh-CN" sz="1000">
                <a:ea typeface="微软雅黑" pitchFamily="34" charset="-122"/>
                <a:sym typeface="Wingdings" panose="05000000000000000000" pitchFamily="2" charset="2"/>
              </a:rPr>
              <a:t> Phòng ban</a:t>
            </a:r>
            <a:endParaRPr lang="zh-CN" altLang="en-US" sz="1000" dirty="0">
              <a:ea typeface="微软雅黑" pitchFamily="34" charset="-122"/>
            </a:endParaRPr>
          </a:p>
        </p:txBody>
      </p:sp>
      <p:sp>
        <p:nvSpPr>
          <p:cNvPr id="9" name="Rectangle 8">
            <a:extLst>
              <a:ext uri="{FF2B5EF4-FFF2-40B4-BE49-F238E27FC236}">
                <a16:creationId xmlns="" xmlns:a16="http://schemas.microsoft.com/office/drawing/2014/main" id="{0B206028-D02A-4BF3-85E9-6C03E2CE3A59}"/>
              </a:ext>
            </a:extLst>
          </p:cNvPr>
          <p:cNvSpPr/>
          <p:nvPr/>
        </p:nvSpPr>
        <p:spPr>
          <a:xfrm>
            <a:off x="5776268" y="252592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37079300-F6D3-476A-A975-D1230CDCC794}"/>
              </a:ext>
            </a:extLst>
          </p:cNvPr>
          <p:cNvSpPr/>
          <p:nvPr/>
        </p:nvSpPr>
        <p:spPr>
          <a:xfrm>
            <a:off x="447676" y="2420888"/>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558452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9AD4E9E4-CA1C-4291-BFCD-006AFD48F56B}"/>
              </a:ext>
            </a:extLst>
          </p:cNvPr>
          <p:cNvPicPr>
            <a:picLocks noChangeAspect="1"/>
          </p:cNvPicPr>
          <p:nvPr/>
        </p:nvPicPr>
        <p:blipFill>
          <a:blip r:embed="rId2"/>
          <a:stretch>
            <a:fillRect/>
          </a:stretch>
        </p:blipFill>
        <p:spPr>
          <a:xfrm>
            <a:off x="0" y="1772235"/>
            <a:ext cx="6786578" cy="2459265"/>
          </a:xfrm>
          <a:prstGeom prst="rect">
            <a:avLst/>
          </a:prstGeom>
        </p:spPr>
      </p:pic>
      <p:sp>
        <p:nvSpPr>
          <p:cNvPr id="5" name="TextBox 4">
            <a:extLst>
              <a:ext uri="{FF2B5EF4-FFF2-40B4-BE49-F238E27FC236}">
                <a16:creationId xmlns="" xmlns:a16="http://schemas.microsoft.com/office/drawing/2014/main" id="{09785A3E-C8A6-48FA-8286-1E24EE3CC042}"/>
              </a:ext>
            </a:extLst>
          </p:cNvPr>
          <p:cNvSpPr txBox="1"/>
          <p:nvPr/>
        </p:nvSpPr>
        <p:spPr>
          <a:xfrm>
            <a:off x="6786578" y="1576531"/>
            <a:ext cx="2071702" cy="4247317"/>
          </a:xfrm>
          <a:prstGeom prst="rect">
            <a:avLst/>
          </a:prstGeom>
          <a:noFill/>
        </p:spPr>
        <p:txBody>
          <a:bodyPr wrap="square" rtlCol="0">
            <a:spAutoFit/>
          </a:bodyPr>
          <a:lstStyle/>
          <a:p>
            <a:pPr algn="l">
              <a:spcBef>
                <a:spcPct val="50000"/>
              </a:spcBef>
            </a:pPr>
            <a:r>
              <a:rPr lang="en-US" altLang="zh-CN" sz="1200" b="1">
                <a:latin typeface="Times New Roman" pitchFamily="18" charset="0"/>
                <a:ea typeface="微软雅黑" pitchFamily="34" charset="-122"/>
                <a:cs typeface="Times New Roman" pitchFamily="18" charset="0"/>
              </a:rPr>
              <a:t>Công dụng:</a:t>
            </a:r>
          </a:p>
          <a:p>
            <a:pPr algn="l">
              <a:spcBef>
                <a:spcPct val="50000"/>
              </a:spcBef>
            </a:pPr>
            <a:r>
              <a:rPr lang="en-US" altLang="zh-CN" sz="1200">
                <a:latin typeface="Times New Roman" pitchFamily="18" charset="0"/>
                <a:ea typeface="微软雅黑" pitchFamily="34" charset="-122"/>
                <a:cs typeface="Times New Roman" pitchFamily="18" charset="0"/>
              </a:rPr>
              <a:t>Thiết lập quy trình đánh giá theo cá nhân.</a:t>
            </a:r>
            <a:endParaRPr lang="vi-VN" altLang="zh-CN" sz="1200" b="1">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 Thêm 1 hàng đánh giá theo cá nhân,  phân biệt thực hiện đánh giá,  bộ phận,  chức vụ,  hình thức tiêu chuẩn là mục lựa chọn,  nội dung bên trong ngoài bộ phận,  chức vụ đều sắp xếp ở thiết lập hệ thống đánh giá. </a:t>
            </a:r>
          </a:p>
          <a:p>
            <a:pPr algn="l">
              <a:spcBef>
                <a:spcPct val="50000"/>
              </a:spcBef>
            </a:pPr>
            <a:r>
              <a:rPr lang="en-US" altLang="zh-CN" sz="1200">
                <a:latin typeface="Times New Roman" pitchFamily="18" charset="0"/>
                <a:ea typeface="微软雅黑" pitchFamily="34" charset="-122"/>
                <a:cs typeface="Times New Roman" pitchFamily="18" charset="0"/>
              </a:rPr>
              <a:t>2. Tra cứu không có điều kiện,  mặc định tra cứu tất cả nội dung liên quan.</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nhập thủ công.</a:t>
            </a:r>
            <a:endParaRPr lang="en-US" altLang="zh-CN" sz="1200" dirty="0">
              <a:latin typeface="Times New Roman" pitchFamily="18" charset="0"/>
              <a:ea typeface="微软雅黑" pitchFamily="34" charset="-122"/>
              <a:cs typeface="Times New Roman" pitchFamily="18" charset="0"/>
            </a:endParaRPr>
          </a:p>
        </p:txBody>
      </p:sp>
      <p:sp>
        <p:nvSpPr>
          <p:cNvPr id="6" name="TextBox 5">
            <a:extLst>
              <a:ext uri="{FF2B5EF4-FFF2-40B4-BE49-F238E27FC236}">
                <a16:creationId xmlns="" xmlns:a16="http://schemas.microsoft.com/office/drawing/2014/main" id="{F7FAE155-EF35-4416-8B88-4524421744E7}"/>
              </a:ext>
            </a:extLst>
          </p:cNvPr>
          <p:cNvSpPr txBox="1"/>
          <p:nvPr/>
        </p:nvSpPr>
        <p:spPr>
          <a:xfrm>
            <a:off x="171596" y="766445"/>
            <a:ext cx="7640764" cy="738664"/>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thời gian quản lý quy trình đánh giá thành tích,  chia thành công ty,  bộ phận, cá nhân,  trang cá nhân là trang thêm mới. Nếu có cá nhân lấy cá nhân làm chuẩn,  nếu không có cá nhân lấy bộ phận làm chuẩn,  nếu không có bộ phận lấy công ty làm chuẩn. </a:t>
            </a:r>
            <a:endParaRPr lang="en-US" altLang="zh-CN" sz="1400" dirty="0">
              <a:latin typeface="Times New Roman" pitchFamily="18" charset="0"/>
              <a:ea typeface="微软雅黑" pitchFamily="34" charset="-122"/>
              <a:cs typeface="Times New Roman" pitchFamily="18" charset="0"/>
            </a:endParaRPr>
          </a:p>
        </p:txBody>
      </p:sp>
      <p:sp>
        <p:nvSpPr>
          <p:cNvPr id="8" name="Text Box 7">
            <a:extLst>
              <a:ext uri="{FF2B5EF4-FFF2-40B4-BE49-F238E27FC236}">
                <a16:creationId xmlns="" xmlns:a16="http://schemas.microsoft.com/office/drawing/2014/main" id="{8EBEAE6A-2634-4684-AED4-04B655C8D64C}"/>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Quy trình đánh giá </a:t>
            </a:r>
            <a:r>
              <a:rPr lang="vi-VN" altLang="zh-CN" sz="1000">
                <a:ea typeface="微软雅黑" pitchFamily="34" charset="-122"/>
                <a:sym typeface="Wingdings" panose="05000000000000000000" pitchFamily="2" charset="2"/>
              </a:rPr>
              <a:t> Cá nhân</a:t>
            </a:r>
            <a:endParaRPr lang="zh-CN" altLang="en-US" sz="1000" dirty="0">
              <a:ea typeface="微软雅黑" pitchFamily="34" charset="-122"/>
            </a:endParaRPr>
          </a:p>
        </p:txBody>
      </p:sp>
      <p:sp>
        <p:nvSpPr>
          <p:cNvPr id="9" name="Rectangle 8">
            <a:extLst>
              <a:ext uri="{FF2B5EF4-FFF2-40B4-BE49-F238E27FC236}">
                <a16:creationId xmlns="" xmlns:a16="http://schemas.microsoft.com/office/drawing/2014/main" id="{30AB7179-1234-492D-AB0D-9A0E54D0524E}"/>
              </a:ext>
            </a:extLst>
          </p:cNvPr>
          <p:cNvSpPr/>
          <p:nvPr/>
        </p:nvSpPr>
        <p:spPr>
          <a:xfrm>
            <a:off x="5776268" y="2531873"/>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21ABC854-102A-41C7-BEAC-94D238492F4F}"/>
              </a:ext>
            </a:extLst>
          </p:cNvPr>
          <p:cNvSpPr/>
          <p:nvPr/>
        </p:nvSpPr>
        <p:spPr>
          <a:xfrm>
            <a:off x="807716" y="2348880"/>
            <a:ext cx="432048"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497610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F3AEDCE-776A-4E75-BDE6-526B93F1301E}"/>
              </a:ext>
            </a:extLst>
          </p:cNvPr>
          <p:cNvPicPr>
            <a:picLocks noChangeAspect="1"/>
          </p:cNvPicPr>
          <p:nvPr/>
        </p:nvPicPr>
        <p:blipFill>
          <a:blip r:embed="rId2"/>
          <a:stretch>
            <a:fillRect/>
          </a:stretch>
        </p:blipFill>
        <p:spPr>
          <a:xfrm>
            <a:off x="0" y="1474353"/>
            <a:ext cx="6786578" cy="2901436"/>
          </a:xfrm>
          <a:prstGeom prst="rect">
            <a:avLst/>
          </a:prstGeom>
        </p:spPr>
      </p:pic>
      <p:sp>
        <p:nvSpPr>
          <p:cNvPr id="5" name="Text Box 7">
            <a:extLst>
              <a:ext uri="{FF2B5EF4-FFF2-40B4-BE49-F238E27FC236}">
                <a16:creationId xmlns="" xmlns:a16="http://schemas.microsoft.com/office/drawing/2014/main" id="{C2FCFE15-15A2-4350-ABF8-4F1CD26DE579}"/>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Cấp đánh giá</a:t>
            </a:r>
            <a:endParaRPr lang="zh-CN" altLang="en-US" sz="1000" dirty="0">
              <a:latin typeface="+mj-lt"/>
              <a:ea typeface="微软雅黑" pitchFamily="34" charset="-122"/>
            </a:endParaRPr>
          </a:p>
        </p:txBody>
      </p:sp>
      <p:sp>
        <p:nvSpPr>
          <p:cNvPr id="6" name="TextBox 5">
            <a:extLst>
              <a:ext uri="{FF2B5EF4-FFF2-40B4-BE49-F238E27FC236}">
                <a16:creationId xmlns="" xmlns:a16="http://schemas.microsoft.com/office/drawing/2014/main" id="{760F5AB9-74A0-4221-8611-D1F4D1DFB20B}"/>
              </a:ext>
            </a:extLst>
          </p:cNvPr>
          <p:cNvSpPr txBox="1"/>
          <p:nvPr/>
        </p:nvSpPr>
        <p:spPr>
          <a:xfrm>
            <a:off x="6786578" y="1648539"/>
            <a:ext cx="2071702" cy="3693319"/>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mj-lt"/>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cấp bậc đánh giá</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tạo mới 1 hàng cấp bậc đánh giá mới,  phân loại,  ten cấp đánh giá là mục lựa chọn,  nội dung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F5435A6B-5E3A-4F00-AFFF-A4663973180B}"/>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04130D3E-6011-4FCD-B1B8-11F015939E3E}"/>
              </a:ext>
            </a:extLst>
          </p:cNvPr>
          <p:cNvSpPr/>
          <p:nvPr/>
        </p:nvSpPr>
        <p:spPr>
          <a:xfrm>
            <a:off x="5920284" y="220486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957C9A77-E25C-4FED-AC16-3E9F29863376}"/>
              </a:ext>
            </a:extLst>
          </p:cNvPr>
          <p:cNvSpPr/>
          <p:nvPr/>
        </p:nvSpPr>
        <p:spPr>
          <a:xfrm>
            <a:off x="35496" y="2066794"/>
            <a:ext cx="54186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1626326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C92B6E1-EBAE-4A49-BDF2-5E3B1CB6E81A}"/>
              </a:ext>
            </a:extLst>
          </p:cNvPr>
          <p:cNvPicPr>
            <a:picLocks noChangeAspect="1"/>
          </p:cNvPicPr>
          <p:nvPr/>
        </p:nvPicPr>
        <p:blipFill>
          <a:blip r:embed="rId2"/>
          <a:stretch>
            <a:fillRect/>
          </a:stretch>
        </p:blipFill>
        <p:spPr>
          <a:xfrm>
            <a:off x="0" y="1447577"/>
            <a:ext cx="6660232" cy="2886425"/>
          </a:xfrm>
          <a:prstGeom prst="rect">
            <a:avLst/>
          </a:prstGeom>
        </p:spPr>
      </p:pic>
      <p:sp>
        <p:nvSpPr>
          <p:cNvPr id="5" name="Text Box 7">
            <a:extLst>
              <a:ext uri="{FF2B5EF4-FFF2-40B4-BE49-F238E27FC236}">
                <a16:creationId xmlns="" xmlns:a16="http://schemas.microsoft.com/office/drawing/2014/main" id="{47816272-88B7-40FC-AEF9-97D5FC792DA5}"/>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Cấp hạng mục đánh giá</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28FB4714-33BF-4B50-91E9-ABAF0279C758}"/>
              </a:ext>
            </a:extLst>
          </p:cNvPr>
          <p:cNvSpPr txBox="1"/>
          <p:nvPr/>
        </p:nvSpPr>
        <p:spPr>
          <a:xfrm>
            <a:off x="6786578" y="1535881"/>
            <a:ext cx="2071702" cy="3877985"/>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cấp hạng mục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1.Tạo mới :  tạo mới 1 hàng cấp bậc đánh giá mới,  phân loại,  tên cấp đánh giá là mục lựa chọn,  nội dung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29818CB3-051F-43B1-9BE3-BA4960ED900E}"/>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A8D88930-05E8-49B2-9AEE-85D20377D34C}"/>
              </a:ext>
            </a:extLst>
          </p:cNvPr>
          <p:cNvSpPr/>
          <p:nvPr/>
        </p:nvSpPr>
        <p:spPr>
          <a:xfrm>
            <a:off x="5796136" y="216588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EB590EF9-207B-4F2C-A6B7-7A1C557AB471}"/>
              </a:ext>
            </a:extLst>
          </p:cNvPr>
          <p:cNvSpPr/>
          <p:nvPr/>
        </p:nvSpPr>
        <p:spPr>
          <a:xfrm>
            <a:off x="539552" y="199826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839992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E61B3502-95DE-4EAE-9A16-EA0B720AAB2E}"/>
              </a:ext>
            </a:extLst>
          </p:cNvPr>
          <p:cNvPicPr>
            <a:picLocks noChangeAspect="1"/>
          </p:cNvPicPr>
          <p:nvPr/>
        </p:nvPicPr>
        <p:blipFill>
          <a:blip r:embed="rId2"/>
          <a:stretch>
            <a:fillRect/>
          </a:stretch>
        </p:blipFill>
        <p:spPr>
          <a:xfrm>
            <a:off x="0" y="1477700"/>
            <a:ext cx="6786578" cy="2896468"/>
          </a:xfrm>
          <a:prstGeom prst="rect">
            <a:avLst/>
          </a:prstGeom>
        </p:spPr>
      </p:pic>
      <p:sp>
        <p:nvSpPr>
          <p:cNvPr id="5" name="Text Box 7">
            <a:extLst>
              <a:ext uri="{FF2B5EF4-FFF2-40B4-BE49-F238E27FC236}">
                <a16:creationId xmlns="" xmlns:a16="http://schemas.microsoft.com/office/drawing/2014/main" id="{3E9D4C9B-4AB0-4EB8-B2E9-0F02E5D48058}"/>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Đối t</a:t>
            </a:r>
            <a:r>
              <a:rPr lang="vi-VN" altLang="zh-CN" sz="1000">
                <a:latin typeface="Times New Roman" pitchFamily="18" charset="0"/>
                <a:ea typeface="微软雅黑" pitchFamily="34" charset="-122"/>
                <a:cs typeface="Times New Roman" pitchFamily="18" charset="0"/>
              </a:rPr>
              <a:t>ư</a:t>
            </a:r>
            <a:r>
              <a:rPr lang="en-US" altLang="zh-CN" sz="1000">
                <a:latin typeface="Times New Roman" pitchFamily="18" charset="0"/>
                <a:ea typeface="微软雅黑" pitchFamily="34" charset="-122"/>
                <a:cs typeface="Times New Roman" pitchFamily="18" charset="0"/>
              </a:rPr>
              <a:t>ợng đánh giá</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DA097490-70D0-4B11-8CFE-0C1CB9BEF0B2}"/>
              </a:ext>
            </a:extLst>
          </p:cNvPr>
          <p:cNvSpPr txBox="1"/>
          <p:nvPr/>
        </p:nvSpPr>
        <p:spPr>
          <a:xfrm>
            <a:off x="6786578" y="1216491"/>
            <a:ext cx="2071702" cy="3693319"/>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vi-VN" altLang="zh-CN" sz="1200" dirty="0">
                <a:latin typeface="+mj-lt"/>
                <a:ea typeface="微软雅黑" pitchFamily="34" charset="-122"/>
              </a:rPr>
              <a:t>Thiết </a:t>
            </a:r>
            <a:r>
              <a:rPr lang="vi-VN" altLang="zh-CN" sz="1200">
                <a:latin typeface="+mj-lt"/>
                <a:ea typeface="微软雅黑" pitchFamily="34" charset="-122"/>
              </a:rPr>
              <a:t>lập </a:t>
            </a:r>
            <a:r>
              <a:rPr lang="en-US" altLang="zh-CN" sz="1200">
                <a:latin typeface="Times New Roman" pitchFamily="18" charset="0"/>
                <a:ea typeface="微软雅黑" pitchFamily="34" charset="-122"/>
                <a:cs typeface="Times New Roman" pitchFamily="18" charset="0"/>
              </a:rPr>
              <a:t>đối tượng đánh giá</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r>
              <a:rPr lang="vi-VN" altLang="zh-CN" sz="1200">
                <a:latin typeface="+mj-lt"/>
                <a:ea typeface="微软雅黑" pitchFamily="34" charset="-122"/>
              </a:rPr>
              <a:t>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Chức năng tạo mới là tạo mới đối tượng đánh giá, hình thức tiêu chuẩn là mục chọn lựa, nội dung bên trong đều bố trí trong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thêm, nhập thủ công</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69BDE5D7-EBD6-4514-9286-62F7EA316B2D}"/>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CD2624BA-9AED-4B41-B0AD-E7300A10177B}"/>
              </a:ext>
            </a:extLst>
          </p:cNvPr>
          <p:cNvSpPr/>
          <p:nvPr/>
        </p:nvSpPr>
        <p:spPr>
          <a:xfrm>
            <a:off x="5920284" y="2237895"/>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18A9ECCE-A338-4FC6-887A-794E75A4EFD7}"/>
              </a:ext>
            </a:extLst>
          </p:cNvPr>
          <p:cNvSpPr/>
          <p:nvPr/>
        </p:nvSpPr>
        <p:spPr>
          <a:xfrm>
            <a:off x="1331640" y="2060848"/>
            <a:ext cx="720080"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831841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D916E95-EB27-4601-8D3C-52BD6EA3CE77}"/>
              </a:ext>
            </a:extLst>
          </p:cNvPr>
          <p:cNvPicPr>
            <a:picLocks noChangeAspect="1"/>
          </p:cNvPicPr>
          <p:nvPr/>
        </p:nvPicPr>
        <p:blipFill>
          <a:blip r:embed="rId2"/>
          <a:stretch>
            <a:fillRect/>
          </a:stretch>
        </p:blipFill>
        <p:spPr>
          <a:xfrm>
            <a:off x="0" y="1447577"/>
            <a:ext cx="6588224" cy="2855218"/>
          </a:xfrm>
          <a:prstGeom prst="rect">
            <a:avLst/>
          </a:prstGeom>
        </p:spPr>
      </p:pic>
      <p:sp>
        <p:nvSpPr>
          <p:cNvPr id="5" name="Text Box 7">
            <a:extLst>
              <a:ext uri="{FF2B5EF4-FFF2-40B4-BE49-F238E27FC236}">
                <a16:creationId xmlns="" xmlns:a16="http://schemas.microsoft.com/office/drawing/2014/main" id="{B2A06D93-9ED8-4319-9E66-2DB376E0F481}"/>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Bảng đánh giá</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81A20BA3-6E5D-4329-BE38-A9C999E2877B}"/>
              </a:ext>
            </a:extLst>
          </p:cNvPr>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bảng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thêm 1 dòng mới,  Trạng thái tiến hành đánh giá,  hình thức tiêu chuẩn bố trí theo như thiết lập hệ thống,  nội dung bên trong.</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3B6EC7DF-6D22-4F04-8E5B-6C1A051E4251}"/>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8DCD1A94-FC66-4F6F-A59C-3CC09724A1C2}"/>
              </a:ext>
            </a:extLst>
          </p:cNvPr>
          <p:cNvSpPr/>
          <p:nvPr/>
        </p:nvSpPr>
        <p:spPr>
          <a:xfrm>
            <a:off x="5761936" y="216588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B41289A1-81B4-4B35-A3D2-9A9172B4ABF8}"/>
              </a:ext>
            </a:extLst>
          </p:cNvPr>
          <p:cNvSpPr/>
          <p:nvPr/>
        </p:nvSpPr>
        <p:spPr>
          <a:xfrm>
            <a:off x="1907704" y="2008427"/>
            <a:ext cx="54186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4033247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5A32900-C3EE-4A8A-882C-D22FDB1E44C0}"/>
              </a:ext>
            </a:extLst>
          </p:cNvPr>
          <p:cNvPicPr>
            <a:picLocks noChangeAspect="1"/>
          </p:cNvPicPr>
          <p:nvPr/>
        </p:nvPicPr>
        <p:blipFill>
          <a:blip r:embed="rId2"/>
          <a:stretch>
            <a:fillRect/>
          </a:stretch>
        </p:blipFill>
        <p:spPr>
          <a:xfrm>
            <a:off x="0" y="1434189"/>
            <a:ext cx="6786578" cy="2961054"/>
          </a:xfrm>
          <a:prstGeom prst="rect">
            <a:avLst/>
          </a:prstGeom>
        </p:spPr>
      </p:pic>
      <p:sp>
        <p:nvSpPr>
          <p:cNvPr id="5" name="Text Box 7">
            <a:extLst>
              <a:ext uri="{FF2B5EF4-FFF2-40B4-BE49-F238E27FC236}">
                <a16:creationId xmlns="" xmlns:a16="http://schemas.microsoft.com/office/drawing/2014/main" id="{20E0A5CF-7726-4B28-B83E-8789C979ED08}"/>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Nhóm nhân viên</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5C1F08DD-8688-42ED-832B-968851FC541C}"/>
              </a:ext>
            </a:extLst>
          </p:cNvPr>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nhóm nhân viên</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tạo 1 dòng nhóm đánh giá mới,  hình thức tiêu chuẩn là mục lựa chọn,  nội dung bên trong bố trí theo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5D6B76D6-5DDA-4C16-AE76-BE0D61358D30}"/>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0A5C1B5E-C14A-409E-B0FD-ADE571B81442}"/>
              </a:ext>
            </a:extLst>
          </p:cNvPr>
          <p:cNvSpPr/>
          <p:nvPr/>
        </p:nvSpPr>
        <p:spPr>
          <a:xfrm>
            <a:off x="5920284" y="216588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9F6005DE-3219-40E4-87AE-0A65C231FE4D}"/>
              </a:ext>
            </a:extLst>
          </p:cNvPr>
          <p:cNvSpPr/>
          <p:nvPr/>
        </p:nvSpPr>
        <p:spPr>
          <a:xfrm>
            <a:off x="2500868" y="1988840"/>
            <a:ext cx="630972"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815621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BCB5A67-0916-4CF7-8AD6-FEDF4BA13F83}"/>
              </a:ext>
            </a:extLst>
          </p:cNvPr>
          <p:cNvPicPr>
            <a:picLocks noChangeAspect="1"/>
          </p:cNvPicPr>
          <p:nvPr/>
        </p:nvPicPr>
        <p:blipFill>
          <a:blip r:embed="rId2"/>
          <a:stretch>
            <a:fillRect/>
          </a:stretch>
        </p:blipFill>
        <p:spPr>
          <a:xfrm>
            <a:off x="0" y="1444230"/>
            <a:ext cx="6786578" cy="2946150"/>
          </a:xfrm>
          <a:prstGeom prst="rect">
            <a:avLst/>
          </a:prstGeom>
        </p:spPr>
      </p:pic>
      <p:sp>
        <p:nvSpPr>
          <p:cNvPr id="5" name="Text Box 7">
            <a:extLst>
              <a:ext uri="{FF2B5EF4-FFF2-40B4-BE49-F238E27FC236}">
                <a16:creationId xmlns="" xmlns:a16="http://schemas.microsoft.com/office/drawing/2014/main" id="{E4D006E1-C27E-4C8F-A88D-589ADECC3214}"/>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Nhóm chức vụ</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631CF0DB-6CDE-415F-B73D-2680815983FF}"/>
              </a:ext>
            </a:extLst>
          </p:cNvPr>
          <p:cNvSpPr txBox="1"/>
          <p:nvPr/>
        </p:nvSpPr>
        <p:spPr>
          <a:xfrm>
            <a:off x="6786578" y="1535881"/>
            <a:ext cx="2071702" cy="3508653"/>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nh</a:t>
            </a:r>
            <a:r>
              <a:rPr lang="vi-VN" altLang="zh-CN" sz="1200">
                <a:latin typeface="Times New Roman" pitchFamily="18" charset="0"/>
                <a:ea typeface="微软雅黑" pitchFamily="34" charset="-122"/>
                <a:cs typeface="Times New Roman" pitchFamily="18" charset="0"/>
              </a:rPr>
              <a:t>óm chức vụ</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tạo 1 dòng nhóm đánh giá mới,  hình thức tiêu chuẩn là mục lựa chọn,  nội dung bên trong bố trí theo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2D9AD1E1-E914-4361-8008-62E0218A974C}"/>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9" name="Rectangle 8">
            <a:extLst>
              <a:ext uri="{FF2B5EF4-FFF2-40B4-BE49-F238E27FC236}">
                <a16:creationId xmlns="" xmlns:a16="http://schemas.microsoft.com/office/drawing/2014/main" id="{84C82536-8632-495B-93E3-D974EC0A007A}"/>
              </a:ext>
            </a:extLst>
          </p:cNvPr>
          <p:cNvSpPr/>
          <p:nvPr/>
        </p:nvSpPr>
        <p:spPr>
          <a:xfrm>
            <a:off x="5920284" y="2171833"/>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F318A5DC-E8D5-4CF0-A279-07D6A87F5893}"/>
              </a:ext>
            </a:extLst>
          </p:cNvPr>
          <p:cNvSpPr/>
          <p:nvPr/>
        </p:nvSpPr>
        <p:spPr>
          <a:xfrm>
            <a:off x="3059832" y="2001269"/>
            <a:ext cx="54186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3720939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56AD577-BE1B-404A-8AAD-C6BCBAC5A4DC}"/>
              </a:ext>
            </a:extLst>
          </p:cNvPr>
          <p:cNvPicPr>
            <a:picLocks noChangeAspect="1"/>
          </p:cNvPicPr>
          <p:nvPr/>
        </p:nvPicPr>
        <p:blipFill>
          <a:blip r:embed="rId2"/>
          <a:stretch>
            <a:fillRect/>
          </a:stretch>
        </p:blipFill>
        <p:spPr>
          <a:xfrm>
            <a:off x="0" y="1454271"/>
            <a:ext cx="6786578" cy="2931245"/>
          </a:xfrm>
          <a:prstGeom prst="rect">
            <a:avLst/>
          </a:prstGeom>
        </p:spPr>
      </p:pic>
      <p:sp>
        <p:nvSpPr>
          <p:cNvPr id="5" name="Text Box 7">
            <a:extLst>
              <a:ext uri="{FF2B5EF4-FFF2-40B4-BE49-F238E27FC236}">
                <a16:creationId xmlns="" xmlns:a16="http://schemas.microsoft.com/office/drawing/2014/main" id="{4B630E00-725D-4051-B19D-B2B84FF596EA}"/>
              </a:ext>
            </a:extLst>
          </p:cNvPr>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000">
                <a:latin typeface="Times New Roman" pitchFamily="18" charset="0"/>
                <a:ea typeface="微软雅黑" pitchFamily="34" charset="-122"/>
                <a:cs typeface="Times New Roman" pitchFamily="18" charset="0"/>
              </a:rPr>
              <a:t>Têu chuẩn đánh giá </a:t>
            </a:r>
            <a:r>
              <a:rPr lang="en-US" altLang="zh-CN" sz="1000">
                <a:latin typeface="Times New Roman" pitchFamily="18" charset="0"/>
                <a:ea typeface="微软雅黑" pitchFamily="34" charset="-122"/>
                <a:cs typeface="Times New Roman" pitchFamily="18" charset="0"/>
                <a:sym typeface="Wingdings" panose="05000000000000000000" pitchFamily="2" charset="2"/>
              </a:rPr>
              <a:t></a:t>
            </a:r>
            <a:r>
              <a:rPr lang="en-US" altLang="zh-CN" sz="1000">
                <a:latin typeface="Times New Roman" pitchFamily="18" charset="0"/>
                <a:ea typeface="微软雅黑" pitchFamily="34" charset="-122"/>
                <a:cs typeface="Times New Roman" pitchFamily="18" charset="0"/>
              </a:rPr>
              <a:t> Người đánh giá</a:t>
            </a:r>
            <a:endParaRPr lang="zh-CN" altLang="en-US" sz="1000" dirty="0">
              <a:ea typeface="微软雅黑" pitchFamily="34" charset="-122"/>
            </a:endParaRPr>
          </a:p>
        </p:txBody>
      </p:sp>
      <p:sp>
        <p:nvSpPr>
          <p:cNvPr id="6" name="TextBox 5">
            <a:extLst>
              <a:ext uri="{FF2B5EF4-FFF2-40B4-BE49-F238E27FC236}">
                <a16:creationId xmlns="" xmlns:a16="http://schemas.microsoft.com/office/drawing/2014/main" id="{E607E1A4-CC83-4594-9121-3742735F75F9}"/>
              </a:ext>
            </a:extLst>
          </p:cNvPr>
          <p:cNvSpPr txBox="1"/>
          <p:nvPr/>
        </p:nvSpPr>
        <p:spPr>
          <a:xfrm>
            <a:off x="6786578" y="1535881"/>
            <a:ext cx="2071702" cy="4247317"/>
          </a:xfrm>
          <a:prstGeom prst="rect">
            <a:avLst/>
          </a:prstGeom>
          <a:noFill/>
        </p:spPr>
        <p:txBody>
          <a:bodyPr wrap="square" rtlCol="0">
            <a:spAutoFit/>
          </a:bodyPr>
          <a:lstStyle/>
          <a:p>
            <a:pPr algn="l">
              <a:spcBef>
                <a:spcPct val="50000"/>
              </a:spcBef>
            </a:pPr>
            <a:r>
              <a:rPr lang="vi-VN" altLang="zh-CN" sz="1200" b="1">
                <a:ea typeface="微软雅黑" pitchFamily="34" charset="-122"/>
              </a:rPr>
              <a:t>Công dụng: </a:t>
            </a:r>
            <a:endParaRPr lang="en-US" altLang="zh-CN" sz="1200" b="1">
              <a:ea typeface="微软雅黑" pitchFamily="34" charset="-122"/>
            </a:endParaRPr>
          </a:p>
          <a:p>
            <a:pPr algn="l">
              <a:spcBef>
                <a:spcPct val="50000"/>
              </a:spcBef>
            </a:pPr>
            <a:r>
              <a:rPr lang="en-US" altLang="zh-CN" sz="1200">
                <a:ea typeface="微软雅黑" pitchFamily="34" charset="-122"/>
                <a:cs typeface="Times New Roman" pitchFamily="18" charset="0"/>
              </a:rPr>
              <a:t>Đ</a:t>
            </a:r>
            <a:r>
              <a:rPr lang="en-US" altLang="zh-CN" sz="1200">
                <a:latin typeface="Times New Roman" pitchFamily="18" charset="0"/>
                <a:ea typeface="微软雅黑" pitchFamily="34" charset="-122"/>
                <a:cs typeface="Times New Roman" pitchFamily="18" charset="0"/>
              </a:rPr>
              <a:t>ịnh nghĩa ng</a:t>
            </a:r>
            <a:r>
              <a:rPr lang="vi-VN" altLang="zh-CN" sz="1200">
                <a:latin typeface="Times New Roman" pitchFamily="18" charset="0"/>
                <a:ea typeface="微软雅黑" pitchFamily="34" charset="-122"/>
                <a:cs typeface="Times New Roman" pitchFamily="18" charset="0"/>
              </a:rPr>
              <a:t>ư</a:t>
            </a:r>
            <a:r>
              <a:rPr lang="en-US" altLang="zh-CN" sz="1200">
                <a:latin typeface="Times New Roman" pitchFamily="18" charset="0"/>
                <a:ea typeface="微软雅黑" pitchFamily="34" charset="-122"/>
                <a:cs typeface="Times New Roman" pitchFamily="18" charset="0"/>
              </a:rPr>
              <a:t>ời đánh giá</a:t>
            </a:r>
            <a:r>
              <a:rPr lang="vi-VN" altLang="zh-CN" sz="1200">
                <a:ea typeface="微软雅黑" pitchFamily="34" charset="-122"/>
              </a:rPr>
              <a:t>.</a:t>
            </a:r>
            <a:endParaRPr lang="zh-CN" altLang="en-US" sz="1200">
              <a:ea typeface="微软雅黑" pitchFamily="34" charset="-122"/>
            </a:endParaRPr>
          </a:p>
          <a:p>
            <a:pPr algn="l">
              <a:spcBef>
                <a:spcPct val="50000"/>
              </a:spcBef>
            </a:pPr>
            <a:r>
              <a:rPr lang="vi-VN" altLang="zh-CN" sz="1200" b="1">
                <a:ea typeface="微软雅黑" pitchFamily="34" charset="-122"/>
              </a:rPr>
              <a:t>Chức năng: </a:t>
            </a:r>
            <a:endParaRPr lang="en-US" altLang="zh-CN" sz="1200" b="1">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Tra cứu,  thêm,  xóa,  lưu</a:t>
            </a:r>
            <a:r>
              <a:rPr lang="vi-VN" altLang="zh-CN" sz="1200">
                <a:ea typeface="微软雅黑" pitchFamily="34" charset="-122"/>
              </a:rPr>
              <a:t> </a:t>
            </a:r>
            <a:endParaRPr lang="en-US" altLang="zh-CN" sz="1200">
              <a:ea typeface="微软雅黑" pitchFamily="34" charset="-122"/>
            </a:endParaRPr>
          </a:p>
          <a:p>
            <a:pPr algn="l">
              <a:spcBef>
                <a:spcPct val="50000"/>
              </a:spcBef>
            </a:pPr>
            <a:r>
              <a:rPr lang="vi-VN" altLang="zh-CN" sz="1200" b="1">
                <a:ea typeface="微软雅黑" pitchFamily="34" charset="-122"/>
              </a:rPr>
              <a:t>Giải thích chi tiết: </a:t>
            </a:r>
            <a:endParaRPr lang="en-US" altLang="zh-CN" sz="1200">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Tạo mới:  là thêm 1 hàng tiêu chuẩn người đánh giá,  CODE loại người đánh giá,  Nhóm đánh giá,  ID quy tắc( Rule),  Hình thức tiêu chuẩn là mục lựa chọn,  nội dung bên trong ngoài Nhóm chức vụ đều bố trí tại thiết lập hệ thống đánh giá.</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khác có thể nhập tay</a:t>
            </a:r>
            <a:endParaRPr lang="en-US" altLang="zh-CN" sz="1200" dirty="0">
              <a:latin typeface="Times New Roman" pitchFamily="18" charset="0"/>
              <a:ea typeface="微软雅黑" pitchFamily="34" charset="-122"/>
              <a:cs typeface="Times New Roman" pitchFamily="18" charset="0"/>
            </a:endParaRPr>
          </a:p>
        </p:txBody>
      </p:sp>
      <p:sp>
        <p:nvSpPr>
          <p:cNvPr id="8" name="TextBox 7">
            <a:extLst>
              <a:ext uri="{FF2B5EF4-FFF2-40B4-BE49-F238E27FC236}">
                <a16:creationId xmlns="" xmlns:a16="http://schemas.microsoft.com/office/drawing/2014/main" id="{51998E08-5A3F-4FFA-8B5A-71A0B17031C6}"/>
              </a:ext>
            </a:extLst>
          </p:cNvPr>
          <p:cNvSpPr txBox="1"/>
          <p:nvPr/>
        </p:nvSpPr>
        <p:spPr>
          <a:xfrm>
            <a:off x="171596" y="766445"/>
            <a:ext cx="7640764" cy="523220"/>
          </a:xfrm>
          <a:prstGeom prst="rect">
            <a:avLst/>
          </a:prstGeom>
          <a:noFill/>
        </p:spPr>
        <p:txBody>
          <a:bodyPr wrap="square" rtlCol="0">
            <a:spAutoFit/>
          </a:bodyPr>
          <a:lstStyle/>
          <a:p>
            <a:pPr algn="l">
              <a:spcBef>
                <a:spcPct val="50000"/>
              </a:spcBef>
            </a:pPr>
            <a:r>
              <a:rPr lang="en-US" altLang="zh-CN" sz="1400">
                <a:latin typeface="Times New Roman" pitchFamily="18" charset="0"/>
                <a:ea typeface="微软雅黑" pitchFamily="34" charset="-122"/>
                <a:cs typeface="Times New Roman" pitchFamily="18" charset="0"/>
              </a:rPr>
              <a:t>Thiết lập tiêu chuẩn đánh giá, bao gồm: Cấp đánh giá, Cấp hạng mục đánh giá, Đối tượng đánh giá, Bảng đánh giá</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nhân viên</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Nhóm chức vụ</a:t>
            </a:r>
            <a:r>
              <a:rPr lang="zh-CN" altLang="en-US" sz="1400">
                <a:latin typeface="Times New Roman" pitchFamily="18" charset="0"/>
                <a:ea typeface="微软雅黑" pitchFamily="34" charset="-122"/>
                <a:cs typeface="Times New Roman" pitchFamily="18" charset="0"/>
              </a:rPr>
              <a:t>、</a:t>
            </a:r>
            <a:r>
              <a:rPr lang="en-US" altLang="zh-CN" sz="1400">
                <a:latin typeface="Times New Roman" pitchFamily="18" charset="0"/>
                <a:ea typeface="微软雅黑" pitchFamily="34" charset="-122"/>
                <a:cs typeface="Times New Roman" pitchFamily="18" charset="0"/>
              </a:rPr>
              <a:t>Người đánh giá.</a:t>
            </a:r>
            <a:endParaRPr lang="en-US" altLang="zh-CN" sz="1400" dirty="0">
              <a:latin typeface="Times New Roman" pitchFamily="18" charset="0"/>
              <a:ea typeface="微软雅黑" pitchFamily="34" charset="-122"/>
              <a:cs typeface="Times New Roman" pitchFamily="18" charset="0"/>
            </a:endParaRPr>
          </a:p>
        </p:txBody>
      </p:sp>
      <p:sp>
        <p:nvSpPr>
          <p:cNvPr id="2" name="Rectangle 1">
            <a:extLst>
              <a:ext uri="{FF2B5EF4-FFF2-40B4-BE49-F238E27FC236}">
                <a16:creationId xmlns="" xmlns:a16="http://schemas.microsoft.com/office/drawing/2014/main" id="{0EE5BB11-C8FD-4261-BE22-92BC3B8A0ED0}"/>
              </a:ext>
            </a:extLst>
          </p:cNvPr>
          <p:cNvSpPr/>
          <p:nvPr/>
        </p:nvSpPr>
        <p:spPr>
          <a:xfrm>
            <a:off x="755576" y="4830560"/>
            <a:ext cx="4572000" cy="923330"/>
          </a:xfrm>
          <a:prstGeom prst="rect">
            <a:avLst/>
          </a:prstGeom>
        </p:spPr>
        <p:txBody>
          <a:bodyPr>
            <a:spAutoFit/>
          </a:bodyPr>
          <a:lstStyle/>
          <a:p>
            <a:pPr lvl="0"/>
            <a:r>
              <a:rPr lang="en-US" altLang="zh-CN">
                <a:latin typeface="Times New Roman" pitchFamily="18" charset="0"/>
                <a:cs typeface="Times New Roman" pitchFamily="18" charset="0"/>
              </a:rPr>
              <a:t>ID quy tắc:NV quản lý</a:t>
            </a:r>
            <a:r>
              <a:rPr lang="zh-CN" altLang="zh-CN">
                <a:latin typeface="Times New Roman" pitchFamily="18" charset="0"/>
                <a:cs typeface="Times New Roman" pitchFamily="18" charset="0"/>
              </a:rPr>
              <a:t>：</a:t>
            </a:r>
            <a:r>
              <a:rPr lang="en-US" altLang="zh-CN">
                <a:latin typeface="Times New Roman" pitchFamily="18" charset="0"/>
                <a:cs typeface="Times New Roman" pitchFamily="18" charset="0"/>
              </a:rPr>
              <a:t>Trưởng PART</a:t>
            </a:r>
            <a:r>
              <a:rPr lang="zh-CN" altLang="zh-CN">
                <a:latin typeface="Times New Roman" pitchFamily="18" charset="0"/>
                <a:cs typeface="Times New Roman" pitchFamily="18" charset="0"/>
              </a:rPr>
              <a:t>，</a:t>
            </a:r>
            <a:r>
              <a:rPr lang="en-US" altLang="zh-CN">
                <a:latin typeface="Times New Roman" pitchFamily="18" charset="0"/>
                <a:cs typeface="Times New Roman" pitchFamily="18" charset="0"/>
              </a:rPr>
              <a:t>Trưởng TEAM</a:t>
            </a:r>
            <a:endParaRPr lang="zh-CN" altLang="zh-CN">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sp>
        <p:nvSpPr>
          <p:cNvPr id="9" name="Rectangle 8">
            <a:extLst>
              <a:ext uri="{FF2B5EF4-FFF2-40B4-BE49-F238E27FC236}">
                <a16:creationId xmlns="" xmlns:a16="http://schemas.microsoft.com/office/drawing/2014/main" id="{5C227D0C-1A5E-4B62-889B-CCBAFCF44719}"/>
              </a:ext>
            </a:extLst>
          </p:cNvPr>
          <p:cNvSpPr/>
          <p:nvPr/>
        </p:nvSpPr>
        <p:spPr>
          <a:xfrm>
            <a:off x="5920284" y="2204864"/>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10" name="Rectangle 9">
            <a:extLst>
              <a:ext uri="{FF2B5EF4-FFF2-40B4-BE49-F238E27FC236}">
                <a16:creationId xmlns="" xmlns:a16="http://schemas.microsoft.com/office/drawing/2014/main" id="{4562928D-0C36-406B-BA58-19E2E14E4031}"/>
              </a:ext>
            </a:extLst>
          </p:cNvPr>
          <p:cNvSpPr/>
          <p:nvPr/>
        </p:nvSpPr>
        <p:spPr>
          <a:xfrm>
            <a:off x="4067944" y="2027817"/>
            <a:ext cx="648072"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1822127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latin typeface="+mj-lt"/>
                <a:ea typeface="微软雅黑" pitchFamily="34" charset="-122"/>
              </a:rPr>
              <a:t>Thiết lập tỷ lệ</a:t>
            </a:r>
            <a:endParaRPr lang="zh-CN" altLang="en-US" sz="1000" dirty="0">
              <a:latin typeface="+mj-lt"/>
              <a:ea typeface="微软雅黑" pitchFamily="34" charset="-122"/>
            </a:endParaRPr>
          </a:p>
        </p:txBody>
      </p:sp>
      <p:pic>
        <p:nvPicPr>
          <p:cNvPr id="3" name="Picture 2">
            <a:extLst>
              <a:ext uri="{FF2B5EF4-FFF2-40B4-BE49-F238E27FC236}">
                <a16:creationId xmlns="" xmlns:a16="http://schemas.microsoft.com/office/drawing/2014/main" id="{E06F5144-D654-4166-95AD-31A7C600DC28}"/>
              </a:ext>
            </a:extLst>
          </p:cNvPr>
          <p:cNvPicPr>
            <a:picLocks noChangeAspect="1"/>
          </p:cNvPicPr>
          <p:nvPr/>
        </p:nvPicPr>
        <p:blipFill>
          <a:blip r:embed="rId2"/>
          <a:stretch>
            <a:fillRect/>
          </a:stretch>
        </p:blipFill>
        <p:spPr>
          <a:xfrm>
            <a:off x="0" y="1685214"/>
            <a:ext cx="6786578" cy="2588438"/>
          </a:xfrm>
          <a:prstGeom prst="rect">
            <a:avLst/>
          </a:prstGeom>
        </p:spPr>
      </p:pic>
      <p:sp>
        <p:nvSpPr>
          <p:cNvPr id="5" name="TextBox 4">
            <a:extLst>
              <a:ext uri="{FF2B5EF4-FFF2-40B4-BE49-F238E27FC236}">
                <a16:creationId xmlns="" xmlns:a16="http://schemas.microsoft.com/office/drawing/2014/main" id="{207C42DC-D8EA-4203-ABCE-B846D9EC698B}"/>
              </a:ext>
            </a:extLst>
          </p:cNvPr>
          <p:cNvSpPr txBox="1"/>
          <p:nvPr/>
        </p:nvSpPr>
        <p:spPr>
          <a:xfrm>
            <a:off x="6786578" y="1216491"/>
            <a:ext cx="2177910" cy="4985980"/>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Quản lý tỷ lệ đánh giá,  tỷ lệ đánh giá là thiết lập tỉ lệ của cấp đánh giá trong hệ thống đánh giá. Trang này có thể thiết lập tỉ lệ đánh giá tiêu chuẩn NV,   tiêu chuẩn cơ sở do hệ thống tự động sinh ra,  có thể sửa</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vi-VN" altLang="zh-CN" sz="1200">
                <a:latin typeface="+mj-lt"/>
                <a:ea typeface="微软雅黑" pitchFamily="34" charset="-122"/>
              </a:rPr>
              <a:t>Tra cứu, sửa </a:t>
            </a:r>
            <a:endParaRPr lang="en-US" altLang="zh-CN" sz="1200" dirty="0">
              <a:latin typeface="+mj-lt"/>
              <a:ea typeface="微软雅黑" pitchFamily="34" charset="-122"/>
            </a:endParaRPr>
          </a:p>
          <a:p>
            <a:pPr algn="l">
              <a:spcBef>
                <a:spcPct val="50000"/>
              </a:spcBef>
            </a:pPr>
            <a:r>
              <a:rPr lang="vi-VN" altLang="zh-CN" sz="1200" b="1" dirty="0">
                <a:latin typeface="+mj-lt"/>
                <a:ea typeface="微软雅黑" pitchFamily="34" charset="-122"/>
              </a:rPr>
              <a:t>Giải thích chi tiết: </a:t>
            </a:r>
            <a:endParaRPr lang="en-US" altLang="zh-CN" sz="1200"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Tiêu chuẩn NV là do người quản lý đánh giá nhập dữ liệu tỉ lệ đánh giá NV. Nếu có tiêu chuẩn NV,  hệ thống thực hiện tỉ lệ của thiết lập trong tiêu chuẩn NV,  nếu không có thực hiện tỉ lệ theo tiêu chuẩn cơ sở</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Tra cứu không có điều kiện,  mặc định tra cứu tất cả nội dung</a:t>
            </a:r>
          </a:p>
          <a:p>
            <a:pPr algn="l">
              <a:spcBef>
                <a:spcPct val="50000"/>
              </a:spcBef>
            </a:pPr>
            <a:r>
              <a:rPr lang="en-US" altLang="zh-CN" sz="1200">
                <a:latin typeface="Times New Roman" pitchFamily="18" charset="0"/>
                <a:ea typeface="微软雅黑" pitchFamily="34" charset="-122"/>
                <a:cs typeface="Times New Roman" pitchFamily="18" charset="0"/>
              </a:rPr>
              <a:t>3. Các nội dung còn lại có thể thêm,  nhập thủ công</a:t>
            </a:r>
            <a:endParaRPr lang="en-US" altLang="zh-CN" sz="1200" dirty="0">
              <a:latin typeface="Times New Roman" pitchFamily="18" charset="0"/>
              <a:ea typeface="微软雅黑" pitchFamily="34" charset="-122"/>
              <a:cs typeface="Times New Roman" pitchFamily="18" charset="0"/>
            </a:endParaRPr>
          </a:p>
        </p:txBody>
      </p:sp>
      <p:sp>
        <p:nvSpPr>
          <p:cNvPr id="8" name="Rectangle 7">
            <a:extLst>
              <a:ext uri="{FF2B5EF4-FFF2-40B4-BE49-F238E27FC236}">
                <a16:creationId xmlns="" xmlns:a16="http://schemas.microsoft.com/office/drawing/2014/main" id="{B7A1C5AC-D5B2-4500-A20B-2F316FC55225}"/>
              </a:ext>
            </a:extLst>
          </p:cNvPr>
          <p:cNvSpPr/>
          <p:nvPr/>
        </p:nvSpPr>
        <p:spPr>
          <a:xfrm>
            <a:off x="6372200" y="2453919"/>
            <a:ext cx="360040"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9" name="Rectangle 8">
            <a:extLst>
              <a:ext uri="{FF2B5EF4-FFF2-40B4-BE49-F238E27FC236}">
                <a16:creationId xmlns="" xmlns:a16="http://schemas.microsoft.com/office/drawing/2014/main" id="{21735556-677D-452A-B1E7-88CA9F6E7A2A}"/>
              </a:ext>
            </a:extLst>
          </p:cNvPr>
          <p:cNvSpPr/>
          <p:nvPr/>
        </p:nvSpPr>
        <p:spPr>
          <a:xfrm>
            <a:off x="107504" y="2276872"/>
            <a:ext cx="720080"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151517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latin typeface="+mj-lt"/>
                <a:ea typeface="微软雅黑" pitchFamily="34" charset="-122"/>
              </a:rPr>
              <a:t>Chỉ tiêu đánh giá</a:t>
            </a:r>
            <a:endParaRPr lang="zh-CN" altLang="en-US" sz="1000" dirty="0">
              <a:latin typeface="+mj-lt"/>
              <a:ea typeface="微软雅黑" pitchFamily="34" charset="-122"/>
            </a:endParaRPr>
          </a:p>
        </p:txBody>
      </p:sp>
      <p:sp>
        <p:nvSpPr>
          <p:cNvPr id="11" name="TextBox 10"/>
          <p:cNvSpPr txBox="1"/>
          <p:nvPr/>
        </p:nvSpPr>
        <p:spPr>
          <a:xfrm>
            <a:off x="6786578" y="1216491"/>
            <a:ext cx="2071702" cy="3970318"/>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Thiết lập chỉ tiêu đánh giá năng lực.</a:t>
            </a:r>
          </a:p>
          <a:p>
            <a:pPr algn="l">
              <a:spcBef>
                <a:spcPct val="50000"/>
              </a:spcBef>
            </a:pPr>
            <a:r>
              <a:rPr lang="vi-VN" altLang="zh-CN" sz="1200" b="1">
                <a:latin typeface="+mj-lt"/>
                <a:ea typeface="微软雅黑" pitchFamily="34" charset="-122"/>
              </a:rPr>
              <a:t>Chức </a:t>
            </a:r>
            <a:r>
              <a:rPr lang="vi-VN" altLang="zh-CN" sz="1200" b="1" dirty="0">
                <a:latin typeface="+mj-lt"/>
                <a:ea typeface="微软雅黑" pitchFamily="34" charset="-122"/>
              </a:rPr>
              <a:t>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1.Tìm kiếm</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Tìm kiếm dựa vào các chỉ tiêu đánh giá</a:t>
            </a:r>
          </a:p>
          <a:p>
            <a:pPr algn="l">
              <a:spcBef>
                <a:spcPct val="50000"/>
              </a:spcBef>
            </a:pPr>
            <a:r>
              <a:rPr lang="en-US" altLang="zh-CN" sz="1200">
                <a:latin typeface="Times New Roman" pitchFamily="18" charset="0"/>
                <a:ea typeface="微软雅黑" pitchFamily="34" charset="-122"/>
                <a:cs typeface="Times New Roman" pitchFamily="18" charset="0"/>
              </a:rPr>
              <a:t>Tạo mới, Xóa, Lưu giống với những trang khác</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Nhóm chỉ tiêu là mục lựa chọn. Nội dung xem thiết lập hệ thống đánh giá. Yêu cầu chọn tên trường có thể sắp xếp theo quy tắc. Các hạng mục khác là hạng mục nhập thủ công. Nhập nội dung xong chọn “Lưu”</a:t>
            </a:r>
          </a:p>
          <a:p>
            <a:pPr algn="l">
              <a:spcBef>
                <a:spcPct val="50000"/>
              </a:spcBef>
            </a:pPr>
            <a:r>
              <a:rPr lang="en-US" altLang="zh-CN" sz="1200">
                <a:latin typeface="Times New Roman" pitchFamily="18" charset="0"/>
                <a:ea typeface="微软雅黑" pitchFamily="34" charset="-122"/>
                <a:cs typeface="Times New Roman" pitchFamily="18" charset="0"/>
              </a:rPr>
              <a:t>ND nhóm chỉ tiêu</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năng lực cá nhân,</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thái độ nghiệp vụ</a:t>
            </a:r>
          </a:p>
        </p:txBody>
      </p:sp>
      <p:pic>
        <p:nvPicPr>
          <p:cNvPr id="2" name="Picture 1">
            <a:extLst>
              <a:ext uri="{FF2B5EF4-FFF2-40B4-BE49-F238E27FC236}">
                <a16:creationId xmlns="" xmlns:a16="http://schemas.microsoft.com/office/drawing/2014/main" id="{7F93F361-F562-46D3-859B-5612DA3A7514}"/>
              </a:ext>
            </a:extLst>
          </p:cNvPr>
          <p:cNvPicPr>
            <a:picLocks noChangeAspect="1"/>
          </p:cNvPicPr>
          <p:nvPr/>
        </p:nvPicPr>
        <p:blipFill>
          <a:blip r:embed="rId2"/>
          <a:stretch>
            <a:fillRect/>
          </a:stretch>
        </p:blipFill>
        <p:spPr>
          <a:xfrm>
            <a:off x="0" y="1457618"/>
            <a:ext cx="6742999" cy="2907486"/>
          </a:xfrm>
          <a:prstGeom prst="rect">
            <a:avLst/>
          </a:prstGeom>
        </p:spPr>
      </p:pic>
      <p:sp>
        <p:nvSpPr>
          <p:cNvPr id="5" name="Rectangle 4">
            <a:extLst>
              <a:ext uri="{FF2B5EF4-FFF2-40B4-BE49-F238E27FC236}">
                <a16:creationId xmlns="" xmlns:a16="http://schemas.microsoft.com/office/drawing/2014/main" id="{DC234E50-D3D4-478E-AEEF-03A48E11C102}"/>
              </a:ext>
            </a:extLst>
          </p:cNvPr>
          <p:cNvSpPr/>
          <p:nvPr/>
        </p:nvSpPr>
        <p:spPr>
          <a:xfrm>
            <a:off x="5848276" y="2165887"/>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6" name="Rectangle 5">
            <a:extLst>
              <a:ext uri="{FF2B5EF4-FFF2-40B4-BE49-F238E27FC236}">
                <a16:creationId xmlns="" xmlns:a16="http://schemas.microsoft.com/office/drawing/2014/main" id="{F09EFE41-B909-42C1-9F8C-A57509BEE9AE}"/>
              </a:ext>
            </a:extLst>
          </p:cNvPr>
          <p:cNvSpPr/>
          <p:nvPr/>
        </p:nvSpPr>
        <p:spPr>
          <a:xfrm>
            <a:off x="107504" y="1988840"/>
            <a:ext cx="55619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312917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3024336"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ea typeface="微软雅黑" pitchFamily="34" charset="-122"/>
              </a:rPr>
              <a:t>Chỉ tiêu đánh giá </a:t>
            </a:r>
            <a:r>
              <a:rPr lang="vi-VN" altLang="zh-CN" sz="1000">
                <a:ea typeface="微软雅黑" pitchFamily="34" charset="-122"/>
                <a:sym typeface="Wingdings" panose="05000000000000000000" pitchFamily="2" charset="2"/>
              </a:rPr>
              <a:t> Hạng mục chỉ tiêu đánh giá</a:t>
            </a:r>
            <a:endParaRPr lang="zh-CN" altLang="en-US" sz="1000" dirty="0">
              <a:ea typeface="微软雅黑" pitchFamily="34" charset="-122"/>
            </a:endParaRPr>
          </a:p>
        </p:txBody>
      </p:sp>
      <p:sp>
        <p:nvSpPr>
          <p:cNvPr id="11" name="TextBox 10"/>
          <p:cNvSpPr txBox="1"/>
          <p:nvPr/>
        </p:nvSpPr>
        <p:spPr>
          <a:xfrm>
            <a:off x="6786578" y="1216491"/>
            <a:ext cx="2071702" cy="4247317"/>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Chỉ định chỉ tiêu đánh giá năng lực, chỉ định chỉ tiêu nào sử dụng cho nhóm đánh giá nào</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Tìm kiếm:tìm kiếm dựa theo Nhóm đánh giá, Nhóm chỉ tiêu, nhóm chức vụ đánh giá</a:t>
            </a:r>
          </a:p>
          <a:p>
            <a:pPr algn="l">
              <a:spcBef>
                <a:spcPct val="50000"/>
              </a:spcBef>
            </a:pPr>
            <a:r>
              <a:rPr lang="en-US" altLang="zh-CN" sz="1200">
                <a:latin typeface="Times New Roman" pitchFamily="18" charset="0"/>
                <a:ea typeface="微软雅黑" pitchFamily="34" charset="-122"/>
                <a:cs typeface="Times New Roman" pitchFamily="18" charset="0"/>
              </a:rPr>
              <a:t>Tạo mới, Xóa, Lưu</a:t>
            </a:r>
          </a:p>
          <a:p>
            <a:pPr algn="l">
              <a:spcBef>
                <a:spcPct val="50000"/>
              </a:spcBef>
            </a:pPr>
            <a:r>
              <a:rPr lang="en-US" altLang="zh-CN" sz="1200">
                <a:latin typeface="Times New Roman" pitchFamily="18" charset="0"/>
                <a:ea typeface="微软雅黑" pitchFamily="34" charset="-122"/>
                <a:cs typeface="Times New Roman" pitchFamily="18" charset="0"/>
              </a:rPr>
              <a:t>2.</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Tên chỉ tiêu ( phía trước thêm nội dung), Nhóm chỉ tiêu, Nhóm đánh giá( Nhóm chức vụ đánh giá) là mục lựa chọn. Yêu cầu chọn tên trường có thể săp xếp theo quy tắc. Các hạng mục khác là hạng mục điền. Điền thông tin sau đó :Lưu”. </a:t>
            </a:r>
            <a:endParaRPr lang="en-US" altLang="zh-CN" sz="1200" dirty="0">
              <a:latin typeface="Times New Roman" pitchFamily="18" charset="0"/>
              <a:ea typeface="微软雅黑" pitchFamily="34" charset="-122"/>
              <a:cs typeface="Times New Roman" pitchFamily="18" charset="0"/>
            </a:endParaRPr>
          </a:p>
        </p:txBody>
      </p:sp>
      <p:pic>
        <p:nvPicPr>
          <p:cNvPr id="2" name="Picture 1">
            <a:extLst>
              <a:ext uri="{FF2B5EF4-FFF2-40B4-BE49-F238E27FC236}">
                <a16:creationId xmlns="" xmlns:a16="http://schemas.microsoft.com/office/drawing/2014/main" id="{2AE08D5B-C7D9-4441-B8D0-874C5CB0938A}"/>
              </a:ext>
            </a:extLst>
          </p:cNvPr>
          <p:cNvPicPr>
            <a:picLocks noChangeAspect="1"/>
          </p:cNvPicPr>
          <p:nvPr/>
        </p:nvPicPr>
        <p:blipFill>
          <a:blip r:embed="rId2"/>
          <a:stretch>
            <a:fillRect/>
          </a:stretch>
        </p:blipFill>
        <p:spPr>
          <a:xfrm>
            <a:off x="0" y="1397372"/>
            <a:ext cx="6660232" cy="2959561"/>
          </a:xfrm>
          <a:prstGeom prst="rect">
            <a:avLst/>
          </a:prstGeom>
        </p:spPr>
      </p:pic>
      <p:sp>
        <p:nvSpPr>
          <p:cNvPr id="5" name="Rectangle 4">
            <a:extLst>
              <a:ext uri="{FF2B5EF4-FFF2-40B4-BE49-F238E27FC236}">
                <a16:creationId xmlns="" xmlns:a16="http://schemas.microsoft.com/office/drawing/2014/main" id="{8EC08C7B-834F-4202-85ED-27FBE89988B8}"/>
              </a:ext>
            </a:extLst>
          </p:cNvPr>
          <p:cNvSpPr/>
          <p:nvPr/>
        </p:nvSpPr>
        <p:spPr>
          <a:xfrm>
            <a:off x="5796136" y="2132856"/>
            <a:ext cx="811956"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
        <p:nvSpPr>
          <p:cNvPr id="6" name="Rectangle 5">
            <a:extLst>
              <a:ext uri="{FF2B5EF4-FFF2-40B4-BE49-F238E27FC236}">
                <a16:creationId xmlns="" xmlns:a16="http://schemas.microsoft.com/office/drawing/2014/main" id="{B24B46EB-7BE9-4A54-9CD1-6DD19B96CBC7}"/>
              </a:ext>
            </a:extLst>
          </p:cNvPr>
          <p:cNvSpPr/>
          <p:nvPr/>
        </p:nvSpPr>
        <p:spPr>
          <a:xfrm>
            <a:off x="611560" y="1994786"/>
            <a:ext cx="936104" cy="1770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vi-VN" sz="800" dirty="0">
              <a:solidFill>
                <a:schemeClr val="tx1"/>
              </a:solidFill>
              <a:ea typeface="微软雅黑" pitchFamily="34" charset="-122"/>
            </a:endParaRPr>
          </a:p>
        </p:txBody>
      </p:sp>
    </p:spTree>
    <p:extLst>
      <p:ext uri="{BB962C8B-B14F-4D97-AF65-F5344CB8AC3E}">
        <p14:creationId xmlns:p14="http://schemas.microsoft.com/office/powerpoint/2010/main" val="2897945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dirty="0">
                <a:latin typeface="+mj-lt"/>
                <a:ea typeface="微软雅黑" pitchFamily="34" charset="-122"/>
              </a:rPr>
              <a:t>Đối tượng đánh </a:t>
            </a:r>
            <a:r>
              <a:rPr lang="en-US" altLang="zh-CN" sz="1000" dirty="0" smtClean="0">
                <a:latin typeface="+mj-lt"/>
                <a:ea typeface="微软雅黑" pitchFamily="34" charset="-122"/>
              </a:rPr>
              <a:t>giá</a:t>
            </a:r>
            <a:r>
              <a:rPr lang="vi-VN" altLang="zh-CN" sz="1000" dirty="0" smtClean="0">
                <a:latin typeface="+mj-lt"/>
                <a:ea typeface="微软雅黑" pitchFamily="34" charset="-122"/>
              </a:rPr>
              <a:t> </a:t>
            </a:r>
            <a:r>
              <a:rPr lang="vi-VN" altLang="zh-CN" sz="1000" dirty="0">
                <a:latin typeface="+mj-lt"/>
                <a:ea typeface="微软雅黑" pitchFamily="34" charset="-122"/>
              </a:rPr>
              <a:t>và người đánh giá</a:t>
            </a:r>
            <a:endParaRPr lang="zh-CN" altLang="en-US" sz="1000" dirty="0">
              <a:latin typeface="+mj-lt"/>
              <a:ea typeface="微软雅黑" pitchFamily="34" charset="-122"/>
            </a:endParaRPr>
          </a:p>
        </p:txBody>
      </p:sp>
      <p:sp>
        <p:nvSpPr>
          <p:cNvPr id="11" name="TextBox 10"/>
          <p:cNvSpPr txBox="1"/>
          <p:nvPr/>
        </p:nvSpPr>
        <p:spPr>
          <a:xfrm>
            <a:off x="6786578" y="548680"/>
            <a:ext cx="2327954" cy="5909310"/>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Thiết lập đối tượng đánh giá và người đánh giá. Có thể dựa vào thiết lập quy tắc trước đây tự động sinh ra đối tượng đánh giá và người đánh giá</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itchFamily="18" charset="0"/>
                <a:ea typeface="微软雅黑" pitchFamily="34" charset="-122"/>
                <a:cs typeface="Times New Roman" pitchFamily="18" charset="0"/>
              </a:rPr>
              <a:t>1.</a:t>
            </a:r>
            <a:r>
              <a:rPr lang="zh-CN" altLang="en-US" sz="1200">
                <a:latin typeface="Times New Roman" pitchFamily="18" charset="0"/>
                <a:ea typeface="微软雅黑" pitchFamily="34" charset="-122"/>
                <a:cs typeface="Times New Roman" pitchFamily="18" charset="0"/>
              </a:rPr>
              <a:t> </a:t>
            </a:r>
            <a:r>
              <a:rPr lang="en-US" altLang="zh-CN" sz="1200">
                <a:latin typeface="Times New Roman" pitchFamily="18" charset="0"/>
                <a:ea typeface="微软雅黑" pitchFamily="34" charset="-122"/>
                <a:cs typeface="Times New Roman" pitchFamily="18" charset="0"/>
              </a:rPr>
              <a:t>Create target: Dựa vào nội dung đã thiết lập đánh giá trước đây tự động  sinh ra đối tượng muốn đánh giá. Dựa vào quan hệ phòng ban tự động sinh ra người đánh giá, kết quả hiển thị bên dưới. Có thể chỉnh sửa thủ công người đánh giá</a:t>
            </a:r>
          </a:p>
          <a:p>
            <a:pPr algn="l">
              <a:spcBef>
                <a:spcPct val="50000"/>
              </a:spcBef>
            </a:pPr>
            <a:r>
              <a:rPr lang="en-US" altLang="zh-CN" sz="1200">
                <a:latin typeface="Times New Roman" pitchFamily="18" charset="0"/>
                <a:ea typeface="微软雅黑" pitchFamily="34" charset="-122"/>
                <a:cs typeface="Times New Roman" pitchFamily="18" charset="0"/>
              </a:rPr>
              <a:t>   Đối tượng chưa sinh ra</a:t>
            </a:r>
            <a:r>
              <a:rPr lang="zh-CN" altLang="en-US" sz="1200">
                <a:latin typeface="Times New Roman" pitchFamily="18" charset="0"/>
                <a:ea typeface="微软雅黑" pitchFamily="34" charset="-122"/>
                <a:cs typeface="Times New Roman" pitchFamily="18" charset="0"/>
              </a:rPr>
              <a:t>：</a:t>
            </a:r>
            <a:endParaRPr lang="en-US" altLang="zh-CN" sz="1200">
              <a:latin typeface="Times New Roman" pitchFamily="18" charset="0"/>
              <a:ea typeface="微软雅黑" pitchFamily="34" charset="-122"/>
              <a:cs typeface="Times New Roman" pitchFamily="18" charset="0"/>
            </a:endParaRPr>
          </a:p>
          <a:p>
            <a:pPr algn="l">
              <a:spcBef>
                <a:spcPct val="50000"/>
              </a:spcBef>
            </a:pPr>
            <a:r>
              <a:rPr lang="en-US" altLang="zh-CN" sz="1200">
                <a:latin typeface="Times New Roman" pitchFamily="18" charset="0"/>
                <a:ea typeface="微软雅黑" pitchFamily="34" charset="-122"/>
                <a:cs typeface="Times New Roman" pitchFamily="18" charset="0"/>
              </a:rPr>
              <a:t>Tìm kiếm đối tượng đánh giá chưa sinh ra trong hệ thống</a:t>
            </a:r>
          </a:p>
          <a:p>
            <a:pPr algn="l">
              <a:spcBef>
                <a:spcPct val="50000"/>
              </a:spcBef>
            </a:pPr>
            <a:r>
              <a:rPr lang="en-US" altLang="zh-CN" sz="1200">
                <a:latin typeface="Times New Roman" pitchFamily="18" charset="0"/>
                <a:ea typeface="微软雅黑" pitchFamily="34" charset="-122"/>
                <a:cs typeface="Times New Roman" pitchFamily="18" charset="0"/>
              </a:rPr>
              <a:t>Tra cứu</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Tra cứu theo họ tên, mã CNV, CMND, phòng ban, nhóm đánh giá</a:t>
            </a:r>
          </a:p>
          <a:p>
            <a:pPr algn="l">
              <a:spcBef>
                <a:spcPct val="50000"/>
              </a:spcBef>
            </a:pPr>
            <a:r>
              <a:rPr lang="en-US" altLang="zh-CN" sz="1200">
                <a:latin typeface="Times New Roman" pitchFamily="18" charset="0"/>
                <a:ea typeface="微软雅黑" pitchFamily="34" charset="-122"/>
                <a:cs typeface="Times New Roman" pitchFamily="18" charset="0"/>
              </a:rPr>
              <a:t>Tạo mới: Tạo mưới 1 đối tượng đánh giá, trong trang tự động sinh ra 1 hàng</a:t>
            </a:r>
          </a:p>
          <a:p>
            <a:pPr algn="l">
              <a:spcBef>
                <a:spcPct val="50000"/>
              </a:spcBef>
            </a:pPr>
            <a:r>
              <a:rPr lang="en-US" altLang="zh-CN" sz="1200">
                <a:latin typeface="Times New Roman" pitchFamily="18" charset="0"/>
                <a:ea typeface="微软雅黑" pitchFamily="34" charset="-122"/>
                <a:cs typeface="Times New Roman" pitchFamily="18" charset="0"/>
              </a:rPr>
              <a:t>Xóa</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Xóa 1 đối tượng đánh giá</a:t>
            </a:r>
          </a:p>
          <a:p>
            <a:pPr algn="l">
              <a:spcBef>
                <a:spcPct val="50000"/>
              </a:spcBef>
            </a:pPr>
            <a:r>
              <a:rPr lang="vi-VN" altLang="zh-CN" sz="1200">
                <a:latin typeface="Times New Roman" pitchFamily="18" charset="0"/>
                <a:ea typeface="微软雅黑" pitchFamily="34" charset="-122"/>
                <a:cs typeface="Times New Roman" pitchFamily="18" charset="0"/>
              </a:rPr>
              <a:t>Lưu</a:t>
            </a:r>
            <a:r>
              <a:rPr lang="zh-CN" altLang="en-US" sz="1200">
                <a:latin typeface="Times New Roman" pitchFamily="18" charset="0"/>
                <a:ea typeface="微软雅黑" pitchFamily="34" charset="-122"/>
                <a:cs typeface="Times New Roman" pitchFamily="18" charset="0"/>
              </a:rPr>
              <a:t>：</a:t>
            </a:r>
            <a:r>
              <a:rPr lang="en-US" altLang="zh-CN" sz="1200">
                <a:latin typeface="Times New Roman" pitchFamily="18" charset="0"/>
                <a:ea typeface="微软雅黑" pitchFamily="34" charset="-122"/>
                <a:cs typeface="Times New Roman" pitchFamily="18" charset="0"/>
              </a:rPr>
              <a:t>Các thao tác cần Lưu mới có hiệu lực</a:t>
            </a:r>
            <a:endParaRPr lang="en-US" altLang="zh-CN" sz="1200" dirty="0">
              <a:latin typeface="Times New Roman" pitchFamily="18" charset="0"/>
              <a:ea typeface="微软雅黑" pitchFamily="34" charset="-122"/>
              <a:cs typeface="Times New Roman" pitchFamily="18" charset="0"/>
            </a:endParaRPr>
          </a:p>
        </p:txBody>
      </p:sp>
      <p:pic>
        <p:nvPicPr>
          <p:cNvPr id="4" name="Picture 3">
            <a:extLst>
              <a:ext uri="{FF2B5EF4-FFF2-40B4-BE49-F238E27FC236}">
                <a16:creationId xmlns="" xmlns:a16="http://schemas.microsoft.com/office/drawing/2014/main" id="{63ED8B74-0E4C-4937-A760-38A8F12A9920}"/>
              </a:ext>
            </a:extLst>
          </p:cNvPr>
          <p:cNvPicPr>
            <a:picLocks noChangeAspect="1"/>
          </p:cNvPicPr>
          <p:nvPr/>
        </p:nvPicPr>
        <p:blipFill>
          <a:blip r:embed="rId2"/>
          <a:stretch>
            <a:fillRect/>
          </a:stretch>
        </p:blipFill>
        <p:spPr>
          <a:xfrm>
            <a:off x="29468" y="671685"/>
            <a:ext cx="6584235" cy="2983632"/>
          </a:xfrm>
          <a:prstGeom prst="rect">
            <a:avLst/>
          </a:prstGeom>
        </p:spPr>
      </p:pic>
      <p:pic>
        <p:nvPicPr>
          <p:cNvPr id="5" name="Picture 4">
            <a:extLst>
              <a:ext uri="{FF2B5EF4-FFF2-40B4-BE49-F238E27FC236}">
                <a16:creationId xmlns="" xmlns:a16="http://schemas.microsoft.com/office/drawing/2014/main" id="{26CC497A-567C-4F25-90D9-665E389E651E}"/>
              </a:ext>
            </a:extLst>
          </p:cNvPr>
          <p:cNvPicPr>
            <a:picLocks noChangeAspect="1"/>
          </p:cNvPicPr>
          <p:nvPr/>
        </p:nvPicPr>
        <p:blipFill>
          <a:blip r:embed="rId3"/>
          <a:stretch>
            <a:fillRect/>
          </a:stretch>
        </p:blipFill>
        <p:spPr>
          <a:xfrm>
            <a:off x="0" y="4077072"/>
            <a:ext cx="6584235" cy="2289540"/>
          </a:xfrm>
          <a:prstGeom prst="rect">
            <a:avLst/>
          </a:prstGeom>
        </p:spPr>
      </p:pic>
      <p:sp>
        <p:nvSpPr>
          <p:cNvPr id="6" name="AutoShape 23">
            <a:extLst>
              <a:ext uri="{FF2B5EF4-FFF2-40B4-BE49-F238E27FC236}">
                <a16:creationId xmlns="" xmlns:a16="http://schemas.microsoft.com/office/drawing/2014/main" id="{BA54DF6C-7E20-4249-B49D-09A3A0BD479A}"/>
              </a:ext>
            </a:extLst>
          </p:cNvPr>
          <p:cNvSpPr>
            <a:spLocks noChangeArrowheads="1"/>
          </p:cNvSpPr>
          <p:nvPr/>
        </p:nvSpPr>
        <p:spPr bwMode="auto">
          <a:xfrm>
            <a:off x="0" y="1628800"/>
            <a:ext cx="6584235" cy="1872208"/>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8" name="AutoShape 23">
            <a:extLst>
              <a:ext uri="{FF2B5EF4-FFF2-40B4-BE49-F238E27FC236}">
                <a16:creationId xmlns="" xmlns:a16="http://schemas.microsoft.com/office/drawing/2014/main" id="{A511D33A-0E1E-4478-9778-32EC7C127246}"/>
              </a:ext>
            </a:extLst>
          </p:cNvPr>
          <p:cNvSpPr>
            <a:spLocks noChangeArrowheads="1"/>
          </p:cNvSpPr>
          <p:nvPr/>
        </p:nvSpPr>
        <p:spPr bwMode="auto">
          <a:xfrm>
            <a:off x="0" y="1052736"/>
            <a:ext cx="6660232" cy="286322"/>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椭圆 23">
            <a:extLst>
              <a:ext uri="{FF2B5EF4-FFF2-40B4-BE49-F238E27FC236}">
                <a16:creationId xmlns="" xmlns:a16="http://schemas.microsoft.com/office/drawing/2014/main" id="{F3123FA0-E564-4BF9-A4ED-9069C465412F}"/>
              </a:ext>
            </a:extLst>
          </p:cNvPr>
          <p:cNvSpPr/>
          <p:nvPr/>
        </p:nvSpPr>
        <p:spPr>
          <a:xfrm>
            <a:off x="4139952" y="112474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0" name="椭圆 24">
            <a:extLst>
              <a:ext uri="{FF2B5EF4-FFF2-40B4-BE49-F238E27FC236}">
                <a16:creationId xmlns="" xmlns:a16="http://schemas.microsoft.com/office/drawing/2014/main" id="{455C6A19-0824-4C07-A9DC-D9F43B7EC097}"/>
              </a:ext>
            </a:extLst>
          </p:cNvPr>
          <p:cNvSpPr/>
          <p:nvPr/>
        </p:nvSpPr>
        <p:spPr>
          <a:xfrm>
            <a:off x="5436096" y="306896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769425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dirty="0">
                <a:ea typeface="微软雅黑" pitchFamily="34" charset="-122"/>
              </a:rPr>
              <a:t>Đối tượng đánh </a:t>
            </a:r>
            <a:r>
              <a:rPr lang="en-US" altLang="zh-CN" sz="1000" dirty="0" smtClean="0">
                <a:ea typeface="微软雅黑" pitchFamily="34" charset="-122"/>
              </a:rPr>
              <a:t>giá</a:t>
            </a:r>
            <a:r>
              <a:rPr lang="vi-VN" altLang="zh-CN" sz="1000" dirty="0" smtClean="0">
                <a:ea typeface="微软雅黑" pitchFamily="34" charset="-122"/>
              </a:rPr>
              <a:t> </a:t>
            </a:r>
            <a:r>
              <a:rPr lang="vi-VN" altLang="zh-CN" sz="1000" dirty="0">
                <a:ea typeface="微软雅黑" pitchFamily="34" charset="-122"/>
              </a:rPr>
              <a:t>và người đánh giá</a:t>
            </a:r>
            <a:endParaRPr lang="zh-CN" altLang="en-US" sz="1000" dirty="0">
              <a:ea typeface="微软雅黑" pitchFamily="34" charset="-122"/>
            </a:endParaRPr>
          </a:p>
        </p:txBody>
      </p:sp>
      <p:sp>
        <p:nvSpPr>
          <p:cNvPr id="11" name="TextBox 10"/>
          <p:cNvSpPr txBox="1"/>
          <p:nvPr/>
        </p:nvSpPr>
        <p:spPr>
          <a:xfrm>
            <a:off x="6786578" y="548680"/>
            <a:ext cx="2327954" cy="1938992"/>
          </a:xfrm>
          <a:prstGeom prst="rect">
            <a:avLst/>
          </a:prstGeom>
          <a:noFill/>
        </p:spPr>
        <p:txBody>
          <a:bodyPr wrap="square" rtlCol="0">
            <a:spAutoFit/>
          </a:bodyPr>
          <a:lstStyle/>
          <a:p>
            <a:pPr algn="l">
              <a:spcBef>
                <a:spcPct val="50000"/>
              </a:spcBef>
            </a:pPr>
            <a:r>
              <a:rPr lang="vi-VN" altLang="zh-CN" sz="1200" b="1">
                <a:latin typeface="Times New Roman" pitchFamily="18" charset="0"/>
                <a:ea typeface="微软雅黑" pitchFamily="34" charset="-122"/>
                <a:cs typeface="Times New Roman" pitchFamily="18" charset="0"/>
              </a:rPr>
              <a:t>Chức năng</a:t>
            </a:r>
            <a:r>
              <a:rPr lang="zh-CN" altLang="en-US" sz="1200" b="1">
                <a:latin typeface="Times New Roman" pitchFamily="18" charset="0"/>
                <a:ea typeface="微软雅黑" pitchFamily="34" charset="-122"/>
                <a:cs typeface="Times New Roman" pitchFamily="18" charset="0"/>
              </a:rPr>
              <a:t>：</a:t>
            </a:r>
            <a:r>
              <a:rPr lang="en-US" altLang="zh-CN" sz="1200" b="1">
                <a:latin typeface="Times New Roman" pitchFamily="18" charset="0"/>
                <a:ea typeface="微软雅黑" pitchFamily="34" charset="-122"/>
                <a:cs typeface="Times New Roman" pitchFamily="18" charset="0"/>
              </a:rPr>
              <a:t>Tiếp trang trước</a:t>
            </a:r>
          </a:p>
          <a:p>
            <a:pPr algn="l">
              <a:spcBef>
                <a:spcPct val="50000"/>
              </a:spcBef>
            </a:pPr>
            <a:r>
              <a:rPr lang="en-US" altLang="zh-CN" sz="1200">
                <a:latin typeface="Times New Roman" pitchFamily="18" charset="0"/>
                <a:ea typeface="微软雅黑" pitchFamily="34" charset="-122"/>
                <a:cs typeface="Times New Roman" pitchFamily="18" charset="0"/>
              </a:rPr>
              <a:t>Thực hiện tất cả : thay đổi hàng loạt người đánh giá của mỗi giai đoạn, chọn giai đoạn đánh giá, chọn người đánh giá, click “Thực hiện tất cả” có thể thay đổi tất cả người đánh giá trong giai đoạn này</a:t>
            </a:r>
          </a:p>
          <a:p>
            <a:pPr algn="l">
              <a:spcBef>
                <a:spcPct val="50000"/>
              </a:spcBef>
            </a:pPr>
            <a:r>
              <a:rPr lang="en-US" altLang="zh-CN" sz="1200">
                <a:latin typeface="Times New Roman" pitchFamily="18" charset="0"/>
                <a:ea typeface="微软雅黑" pitchFamily="34" charset="-122"/>
                <a:cs typeface="Times New Roman" pitchFamily="18" charset="0"/>
              </a:rPr>
              <a:t>Bắt đầu đánh giá: Sau khi thiết lập xong, bắt đầu đánh giá lần này</a:t>
            </a:r>
            <a:endParaRPr lang="en-US" altLang="zh-CN" sz="1200" dirty="0">
              <a:latin typeface="Times New Roman" pitchFamily="18" charset="0"/>
              <a:ea typeface="微软雅黑" pitchFamily="34" charset="-122"/>
              <a:cs typeface="Times New Roman" pitchFamily="18" charset="0"/>
            </a:endParaRPr>
          </a:p>
        </p:txBody>
      </p:sp>
      <p:pic>
        <p:nvPicPr>
          <p:cNvPr id="4" name="Picture 3">
            <a:extLst>
              <a:ext uri="{FF2B5EF4-FFF2-40B4-BE49-F238E27FC236}">
                <a16:creationId xmlns="" xmlns:a16="http://schemas.microsoft.com/office/drawing/2014/main" id="{63ED8B74-0E4C-4937-A760-38A8F12A9920}"/>
              </a:ext>
            </a:extLst>
          </p:cNvPr>
          <p:cNvPicPr>
            <a:picLocks noChangeAspect="1"/>
          </p:cNvPicPr>
          <p:nvPr/>
        </p:nvPicPr>
        <p:blipFill>
          <a:blip r:embed="rId2"/>
          <a:stretch>
            <a:fillRect/>
          </a:stretch>
        </p:blipFill>
        <p:spPr>
          <a:xfrm>
            <a:off x="29468" y="671685"/>
            <a:ext cx="6584235" cy="2983632"/>
          </a:xfrm>
          <a:prstGeom prst="rect">
            <a:avLst/>
          </a:prstGeom>
        </p:spPr>
      </p:pic>
      <p:sp>
        <p:nvSpPr>
          <p:cNvPr id="6" name="TextBox 5">
            <a:extLst>
              <a:ext uri="{FF2B5EF4-FFF2-40B4-BE49-F238E27FC236}">
                <a16:creationId xmlns="" xmlns:a16="http://schemas.microsoft.com/office/drawing/2014/main" id="{76C19801-BD61-4C05-9479-FACED8F112C1}"/>
              </a:ext>
            </a:extLst>
          </p:cNvPr>
          <p:cNvSpPr txBox="1"/>
          <p:nvPr/>
        </p:nvSpPr>
        <p:spPr>
          <a:xfrm>
            <a:off x="179512" y="3789040"/>
            <a:ext cx="7920880" cy="1700466"/>
          </a:xfrm>
          <a:prstGeom prst="rect">
            <a:avLst/>
          </a:prstGeom>
          <a:noFill/>
        </p:spPr>
        <p:txBody>
          <a:bodyPr wrap="square" rtlCol="0">
            <a:spAutoFit/>
          </a:bodyPr>
          <a:lstStyle/>
          <a:p>
            <a:pPr algn="l">
              <a:spcBef>
                <a:spcPct val="50000"/>
              </a:spcBef>
            </a:pPr>
            <a:r>
              <a:rPr lang="vi-VN" altLang="zh-CN" sz="1100" b="1">
                <a:ea typeface="微软雅黑" pitchFamily="34" charset="-122"/>
              </a:rPr>
              <a:t>Chức năng</a:t>
            </a:r>
            <a:r>
              <a:rPr lang="zh-CN" altLang="en-US" sz="1100" b="1">
                <a:ea typeface="微软雅黑" pitchFamily="34" charset="-122"/>
              </a:rPr>
              <a:t>：</a:t>
            </a:r>
            <a:endParaRPr lang="en-US" altLang="zh-CN" sz="1100" b="1">
              <a:ea typeface="微软雅黑" pitchFamily="34" charset="-122"/>
            </a:endParaRPr>
          </a:p>
          <a:p>
            <a:pPr algn="l">
              <a:spcBef>
                <a:spcPct val="50000"/>
              </a:spcBef>
            </a:pPr>
            <a:r>
              <a:rPr lang="en-US" altLang="zh-CN" sz="1100" b="1">
                <a:latin typeface="Times New Roman" pitchFamily="18" charset="0"/>
                <a:ea typeface="微软雅黑" pitchFamily="34" charset="-122"/>
                <a:cs typeface="Times New Roman" pitchFamily="18" charset="0"/>
              </a:rPr>
              <a:t>1. EXCEL: Kết xuất EXCEl, cần chọn dữ liệu muốn kết xuất. Trang kết xuất như dưới đây. Sau khi kết xuất, tài liệu EXCEL tự động mở. Hình thức kết xuất gồm 2 dạng: 1 loại ưu tiên tốc độ ( Hạng mục đều hiển thị) , 1 loại ưu tiên mẫu( Nội dung hạng mục bên trong giống với dạng nôi dung trang hệ thống.</a:t>
            </a:r>
            <a:endParaRPr lang="en-US" altLang="zh-CN" sz="1100" b="1">
              <a:ea typeface="微软雅黑" pitchFamily="34" charset="-122"/>
            </a:endParaRPr>
          </a:p>
          <a:p>
            <a:pPr algn="l">
              <a:spcBef>
                <a:spcPct val="50000"/>
              </a:spcBef>
            </a:pPr>
            <a:r>
              <a:rPr lang="en-US" altLang="zh-CN" sz="1100" b="1">
                <a:ea typeface="微软雅黑" pitchFamily="34" charset="-122"/>
              </a:rPr>
              <a:t>2. Khu dữ liệu, có thể tìm kiếm NV dựa vào họ tên, tự động hiển thị chức vụ, mã CNV, tên phòng ban, ngày vào làm, bảng đánh giá, nhóm đánh giá, CODE phân biệt là mục lựa chọn, nội dung xem trang thiết lập hệ thống đánh giá</a:t>
            </a:r>
          </a:p>
          <a:p>
            <a:pPr algn="l">
              <a:spcBef>
                <a:spcPct val="50000"/>
              </a:spcBef>
            </a:pPr>
            <a:r>
              <a:rPr lang="en-US" altLang="zh-CN" sz="1100" b="1">
                <a:ea typeface="微软雅黑" pitchFamily="34" charset="-122"/>
              </a:rPr>
              <a:t>Tên người đánh giá lần 1, người đánh giá lần 2, người đánh giá lần 3 đều có thể tìm kiếm, tự động hiển thị nội dung liên quan đến chức vụ</a:t>
            </a:r>
          </a:p>
        </p:txBody>
      </p:sp>
      <p:sp>
        <p:nvSpPr>
          <p:cNvPr id="8" name="AutoShape 23">
            <a:extLst>
              <a:ext uri="{FF2B5EF4-FFF2-40B4-BE49-F238E27FC236}">
                <a16:creationId xmlns="" xmlns:a16="http://schemas.microsoft.com/office/drawing/2014/main" id="{2DAFE973-6CDA-4CA5-AF98-A217CC97015B}"/>
              </a:ext>
            </a:extLst>
          </p:cNvPr>
          <p:cNvSpPr>
            <a:spLocks noChangeArrowheads="1"/>
          </p:cNvSpPr>
          <p:nvPr/>
        </p:nvSpPr>
        <p:spPr bwMode="auto">
          <a:xfrm>
            <a:off x="0" y="1628800"/>
            <a:ext cx="6584235" cy="1872208"/>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AutoShape 23">
            <a:extLst>
              <a:ext uri="{FF2B5EF4-FFF2-40B4-BE49-F238E27FC236}">
                <a16:creationId xmlns="" xmlns:a16="http://schemas.microsoft.com/office/drawing/2014/main" id="{D824F1F5-37CE-4076-9DBF-3D3E8838E33C}"/>
              </a:ext>
            </a:extLst>
          </p:cNvPr>
          <p:cNvSpPr>
            <a:spLocks noChangeArrowheads="1"/>
          </p:cNvSpPr>
          <p:nvPr/>
        </p:nvSpPr>
        <p:spPr bwMode="auto">
          <a:xfrm>
            <a:off x="0" y="1052736"/>
            <a:ext cx="6660232" cy="286322"/>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0" name="椭圆 23">
            <a:extLst>
              <a:ext uri="{FF2B5EF4-FFF2-40B4-BE49-F238E27FC236}">
                <a16:creationId xmlns="" xmlns:a16="http://schemas.microsoft.com/office/drawing/2014/main" id="{83CCD983-C8FA-4247-BD9F-B7BC7C4E06BF}"/>
              </a:ext>
            </a:extLst>
          </p:cNvPr>
          <p:cNvSpPr/>
          <p:nvPr/>
        </p:nvSpPr>
        <p:spPr>
          <a:xfrm>
            <a:off x="4139952" y="112474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2" name="椭圆 24">
            <a:extLst>
              <a:ext uri="{FF2B5EF4-FFF2-40B4-BE49-F238E27FC236}">
                <a16:creationId xmlns="" xmlns:a16="http://schemas.microsoft.com/office/drawing/2014/main" id="{F036368B-35DB-4662-8257-FADF5417E58A}"/>
              </a:ext>
            </a:extLst>
          </p:cNvPr>
          <p:cNvSpPr/>
          <p:nvPr/>
        </p:nvSpPr>
        <p:spPr>
          <a:xfrm>
            <a:off x="5436096" y="306896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558285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7328"/>
            <a:ext cx="2592288" cy="246221"/>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000">
                <a:latin typeface="+mj-lt"/>
                <a:ea typeface="微软雅黑" pitchFamily="34" charset="-122"/>
              </a:rPr>
              <a:t>Kết quả đánh giá</a:t>
            </a:r>
            <a:endParaRPr lang="zh-CN" altLang="en-US" sz="1000" dirty="0">
              <a:latin typeface="+mj-lt"/>
              <a:ea typeface="微软雅黑" pitchFamily="34" charset="-122"/>
            </a:endParaRPr>
          </a:p>
        </p:txBody>
      </p:sp>
      <p:sp>
        <p:nvSpPr>
          <p:cNvPr id="11" name="TextBox 10"/>
          <p:cNvSpPr txBox="1"/>
          <p:nvPr/>
        </p:nvSpPr>
        <p:spPr>
          <a:xfrm>
            <a:off x="6786578" y="1216491"/>
            <a:ext cx="2071702" cy="3785652"/>
          </a:xfrm>
          <a:prstGeom prst="rect">
            <a:avLst/>
          </a:prstGeom>
          <a:noFill/>
        </p:spPr>
        <p:txBody>
          <a:bodyPr wrap="square" rtlCol="0">
            <a:spAutoFit/>
          </a:bodyPr>
          <a:lstStyle/>
          <a:p>
            <a:pPr algn="l">
              <a:spcBef>
                <a:spcPct val="50000"/>
              </a:spcBef>
            </a:pPr>
            <a:r>
              <a:rPr lang="vi-VN" altLang="zh-CN" sz="1200" b="1" dirty="0">
                <a:latin typeface="+mj-lt"/>
                <a:ea typeface="微软雅黑" pitchFamily="34" charset="-122"/>
              </a:rPr>
              <a:t>Công dụng: </a:t>
            </a:r>
            <a:endParaRPr lang="en-US" altLang="zh-CN" sz="1200" b="1" dirty="0">
              <a:latin typeface="+mj-lt"/>
              <a:ea typeface="微软雅黑" pitchFamily="34" charset="-122"/>
            </a:endParaRP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Dùng để xác nhận kết quả đánh giá đối với đánh giá thành tích, có thể tiến hành sửa kết quả cuối cùng. Hoàn thành đánh giá hiệu suất</a:t>
            </a:r>
            <a:r>
              <a:rPr lang="vi-VN" altLang="zh-CN" sz="1200">
                <a:latin typeface="+mj-lt"/>
                <a:ea typeface="微软雅黑" pitchFamily="34" charset="-122"/>
              </a:rPr>
              <a:t>.</a:t>
            </a:r>
            <a:endParaRPr lang="zh-CN" altLang="en-US" sz="1200" dirty="0">
              <a:latin typeface="+mj-lt"/>
              <a:ea typeface="微软雅黑" pitchFamily="34" charset="-122"/>
            </a:endParaRPr>
          </a:p>
          <a:p>
            <a:pPr algn="l">
              <a:spcBef>
                <a:spcPct val="50000"/>
              </a:spcBef>
            </a:pPr>
            <a:r>
              <a:rPr lang="vi-VN" altLang="zh-CN" sz="1200" b="1" dirty="0">
                <a:latin typeface="+mj-lt"/>
                <a:ea typeface="微软雅黑" pitchFamily="34" charset="-122"/>
              </a:rPr>
              <a:t>Chức năng: </a:t>
            </a:r>
            <a:endParaRPr lang="en-US" altLang="zh-CN" sz="1200" b="1" dirty="0">
              <a:latin typeface="+mj-lt"/>
              <a:ea typeface="微软雅黑" pitchFamily="34" charset="-122"/>
            </a:endParaRP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1.</a:t>
            </a:r>
            <a:r>
              <a:rPr lang="vi-VN" altLang="zh-CN" sz="1200">
                <a:latin typeface="Times New Roman" panose="02020603050405020304" pitchFamily="18" charset="0"/>
                <a:ea typeface="微软雅黑" pitchFamily="34" charset="-122"/>
                <a:cs typeface="Times New Roman" panose="02020603050405020304" pitchFamily="18" charset="0"/>
              </a:rPr>
              <a:t> Dữ liệu tìm ra sẽ hiển thị ở giao diện bên dưới</a:t>
            </a:r>
            <a:r>
              <a:rPr lang="en-US" altLang="zh-CN" sz="1200">
                <a:latin typeface="Times New Roman" panose="02020603050405020304" pitchFamily="18" charset="0"/>
                <a:ea typeface="微软雅黑" pitchFamily="34" charset="-122"/>
                <a:cs typeface="Times New Roman" panose="02020603050405020304" pitchFamily="18" charset="0"/>
              </a:rPr>
              <a:t>. Nội dung bên trong có thể sửa chỉ có mức độ đánh giá (cuối cùng), điều chỉn ý kiến. Click có thể sửa, sau khi sửa có thể l</a:t>
            </a:r>
            <a:r>
              <a:rPr lang="vi-VN" altLang="zh-CN" sz="1200">
                <a:latin typeface="Times New Roman" panose="02020603050405020304" pitchFamily="18" charset="0"/>
                <a:ea typeface="微软雅黑" pitchFamily="34" charset="-122"/>
                <a:cs typeface="Times New Roman" panose="02020603050405020304" pitchFamily="18" charset="0"/>
              </a:rPr>
              <a:t>ư</a:t>
            </a:r>
            <a:r>
              <a:rPr lang="en-US" altLang="zh-CN" sz="1200">
                <a:latin typeface="Times New Roman" panose="02020603050405020304" pitchFamily="18" charset="0"/>
                <a:ea typeface="微软雅黑" pitchFamily="34" charset="-122"/>
                <a:cs typeface="Times New Roman" panose="02020603050405020304" pitchFamily="18" charset="0"/>
              </a:rPr>
              <a:t>u. </a:t>
            </a:r>
          </a:p>
          <a:p>
            <a:pPr algn="l">
              <a:spcBef>
                <a:spcPct val="50000"/>
              </a:spcBef>
            </a:pPr>
            <a:r>
              <a:rPr lang="en-US" altLang="zh-CN" sz="1200">
                <a:latin typeface="Times New Roman" panose="02020603050405020304" pitchFamily="18" charset="0"/>
                <a:ea typeface="微软雅黑" pitchFamily="34" charset="-122"/>
                <a:cs typeface="Times New Roman" panose="02020603050405020304" pitchFamily="18" charset="0"/>
              </a:rPr>
              <a:t>Kết thúc đánh giá: sau khi xác nhận, click kết thúc đánh giá để kết thúc lần đánh giá này. Sau khi kết thúc thì không thể sửa. </a:t>
            </a:r>
          </a:p>
        </p:txBody>
      </p:sp>
      <p:pic>
        <p:nvPicPr>
          <p:cNvPr id="3" name="Picture 2">
            <a:extLst>
              <a:ext uri="{FF2B5EF4-FFF2-40B4-BE49-F238E27FC236}">
                <a16:creationId xmlns="" xmlns:a16="http://schemas.microsoft.com/office/drawing/2014/main" id="{758D6CB1-CEED-4E93-BD45-A0349C395C7C}"/>
              </a:ext>
            </a:extLst>
          </p:cNvPr>
          <p:cNvPicPr>
            <a:picLocks noChangeAspect="1"/>
          </p:cNvPicPr>
          <p:nvPr/>
        </p:nvPicPr>
        <p:blipFill>
          <a:blip r:embed="rId2"/>
          <a:stretch>
            <a:fillRect/>
          </a:stretch>
        </p:blipFill>
        <p:spPr>
          <a:xfrm>
            <a:off x="0" y="1124744"/>
            <a:ext cx="6786578" cy="3144878"/>
          </a:xfrm>
          <a:prstGeom prst="rect">
            <a:avLst/>
          </a:prstGeom>
        </p:spPr>
      </p:pic>
      <p:sp>
        <p:nvSpPr>
          <p:cNvPr id="5" name="AutoShape 23">
            <a:extLst>
              <a:ext uri="{FF2B5EF4-FFF2-40B4-BE49-F238E27FC236}">
                <a16:creationId xmlns="" xmlns:a16="http://schemas.microsoft.com/office/drawing/2014/main" id="{063306EB-D2D1-4B55-9156-B50BF1E12886}"/>
              </a:ext>
            </a:extLst>
          </p:cNvPr>
          <p:cNvSpPr>
            <a:spLocks noChangeArrowheads="1"/>
          </p:cNvSpPr>
          <p:nvPr/>
        </p:nvSpPr>
        <p:spPr bwMode="auto">
          <a:xfrm>
            <a:off x="72008" y="1628800"/>
            <a:ext cx="6588224" cy="1080120"/>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6" name="椭圆 24">
            <a:extLst>
              <a:ext uri="{FF2B5EF4-FFF2-40B4-BE49-F238E27FC236}">
                <a16:creationId xmlns="" xmlns:a16="http://schemas.microsoft.com/office/drawing/2014/main" id="{D5D8EAB0-53A3-49B8-A0C0-E186B1269EEB}"/>
              </a:ext>
            </a:extLst>
          </p:cNvPr>
          <p:cNvSpPr/>
          <p:nvPr/>
        </p:nvSpPr>
        <p:spPr>
          <a:xfrm>
            <a:off x="6228184" y="234888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8" name="AutoShape 23">
            <a:extLst>
              <a:ext uri="{FF2B5EF4-FFF2-40B4-BE49-F238E27FC236}">
                <a16:creationId xmlns="" xmlns:a16="http://schemas.microsoft.com/office/drawing/2014/main" id="{197C4E43-A6A1-4CA2-8E76-1E5104AFE3DD}"/>
              </a:ext>
            </a:extLst>
          </p:cNvPr>
          <p:cNvSpPr>
            <a:spLocks noChangeArrowheads="1"/>
          </p:cNvSpPr>
          <p:nvPr/>
        </p:nvSpPr>
        <p:spPr bwMode="auto">
          <a:xfrm>
            <a:off x="54594" y="2744925"/>
            <a:ext cx="6588224" cy="1404155"/>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9" name="椭圆 9">
            <a:extLst>
              <a:ext uri="{FF2B5EF4-FFF2-40B4-BE49-F238E27FC236}">
                <a16:creationId xmlns="" xmlns:a16="http://schemas.microsoft.com/office/drawing/2014/main" id="{94A15699-DDD7-418B-89B5-3C25759B29A1}"/>
              </a:ext>
            </a:extLst>
          </p:cNvPr>
          <p:cNvSpPr/>
          <p:nvPr/>
        </p:nvSpPr>
        <p:spPr>
          <a:xfrm>
            <a:off x="6156176" y="3717032"/>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684703304"/>
      </p:ext>
    </p:extLst>
  </p:cSld>
  <p:clrMapOvr>
    <a:masterClrMapping/>
  </p:clrMapOvr>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l">
          <a:defRPr sz="800" dirty="0" smtClean="0">
            <a:solidFill>
              <a:schemeClr val="tx1"/>
            </a:solidFill>
            <a:ea typeface="微软雅黑"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19587</TotalTime>
  <Words>5320</Words>
  <Application>Microsoft Office PowerPoint</Application>
  <PresentationFormat>On-screen Show (4:3)</PresentationFormat>
  <Paragraphs>342</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 Unicode MS</vt:lpstr>
      <vt:lpstr>微软雅黑</vt:lpstr>
      <vt:lpstr>宋体</vt:lpstr>
      <vt:lpstr>Arial</vt:lpstr>
      <vt:lpstr>Calibri</vt:lpstr>
      <vt:lpstr>Times New Roman</vt:lpstr>
      <vt:lpstr>Wingdings</vt:lpstr>
      <vt:lpstr>2_自定义设计方案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1868</cp:revision>
  <dcterms:created xsi:type="dcterms:W3CDTF">2010-07-06T05:38:31Z</dcterms:created>
  <dcterms:modified xsi:type="dcterms:W3CDTF">2018-01-26T10:29:45Z</dcterms:modified>
</cp:coreProperties>
</file>