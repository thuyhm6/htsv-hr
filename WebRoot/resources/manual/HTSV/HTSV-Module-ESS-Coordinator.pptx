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5.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6.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7.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9" r:id="rId1"/>
    <p:sldMasterId id="2147483903" r:id="rId2"/>
    <p:sldMasterId id="2147483891" r:id="rId3"/>
    <p:sldMasterId id="2147483879" r:id="rId4"/>
    <p:sldMasterId id="2147483867" r:id="rId5"/>
    <p:sldMasterId id="2147483855" r:id="rId6"/>
    <p:sldMasterId id="2147483842" r:id="rId7"/>
    <p:sldMasterId id="2147483830" r:id="rId8"/>
  </p:sldMasterIdLst>
  <p:notesMasterIdLst>
    <p:notesMasterId r:id="rId27"/>
  </p:notesMasterIdLst>
  <p:handoutMasterIdLst>
    <p:handoutMasterId r:id="rId28"/>
  </p:handoutMasterIdLst>
  <p:sldIdLst>
    <p:sldId id="256" r:id="rId9"/>
    <p:sldId id="786" r:id="rId10"/>
    <p:sldId id="692" r:id="rId11"/>
    <p:sldId id="693" r:id="rId12"/>
    <p:sldId id="694" r:id="rId13"/>
    <p:sldId id="696" r:id="rId14"/>
    <p:sldId id="763" r:id="rId15"/>
    <p:sldId id="739" r:id="rId16"/>
    <p:sldId id="699" r:id="rId17"/>
    <p:sldId id="700" r:id="rId18"/>
    <p:sldId id="701" r:id="rId19"/>
    <p:sldId id="702" r:id="rId20"/>
    <p:sldId id="703" r:id="rId21"/>
    <p:sldId id="704" r:id="rId22"/>
    <p:sldId id="705" r:id="rId23"/>
    <p:sldId id="706" r:id="rId24"/>
    <p:sldId id="792" r:id="rId25"/>
    <p:sldId id="764" r:id="rId26"/>
  </p:sldIdLst>
  <p:sldSz cx="9144000" cy="6858000" type="screen4x3"/>
  <p:notesSz cx="6858000" cy="9144000"/>
  <p:defaultTextStyle>
    <a:defPPr>
      <a:defRPr lang="zh-CN"/>
    </a:defPPr>
    <a:lvl1pPr algn="ctr" rtl="0" fontAlgn="base">
      <a:spcBef>
        <a:spcPct val="0"/>
      </a:spcBef>
      <a:spcAft>
        <a:spcPct val="0"/>
      </a:spcAft>
      <a:defRPr kern="1200">
        <a:solidFill>
          <a:schemeClr val="tx1"/>
        </a:solidFill>
        <a:latin typeface="Arial" pitchFamily="34" charset="0"/>
        <a:ea typeface="宋体" pitchFamily="2" charset="-122"/>
        <a:cs typeface="+mn-cs"/>
      </a:defRPr>
    </a:lvl1pPr>
    <a:lvl2pPr marL="457200" algn="ctr" rtl="0" fontAlgn="base">
      <a:spcBef>
        <a:spcPct val="0"/>
      </a:spcBef>
      <a:spcAft>
        <a:spcPct val="0"/>
      </a:spcAft>
      <a:defRPr kern="1200">
        <a:solidFill>
          <a:schemeClr val="tx1"/>
        </a:solidFill>
        <a:latin typeface="Arial" pitchFamily="34" charset="0"/>
        <a:ea typeface="宋体" pitchFamily="2" charset="-122"/>
        <a:cs typeface="+mn-cs"/>
      </a:defRPr>
    </a:lvl2pPr>
    <a:lvl3pPr marL="914400" algn="ctr"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ctr"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ctr"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1888">
          <p15:clr>
            <a:srgbClr val="A4A3A4"/>
          </p15:clr>
        </p15:guide>
        <p15:guide id="2" pos="215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00CCFF"/>
    <a:srgbClr val="FF6600"/>
    <a:srgbClr val="FF9933"/>
    <a:srgbClr val="000099"/>
    <a:srgbClr val="33CCCC"/>
    <a:srgbClr val="3399FF"/>
    <a:srgbClr val="9999FF"/>
    <a:srgbClr val="99CC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26" autoAdjust="0"/>
    <p:restoredTop sz="99282" autoAdjust="0"/>
  </p:normalViewPr>
  <p:slideViewPr>
    <p:cSldViewPr>
      <p:cViewPr varScale="1">
        <p:scale>
          <a:sx n="80" d="100"/>
          <a:sy n="80" d="100"/>
        </p:scale>
        <p:origin x="1446" y="78"/>
      </p:cViewPr>
      <p:guideLst>
        <p:guide orient="horz" pos="1888"/>
        <p:guide pos="2154"/>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3.xml"/><Relationship Id="rId21" Type="http://schemas.openxmlformats.org/officeDocument/2006/relationships/slide" Target="slides/slide1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handoutMaster" Target="handoutMasters/handout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a:lvl1pPr>
          </a:lstStyle>
          <a:p>
            <a:endParaRPr lang="zh-CN" altLang="en-US" dirty="0">
              <a:ea typeface="微软雅黑" pitchFamily="34" charset="-122"/>
            </a:endParaRPr>
          </a:p>
        </p:txBody>
      </p:sp>
      <p:sp>
        <p:nvSpPr>
          <p:cNvPr id="13209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2F809E35-B4AC-482C-BF96-601431D08808}" type="datetimeFigureOut">
              <a:rPr lang="zh-CN" altLang="en-US">
                <a:ea typeface="微软雅黑" pitchFamily="34" charset="-122"/>
              </a:rPr>
              <a:pPr/>
              <a:t>2018/1/26</a:t>
            </a:fld>
            <a:endParaRPr lang="en-US" altLang="zh-CN" dirty="0">
              <a:ea typeface="微软雅黑" pitchFamily="34" charset="-122"/>
            </a:endParaRPr>
          </a:p>
        </p:txBody>
      </p:sp>
      <p:sp>
        <p:nvSpPr>
          <p:cNvPr id="13210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vl1pPr>
          </a:lstStyle>
          <a:p>
            <a:endParaRPr lang="en-US" altLang="zh-CN" dirty="0">
              <a:ea typeface="微软雅黑" pitchFamily="34" charset="-122"/>
            </a:endParaRPr>
          </a:p>
        </p:txBody>
      </p:sp>
      <p:sp>
        <p:nvSpPr>
          <p:cNvPr id="13210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AC84FA5D-D624-4E8D-8EB8-90950245F5C5}" type="slidenum">
              <a:rPr lang="zh-CN" altLang="en-US">
                <a:ea typeface="微软雅黑" pitchFamily="34" charset="-122"/>
              </a:rPr>
              <a:pPr/>
              <a:t>‹#›</a:t>
            </a:fld>
            <a:endParaRPr lang="en-US" altLang="zh-CN" dirty="0">
              <a:ea typeface="微软雅黑" pitchFamily="34" charset="-122"/>
            </a:endParaRPr>
          </a:p>
        </p:txBody>
      </p:sp>
    </p:spTree>
    <p:extLst>
      <p:ext uri="{BB962C8B-B14F-4D97-AF65-F5344CB8AC3E}">
        <p14:creationId xmlns:p14="http://schemas.microsoft.com/office/powerpoint/2010/main" val="36399877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ea typeface="微软雅黑" pitchFamily="34" charset="-122"/>
              </a:defRPr>
            </a:lvl1pPr>
          </a:lstStyle>
          <a:p>
            <a:pPr>
              <a:defRPr/>
            </a:pPr>
            <a:endParaRPr lang="en-US" altLang="zh-CN" dirty="0"/>
          </a:p>
        </p:txBody>
      </p:sp>
      <p:sp>
        <p:nvSpPr>
          <p:cNvPr id="552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微软雅黑" pitchFamily="34" charset="-122"/>
              </a:defRPr>
            </a:lvl1pPr>
          </a:lstStyle>
          <a:p>
            <a:pPr>
              <a:defRPr/>
            </a:pPr>
            <a:endParaRPr lang="en-US" altLang="zh-CN" dirty="0"/>
          </a:p>
        </p:txBody>
      </p:sp>
      <p:sp>
        <p:nvSpPr>
          <p:cNvPr id="389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53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553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ea typeface="微软雅黑" pitchFamily="34" charset="-122"/>
              </a:defRPr>
            </a:lvl1pPr>
          </a:lstStyle>
          <a:p>
            <a:pPr>
              <a:defRPr/>
            </a:pPr>
            <a:endParaRPr lang="en-US" altLang="zh-CN" dirty="0"/>
          </a:p>
        </p:txBody>
      </p:sp>
      <p:sp>
        <p:nvSpPr>
          <p:cNvPr id="553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微软雅黑" pitchFamily="34" charset="-122"/>
              </a:defRPr>
            </a:lvl1pPr>
          </a:lstStyle>
          <a:p>
            <a:pPr>
              <a:defRPr/>
            </a:pPr>
            <a:fld id="{7FD85DB2-E819-49CE-B234-25B8201BF18D}" type="slidenum">
              <a:rPr lang="en-US" altLang="zh-CN" smtClean="0"/>
              <a:pPr>
                <a:defRPr/>
              </a:pPr>
              <a:t>‹#›</a:t>
            </a:fld>
            <a:endParaRPr lang="en-US" altLang="zh-CN" dirty="0"/>
          </a:p>
        </p:txBody>
      </p:sp>
    </p:spTree>
    <p:extLst>
      <p:ext uri="{BB962C8B-B14F-4D97-AF65-F5344CB8AC3E}">
        <p14:creationId xmlns:p14="http://schemas.microsoft.com/office/powerpoint/2010/main" val="153901924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微软雅黑" pitchFamily="34" charset="-122"/>
        <a:cs typeface="+mn-cs"/>
      </a:defRPr>
    </a:lvl1pPr>
    <a:lvl2pPr marL="457200" algn="l" rtl="0" fontAlgn="base">
      <a:spcBef>
        <a:spcPct val="30000"/>
      </a:spcBef>
      <a:spcAft>
        <a:spcPct val="0"/>
      </a:spcAft>
      <a:defRPr sz="1200" kern="1200">
        <a:solidFill>
          <a:schemeClr val="tx1"/>
        </a:solidFill>
        <a:latin typeface="Arial" charset="0"/>
        <a:ea typeface="微软雅黑" pitchFamily="34" charset="-122"/>
        <a:cs typeface="+mn-cs"/>
      </a:defRPr>
    </a:lvl2pPr>
    <a:lvl3pPr marL="914400" algn="l" rtl="0" fontAlgn="base">
      <a:spcBef>
        <a:spcPct val="30000"/>
      </a:spcBef>
      <a:spcAft>
        <a:spcPct val="0"/>
      </a:spcAft>
      <a:defRPr sz="1200" kern="1200">
        <a:solidFill>
          <a:schemeClr val="tx1"/>
        </a:solidFill>
        <a:latin typeface="Arial" charset="0"/>
        <a:ea typeface="微软雅黑" pitchFamily="34" charset="-122"/>
        <a:cs typeface="+mn-cs"/>
      </a:defRPr>
    </a:lvl3pPr>
    <a:lvl4pPr marL="1371600" algn="l" rtl="0" fontAlgn="base">
      <a:spcBef>
        <a:spcPct val="30000"/>
      </a:spcBef>
      <a:spcAft>
        <a:spcPct val="0"/>
      </a:spcAft>
      <a:defRPr sz="1200" kern="1200">
        <a:solidFill>
          <a:schemeClr val="tx1"/>
        </a:solidFill>
        <a:latin typeface="Arial" charset="0"/>
        <a:ea typeface="微软雅黑" pitchFamily="34" charset="-122"/>
        <a:cs typeface="+mn-cs"/>
      </a:defRPr>
    </a:lvl4pPr>
    <a:lvl5pPr marL="1828800" algn="l" rtl="0" fontAlgn="base">
      <a:spcBef>
        <a:spcPct val="30000"/>
      </a:spcBef>
      <a:spcAft>
        <a:spcPct val="0"/>
      </a:spcAft>
      <a:defRPr sz="1200" kern="1200">
        <a:solidFill>
          <a:schemeClr val="tx1"/>
        </a:solidFill>
        <a:latin typeface="Arial" charset="0"/>
        <a:ea typeface="微软雅黑"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10"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21"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
        <p:nvSpPr>
          <p:cNvPr id="23" name="Line 6"/>
          <p:cNvSpPr>
            <a:spLocks noChangeShapeType="1"/>
          </p:cNvSpPr>
          <p:nvPr userDrawn="1"/>
        </p:nvSpPr>
        <p:spPr bwMode="auto">
          <a:xfrm flipH="1">
            <a:off x="0" y="715963"/>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8"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3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59008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sp>
        <p:nvSpPr>
          <p:cNvPr id="9"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dirty="0">
              <a:latin typeface="Arial" pitchFamily="34" charset="0"/>
              <a:ea typeface="微软雅黑" pitchFamily="34" charset="-122"/>
            </a:endParaRP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950883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6334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40900480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73803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252518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3621294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70220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8321773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31484980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77386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1706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277192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116921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33814262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48256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40834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0297653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870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1546223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18232360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583806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695961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29211480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51112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20356586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342495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30773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0747435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59975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30188679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2793968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300909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771749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17828563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6807551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24453343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489345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3209447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4569979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72272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5875178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38509763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55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281448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20928670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8564405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4406901"/>
            <a:ext cx="7772400" cy="1362075"/>
          </a:xfrm>
          <a:prstGeom prst="rect">
            <a:avLst/>
          </a:prstGeom>
        </p:spPr>
        <p:txBody>
          <a:bodyPr anchor="t"/>
          <a:lstStyle>
            <a:lvl1pPr algn="l">
              <a:defRPr sz="3692"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906713"/>
            <a:ext cx="7772400" cy="1500187"/>
          </a:xfrm>
          <a:prstGeom prst="rect">
            <a:avLst/>
          </a:prstGeom>
        </p:spPr>
        <p:txBody>
          <a:bodyPr anchor="b"/>
          <a:lstStyle>
            <a:lvl1pPr marL="0" indent="0">
              <a:buNone/>
              <a:defRPr sz="1846"/>
            </a:lvl1pPr>
            <a:lvl2pPr marL="422041" indent="0">
              <a:buNone/>
              <a:defRPr sz="1662"/>
            </a:lvl2pPr>
            <a:lvl3pPr marL="844083" indent="0">
              <a:buNone/>
              <a:defRPr sz="1477"/>
            </a:lvl3pPr>
            <a:lvl4pPr marL="1266124" indent="0">
              <a:buNone/>
              <a:defRPr sz="1292"/>
            </a:lvl4pPr>
            <a:lvl5pPr marL="1688165" indent="0">
              <a:buNone/>
              <a:defRPr sz="1292"/>
            </a:lvl5pPr>
            <a:lvl6pPr marL="2110207" indent="0">
              <a:buNone/>
              <a:defRPr sz="1292"/>
            </a:lvl6pPr>
            <a:lvl7pPr marL="2532248" indent="0">
              <a:buNone/>
              <a:defRPr sz="1292"/>
            </a:lvl7pPr>
            <a:lvl8pPr marL="2954289" indent="0">
              <a:buNone/>
              <a:defRPr sz="1292"/>
            </a:lvl8pPr>
            <a:lvl9pPr marL="3376331" indent="0">
              <a:buNone/>
              <a:defRPr sz="1292"/>
            </a:lvl9pPr>
          </a:lstStyle>
          <a:p>
            <a:pPr lvl="0"/>
            <a:r>
              <a:rPr lang="zh-CN" altLang="en-US" smtClean="0"/>
              <a:t>单击此处编辑母版文本样式</a:t>
            </a:r>
          </a:p>
        </p:txBody>
      </p:sp>
    </p:spTree>
    <p:extLst>
      <p:ext uri="{BB962C8B-B14F-4D97-AF65-F5344CB8AC3E}">
        <p14:creationId xmlns:p14="http://schemas.microsoft.com/office/powerpoint/2010/main" val="420663235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2338" y="1600201"/>
            <a:ext cx="4044462" cy="4525963"/>
          </a:xfrm>
          <a:prstGeom prst="rect">
            <a:avLst/>
          </a:prstGeo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6854659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066"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zh-CN" altLang="en-US" smtClean="0"/>
              <a:t>单击此处编辑母版文本样式</a:t>
            </a:r>
          </a:p>
        </p:txBody>
      </p:sp>
      <p:sp>
        <p:nvSpPr>
          <p:cNvPr id="6" name="内容占位符 5"/>
          <p:cNvSpPr>
            <a:spLocks noGrp="1"/>
          </p:cNvSpPr>
          <p:nvPr>
            <p:ph sz="quarter" idx="4"/>
          </p:nvPr>
        </p:nvSpPr>
        <p:spPr>
          <a:xfrm>
            <a:off x="4645270" y="2174875"/>
            <a:ext cx="4041531" cy="3951288"/>
          </a:xfrm>
          <a:prstGeom prst="rect">
            <a:avLst/>
          </a:prstGeo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4844345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13533546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924656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1"/>
            <a:ext cx="3008435" cy="4691063"/>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70171814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a:prstGeom prst="rect">
            <a:avLst/>
          </a:prstGeom>
        </p:spPr>
        <p:txBody>
          <a:bodyPr anchor="b"/>
          <a:lstStyle>
            <a:lvl1pPr algn="l">
              <a:defRPr sz="1846"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a:prstGeom prst="rect">
            <a:avLst/>
          </a:prstGeom>
        </p:spPr>
        <p:txBody>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zh-CN" altLang="en-US" noProof="0" smtClean="0"/>
          </a:p>
        </p:txBody>
      </p:sp>
      <p:sp>
        <p:nvSpPr>
          <p:cNvPr id="4" name="文本占位符 3"/>
          <p:cNvSpPr>
            <a:spLocks noGrp="1"/>
          </p:cNvSpPr>
          <p:nvPr>
            <p:ph type="body" sz="half" idx="2"/>
          </p:nvPr>
        </p:nvSpPr>
        <p:spPr>
          <a:xfrm>
            <a:off x="1792166" y="5367338"/>
            <a:ext cx="5486400" cy="804862"/>
          </a:xfrm>
          <a:prstGeom prst="rect">
            <a:avLst/>
          </a:prstGeo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zh-CN" altLang="en-US" smtClean="0"/>
              <a:t>单击此处编辑母版文本样式</a:t>
            </a:r>
          </a:p>
        </p:txBody>
      </p:sp>
    </p:spTree>
    <p:extLst>
      <p:ext uri="{BB962C8B-B14F-4D97-AF65-F5344CB8AC3E}">
        <p14:creationId xmlns:p14="http://schemas.microsoft.com/office/powerpoint/2010/main" val="25101894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1"/>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15608101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31523"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2499358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vi-V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732246874"/>
      </p:ext>
    </p:extLst>
  </p:cSld>
  <p:clrMapOvr>
    <a:masterClrMapping/>
  </p:clrMapOvr>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1955167032"/>
      </p:ext>
    </p:extLst>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105818509"/>
      </p:ext>
    </p:extLst>
  </p:cSld>
  <p:clrMapOvr>
    <a:masterClrMapping/>
  </p:clrMapOvr>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p>
            <a:fld id="{2BABB5AB-D532-46D5-BA74-E02996469450}"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3003280282"/>
      </p:ext>
    </p:extLst>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p>
            <a:fld id="{2BABB5AB-D532-46D5-BA74-E02996469450}" type="datetimeFigureOut">
              <a:rPr lang="vi-VN" smtClean="0"/>
              <a:t>26/01/2018</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1813710815"/>
      </p:ext>
    </p:extLst>
  </p:cSld>
  <p:clrMapOvr>
    <a:masterClrMapping/>
  </p:clrMapOvr>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2BABB5AB-D532-46D5-BA74-E02996469450}" type="datetimeFigureOut">
              <a:rPr lang="vi-VN" smtClean="0"/>
              <a:t>26/01/2018</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80910304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ABB5AB-D532-46D5-BA74-E02996469450}" type="datetimeFigureOut">
              <a:rPr lang="vi-VN" smtClean="0"/>
              <a:t>26/01/2018</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14478584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ABB5AB-D532-46D5-BA74-E02996469450}"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75269187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ABB5AB-D532-46D5-BA74-E02996469450}"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49133749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236085411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2BABB5AB-D532-46D5-BA74-E02996469450}"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5D9D50C0-9690-42CA-97FD-377AAF3B3EEC}" type="slidenum">
              <a:rPr lang="vi-VN" smtClean="0"/>
              <a:t>‹#›</a:t>
            </a:fld>
            <a:endParaRPr lang="vi-VN"/>
          </a:p>
        </p:txBody>
      </p:sp>
    </p:spTree>
    <p:extLst>
      <p:ext uri="{BB962C8B-B14F-4D97-AF65-F5344CB8AC3E}">
        <p14:creationId xmlns:p14="http://schemas.microsoft.com/office/powerpoint/2010/main" val="423341768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vi-V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12470652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121463531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299232362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p>
            <a:fld id="{A8DA3FFE-7133-4E99-9728-9EF3358A8F91}"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62608251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p>
            <a:fld id="{A8DA3FFE-7133-4E99-9728-9EF3358A8F91}" type="datetimeFigureOut">
              <a:rPr lang="vi-VN" smtClean="0"/>
              <a:t>26/01/2018</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118932699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A8DA3FFE-7133-4E99-9728-9EF3358A8F91}" type="datetimeFigureOut">
              <a:rPr lang="vi-VN" smtClean="0"/>
              <a:t>26/01/2018</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243056236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3FFE-7133-4E99-9728-9EF3358A8F91}" type="datetimeFigureOut">
              <a:rPr lang="vi-VN" smtClean="0"/>
              <a:t>26/01/2018</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319150596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DA3FFE-7133-4E99-9728-9EF3358A8F91}"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408323914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DA3FFE-7133-4E99-9728-9EF3358A8F91}" type="datetimeFigureOut">
              <a:rPr lang="vi-VN" smtClean="0"/>
              <a:t>26/01/2018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75131955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427061936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A8DA3FFE-7133-4E99-9728-9EF3358A8F91}" type="datetimeFigureOut">
              <a:rPr lang="vi-VN" smtClean="0"/>
              <a:t>26/01/2018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E09F96B1-0DD7-4619-BA63-FA810AEC1F27}" type="slidenum">
              <a:rPr lang="vi-VN" smtClean="0"/>
              <a:t>‹#›</a:t>
            </a:fld>
            <a:endParaRPr lang="vi-VN"/>
          </a:p>
        </p:txBody>
      </p:sp>
    </p:spTree>
    <p:extLst>
      <p:ext uri="{BB962C8B-B14F-4D97-AF65-F5344CB8AC3E}">
        <p14:creationId xmlns:p14="http://schemas.microsoft.com/office/powerpoint/2010/main" val="4288421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theme" Target="../theme/theme5.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6.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7.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3.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theme" Target="../theme/theme8.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ea typeface="微软雅黑" pitchFamily="34" charset="-122"/>
              </a:rPr>
              <a:pPr marL="342900" indent="-342900" algn="l">
                <a:spcBef>
                  <a:spcPct val="20000"/>
                </a:spcBef>
                <a:defRPr/>
              </a:pPr>
              <a:t>‹#›</a:t>
            </a:fld>
            <a:endParaRPr lang="en-US" altLang="zh-CN" sz="1200" dirty="0">
              <a:latin typeface="Arial" pitchFamily="34" charset="0"/>
              <a:ea typeface="微软雅黑" pitchFamily="34" charset="-122"/>
            </a:endParaRPr>
          </a:p>
        </p:txBody>
      </p:sp>
      <p:graphicFrame>
        <p:nvGraphicFramePr>
          <p:cNvPr id="4" name="Group 165"/>
          <p:cNvGraphicFramePr>
            <a:graphicFrameLocks noGrp="1"/>
          </p:cNvGraphicFramePr>
          <p:nvPr userDrawn="1">
            <p:extLst>
              <p:ext uri="{D42A27DB-BD31-4B8C-83A1-F6EECF244321}">
                <p14:modId xmlns:p14="http://schemas.microsoft.com/office/powerpoint/2010/main" val="3074143612"/>
              </p:ext>
            </p:extLst>
          </p:nvPr>
        </p:nvGraphicFramePr>
        <p:xfrm>
          <a:off x="0" y="116632"/>
          <a:ext cx="9144001" cy="274638"/>
        </p:xfrm>
        <a:graphic>
          <a:graphicData uri="http://schemas.openxmlformats.org/drawingml/2006/table">
            <a:tbl>
              <a:tblPr/>
              <a:tblGrid>
                <a:gridCol w="1400904"/>
                <a:gridCol w="3164085"/>
                <a:gridCol w="755191"/>
                <a:gridCol w="1098460"/>
                <a:gridCol w="961152"/>
                <a:gridCol w="1764209"/>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6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26.1.2018</a:t>
                      </a:r>
                    </a:p>
                  </a:txBody>
                  <a:tcPr marL="36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854" r:id="rId5"/>
    <p:sldLayoutId id="2147483794" r:id="rId6"/>
    <p:sldLayoutId id="2147483822" r:id="rId7"/>
    <p:sldLayoutId id="2147483795" r:id="rId8"/>
    <p:sldLayoutId id="2147483796" r:id="rId9"/>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3339551099"/>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2748116667"/>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4144804293"/>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266380625"/>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7" name="Text Box 6"/>
          <p:cNvSpPr txBox="1">
            <a:spLocks noChangeArrowheads="1"/>
          </p:cNvSpPr>
          <p:nvPr userDrawn="1"/>
        </p:nvSpPr>
        <p:spPr bwMode="auto">
          <a:xfrm>
            <a:off x="52113" y="6533451"/>
            <a:ext cx="2209800" cy="265010"/>
          </a:xfrm>
          <a:prstGeom prst="rect">
            <a:avLst/>
          </a:prstGeom>
          <a:noFill/>
          <a:ln w="9525" algn="ctr">
            <a:noFill/>
            <a:miter lim="800000"/>
            <a:headEnd/>
            <a:tailEnd/>
          </a:ln>
          <a:effectLst/>
        </p:spPr>
        <p:txBody>
          <a:bodyPr lIns="0" tIns="43200" rIns="0" bIns="43200">
            <a:spAutoFit/>
          </a:bodyPr>
          <a:lstStyle/>
          <a:p>
            <a:pPr>
              <a:spcBef>
                <a:spcPct val="50000"/>
              </a:spcBef>
            </a:pPr>
            <a:r>
              <a:rPr lang="en-US" altLang="ko-KR" sz="1108" b="0" dirty="0">
                <a:latin typeface="微软雅黑" pitchFamily="34" charset="-122"/>
                <a:ea typeface="微软雅黑" pitchFamily="34" charset="-122"/>
              </a:rPr>
              <a:t>Great Company Great People</a:t>
            </a:r>
          </a:p>
        </p:txBody>
      </p:sp>
      <p:graphicFrame>
        <p:nvGraphicFramePr>
          <p:cNvPr id="18" name="Group 165"/>
          <p:cNvGraphicFramePr>
            <a:graphicFrameLocks noGrp="1"/>
          </p:cNvGraphicFramePr>
          <p:nvPr userDrawn="1"/>
        </p:nvGraphicFramePr>
        <p:xfrm>
          <a:off x="118582" y="116632"/>
          <a:ext cx="8853006" cy="365760"/>
        </p:xfrm>
        <a:graphic>
          <a:graphicData uri="http://schemas.openxmlformats.org/drawingml/2006/table">
            <a:tbl>
              <a:tblPr/>
              <a:tblGrid>
                <a:gridCol w="1356322"/>
                <a:gridCol w="4855702"/>
                <a:gridCol w="598154"/>
                <a:gridCol w="598154"/>
                <a:gridCol w="598154"/>
                <a:gridCol w="846520"/>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3231"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3231"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2015.11.12</a:t>
                      </a:r>
                    </a:p>
                  </a:txBody>
                  <a:tcPr marL="33231"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Rectangle 109"/>
          <p:cNvSpPr>
            <a:spLocks noChangeArrowheads="1"/>
          </p:cNvSpPr>
          <p:nvPr userDrawn="1"/>
        </p:nvSpPr>
        <p:spPr bwMode="auto">
          <a:xfrm>
            <a:off x="6499417" y="116632"/>
            <a:ext cx="1395046" cy="287337"/>
          </a:xfrm>
          <a:prstGeom prst="rect">
            <a:avLst/>
          </a:prstGeom>
          <a:noFill/>
          <a:ln w="9525">
            <a:noFill/>
            <a:miter lim="800000"/>
            <a:headEnd/>
            <a:tailEnd/>
          </a:ln>
          <a:effectLst/>
        </p:spPr>
        <p:txBody>
          <a:bodyPr lIns="84992" tIns="42497" rIns="84992" bIns="42497" anchor="ctr"/>
          <a:lstStyle/>
          <a:p>
            <a:pPr>
              <a:spcBef>
                <a:spcPct val="20000"/>
              </a:spcBef>
              <a:defRPr/>
            </a:pPr>
            <a:fld id="{86DC9CB0-5120-4498-A0CA-7A28E012F515}" type="slidenum">
              <a:rPr lang="en-US" sz="1108" b="0">
                <a:solidFill>
                  <a:srgbClr val="0066FF"/>
                </a:solidFill>
                <a:latin typeface="微软雅黑" pitchFamily="34" charset="-122"/>
                <a:ea typeface="微软雅黑" pitchFamily="34" charset="-122"/>
              </a:rPr>
              <a:pPr>
                <a:spcBef>
                  <a:spcPct val="20000"/>
                </a:spcBef>
                <a:defRPr/>
              </a:pPr>
              <a:t>‹#›</a:t>
            </a:fld>
            <a:endParaRPr lang="en-US" sz="1108" b="0" dirty="0">
              <a:solidFill>
                <a:srgbClr val="0066FF"/>
              </a:solidFill>
              <a:latin typeface="微软雅黑" pitchFamily="34" charset="-122"/>
              <a:ea typeface="微软雅黑" pitchFamily="34" charset="-122"/>
            </a:endParaRPr>
          </a:p>
        </p:txBody>
      </p:sp>
    </p:spTree>
    <p:extLst>
      <p:ext uri="{BB962C8B-B14F-4D97-AF65-F5344CB8AC3E}">
        <p14:creationId xmlns:p14="http://schemas.microsoft.com/office/powerpoint/2010/main" val="4250720776"/>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txStyles>
    <p:titleStyle>
      <a:lvl1pPr algn="l" rtl="0" eaLnBrk="0" fontAlgn="base" hangingPunct="0">
        <a:spcBef>
          <a:spcPct val="0"/>
        </a:spcBef>
        <a:spcAft>
          <a:spcPct val="0"/>
        </a:spcAft>
        <a:defRPr sz="2585" b="1">
          <a:solidFill>
            <a:schemeClr val="hlink"/>
          </a:solidFill>
          <a:latin typeface="+mj-lt"/>
          <a:ea typeface="+mj-ea"/>
          <a:cs typeface="+mj-cs"/>
        </a:defRPr>
      </a:lvl1pPr>
      <a:lvl2pPr algn="l" rtl="0" eaLnBrk="0" fontAlgn="base" hangingPunct="0">
        <a:spcBef>
          <a:spcPct val="0"/>
        </a:spcBef>
        <a:spcAft>
          <a:spcPct val="0"/>
        </a:spcAft>
        <a:defRPr sz="2585" b="1">
          <a:solidFill>
            <a:schemeClr val="hlink"/>
          </a:solidFill>
          <a:latin typeface="Arial" pitchFamily="34" charset="0"/>
          <a:ea typeface="宋体" pitchFamily="2" charset="-122"/>
        </a:defRPr>
      </a:lvl2pPr>
      <a:lvl3pPr algn="l" rtl="0" eaLnBrk="0" fontAlgn="base" hangingPunct="0">
        <a:spcBef>
          <a:spcPct val="0"/>
        </a:spcBef>
        <a:spcAft>
          <a:spcPct val="0"/>
        </a:spcAft>
        <a:defRPr sz="2585" b="1">
          <a:solidFill>
            <a:schemeClr val="hlink"/>
          </a:solidFill>
          <a:latin typeface="Arial" pitchFamily="34" charset="0"/>
          <a:ea typeface="宋体" pitchFamily="2" charset="-122"/>
        </a:defRPr>
      </a:lvl3pPr>
      <a:lvl4pPr algn="l" rtl="0" eaLnBrk="0" fontAlgn="base" hangingPunct="0">
        <a:spcBef>
          <a:spcPct val="0"/>
        </a:spcBef>
        <a:spcAft>
          <a:spcPct val="0"/>
        </a:spcAft>
        <a:defRPr sz="2585" b="1">
          <a:solidFill>
            <a:schemeClr val="hlink"/>
          </a:solidFill>
          <a:latin typeface="Arial" pitchFamily="34" charset="0"/>
          <a:ea typeface="宋体" pitchFamily="2" charset="-122"/>
        </a:defRPr>
      </a:lvl4pPr>
      <a:lvl5pPr algn="l" rtl="0" eaLnBrk="0" fontAlgn="base" hangingPunct="0">
        <a:spcBef>
          <a:spcPct val="0"/>
        </a:spcBef>
        <a:spcAft>
          <a:spcPct val="0"/>
        </a:spcAft>
        <a:defRPr sz="2585" b="1">
          <a:solidFill>
            <a:schemeClr val="hlink"/>
          </a:solidFill>
          <a:latin typeface="Arial" pitchFamily="34" charset="0"/>
          <a:ea typeface="宋体" pitchFamily="2" charset="-122"/>
        </a:defRPr>
      </a:lvl5pPr>
      <a:lvl6pPr marL="422041" algn="l" rtl="0" eaLnBrk="0" fontAlgn="base" hangingPunct="0">
        <a:spcBef>
          <a:spcPct val="0"/>
        </a:spcBef>
        <a:spcAft>
          <a:spcPct val="0"/>
        </a:spcAft>
        <a:defRPr sz="2585" b="1">
          <a:solidFill>
            <a:schemeClr val="hlink"/>
          </a:solidFill>
          <a:latin typeface="Arial" pitchFamily="34" charset="0"/>
          <a:ea typeface="宋体" pitchFamily="2" charset="-122"/>
        </a:defRPr>
      </a:lvl6pPr>
      <a:lvl7pPr marL="844083" algn="l" rtl="0" eaLnBrk="0" fontAlgn="base" hangingPunct="0">
        <a:spcBef>
          <a:spcPct val="0"/>
        </a:spcBef>
        <a:spcAft>
          <a:spcPct val="0"/>
        </a:spcAft>
        <a:defRPr sz="2585" b="1">
          <a:solidFill>
            <a:schemeClr val="hlink"/>
          </a:solidFill>
          <a:latin typeface="Arial" pitchFamily="34" charset="0"/>
          <a:ea typeface="宋体" pitchFamily="2" charset="-122"/>
        </a:defRPr>
      </a:lvl7pPr>
      <a:lvl8pPr marL="1266124" algn="l" rtl="0" eaLnBrk="0" fontAlgn="base" hangingPunct="0">
        <a:spcBef>
          <a:spcPct val="0"/>
        </a:spcBef>
        <a:spcAft>
          <a:spcPct val="0"/>
        </a:spcAft>
        <a:defRPr sz="2585" b="1">
          <a:solidFill>
            <a:schemeClr val="hlink"/>
          </a:solidFill>
          <a:latin typeface="Arial" pitchFamily="34" charset="0"/>
          <a:ea typeface="宋体" pitchFamily="2" charset="-122"/>
        </a:defRPr>
      </a:lvl8pPr>
      <a:lvl9pPr marL="1688165" algn="l" rtl="0" eaLnBrk="0" fontAlgn="base" hangingPunct="0">
        <a:spcBef>
          <a:spcPct val="0"/>
        </a:spcBef>
        <a:spcAft>
          <a:spcPct val="0"/>
        </a:spcAft>
        <a:defRPr sz="2585" b="1">
          <a:solidFill>
            <a:schemeClr val="hlink"/>
          </a:solidFill>
          <a:latin typeface="Arial" pitchFamily="34" charset="0"/>
          <a:ea typeface="宋体" pitchFamily="2" charset="-122"/>
        </a:defRPr>
      </a:lvl9pPr>
    </p:titleStyle>
    <p:bodyStyle>
      <a:lvl1pPr marL="316531" indent="-316531" algn="l" rtl="0" eaLnBrk="0" fontAlgn="base" hangingPunct="0">
        <a:spcBef>
          <a:spcPct val="20000"/>
        </a:spcBef>
        <a:spcAft>
          <a:spcPct val="0"/>
        </a:spcAft>
        <a:buChar char="•"/>
        <a:defRPr sz="2954">
          <a:solidFill>
            <a:schemeClr val="tx1"/>
          </a:solidFill>
          <a:latin typeface="+mn-lt"/>
          <a:ea typeface="+mn-ea"/>
          <a:cs typeface="+mn-cs"/>
        </a:defRPr>
      </a:lvl1pPr>
      <a:lvl2pPr marL="685817" indent="-263776" algn="l" rtl="0" eaLnBrk="0" fontAlgn="base" hangingPunct="0">
        <a:spcBef>
          <a:spcPct val="20000"/>
        </a:spcBef>
        <a:spcAft>
          <a:spcPct val="0"/>
        </a:spcAft>
        <a:buChar char="–"/>
        <a:defRPr sz="2585">
          <a:solidFill>
            <a:schemeClr val="tx1"/>
          </a:solidFill>
          <a:latin typeface="+mn-lt"/>
          <a:ea typeface="+mn-ea"/>
        </a:defRPr>
      </a:lvl2pPr>
      <a:lvl3pPr marL="1055103" indent="-211021" algn="l" rtl="0" eaLnBrk="0" fontAlgn="base" hangingPunct="0">
        <a:spcBef>
          <a:spcPct val="20000"/>
        </a:spcBef>
        <a:spcAft>
          <a:spcPct val="0"/>
        </a:spcAft>
        <a:buChar char="•"/>
        <a:defRPr sz="2215">
          <a:solidFill>
            <a:schemeClr val="tx1"/>
          </a:solidFill>
          <a:latin typeface="+mn-lt"/>
          <a:ea typeface="+mn-ea"/>
        </a:defRPr>
      </a:lvl3pPr>
      <a:lvl4pPr marL="1477145" indent="-211021" algn="l" rtl="0" eaLnBrk="0" fontAlgn="base" hangingPunct="0">
        <a:spcBef>
          <a:spcPct val="20000"/>
        </a:spcBef>
        <a:spcAft>
          <a:spcPct val="0"/>
        </a:spcAft>
        <a:buChar char="–"/>
        <a:defRPr sz="1846">
          <a:solidFill>
            <a:schemeClr val="tx1"/>
          </a:solidFill>
          <a:latin typeface="+mn-lt"/>
          <a:ea typeface="+mn-ea"/>
        </a:defRPr>
      </a:lvl4pPr>
      <a:lvl5pPr marL="1899186" indent="-211021" algn="l" rtl="0" eaLnBrk="0" fontAlgn="base" hangingPunct="0">
        <a:spcBef>
          <a:spcPct val="20000"/>
        </a:spcBef>
        <a:spcAft>
          <a:spcPct val="0"/>
        </a:spcAft>
        <a:buChar char="»"/>
        <a:defRPr sz="1846">
          <a:solidFill>
            <a:schemeClr val="tx1"/>
          </a:solidFill>
          <a:latin typeface="+mn-lt"/>
          <a:ea typeface="+mn-ea"/>
        </a:defRPr>
      </a:lvl5pPr>
      <a:lvl6pPr marL="2321227" indent="-211021" algn="l" rtl="0" eaLnBrk="0" fontAlgn="base" hangingPunct="0">
        <a:spcBef>
          <a:spcPct val="20000"/>
        </a:spcBef>
        <a:spcAft>
          <a:spcPct val="0"/>
        </a:spcAft>
        <a:buChar char="»"/>
        <a:defRPr sz="1846">
          <a:solidFill>
            <a:schemeClr val="tx1"/>
          </a:solidFill>
          <a:latin typeface="+mn-lt"/>
          <a:ea typeface="+mn-ea"/>
        </a:defRPr>
      </a:lvl6pPr>
      <a:lvl7pPr marL="2743269" indent="-211021" algn="l" rtl="0" eaLnBrk="0" fontAlgn="base" hangingPunct="0">
        <a:spcBef>
          <a:spcPct val="20000"/>
        </a:spcBef>
        <a:spcAft>
          <a:spcPct val="0"/>
        </a:spcAft>
        <a:buChar char="»"/>
        <a:defRPr sz="1846">
          <a:solidFill>
            <a:schemeClr val="tx1"/>
          </a:solidFill>
          <a:latin typeface="+mn-lt"/>
          <a:ea typeface="+mn-ea"/>
        </a:defRPr>
      </a:lvl7pPr>
      <a:lvl8pPr marL="3165310" indent="-211021" algn="l" rtl="0" eaLnBrk="0" fontAlgn="base" hangingPunct="0">
        <a:spcBef>
          <a:spcPct val="20000"/>
        </a:spcBef>
        <a:spcAft>
          <a:spcPct val="0"/>
        </a:spcAft>
        <a:buChar char="»"/>
        <a:defRPr sz="1846">
          <a:solidFill>
            <a:schemeClr val="tx1"/>
          </a:solidFill>
          <a:latin typeface="+mn-lt"/>
          <a:ea typeface="+mn-ea"/>
        </a:defRPr>
      </a:lvl8pPr>
      <a:lvl9pPr marL="3587351" indent="-211021" algn="l" rtl="0" eaLnBrk="0" fontAlgn="base" hangingPunct="0">
        <a:spcBef>
          <a:spcPct val="20000"/>
        </a:spcBef>
        <a:spcAft>
          <a:spcPct val="0"/>
        </a:spcAft>
        <a:buChar char="»"/>
        <a:defRPr sz="1846">
          <a:solidFill>
            <a:schemeClr val="tx1"/>
          </a:solidFill>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vi-VN"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vi-VN"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ABB5AB-D532-46D5-BA74-E02996469450}" type="datetimeFigureOut">
              <a:rPr lang="vi-VN" smtClean="0"/>
              <a:t>26/01/2018</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9D50C0-9690-42CA-97FD-377AAF3B3EEC}" type="slidenum">
              <a:rPr lang="vi-VN" smtClean="0"/>
              <a:t>‹#›</a:t>
            </a:fld>
            <a:endParaRPr lang="vi-VN"/>
          </a:p>
        </p:txBody>
      </p:sp>
    </p:spTree>
    <p:extLst>
      <p:ext uri="{BB962C8B-B14F-4D97-AF65-F5344CB8AC3E}">
        <p14:creationId xmlns:p14="http://schemas.microsoft.com/office/powerpoint/2010/main" val="3825378660"/>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vi-VN"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vi-VN"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A3FFE-7133-4E99-9728-9EF3358A8F91}" type="datetimeFigureOut">
              <a:rPr lang="vi-VN" smtClean="0"/>
              <a:t>26/01/2018</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96B1-0DD7-4619-BA63-FA810AEC1F27}" type="slidenum">
              <a:rPr lang="vi-VN" smtClean="0"/>
              <a:t>‹#›</a:t>
            </a:fld>
            <a:endParaRPr lang="vi-VN"/>
          </a:p>
        </p:txBody>
      </p:sp>
    </p:spTree>
    <p:extLst>
      <p:ext uri="{BB962C8B-B14F-4D97-AF65-F5344CB8AC3E}">
        <p14:creationId xmlns:p14="http://schemas.microsoft.com/office/powerpoint/2010/main" val="1052989851"/>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txStyles>
    <p:titleStyle>
      <a:lvl1pPr algn="ctr"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467544" y="3406498"/>
            <a:ext cx="7399610" cy="477054"/>
          </a:xfrm>
          <a:prstGeom prst="rect">
            <a:avLst/>
          </a:prstGeom>
          <a:noFill/>
          <a:ln w="9525">
            <a:noFill/>
            <a:miter lim="800000"/>
            <a:headEnd/>
            <a:tailEnd/>
          </a:ln>
          <a:effectLst/>
        </p:spPr>
        <p:txBody>
          <a:bodyPr wrap="square">
            <a:spAutoFit/>
          </a:bodyPr>
          <a:lstStyle/>
          <a:p>
            <a:r>
              <a:rPr lang="en-US" altLang="zh-CN" sz="2500" b="1" dirty="0" smtClean="0">
                <a:latin typeface="Times New Roman" pitchFamily="18" charset="0"/>
                <a:ea typeface="微软雅黑" pitchFamily="34" charset="-122"/>
                <a:cs typeface="Times New Roman" pitchFamily="18" charset="0"/>
              </a:rPr>
              <a:t> </a:t>
            </a:r>
            <a:r>
              <a:rPr lang="en-US" altLang="zh-CN" sz="2500" b="1" dirty="0" smtClean="0">
                <a:latin typeface="Times New Roman" pitchFamily="18" charset="0"/>
                <a:ea typeface="微软雅黑" pitchFamily="34" charset="-122"/>
                <a:cs typeface="Times New Roman" pitchFamily="18" charset="0"/>
              </a:rPr>
              <a:t>Module ESS </a:t>
            </a:r>
            <a:r>
              <a:rPr lang="en-US" altLang="zh-CN" sz="2500" b="1" dirty="0" smtClean="0">
                <a:latin typeface="Times New Roman" pitchFamily="18" charset="0"/>
                <a:ea typeface="微软雅黑" pitchFamily="34" charset="-122"/>
                <a:cs typeface="Times New Roman" pitchFamily="18" charset="0"/>
              </a:rPr>
              <a:t>- Coordinator</a:t>
            </a:r>
            <a:endParaRPr lang="en-US" altLang="zh-CN" sz="2500" b="1" dirty="0">
              <a:latin typeface="Times New Roman" pitchFamily="18" charset="0"/>
              <a:ea typeface="微软雅黑" pitchFamily="34" charset="-122"/>
              <a:cs typeface="Times New Roman" pitchFamily="18" charset="0"/>
            </a:endParaRPr>
          </a:p>
        </p:txBody>
      </p:sp>
      <p:sp>
        <p:nvSpPr>
          <p:cNvPr id="11" name="TextBox 10"/>
          <p:cNvSpPr txBox="1"/>
          <p:nvPr/>
        </p:nvSpPr>
        <p:spPr>
          <a:xfrm>
            <a:off x="611560" y="2492896"/>
            <a:ext cx="7383764" cy="584775"/>
          </a:xfrm>
          <a:prstGeom prst="rect">
            <a:avLst/>
          </a:prstGeom>
          <a:noFill/>
        </p:spPr>
        <p:txBody>
          <a:bodyPr wrap="square" rtlCol="0">
            <a:spAutoFit/>
          </a:bodyPr>
          <a:lstStyle/>
          <a:p>
            <a:r>
              <a:rPr lang="en-US" altLang="zh-CN" sz="3200" dirty="0" smtClean="0">
                <a:latin typeface="Times New Roman" pitchFamily="18" charset="0"/>
                <a:ea typeface="Arial Unicode MS" pitchFamily="34" charset="-122"/>
                <a:cs typeface="Times New Roman" pitchFamily="18" charset="0"/>
              </a:rPr>
              <a:t>HƯỚNG DẪN SỬ DỤNG</a:t>
            </a:r>
            <a:endParaRPr lang="zh-CN" altLang="en-US" sz="3200" dirty="0">
              <a:latin typeface="Times New Roman" pitchFamily="18" charset="0"/>
              <a:ea typeface="Arial Unicode MS" pitchFamily="34" charset="-122"/>
              <a:cs typeface="Times New Roman" pitchFamily="18" charset="0"/>
            </a:endParaRPr>
          </a:p>
        </p:txBody>
      </p:sp>
      <p:cxnSp>
        <p:nvCxnSpPr>
          <p:cNvPr id="3" name="Straight Connector 2"/>
          <p:cNvCxnSpPr/>
          <p:nvPr/>
        </p:nvCxnSpPr>
        <p:spPr>
          <a:xfrm>
            <a:off x="1763688" y="3068960"/>
            <a:ext cx="50405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竖排文字占位符 1"/>
          <p:cNvSpPr txBox="1">
            <a:spLocks noChangeArrowheads="1"/>
          </p:cNvSpPr>
          <p:nvPr/>
        </p:nvSpPr>
        <p:spPr bwMode="auto">
          <a:xfrm>
            <a:off x="1403648" y="116632"/>
            <a:ext cx="4852231" cy="2658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16531" indent="-316531" algn="l" defTabSz="844083" eaLnBrk="0" latinLnBrk="1" hangingPunct="0">
              <a:spcBef>
                <a:spcPct val="20000"/>
              </a:spcBef>
              <a:defRPr/>
            </a:pPr>
            <a:r>
              <a:rPr lang="en-US" altLang="zh-CN" sz="1200" kern="0" dirty="0" smtClean="0">
                <a:latin typeface="Times New Roman" panose="02020603050405020304" pitchFamily="18" charset="0"/>
                <a:ea typeface="微软雅黑" pitchFamily="34" charset="-122"/>
                <a:cs typeface="Times New Roman" panose="02020603050405020304" pitchFamily="18" charset="0"/>
              </a:rPr>
              <a:t>Hệ thống nhân sự</a:t>
            </a:r>
            <a:r>
              <a:rPr lang="zh-CN" altLang="en-US" sz="1200" b="0" kern="0" dirty="0" smtClean="0">
                <a:latin typeface="Times New Roman" panose="02020603050405020304" pitchFamily="18" charset="0"/>
                <a:ea typeface="微软雅黑" pitchFamily="34" charset="-122"/>
                <a:cs typeface="Times New Roman" panose="02020603050405020304" pitchFamily="18" charset="0"/>
              </a:rPr>
              <a:t> </a:t>
            </a:r>
            <a:r>
              <a:rPr lang="en-US" altLang="zh-CN" sz="1200" b="0" kern="0" dirty="0" smtClean="0">
                <a:latin typeface="Times New Roman" panose="02020603050405020304" pitchFamily="18" charset="0"/>
                <a:ea typeface="微软雅黑" pitchFamily="34" charset="-122"/>
                <a:cs typeface="Times New Roman" panose="02020603050405020304" pitchFamily="18" charset="0"/>
              </a:rPr>
              <a:t>&gt; </a:t>
            </a:r>
            <a:r>
              <a:rPr lang="en-US" altLang="zh-CN" sz="1200" kern="0" dirty="0" smtClean="0">
                <a:latin typeface="Times New Roman" panose="02020603050405020304" pitchFamily="18" charset="0"/>
                <a:ea typeface="微软雅黑" pitchFamily="34" charset="-122"/>
                <a:cs typeface="Times New Roman" panose="02020603050405020304" pitchFamily="18" charset="0"/>
              </a:rPr>
              <a:t>Đăng nhập</a:t>
            </a:r>
            <a:endParaRPr lang="zh-CN" altLang="en-US" sz="1200" kern="0" dirty="0">
              <a:latin typeface="Times New Roman" panose="02020603050405020304" pitchFamily="18" charset="0"/>
              <a:ea typeface="微软雅黑" pitchFamily="34" charset="-122"/>
              <a:cs typeface="Times New Roman" panose="02020603050405020304" pitchFamily="18" charset="0"/>
            </a:endParaRPr>
          </a:p>
        </p:txBody>
      </p:sp>
      <p:sp>
        <p:nvSpPr>
          <p:cNvPr id="39" name="Text Box 8"/>
          <p:cNvSpPr txBox="1">
            <a:spLocks noChangeArrowheads="1"/>
          </p:cNvSpPr>
          <p:nvPr/>
        </p:nvSpPr>
        <p:spPr bwMode="auto">
          <a:xfrm>
            <a:off x="52113" y="903181"/>
            <a:ext cx="4586356" cy="433324"/>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477" dirty="0" smtClean="0">
                <a:solidFill>
                  <a:srgbClr val="000000"/>
                </a:solidFill>
                <a:latin typeface="Times New Roman" panose="02020603050405020304" pitchFamily="18" charset="0"/>
                <a:ea typeface="微软雅黑" pitchFamily="34" charset="-122"/>
                <a:cs typeface="Times New Roman" panose="02020603050405020304" pitchFamily="18" charset="0"/>
              </a:rPr>
              <a:t>Địa chỉ đăng nhập</a:t>
            </a:r>
            <a:r>
              <a:rPr lang="en-US" altLang="zh-CN" sz="1477" dirty="0" smtClean="0">
                <a:solidFill>
                  <a:srgbClr val="000000"/>
                </a:solidFill>
                <a:latin typeface="微软雅黑" pitchFamily="34" charset="-122"/>
                <a:ea typeface="微软雅黑" pitchFamily="34" charset="-122"/>
              </a:rPr>
              <a:t>: </a:t>
            </a:r>
            <a:r>
              <a:rPr lang="en-US" altLang="zh-CN" sz="1477" dirty="0">
                <a:solidFill>
                  <a:srgbClr val="FF0000"/>
                </a:solidFill>
                <a:latin typeface="微软雅黑" pitchFamily="34" charset="-122"/>
                <a:ea typeface="微软雅黑" pitchFamily="34" charset="-122"/>
              </a:rPr>
              <a:t>http://10.42.200.56:9100</a:t>
            </a:r>
            <a:endParaRPr lang="zh-CN" altLang="en-US" sz="1477" u="sng" dirty="0">
              <a:solidFill>
                <a:srgbClr val="FF0000"/>
              </a:solidFill>
              <a:latin typeface="微软雅黑" pitchFamily="34" charset="-122"/>
              <a:ea typeface="微软雅黑" pitchFamily="34" charset="-122"/>
            </a:endParaRPr>
          </a:p>
        </p:txBody>
      </p:sp>
      <p:sp>
        <p:nvSpPr>
          <p:cNvPr id="40" name="Text Box 8"/>
          <p:cNvSpPr txBox="1">
            <a:spLocks noChangeArrowheads="1"/>
          </p:cNvSpPr>
          <p:nvPr/>
        </p:nvSpPr>
        <p:spPr bwMode="auto">
          <a:xfrm>
            <a:off x="2644401" y="5178111"/>
            <a:ext cx="4586356" cy="987193"/>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USER ID</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Mã nhân viên</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       </a:t>
            </a:r>
            <a:endParaRPr lang="en-US" altLang="zh-CN"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PASSWORD: </a:t>
            </a: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Hệ thống</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ESS</a:t>
            </a:r>
            <a:endParaRPr lang="zh-CN" altLang="en-US"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55576" y="1352735"/>
            <a:ext cx="7538680" cy="3840311"/>
          </a:xfrm>
          <a:prstGeom prst="rect">
            <a:avLst/>
          </a:prstGeom>
        </p:spPr>
      </p:pic>
    </p:spTree>
    <p:extLst>
      <p:ext uri="{BB962C8B-B14F-4D97-AF65-F5344CB8AC3E}">
        <p14:creationId xmlns:p14="http://schemas.microsoft.com/office/powerpoint/2010/main" val="40088862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微软雅黑" pitchFamily="34" charset="-122"/>
                <a:ea typeface="微软雅黑" pitchFamily="34" charset="-122"/>
              </a:rPr>
              <a:t> </a:t>
            </a:r>
            <a:r>
              <a:rPr lang="en-US" altLang="zh-CN" sz="1200" dirty="0" smtClean="0">
                <a:latin typeface="Times New Roman" pitchFamily="18" charset="0"/>
                <a:ea typeface="微软雅黑" pitchFamily="34" charset="-122"/>
                <a:cs typeface="Times New Roman" pitchFamily="18" charset="0"/>
              </a:rPr>
              <a:t>Trang chủ - Coordinator</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2631490"/>
          </a:xfrm>
          <a:prstGeom prst="rect">
            <a:avLst/>
          </a:prstGeom>
          <a:noFill/>
        </p:spPr>
        <p:txBody>
          <a:bodyPr wrap="square" rtlCol="0">
            <a:spAutoFit/>
          </a:bodyPr>
          <a:lstStyle/>
          <a:p>
            <a:pPr algn="l">
              <a:spcBef>
                <a:spcPct val="50000"/>
              </a:spcBef>
            </a:pPr>
            <a:r>
              <a:rPr lang="vi-VN" altLang="zh-CN" sz="1000" b="1" dirty="0" smtClean="0">
                <a:latin typeface="+mj-lt"/>
                <a:ea typeface="微软雅黑" pitchFamily="34" charset="-122"/>
              </a:rPr>
              <a:t>Giải thích chi tiết</a:t>
            </a:r>
            <a:r>
              <a:rPr lang="zh-CN" altLang="en-US" sz="1000" dirty="0" smtClean="0">
                <a:latin typeface="+mj-lt"/>
                <a:ea typeface="微软雅黑" pitchFamily="34" charset="-122"/>
              </a:rPr>
              <a:t>：</a:t>
            </a:r>
            <a:endParaRPr lang="en-US" altLang="zh-CN" sz="1000" dirty="0" smtClean="0">
              <a:latin typeface="+mj-lt"/>
              <a:ea typeface="微软雅黑" pitchFamily="34" charset="-122"/>
            </a:endParaRP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Trang phân quyền cho NV chấm công</a:t>
            </a:r>
            <a:r>
              <a:rPr lang="en-US" altLang="zh-CN" sz="1000" dirty="0" smtClean="0">
                <a:latin typeface="Times New Roman" pitchFamily="18" charset="0"/>
                <a:ea typeface="微软雅黑" pitchFamily="34" charset="-122"/>
                <a:cs typeface="Times New Roman" pitchFamily="18" charset="0"/>
              </a:rPr>
              <a:t>.</a:t>
            </a: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Ngoài trang cá nhân, NV chấm công có thể vào Coordinator để quản lý tình hình chấm công của nhân viên cấp dưới</a:t>
            </a:r>
            <a:endParaRPr lang="en-US" altLang="zh-CN" sz="1000" dirty="0" smtClean="0">
              <a:latin typeface="Times New Roman" pitchFamily="18" charset="0"/>
              <a:ea typeface="微软雅黑" pitchFamily="34" charset="-122"/>
              <a:cs typeface="Times New Roman" pitchFamily="18" charset="0"/>
            </a:endParaRPr>
          </a:p>
          <a:p>
            <a:pPr marL="228600" indent="-228600" algn="l">
              <a:spcBef>
                <a:spcPct val="50000"/>
              </a:spcBef>
            </a:pPr>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25211" y="1196752"/>
            <a:ext cx="6811790" cy="3670189"/>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81978" y="115323"/>
            <a:ext cx="2946006"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lgn="l" eaLnBrk="0" hangingPunct="0"/>
            <a:r>
              <a:rPr lang="zh-CN" altLang="en-US" sz="1200" dirty="0" smtClean="0">
                <a:latin typeface="微软雅黑" pitchFamily="34" charset="-122"/>
                <a:ea typeface="微软雅黑" pitchFamily="34" charset="-122"/>
              </a:rPr>
              <a:t> </a:t>
            </a:r>
            <a:r>
              <a:rPr lang="en-US" altLang="zh-CN" sz="1200" dirty="0" smtClean="0">
                <a:latin typeface="Times New Roman" pitchFamily="18" charset="0"/>
                <a:ea typeface="微软雅黑" pitchFamily="34" charset="-122"/>
                <a:cs typeface="Times New Roman" pitchFamily="18" charset="0"/>
              </a:rPr>
              <a:t>Thông tin nhân viên – Danh sách nhân viên</a:t>
            </a:r>
            <a:endParaRPr lang="vi-VN" altLang="zh-CN"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3570208"/>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Xem thông tin  nhân sự của các NV mình quản lý</a:t>
            </a: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marL="228600" indent="-228600" algn="l">
              <a:spcBef>
                <a:spcPct val="50000"/>
              </a:spcBef>
            </a:pPr>
            <a:r>
              <a:rPr lang="en-US" altLang="zh-CN" sz="1200" dirty="0" smtClean="0">
                <a:latin typeface="Times New Roman" pitchFamily="18" charset="0"/>
                <a:ea typeface="微软雅黑" pitchFamily="34" charset="-122"/>
                <a:cs typeface="Times New Roman" pitchFamily="18" charset="0"/>
              </a:rPr>
              <a:t>Hệ thống hiện thị tất cả NV bộ phận mình quản lý. Có thể tìm kiếm dựa vào điều kiện bên trên.</a:t>
            </a:r>
          </a:p>
          <a:p>
            <a:pPr marL="228600" indent="-228600" algn="l">
              <a:spcBef>
                <a:spcPct val="50000"/>
              </a:spcBef>
            </a:pPr>
            <a:r>
              <a:rPr lang="en-US" altLang="zh-CN" sz="1200" dirty="0" smtClean="0">
                <a:latin typeface="Times New Roman" pitchFamily="18" charset="0"/>
                <a:ea typeface="微软雅黑" pitchFamily="34" charset="-122"/>
                <a:cs typeface="Times New Roman" pitchFamily="18" charset="0"/>
              </a:rPr>
              <a:t>Chọn Tên nhân viên màu xanh, hiện thị 1 số thông tin cơ bản của NV đó</a:t>
            </a:r>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3078" name="Picture 6"/>
          <p:cNvPicPr>
            <a:picLocks noChangeAspect="1" noChangeArrowheads="1"/>
          </p:cNvPicPr>
          <p:nvPr/>
        </p:nvPicPr>
        <p:blipFill>
          <a:blip r:embed="rId2"/>
          <a:srcRect/>
          <a:stretch>
            <a:fillRect/>
          </a:stretch>
        </p:blipFill>
        <p:spPr bwMode="auto">
          <a:xfrm>
            <a:off x="5000628" y="2714620"/>
            <a:ext cx="928693" cy="214314"/>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1420" y="890231"/>
            <a:ext cx="6772053" cy="3648778"/>
          </a:xfrm>
          <a:prstGeom prst="rect">
            <a:avLst/>
          </a:prstGeom>
        </p:spPr>
      </p:pic>
      <p:pic>
        <p:nvPicPr>
          <p:cNvPr id="3" name="Picture 2"/>
          <p:cNvPicPr>
            <a:picLocks noChangeAspect="1"/>
          </p:cNvPicPr>
          <p:nvPr/>
        </p:nvPicPr>
        <p:blipFill>
          <a:blip r:embed="rId4"/>
          <a:stretch>
            <a:fillRect/>
          </a:stretch>
        </p:blipFill>
        <p:spPr>
          <a:xfrm>
            <a:off x="1382125" y="3011433"/>
            <a:ext cx="4901973" cy="3055151"/>
          </a:xfrm>
          <a:prstGeom prst="rect">
            <a:avLst/>
          </a:prstGeom>
        </p:spPr>
      </p:pic>
      <p:sp>
        <p:nvSpPr>
          <p:cNvPr id="4" name="Flowchart: Process 3"/>
          <p:cNvSpPr/>
          <p:nvPr/>
        </p:nvSpPr>
        <p:spPr>
          <a:xfrm>
            <a:off x="1115616" y="2132856"/>
            <a:ext cx="576064" cy="144016"/>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6" name="Elbow Connector 5"/>
          <p:cNvCxnSpPr>
            <a:stCxn id="4" idx="2"/>
            <a:endCxn id="3" idx="0"/>
          </p:cNvCxnSpPr>
          <p:nvPr/>
        </p:nvCxnSpPr>
        <p:spPr>
          <a:xfrm rot="16200000" flipH="1">
            <a:off x="2251100" y="1429420"/>
            <a:ext cx="734561" cy="2429464"/>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357290" y="101371"/>
            <a:ext cx="3142702"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itchFamily="18" charset="0"/>
                <a:ea typeface="微软雅黑" pitchFamily="34" charset="-122"/>
                <a:cs typeface="Times New Roman" pitchFamily="18" charset="0"/>
              </a:rPr>
              <a:t>Thông tin nhân viên – Thông tin nhân sự</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4632037"/>
          </a:xfrm>
          <a:prstGeom prst="rect">
            <a:avLst/>
          </a:prstGeom>
          <a:noFill/>
        </p:spPr>
        <p:txBody>
          <a:bodyPr wrap="square" rtlCol="0">
            <a:spAutoFit/>
          </a:bodyPr>
          <a:lstStyle/>
          <a:p>
            <a:pPr algn="l">
              <a:spcBef>
                <a:spcPct val="50000"/>
              </a:spcBef>
            </a:pPr>
            <a:r>
              <a:rPr lang="vi-VN" altLang="zh-CN" sz="1200" b="1" dirty="0" smtClean="0">
                <a:latin typeface="+mj-lt"/>
                <a:ea typeface="微软雅黑" pitchFamily="34" charset="-122"/>
              </a:rPr>
              <a:t>Công dụng</a:t>
            </a:r>
            <a:r>
              <a:rPr lang="zh-CN" altLang="en-US" sz="1200" b="1" dirty="0" smtClean="0">
                <a:latin typeface="+mj-lt"/>
                <a:ea typeface="微软雅黑" pitchFamily="34" charset="-122"/>
              </a:rPr>
              <a:t>：</a:t>
            </a:r>
            <a:endParaRPr lang="en-US" altLang="zh-CN" sz="1200" b="1" dirty="0" smtClean="0">
              <a:latin typeface="+mj-lt"/>
              <a:ea typeface="微软雅黑" pitchFamily="34" charset="-122"/>
            </a:endParaRPr>
          </a:p>
          <a:p>
            <a:pPr algn="l">
              <a:spcBef>
                <a:spcPct val="50000"/>
              </a:spcBef>
            </a:pPr>
            <a:r>
              <a:rPr lang="en-US" altLang="zh-CN" sz="1200" dirty="0" smtClean="0">
                <a:latin typeface="+mj-lt"/>
                <a:ea typeface="微软雅黑" pitchFamily="34" charset="-122"/>
              </a:rPr>
              <a:t>Xem thông tin nhân sự của bộ phận mình quản lý</a:t>
            </a:r>
            <a:endParaRPr lang="vi-VN" altLang="zh-CN" sz="1200" dirty="0">
              <a:latin typeface="+mj-lt"/>
              <a:ea typeface="微软雅黑" pitchFamily="34" charset="-122"/>
            </a:endParaRPr>
          </a:p>
          <a:p>
            <a:pPr algn="l">
              <a:spcBef>
                <a:spcPct val="50000"/>
              </a:spcBef>
            </a:pPr>
            <a:r>
              <a:rPr lang="vi-VN" altLang="zh-CN" sz="1200" b="1" dirty="0" smtClean="0">
                <a:latin typeface="+mj-lt"/>
                <a:ea typeface="微软雅黑" pitchFamily="34" charset="-122"/>
              </a:rPr>
              <a:t>Giải thích chi tiết</a:t>
            </a:r>
            <a:r>
              <a:rPr lang="zh-CN" altLang="en-US" sz="1200" dirty="0" smtClean="0">
                <a:latin typeface="+mj-lt"/>
                <a:ea typeface="微软雅黑" pitchFamily="34" charset="-122"/>
              </a:rPr>
              <a:t>：</a:t>
            </a:r>
            <a:endParaRPr lang="en-US" altLang="zh-CN" sz="1200" dirty="0" smtClean="0">
              <a:latin typeface="+mj-lt"/>
              <a:ea typeface="微软雅黑" pitchFamily="34" charset="-122"/>
            </a:endParaRPr>
          </a:p>
          <a:p>
            <a:pPr algn="l">
              <a:spcBef>
                <a:spcPct val="50000"/>
              </a:spcBef>
            </a:pPr>
            <a:r>
              <a:rPr lang="vi-VN" altLang="zh-CN" sz="1200" dirty="0" smtClean="0">
                <a:latin typeface="+mj-lt"/>
                <a:ea typeface="微软雅黑" pitchFamily="34" charset="-122"/>
              </a:rPr>
              <a:t>Chỉ hiển thị </a:t>
            </a:r>
            <a:r>
              <a:rPr lang="en-US" altLang="zh-CN" sz="1200" dirty="0" smtClean="0">
                <a:latin typeface="+mj-lt"/>
                <a:ea typeface="微软雅黑" pitchFamily="34" charset="-122"/>
              </a:rPr>
              <a:t>NV </a:t>
            </a:r>
            <a:r>
              <a:rPr lang="vi-VN" altLang="zh-CN" sz="1200" dirty="0" smtClean="0">
                <a:latin typeface="+mj-lt"/>
                <a:ea typeface="微软雅黑" pitchFamily="34" charset="-122"/>
              </a:rPr>
              <a:t>phòng ban mà người dùng đó </a:t>
            </a:r>
            <a:r>
              <a:rPr lang="en-US" altLang="zh-CN" sz="1200" dirty="0" smtClean="0">
                <a:latin typeface="+mj-lt"/>
                <a:ea typeface="微软雅黑" pitchFamily="34" charset="-122"/>
              </a:rPr>
              <a:t>phân quyền</a:t>
            </a:r>
            <a:r>
              <a:rPr lang="vi-VN" altLang="zh-CN" sz="1200" dirty="0" smtClean="0">
                <a:latin typeface="+mj-lt"/>
                <a:ea typeface="微软雅黑" pitchFamily="34" charset="-122"/>
              </a:rPr>
              <a:t> quyền quản lý</a:t>
            </a:r>
            <a:endParaRPr lang="en-US" altLang="zh-CN" sz="1200" dirty="0" smtClean="0">
              <a:latin typeface="+mj-lt"/>
              <a:ea typeface="微软雅黑" pitchFamily="34" charset="-122"/>
            </a:endParaRPr>
          </a:p>
          <a:p>
            <a:pPr marL="228600" indent="-228600" algn="l">
              <a:spcBef>
                <a:spcPct val="50000"/>
              </a:spcBef>
            </a:pPr>
            <a:r>
              <a:rPr lang="en-US" altLang="zh-CN" sz="1200" dirty="0">
                <a:latin typeface="Times New Roman" pitchFamily="18" charset="0"/>
                <a:ea typeface="微软雅黑" pitchFamily="34" charset="-122"/>
                <a:cs typeface="Times New Roman" pitchFamily="18" charset="0"/>
              </a:rPr>
              <a:t>Có thể tìm kiếm dựa vào điều kiện bên trên.</a:t>
            </a:r>
          </a:p>
          <a:p>
            <a:pPr marL="228600" indent="-228600" algn="l">
              <a:spcBef>
                <a:spcPct val="50000"/>
              </a:spcBef>
            </a:pPr>
            <a:r>
              <a:rPr lang="en-US" altLang="zh-CN" sz="1200" dirty="0">
                <a:latin typeface="Times New Roman" pitchFamily="18" charset="0"/>
                <a:ea typeface="微软雅黑" pitchFamily="34" charset="-122"/>
                <a:cs typeface="Times New Roman" pitchFamily="18" charset="0"/>
              </a:rPr>
              <a:t>Chọn Tên nhân viên màu xanh, hiện thị 1 số thông tin cơ bản của NV đó</a:t>
            </a:r>
            <a:endParaRPr lang="en-US" altLang="zh-CN" sz="1000" dirty="0">
              <a:latin typeface="微软雅黑" pitchFamily="34" charset="-122"/>
              <a:ea typeface="微软雅黑" pitchFamily="34" charset="-122"/>
            </a:endParaRPr>
          </a:p>
          <a:p>
            <a:pPr algn="l">
              <a:spcBef>
                <a:spcPct val="50000"/>
              </a:spcBef>
            </a:pPr>
            <a:endParaRPr lang="en-US" altLang="zh-CN" sz="1200" dirty="0" smtClean="0">
              <a:latin typeface="+mj-lt"/>
              <a:ea typeface="微软雅黑" pitchFamily="34" charset="-122"/>
            </a:endParaRPr>
          </a:p>
          <a:p>
            <a:pPr marL="228600" indent="-228600" algn="l">
              <a:spcBef>
                <a:spcPct val="50000"/>
              </a:spcBef>
              <a:buFont typeface="+mj-lt"/>
              <a:buAutoNum type="arabicPeriod"/>
            </a:pPr>
            <a:endParaRPr lang="en-US" altLang="zh-CN" sz="1200" dirty="0">
              <a:solidFill>
                <a:prstClr val="black"/>
              </a:solidFill>
              <a:latin typeface="+mj-lt"/>
              <a:ea typeface="微软雅黑" pitchFamily="34" charset="-122"/>
            </a:endParaRPr>
          </a:p>
          <a:p>
            <a:pPr marL="228600" indent="-228600" algn="l">
              <a:spcBef>
                <a:spcPct val="50000"/>
              </a:spcBef>
            </a:pPr>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3079" name="Picture 7"/>
          <p:cNvPicPr>
            <a:picLocks noChangeAspect="1" noChangeArrowheads="1"/>
          </p:cNvPicPr>
          <p:nvPr/>
        </p:nvPicPr>
        <p:blipFill>
          <a:blip r:embed="rId2"/>
          <a:srcRect/>
          <a:stretch>
            <a:fillRect/>
          </a:stretch>
        </p:blipFill>
        <p:spPr bwMode="auto">
          <a:xfrm>
            <a:off x="500034" y="1733540"/>
            <a:ext cx="857256" cy="195262"/>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14672" y="1268760"/>
            <a:ext cx="6786578" cy="3656604"/>
          </a:xfrm>
          <a:prstGeom prst="rect">
            <a:avLst/>
          </a:prstGeom>
        </p:spPr>
      </p:pic>
      <p:pic>
        <p:nvPicPr>
          <p:cNvPr id="3" name="Picture 2"/>
          <p:cNvPicPr>
            <a:picLocks noChangeAspect="1"/>
          </p:cNvPicPr>
          <p:nvPr/>
        </p:nvPicPr>
        <p:blipFill>
          <a:blip r:embed="rId4"/>
          <a:stretch>
            <a:fillRect/>
          </a:stretch>
        </p:blipFill>
        <p:spPr>
          <a:xfrm>
            <a:off x="755576" y="3688501"/>
            <a:ext cx="5609990" cy="2061199"/>
          </a:xfrm>
          <a:prstGeom prst="rect">
            <a:avLst/>
          </a:prstGeom>
        </p:spPr>
      </p:pic>
      <p:sp>
        <p:nvSpPr>
          <p:cNvPr id="4" name="Rectangle 3"/>
          <p:cNvSpPr/>
          <p:nvPr/>
        </p:nvSpPr>
        <p:spPr>
          <a:xfrm>
            <a:off x="2195736" y="3097062"/>
            <a:ext cx="648072" cy="1879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6" name="Elbow Connector 5"/>
          <p:cNvCxnSpPr>
            <a:stCxn id="4" idx="2"/>
            <a:endCxn id="3" idx="0"/>
          </p:cNvCxnSpPr>
          <p:nvPr/>
        </p:nvCxnSpPr>
        <p:spPr>
          <a:xfrm rot="16200000" flipH="1">
            <a:off x="2838413" y="2966342"/>
            <a:ext cx="403517" cy="1040799"/>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nhân viên - </a:t>
            </a:r>
            <a:r>
              <a:rPr lang="vi-VN" altLang="zh-CN" sz="1200" dirty="0" smtClean="0">
                <a:latin typeface="Times New Roman" pitchFamily="18" charset="0"/>
                <a:ea typeface="微软雅黑" pitchFamily="34" charset="-122"/>
                <a:cs typeface="Times New Roman" pitchFamily="18" charset="0"/>
              </a:rPr>
              <a:t>Xin </a:t>
            </a:r>
            <a:r>
              <a:rPr lang="en-US" altLang="zh-CN" sz="1200" dirty="0" smtClean="0">
                <a:latin typeface="Times New Roman" pitchFamily="18" charset="0"/>
                <a:ea typeface="微软雅黑" pitchFamily="34" charset="-122"/>
                <a:cs typeface="Times New Roman" pitchFamily="18" charset="0"/>
              </a:rPr>
              <a:t>nghỉ phép</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93145" y="764704"/>
            <a:ext cx="2214578" cy="6755696"/>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en-US" altLang="zh-CN" sz="1100" dirty="0" smtClean="0">
                <a:latin typeface="Times New Roman" pitchFamily="18" charset="0"/>
                <a:ea typeface="微软雅黑" pitchFamily="34" charset="-122"/>
                <a:cs typeface="Times New Roman" pitchFamily="18" charset="0"/>
              </a:rPr>
              <a:t>Nhân viên chấm công xin nghỉ phép cho CNV cấp dưới</a:t>
            </a:r>
          </a:p>
          <a:p>
            <a:pPr algn="l">
              <a:spcBef>
                <a:spcPct val="50000"/>
              </a:spcBef>
            </a:pPr>
            <a:r>
              <a:rPr lang="vi-VN" altLang="zh-CN" sz="1100" b="1" dirty="0" smtClean="0">
                <a:latin typeface="Times New Roman" pitchFamily="18" charset="0"/>
                <a:ea typeface="微软雅黑" pitchFamily="34" charset="-122"/>
                <a:cs typeface="Times New Roman" pitchFamily="18" charset="0"/>
              </a:rPr>
              <a:t>Giải thích chi tiết</a:t>
            </a:r>
            <a:r>
              <a:rPr lang="zh-CN" altLang="en-US" sz="1100" dirty="0" smtClean="0">
                <a:latin typeface="Times New Roman" pitchFamily="18" charset="0"/>
                <a:ea typeface="微软雅黑" pitchFamily="34" charset="-122"/>
                <a:cs typeface="Times New Roman" pitchFamily="18" charset="0"/>
              </a:rPr>
              <a:t>：</a:t>
            </a:r>
            <a:endParaRPr lang="en-US" altLang="zh-CN" sz="11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1100" dirty="0" smtClean="0">
                <a:latin typeface="Times New Roman" pitchFamily="18" charset="0"/>
                <a:ea typeface="微软雅黑" pitchFamily="34" charset="-122"/>
                <a:cs typeface="Times New Roman" pitchFamily="18" charset="0"/>
              </a:rPr>
              <a:t>Chỉ hiển thị phòng ban mà người dùng đó </a:t>
            </a:r>
            <a:r>
              <a:rPr lang="en-US" altLang="zh-CN" sz="1100" dirty="0" smtClean="0">
                <a:latin typeface="Times New Roman" pitchFamily="18" charset="0"/>
                <a:ea typeface="微软雅黑" pitchFamily="34" charset="-122"/>
                <a:cs typeface="Times New Roman" pitchFamily="18" charset="0"/>
              </a:rPr>
              <a:t>phụ trách</a:t>
            </a:r>
          </a:p>
          <a:p>
            <a:pPr marL="228600" indent="-228600" algn="l">
              <a:spcBef>
                <a:spcPct val="50000"/>
              </a:spcBef>
              <a:buFont typeface="+mj-lt"/>
              <a:buAutoNum type="arabicPeriod"/>
            </a:pPr>
            <a:r>
              <a:rPr lang="en-US" altLang="zh-CN" sz="1100" dirty="0" smtClean="0">
                <a:latin typeface="Times New Roman" pitchFamily="18" charset="0"/>
                <a:ea typeface="微软雅黑" pitchFamily="34" charset="-122"/>
                <a:cs typeface="Times New Roman" pitchFamily="18" charset="0"/>
              </a:rPr>
              <a:t>Nhập điều kiện tìm kiếm, chọn “Tra cứu” hiện thị tất cả CNV tương ứng</a:t>
            </a:r>
          </a:p>
          <a:p>
            <a:pPr marL="228600" indent="-228600" algn="l">
              <a:spcBef>
                <a:spcPct val="50000"/>
              </a:spcBef>
              <a:buFont typeface="+mj-lt"/>
              <a:buAutoNum type="arabicPeriod"/>
            </a:pPr>
            <a:r>
              <a:rPr lang="en-US" altLang="zh-CN" sz="1100" dirty="0" smtClean="0">
                <a:latin typeface="Times New Roman" pitchFamily="18" charset="0"/>
                <a:ea typeface="微软雅黑" pitchFamily="34" charset="-122"/>
                <a:cs typeface="Times New Roman" pitchFamily="18" charset="0"/>
              </a:rPr>
              <a:t>Muốn xin nghỉ cho 1 NV, chọn “Thêm mới”, nhập Mã nhân viên, Loại nghỉ phép, thời gian nghỉ… sau đó “Lưu”, thông tin xin nghỉ của NV này sẽ chuyển đến trang người duyệt.</a:t>
            </a:r>
          </a:p>
          <a:p>
            <a:pPr marL="228600" indent="-228600" algn="l">
              <a:spcBef>
                <a:spcPct val="50000"/>
              </a:spcBef>
              <a:buFont typeface="+mj-lt"/>
              <a:buAutoNum type="arabicPeriod"/>
            </a:pPr>
            <a:r>
              <a:rPr lang="en-US" altLang="zh-CN" sz="1100" dirty="0" smtClean="0">
                <a:latin typeface="Times New Roman" pitchFamily="18" charset="0"/>
                <a:ea typeface="微软雅黑" pitchFamily="34" charset="-122"/>
                <a:cs typeface="Times New Roman" pitchFamily="18" charset="0"/>
              </a:rPr>
              <a:t>Khi xin nghỉ cho nhiều NV có cùng loại nghỉ phép và cùng thời gian:</a:t>
            </a:r>
          </a:p>
          <a:p>
            <a:pPr algn="l">
              <a:spcBef>
                <a:spcPct val="50000"/>
              </a:spcBef>
            </a:pPr>
            <a:r>
              <a:rPr lang="en-US" altLang="zh-CN" sz="1100" dirty="0" smtClean="0">
                <a:latin typeface="Times New Roman" pitchFamily="18" charset="0"/>
                <a:ea typeface="微软雅黑" pitchFamily="34" charset="-122"/>
                <a:cs typeface="Times New Roman" pitchFamily="18" charset="0"/>
              </a:rPr>
              <a:t>     “Bản mẫu” tải Excel về máy</a:t>
            </a:r>
          </a:p>
          <a:p>
            <a:pPr algn="l">
              <a:spcBef>
                <a:spcPct val="50000"/>
              </a:spcBef>
            </a:pPr>
            <a:r>
              <a:rPr lang="en-US" altLang="zh-CN" sz="1100" dirty="0" smtClean="0">
                <a:latin typeface="Times New Roman" pitchFamily="18" charset="0"/>
                <a:ea typeface="微软雅黑" pitchFamily="34" charset="-122"/>
                <a:cs typeface="Times New Roman" pitchFamily="18" charset="0"/>
              </a:rPr>
              <a:t>      Nhập thông tin xin nghỉ của các CNV</a:t>
            </a:r>
          </a:p>
          <a:p>
            <a:pPr algn="l">
              <a:spcBef>
                <a:spcPct val="50000"/>
              </a:spcBef>
            </a:pPr>
            <a:r>
              <a:rPr lang="en-US" altLang="zh-CN" sz="1100" dirty="0" smtClean="0">
                <a:latin typeface="Times New Roman" pitchFamily="18" charset="0"/>
                <a:ea typeface="微软雅黑" pitchFamily="34" charset="-122"/>
                <a:cs typeface="Times New Roman" pitchFamily="18" charset="0"/>
              </a:rPr>
              <a:t>       “Chèn file” chèn file vừa nhập</a:t>
            </a:r>
          </a:p>
          <a:p>
            <a:pPr algn="l">
              <a:spcBef>
                <a:spcPct val="50000"/>
              </a:spcBef>
            </a:pPr>
            <a:r>
              <a:rPr lang="en-US" altLang="zh-CN" sz="1100" dirty="0" smtClean="0">
                <a:latin typeface="Times New Roman" pitchFamily="18" charset="0"/>
                <a:ea typeface="微软雅黑" pitchFamily="34" charset="-122"/>
                <a:cs typeface="Times New Roman" pitchFamily="18" charset="0"/>
              </a:rPr>
              <a:t>     Hệ thống hiển thị trang xác nhận các thông tin vừa nhập đã chính xác chưa. Nếu chính xác, chọn “Lưu”, trở lại trang xin phép, tích chọn tất cả sau đó “Lưu”, dữ liệu sẽ đến trang người duyệt.</a:t>
            </a: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0" y="899399"/>
            <a:ext cx="6793145" cy="3747209"/>
          </a:xfrm>
          <a:prstGeom prst="rect">
            <a:avLst/>
          </a:prstGeom>
        </p:spPr>
      </p:pic>
      <p:cxnSp>
        <p:nvCxnSpPr>
          <p:cNvPr id="4" name="Straight Arrow Connector 3"/>
          <p:cNvCxnSpPr/>
          <p:nvPr/>
        </p:nvCxnSpPr>
        <p:spPr>
          <a:xfrm>
            <a:off x="6948264" y="4509120"/>
            <a:ext cx="720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6948264" y="4725144"/>
            <a:ext cx="720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948264" y="5157192"/>
            <a:ext cx="720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948264" y="5373216"/>
            <a:ext cx="720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
          <a:stretch>
            <a:fillRect/>
          </a:stretch>
        </p:blipFill>
        <p:spPr>
          <a:xfrm>
            <a:off x="1385314" y="3004927"/>
            <a:ext cx="4540983" cy="2715488"/>
          </a:xfrm>
          <a:prstGeom prst="rect">
            <a:avLst/>
          </a:prstGeom>
        </p:spPr>
      </p:pic>
      <p:sp>
        <p:nvSpPr>
          <p:cNvPr id="5" name="Flowchart: Process 4"/>
          <p:cNvSpPr/>
          <p:nvPr/>
        </p:nvSpPr>
        <p:spPr>
          <a:xfrm>
            <a:off x="863588" y="2787456"/>
            <a:ext cx="360040" cy="123937"/>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12" name="Elbow Connector 11"/>
          <p:cNvCxnSpPr/>
          <p:nvPr/>
        </p:nvCxnSpPr>
        <p:spPr>
          <a:xfrm>
            <a:off x="1223628" y="2860911"/>
            <a:ext cx="2270492" cy="144016"/>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nhân viên – Xin tăng ca</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052736"/>
            <a:ext cx="2214578" cy="6948056"/>
          </a:xfrm>
          <a:prstGeom prst="rect">
            <a:avLst/>
          </a:prstGeom>
          <a:noFill/>
        </p:spPr>
        <p:txBody>
          <a:bodyPr wrap="square" rtlCol="0">
            <a:spAutoFit/>
          </a:bodyPr>
          <a:lstStyle/>
          <a:p>
            <a:pPr algn="l">
              <a:spcBef>
                <a:spcPct val="50000"/>
              </a:spcBef>
            </a:pPr>
            <a:r>
              <a:rPr lang="vi-VN" altLang="zh-CN" sz="900" b="1" dirty="0" smtClean="0">
                <a:latin typeface="Times New Roman" pitchFamily="18" charset="0"/>
                <a:ea typeface="微软雅黑" pitchFamily="34" charset="-122"/>
                <a:cs typeface="Times New Roman" pitchFamily="18" charset="0"/>
              </a:rPr>
              <a:t>Công dụng</a:t>
            </a:r>
            <a:r>
              <a:rPr lang="zh-CN" altLang="en-US" sz="900" b="1" dirty="0" smtClean="0">
                <a:latin typeface="Times New Roman" pitchFamily="18" charset="0"/>
                <a:ea typeface="微软雅黑" pitchFamily="34" charset="-122"/>
                <a:cs typeface="Times New Roman" pitchFamily="18" charset="0"/>
              </a:rPr>
              <a:t>：</a:t>
            </a:r>
            <a:endParaRPr lang="en-US" altLang="zh-CN" sz="900" b="1" dirty="0" smtClean="0">
              <a:latin typeface="Times New Roman" pitchFamily="18" charset="0"/>
              <a:ea typeface="微软雅黑" pitchFamily="34" charset="-122"/>
              <a:cs typeface="Times New Roman" pitchFamily="18" charset="0"/>
            </a:endParaRPr>
          </a:p>
          <a:p>
            <a:pPr algn="l">
              <a:spcBef>
                <a:spcPct val="50000"/>
              </a:spcBef>
            </a:pPr>
            <a:r>
              <a:rPr lang="en-US" altLang="zh-CN" sz="900" dirty="0" smtClean="0">
                <a:latin typeface="Times New Roman" pitchFamily="18" charset="0"/>
                <a:ea typeface="微软雅黑" pitchFamily="34" charset="-122"/>
                <a:cs typeface="Times New Roman" pitchFamily="18" charset="0"/>
              </a:rPr>
              <a:t>Nhân viên chấm công xem được thông tin xin tăng ca, nghỉ phép của NV dưới, đồng thời thay mặt để xin tăng ca, nghỉ phép cho NV của mình</a:t>
            </a:r>
            <a:endParaRPr lang="en-US" altLang="zh-CN" sz="900" dirty="0">
              <a:latin typeface="Times New Roman" pitchFamily="18" charset="0"/>
              <a:ea typeface="微软雅黑" pitchFamily="34" charset="-122"/>
              <a:cs typeface="Times New Roman" pitchFamily="18" charset="0"/>
            </a:endParaRPr>
          </a:p>
          <a:p>
            <a:pPr algn="l">
              <a:spcBef>
                <a:spcPct val="50000"/>
              </a:spcBef>
            </a:pPr>
            <a:r>
              <a:rPr lang="vi-VN" altLang="zh-CN" sz="900" b="1" dirty="0" smtClean="0">
                <a:latin typeface="Times New Roman" pitchFamily="18" charset="0"/>
                <a:ea typeface="微软雅黑" pitchFamily="34" charset="-122"/>
                <a:cs typeface="Times New Roman" pitchFamily="18" charset="0"/>
              </a:rPr>
              <a:t>Giải thích chi tiết</a:t>
            </a:r>
            <a:r>
              <a:rPr lang="zh-CN" altLang="en-US" sz="900" dirty="0" smtClean="0">
                <a:latin typeface="Times New Roman" pitchFamily="18" charset="0"/>
                <a:ea typeface="微软雅黑" pitchFamily="34" charset="-122"/>
                <a:cs typeface="Times New Roman" pitchFamily="18" charset="0"/>
              </a:rPr>
              <a:t>：</a:t>
            </a:r>
            <a:endParaRPr lang="en-US" altLang="zh-CN" sz="9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900" dirty="0" smtClean="0">
                <a:latin typeface="Times New Roman" pitchFamily="18" charset="0"/>
                <a:ea typeface="微软雅黑" pitchFamily="34" charset="-122"/>
                <a:cs typeface="Times New Roman" pitchFamily="18" charset="0"/>
              </a:rPr>
              <a:t>Chỉ hiển thị </a:t>
            </a:r>
            <a:r>
              <a:rPr lang="en-US" altLang="zh-CN" sz="900" dirty="0" smtClean="0">
                <a:latin typeface="Times New Roman" pitchFamily="18" charset="0"/>
                <a:ea typeface="微软雅黑" pitchFamily="34" charset="-122"/>
                <a:cs typeface="Times New Roman" pitchFamily="18" charset="0"/>
              </a:rPr>
              <a:t>thông tin NV phòng ban mình phụ trách chấm công</a:t>
            </a:r>
          </a:p>
          <a:p>
            <a:pPr marL="228600" indent="-228600" algn="l">
              <a:spcBef>
                <a:spcPct val="50000"/>
              </a:spcBef>
              <a:buFont typeface="+mj-lt"/>
              <a:buAutoNum type="arabicPeriod"/>
            </a:pPr>
            <a:r>
              <a:rPr lang="en-US" altLang="zh-CN" sz="900" dirty="0" smtClean="0">
                <a:latin typeface="Times New Roman" pitchFamily="18" charset="0"/>
                <a:ea typeface="微软雅黑" pitchFamily="34" charset="-122"/>
                <a:cs typeface="Times New Roman" pitchFamily="18" charset="0"/>
              </a:rPr>
              <a:t>Có thể tra cứu thông tin xin tăng ca, nghỉ phép dựa vào điều kiện tìm kiếm bên trên</a:t>
            </a:r>
            <a:endParaRPr lang="en-US" altLang="zh-CN" sz="900" dirty="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900" dirty="0" smtClean="0">
                <a:latin typeface="Times New Roman" pitchFamily="18" charset="0"/>
                <a:ea typeface="微软雅黑" pitchFamily="34" charset="-122"/>
                <a:cs typeface="Times New Roman" pitchFamily="18" charset="0"/>
              </a:rPr>
              <a:t>Click "Lưu" để lưu nội dung vừa sửa và hoàn thành thao tác xin phép.</a:t>
            </a:r>
            <a:endParaRPr lang="en-US" altLang="zh-CN" sz="9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en-US" altLang="zh-CN" sz="900" dirty="0" smtClean="0">
                <a:latin typeface="Times New Roman" pitchFamily="18" charset="0"/>
                <a:ea typeface="微软雅黑" pitchFamily="34" charset="-122"/>
                <a:cs typeface="Times New Roman" pitchFamily="18" charset="0"/>
              </a:rPr>
              <a:t>Khi muốn xin tăng ca cho nhiều NV, đầu tiên chọn “Bản mẫu” tải về bản Excel, điền thông tin các NV tăng ca và thời gian tăng ca theo nội dung trong Excel, lưu bảng này lại. Sau đó, tại hệ thống chọn “Chèn file”, chọn bảng Excel vừa nhập thông tin, hệ thống tụ động cập nhật các NV tăng ca. sau khi kiểm tra không còn lỗi nào, tích chọn tất cả NV sau đó chọn “Lưu” chờ phê duyệt.</a:t>
            </a:r>
          </a:p>
          <a:p>
            <a:pPr marL="228600" indent="-228600" algn="l">
              <a:spcBef>
                <a:spcPct val="50000"/>
              </a:spcBef>
              <a:buFont typeface="+mj-lt"/>
              <a:buAutoNum type="arabicPeriod"/>
            </a:pPr>
            <a:r>
              <a:rPr lang="vi-VN" altLang="zh-CN" sz="900" dirty="0" smtClean="0">
                <a:latin typeface="Times New Roman" pitchFamily="18" charset="0"/>
                <a:ea typeface="微软雅黑" pitchFamily="34" charset="-122"/>
                <a:cs typeface="Times New Roman" pitchFamily="18" charset="0"/>
              </a:rPr>
              <a:t>Trang này có thể tiến hành xin 2 lần</a:t>
            </a:r>
            <a:endParaRPr lang="en-US" altLang="zh-CN" sz="900" dirty="0" smtClean="0">
              <a:latin typeface="Times New Roman" pitchFamily="18" charset="0"/>
              <a:ea typeface="微软雅黑" pitchFamily="34" charset="-122"/>
              <a:cs typeface="Times New Roman" pitchFamily="18" charset="0"/>
            </a:endParaRPr>
          </a:p>
          <a:p>
            <a:pPr marL="228600" indent="-228600" algn="l">
              <a:spcBef>
                <a:spcPct val="50000"/>
              </a:spcBef>
            </a:pPr>
            <a:r>
              <a:rPr lang="en-US" altLang="zh-CN" sz="900" dirty="0" smtClean="0">
                <a:latin typeface="Times New Roman" pitchFamily="18" charset="0"/>
                <a:ea typeface="微软雅黑" pitchFamily="34" charset="-122"/>
                <a:cs typeface="Times New Roman" pitchFamily="18" charset="0"/>
              </a:rPr>
              <a:t>      </a:t>
            </a:r>
            <a:r>
              <a:rPr lang="vi-VN" altLang="zh-CN" sz="900" dirty="0" smtClean="0">
                <a:latin typeface="Times New Roman" pitchFamily="18" charset="0"/>
                <a:ea typeface="微软雅黑" pitchFamily="34" charset="-122"/>
                <a:cs typeface="Times New Roman" pitchFamily="18" charset="0"/>
              </a:rPr>
              <a:t>Thứ tự trạng thái phê duyệt tăng ca</a:t>
            </a:r>
            <a:r>
              <a:rPr lang="zh-CN" altLang="en-US" sz="900" dirty="0" smtClean="0">
                <a:latin typeface="Times New Roman" pitchFamily="18" charset="0"/>
                <a:ea typeface="微软雅黑" pitchFamily="34" charset="-122"/>
                <a:cs typeface="Times New Roman" pitchFamily="18" charset="0"/>
              </a:rPr>
              <a:t>：</a:t>
            </a:r>
            <a:endParaRPr lang="en-US" altLang="zh-CN" sz="900" dirty="0" smtClean="0">
              <a:latin typeface="Times New Roman" pitchFamily="18" charset="0"/>
              <a:ea typeface="微软雅黑" pitchFamily="34" charset="-122"/>
              <a:cs typeface="Times New Roman" pitchFamily="18" charset="0"/>
            </a:endParaRPr>
          </a:p>
          <a:p>
            <a:pPr algn="l"/>
            <a:r>
              <a:rPr lang="en-US" altLang="zh-CN" sz="900" b="1" dirty="0" smtClean="0">
                <a:latin typeface="Times New Roman" pitchFamily="18" charset="0"/>
                <a:cs typeface="Times New Roman" pitchFamily="18" charset="0"/>
              </a:rPr>
              <a:t>  </a:t>
            </a:r>
            <a:r>
              <a:rPr lang="vi-VN" altLang="zh-CN" sz="900" dirty="0">
                <a:latin typeface="Times New Roman" pitchFamily="18" charset="0"/>
                <a:cs typeface="Times New Roman" pitchFamily="18" charset="0"/>
              </a:rPr>
              <a:t>xin tăng ca ngày thường, thực hiện xin phép trước 3:30 ngày hôm đó, 3:30 hệ thống sẽ khóa, 1 trong 2 người phê duyệt thông qua thì xin phép đó sẽ được tính là thông qua, 2 người đều chưa phê duyệt thì sẽ lưu </a:t>
            </a:r>
            <a:r>
              <a:rPr lang="vi-VN" altLang="zh-CN" sz="900" dirty="0" smtClean="0">
                <a:latin typeface="Times New Roman" pitchFamily="18" charset="0"/>
                <a:cs typeface="Times New Roman" pitchFamily="18" charset="0"/>
              </a:rPr>
              <a:t>lại. Trước 12h của ngày hôm sau, phòng nhân sự có thể tiến hành phê duyệt, sau 12h phòng nhân sự vẫn chưa xác nhận thì phải bắt đầu xin phép lại từ đầu. Xin tăng ca cuối tuần phải xin phép trước 1 ngày.</a:t>
            </a:r>
            <a:endParaRPr lang="en-US" altLang="zh-CN" sz="900" dirty="0" smtClean="0">
              <a:latin typeface="Times New Roman" pitchFamily="18" charset="0"/>
              <a:cs typeface="Times New Roman" pitchFamily="18" charset="0"/>
            </a:endParaRPr>
          </a:p>
          <a:p>
            <a:pPr marL="228600" indent="-228600" algn="l">
              <a:spcBef>
                <a:spcPct val="50000"/>
              </a:spcBef>
            </a:pPr>
            <a:endParaRPr lang="en-US" altLang="zh-CN" sz="900" dirty="0" smtClean="0">
              <a:latin typeface="Times New Roman" pitchFamily="18" charset="0"/>
              <a:ea typeface="微软雅黑" pitchFamily="34" charset="-122"/>
              <a:cs typeface="Times New Roman" pitchFamily="18" charset="0"/>
            </a:endParaRPr>
          </a:p>
          <a:p>
            <a:pPr algn="l"/>
            <a:endParaRPr lang="en-US" altLang="zh-CN" sz="900" dirty="0" smtClean="0">
              <a:latin typeface="Times New Roman" pitchFamily="18" charset="0"/>
              <a:ea typeface="微软雅黑" pitchFamily="34" charset="-122"/>
              <a:cs typeface="Times New Roman" pitchFamily="18" charset="0"/>
            </a:endParaRPr>
          </a:p>
          <a:p>
            <a:pPr algn="l"/>
            <a:endParaRPr lang="en-US" altLang="zh-CN" sz="900" dirty="0" smtClean="0">
              <a:latin typeface="Times New Roman" pitchFamily="18" charset="0"/>
              <a:ea typeface="微软雅黑" pitchFamily="34" charset="-122"/>
              <a:cs typeface="Times New Roman" pitchFamily="18" charset="0"/>
            </a:endParaRPr>
          </a:p>
          <a:p>
            <a:pPr algn="l"/>
            <a:endParaRPr lang="en-US" altLang="zh-CN" sz="900" dirty="0" smtClean="0">
              <a:latin typeface="Times New Roman" pitchFamily="18" charset="0"/>
              <a:ea typeface="微软雅黑" pitchFamily="34" charset="-122"/>
              <a:cs typeface="Times New Roman" pitchFamily="18" charset="0"/>
            </a:endParaRPr>
          </a:p>
          <a:p>
            <a:pPr algn="l"/>
            <a:endParaRPr lang="en-US" altLang="zh-CN" sz="900" dirty="0" smtClean="0">
              <a:latin typeface="Times New Roman" pitchFamily="18" charset="0"/>
              <a:ea typeface="微软雅黑" pitchFamily="34" charset="-122"/>
              <a:cs typeface="Times New Roman" pitchFamily="18" charset="0"/>
            </a:endParaRPr>
          </a:p>
          <a:p>
            <a:pPr algn="l"/>
            <a:endParaRPr lang="en-US" altLang="zh-CN" sz="900" dirty="0" smtClean="0">
              <a:latin typeface="Times New Roman" pitchFamily="18" charset="0"/>
              <a:ea typeface="微软雅黑" pitchFamily="34" charset="-122"/>
              <a:cs typeface="Times New Roman" pitchFamily="18" charset="0"/>
            </a:endParaRPr>
          </a:p>
          <a:p>
            <a:pPr algn="l"/>
            <a:endParaRPr lang="en-US" altLang="zh-CN" sz="900" dirty="0" smtClean="0">
              <a:latin typeface="Times New Roman" pitchFamily="18" charset="0"/>
              <a:ea typeface="微软雅黑" pitchFamily="34" charset="-122"/>
              <a:cs typeface="Times New Roman" pitchFamily="18" charset="0"/>
            </a:endParaRPr>
          </a:p>
          <a:p>
            <a:pPr algn="l"/>
            <a:r>
              <a:rPr lang="en-US" altLang="zh-CN" sz="900" dirty="0" smtClean="0">
                <a:latin typeface="Times New Roman" pitchFamily="18" charset="0"/>
                <a:ea typeface="微软雅黑" pitchFamily="34" charset="-122"/>
                <a:cs typeface="Times New Roman" pitchFamily="18" charset="0"/>
              </a:rPr>
              <a:t>0</a:t>
            </a:r>
            <a:endParaRPr lang="zh-CN" altLang="en-US" sz="900" dirty="0">
              <a:latin typeface="Times New Roman" pitchFamily="18" charset="0"/>
              <a:ea typeface="微软雅黑" pitchFamily="34" charset="-122"/>
              <a:cs typeface="Times New Roman" pitchFamily="18" charset="0"/>
            </a:endParaRPr>
          </a:p>
        </p:txBody>
      </p:sp>
      <p:pic>
        <p:nvPicPr>
          <p:cNvPr id="3" name="Picture 2"/>
          <p:cNvPicPr>
            <a:picLocks noChangeAspect="1"/>
          </p:cNvPicPr>
          <p:nvPr/>
        </p:nvPicPr>
        <p:blipFill>
          <a:blip r:embed="rId2"/>
          <a:stretch>
            <a:fillRect/>
          </a:stretch>
        </p:blipFill>
        <p:spPr>
          <a:xfrm>
            <a:off x="0" y="908720"/>
            <a:ext cx="6770434" cy="3769619"/>
          </a:xfrm>
          <a:prstGeom prst="rect">
            <a:avLst/>
          </a:prstGeom>
        </p:spPr>
      </p:pic>
      <p:pic>
        <p:nvPicPr>
          <p:cNvPr id="4" name="Picture 3"/>
          <p:cNvPicPr>
            <a:picLocks noChangeAspect="1"/>
          </p:cNvPicPr>
          <p:nvPr/>
        </p:nvPicPr>
        <p:blipFill>
          <a:blip r:embed="rId3"/>
          <a:stretch>
            <a:fillRect/>
          </a:stretch>
        </p:blipFill>
        <p:spPr>
          <a:xfrm>
            <a:off x="876635" y="3284984"/>
            <a:ext cx="5207533" cy="3007249"/>
          </a:xfrm>
          <a:prstGeom prst="rect">
            <a:avLst/>
          </a:prstGeom>
        </p:spPr>
      </p:pic>
      <p:sp>
        <p:nvSpPr>
          <p:cNvPr id="5" name="Flowchart: Process 4"/>
          <p:cNvSpPr/>
          <p:nvPr/>
        </p:nvSpPr>
        <p:spPr>
          <a:xfrm>
            <a:off x="683568" y="2132856"/>
            <a:ext cx="504056" cy="144016"/>
          </a:xfrm>
          <a:prstGeom prst="flowChart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800" dirty="0" smtClean="0">
              <a:solidFill>
                <a:schemeClr val="tx1"/>
              </a:solidFill>
              <a:ea typeface="微软雅黑" pitchFamily="34" charset="-122"/>
            </a:endParaRPr>
          </a:p>
        </p:txBody>
      </p:sp>
      <p:cxnSp>
        <p:nvCxnSpPr>
          <p:cNvPr id="10" name="Elbow Connector 9"/>
          <p:cNvCxnSpPr>
            <a:stCxn id="5" idx="2"/>
            <a:endCxn id="4" idx="0"/>
          </p:cNvCxnSpPr>
          <p:nvPr/>
        </p:nvCxnSpPr>
        <p:spPr>
          <a:xfrm rot="16200000" flipH="1">
            <a:off x="1703943" y="1508525"/>
            <a:ext cx="1008112" cy="2544806"/>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95608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541448" y="116632"/>
            <a:ext cx="2958544"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nhân viên – Nghỉ bất thường</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3631763"/>
          </a:xfrm>
          <a:prstGeom prst="rect">
            <a:avLst/>
          </a:prstGeom>
          <a:noFill/>
        </p:spPr>
        <p:txBody>
          <a:bodyPr wrap="square" rtlCol="0">
            <a:spAutoFit/>
          </a:bodyPr>
          <a:lstStyle/>
          <a:p>
            <a:pPr algn="l">
              <a:spcBef>
                <a:spcPct val="50000"/>
              </a:spcBef>
            </a:pPr>
            <a:r>
              <a:rPr lang="vi-VN" altLang="zh-CN" sz="1000" b="1" dirty="0" smtClean="0">
                <a:latin typeface="Times New Roman" pitchFamily="18" charset="0"/>
                <a:ea typeface="微软雅黑" pitchFamily="34" charset="-122"/>
                <a:cs typeface="Times New Roman" pitchFamily="18" charset="0"/>
              </a:rPr>
              <a:t>Công dụng</a:t>
            </a:r>
            <a:r>
              <a:rPr lang="zh-CN" altLang="en-US" sz="1000" b="1" dirty="0" smtClean="0">
                <a:latin typeface="Times New Roman" pitchFamily="18" charset="0"/>
                <a:ea typeface="微软雅黑" pitchFamily="34" charset="-122"/>
                <a:cs typeface="Times New Roman" pitchFamily="18" charset="0"/>
              </a:rPr>
              <a:t>：</a:t>
            </a:r>
            <a:endParaRPr lang="en-US" altLang="zh-CN" sz="1000" b="1" dirty="0" smtClean="0">
              <a:latin typeface="Times New Roman" pitchFamily="18" charset="0"/>
              <a:ea typeface="微软雅黑" pitchFamily="34" charset="-122"/>
              <a:cs typeface="Times New Roman" pitchFamily="18" charset="0"/>
            </a:endParaRPr>
          </a:p>
          <a:p>
            <a:pPr algn="l">
              <a:spcBef>
                <a:spcPct val="50000"/>
              </a:spcBef>
            </a:pPr>
            <a:r>
              <a:rPr lang="vi-VN" altLang="zh-CN" sz="1000" dirty="0">
                <a:latin typeface="Times New Roman" pitchFamily="18" charset="0"/>
                <a:ea typeface="微软雅黑" pitchFamily="34" charset="-122"/>
                <a:cs typeface="Times New Roman" pitchFamily="18" charset="0"/>
              </a:rPr>
              <a:t>Trang </a:t>
            </a:r>
            <a:r>
              <a:rPr lang="en-US" altLang="zh-CN" sz="1000" dirty="0" smtClean="0">
                <a:latin typeface="Times New Roman" pitchFamily="18" charset="0"/>
                <a:ea typeface="微软雅黑" pitchFamily="34" charset="-122"/>
                <a:cs typeface="Times New Roman" pitchFamily="18" charset="0"/>
              </a:rPr>
              <a:t>NV chấm công</a:t>
            </a:r>
            <a:r>
              <a:rPr lang="vi-VN" altLang="zh-CN" sz="1000" dirty="0" smtClean="0">
                <a:latin typeface="Times New Roman" pitchFamily="18" charset="0"/>
                <a:ea typeface="微软雅黑" pitchFamily="34" charset="-122"/>
                <a:cs typeface="Times New Roman" pitchFamily="18" charset="0"/>
              </a:rPr>
              <a:t> xin </a:t>
            </a:r>
            <a:r>
              <a:rPr lang="en-US" altLang="zh-CN" sz="1000" dirty="0" smtClean="0">
                <a:latin typeface="Times New Roman" pitchFamily="18" charset="0"/>
                <a:ea typeface="微软雅黑" pitchFamily="34" charset="-122"/>
                <a:cs typeface="Times New Roman" pitchFamily="18" charset="0"/>
              </a:rPr>
              <a:t>phép cấp trên xác nhận nghỉ bất thường của NV mình quản lý</a:t>
            </a:r>
            <a:endParaRPr lang="vi-VN" altLang="zh-CN" sz="1000" dirty="0" smtClean="0">
              <a:latin typeface="Times New Roman" pitchFamily="18" charset="0"/>
              <a:ea typeface="微软雅黑" pitchFamily="34" charset="-122"/>
              <a:cs typeface="Times New Roman" pitchFamily="18" charset="0"/>
            </a:endParaRPr>
          </a:p>
          <a:p>
            <a:pPr algn="l">
              <a:spcBef>
                <a:spcPct val="50000"/>
              </a:spcBef>
            </a:pPr>
            <a:r>
              <a:rPr lang="vi-VN" altLang="zh-CN" sz="1000" b="1" dirty="0" smtClean="0">
                <a:latin typeface="Times New Roman" pitchFamily="18" charset="0"/>
                <a:ea typeface="微软雅黑" pitchFamily="34" charset="-122"/>
                <a:cs typeface="Times New Roman" pitchFamily="18" charset="0"/>
              </a:rPr>
              <a:t>Giải thích chi tiết</a:t>
            </a:r>
            <a:r>
              <a:rPr lang="zh-CN" altLang="en-US" sz="1000" dirty="0" smtClean="0">
                <a:latin typeface="Times New Roman" pitchFamily="18" charset="0"/>
                <a:ea typeface="微软雅黑" pitchFamily="34" charset="-122"/>
                <a:cs typeface="Times New Roman" pitchFamily="18" charset="0"/>
              </a:rPr>
              <a:t>：</a:t>
            </a:r>
            <a:endParaRPr lang="en-US" altLang="zh-CN" sz="10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1000" dirty="0">
                <a:latin typeface="Times New Roman" pitchFamily="18" charset="0"/>
                <a:ea typeface="微软雅黑" pitchFamily="34" charset="-122"/>
                <a:cs typeface="Times New Roman" pitchFamily="18" charset="0"/>
              </a:rPr>
              <a:t>Chỉ hiển thị </a:t>
            </a:r>
            <a:r>
              <a:rPr lang="en-US" altLang="zh-CN" sz="1000" dirty="0">
                <a:latin typeface="Times New Roman" pitchFamily="18" charset="0"/>
                <a:ea typeface="微软雅黑" pitchFamily="34" charset="-122"/>
                <a:cs typeface="Times New Roman" pitchFamily="18" charset="0"/>
              </a:rPr>
              <a:t>thông tin NV phòng ban mình phụ trách chấm công</a:t>
            </a: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Hệ thống tự động hiển thị các thông tin nghỉ bất thường của NV như: quên quẹt thẻ, đến muộn, về sớm, nghỉ không phép.</a:t>
            </a: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NV chấm công muốn xin xác nhận các nghỉ bất thường đó, tích chọn NV có lý do chính đáng</a:t>
            </a: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Xuất Excel. </a:t>
            </a: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zh-CN" altLang="en-US" sz="1000" dirty="0">
              <a:latin typeface="Times New Roman" pitchFamily="18" charset="0"/>
              <a:ea typeface="微软雅黑" pitchFamily="34" charset="-122"/>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1571604" y="3429000"/>
            <a:ext cx="4000528" cy="214314"/>
          </a:xfrm>
          <a:prstGeom prst="rect">
            <a:avLst/>
          </a:prstGeom>
          <a:noFill/>
          <a:ln w="9525">
            <a:noFill/>
            <a:miter lim="800000"/>
            <a:headEnd/>
            <a:tailEnd/>
          </a:ln>
          <a:effectLst/>
        </p:spPr>
      </p:pic>
      <p:pic>
        <p:nvPicPr>
          <p:cNvPr id="79" name="Picture 2"/>
          <p:cNvPicPr>
            <a:picLocks noChangeAspect="1" noChangeArrowheads="1"/>
          </p:cNvPicPr>
          <p:nvPr/>
        </p:nvPicPr>
        <p:blipFill>
          <a:blip r:embed="rId2"/>
          <a:srcRect/>
          <a:stretch>
            <a:fillRect/>
          </a:stretch>
        </p:blipFill>
        <p:spPr bwMode="auto">
          <a:xfrm>
            <a:off x="1571605" y="3286124"/>
            <a:ext cx="928694" cy="285752"/>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0" y="1268760"/>
            <a:ext cx="6799768" cy="3808999"/>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3024336"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anose="02020603050405020304" pitchFamily="18" charset="0"/>
                <a:ea typeface="微软雅黑" pitchFamily="34" charset="-122"/>
                <a:cs typeface="Times New Roman" panose="02020603050405020304" pitchFamily="18" charset="0"/>
              </a:rPr>
              <a:t> </a:t>
            </a:r>
            <a:r>
              <a:rPr lang="en-US" altLang="zh-CN" sz="1200" dirty="0" smtClean="0">
                <a:latin typeface="Times New Roman" panose="02020603050405020304" pitchFamily="18" charset="0"/>
                <a:ea typeface="微软雅黑" pitchFamily="34" charset="-122"/>
                <a:cs typeface="Times New Roman" panose="02020603050405020304" pitchFamily="18" charset="0"/>
              </a:rPr>
              <a:t>Chấm công nhân viên - </a:t>
            </a:r>
            <a:r>
              <a:rPr lang="vi-VN" altLang="zh-CN" sz="1200" dirty="0" smtClean="0">
                <a:latin typeface="Times New Roman" panose="02020603050405020304" pitchFamily="18" charset="0"/>
                <a:ea typeface="微软雅黑" pitchFamily="34" charset="-122"/>
                <a:cs typeface="Times New Roman" panose="02020603050405020304" pitchFamily="18" charset="0"/>
              </a:rPr>
              <a:t>Thay đổi </a:t>
            </a:r>
            <a:r>
              <a:rPr lang="en-US" altLang="zh-CN" sz="1200" dirty="0" smtClean="0">
                <a:latin typeface="Times New Roman" panose="02020603050405020304" pitchFamily="18" charset="0"/>
                <a:ea typeface="微软雅黑" pitchFamily="34" charset="-122"/>
                <a:cs typeface="Times New Roman" panose="02020603050405020304" pitchFamily="18" charset="0"/>
              </a:rPr>
              <a:t>ca làm</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71612"/>
            <a:ext cx="2214578" cy="4093428"/>
          </a:xfrm>
          <a:prstGeom prst="rect">
            <a:avLst/>
          </a:prstGeom>
          <a:noFill/>
        </p:spPr>
        <p:txBody>
          <a:bodyPr wrap="square" rtlCol="0">
            <a:spAutoFit/>
          </a:bodyPr>
          <a:lstStyle/>
          <a:p>
            <a:pPr algn="l">
              <a:spcBef>
                <a:spcPct val="50000"/>
              </a:spcBef>
            </a:pPr>
            <a:r>
              <a:rPr lang="vi-VN" altLang="zh-CN" sz="1000" b="1" dirty="0" smtClean="0">
                <a:latin typeface="+mj-lt"/>
                <a:ea typeface="微软雅黑" pitchFamily="34" charset="-122"/>
              </a:rPr>
              <a:t>Công dụng</a:t>
            </a:r>
            <a:r>
              <a:rPr lang="zh-CN" altLang="en-US" sz="1000" b="1" dirty="0" smtClean="0">
                <a:latin typeface="+mj-lt"/>
                <a:ea typeface="微软雅黑" pitchFamily="34" charset="-122"/>
              </a:rPr>
              <a:t>：</a:t>
            </a:r>
            <a:endParaRPr lang="en-US" altLang="zh-CN" sz="1000" b="1" dirty="0" smtClean="0">
              <a:latin typeface="+mj-lt"/>
              <a:ea typeface="微软雅黑" pitchFamily="34" charset="-122"/>
            </a:endParaRPr>
          </a:p>
          <a:p>
            <a:pPr lvl="0" algn="l">
              <a:spcBef>
                <a:spcPct val="50000"/>
              </a:spcBef>
            </a:pPr>
            <a:r>
              <a:rPr lang="en-US" altLang="zh-CN" sz="1000" dirty="0" smtClean="0">
                <a:solidFill>
                  <a:prstClr val="black"/>
                </a:solidFill>
                <a:latin typeface="Times New Roman" pitchFamily="18" charset="0"/>
                <a:ea typeface="微软雅黑" pitchFamily="34" charset="-122"/>
                <a:cs typeface="Times New Roman" pitchFamily="18" charset="0"/>
              </a:rPr>
              <a:t>NV chấm công có thể thay đổi ca làm việc của NV dưới</a:t>
            </a:r>
            <a:endParaRPr lang="en-US" altLang="zh-CN" sz="1000" b="1" dirty="0" smtClean="0">
              <a:latin typeface="+mj-lt"/>
              <a:ea typeface="微软雅黑" pitchFamily="34" charset="-122"/>
            </a:endParaRPr>
          </a:p>
          <a:p>
            <a:pPr algn="l">
              <a:spcBef>
                <a:spcPct val="50000"/>
              </a:spcBef>
            </a:pPr>
            <a:r>
              <a:rPr lang="vi-VN" altLang="zh-CN" sz="1000" b="1" dirty="0" smtClean="0">
                <a:latin typeface="+mj-lt"/>
                <a:ea typeface="微软雅黑" pitchFamily="34" charset="-122"/>
              </a:rPr>
              <a:t>Giải thích chi tiết</a:t>
            </a:r>
            <a:r>
              <a:rPr lang="zh-CN" altLang="en-US" sz="1000" dirty="0" smtClean="0">
                <a:latin typeface="+mj-lt"/>
                <a:ea typeface="微软雅黑" pitchFamily="34" charset="-122"/>
              </a:rPr>
              <a:t>：</a:t>
            </a:r>
            <a:endParaRPr lang="en-US" altLang="zh-CN" sz="1000" dirty="0" smtClean="0">
              <a:latin typeface="+mj-lt"/>
              <a:ea typeface="微软雅黑" pitchFamily="34" charset="-122"/>
            </a:endParaRPr>
          </a:p>
          <a:p>
            <a:pPr marL="228600" indent="-228600" algn="l">
              <a:spcBef>
                <a:spcPct val="50000"/>
              </a:spcBef>
              <a:buFont typeface="+mj-lt"/>
              <a:buAutoNum type="arabicPeriod"/>
            </a:pPr>
            <a:r>
              <a:rPr lang="vi-VN" altLang="zh-CN" sz="1000" dirty="0">
                <a:latin typeface="Times New Roman" pitchFamily="18" charset="0"/>
                <a:ea typeface="微软雅黑" pitchFamily="34" charset="-122"/>
                <a:cs typeface="Times New Roman" pitchFamily="18" charset="0"/>
              </a:rPr>
              <a:t>Chỉ hiển thị </a:t>
            </a:r>
            <a:r>
              <a:rPr lang="en-US" altLang="zh-CN" sz="1000" dirty="0">
                <a:latin typeface="Times New Roman" pitchFamily="18" charset="0"/>
                <a:ea typeface="微软雅黑" pitchFamily="34" charset="-122"/>
                <a:cs typeface="Times New Roman" pitchFamily="18" charset="0"/>
              </a:rPr>
              <a:t>thông tin NV phòng ban mình phụ trách chấm công</a:t>
            </a: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Dựa vào điều kiện tìm kiếm bên trên để tìm ra NV cần thay đổi ca làm việc</a:t>
            </a: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Tích chọn NV nào đó, chọn ca làm mới, ngày thay đổi ca làm, lý do, sau đó “Lưu”. NV vừa thay đổi ca làm có thể đăng nhập trang cá nhân xem ca mới của mình</a:t>
            </a: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Xuất Excel</a:t>
            </a:r>
            <a:r>
              <a:rPr lang="en-US" altLang="zh-CN" sz="1000" dirty="0">
                <a:latin typeface="Times New Roman" pitchFamily="18" charset="0"/>
                <a:ea typeface="微软雅黑" pitchFamily="34" charset="-122"/>
                <a:cs typeface="Times New Roman" pitchFamily="18" charset="0"/>
              </a:rPr>
              <a:t> </a:t>
            </a:r>
            <a:r>
              <a:rPr lang="en-US" altLang="zh-CN" sz="1000" dirty="0" smtClean="0">
                <a:latin typeface="Times New Roman" pitchFamily="18" charset="0"/>
                <a:ea typeface="微软雅黑" pitchFamily="34" charset="-122"/>
                <a:cs typeface="Times New Roman" pitchFamily="18" charset="0"/>
              </a:rPr>
              <a:t>: kết xuất dữ liệu vừa tìm kiếm</a:t>
            </a: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27" name="Picture 3"/>
          <p:cNvPicPr>
            <a:picLocks noChangeAspect="1" noChangeArrowheads="1"/>
          </p:cNvPicPr>
          <p:nvPr/>
        </p:nvPicPr>
        <p:blipFill>
          <a:blip r:embed="rId2"/>
          <a:srcRect/>
          <a:stretch>
            <a:fillRect/>
          </a:stretch>
        </p:blipFill>
        <p:spPr bwMode="auto">
          <a:xfrm>
            <a:off x="6215074" y="2857497"/>
            <a:ext cx="357190" cy="142875"/>
          </a:xfrm>
          <a:prstGeom prst="rect">
            <a:avLst/>
          </a:prstGeom>
          <a:noFill/>
          <a:ln w="9525">
            <a:noFill/>
            <a:miter lim="800000"/>
            <a:headEnd/>
            <a:tailEnd/>
          </a:ln>
          <a:effectLst/>
        </p:spPr>
      </p:pic>
      <p:pic>
        <p:nvPicPr>
          <p:cNvPr id="2" name="Picture 1"/>
          <p:cNvPicPr>
            <a:picLocks noChangeAspect="1"/>
          </p:cNvPicPr>
          <p:nvPr/>
        </p:nvPicPr>
        <p:blipFill>
          <a:blip r:embed="rId3"/>
          <a:stretch>
            <a:fillRect/>
          </a:stretch>
        </p:blipFill>
        <p:spPr>
          <a:xfrm>
            <a:off x="-6041" y="1268760"/>
            <a:ext cx="6792619" cy="380499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3096344"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nhân viên – Tra cứu tăng ca</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3400931"/>
          </a:xfrm>
          <a:prstGeom prst="rect">
            <a:avLst/>
          </a:prstGeom>
          <a:noFill/>
        </p:spPr>
        <p:txBody>
          <a:bodyPr wrap="square" rtlCol="0">
            <a:spAutoFit/>
          </a:bodyPr>
          <a:lstStyle/>
          <a:p>
            <a:pPr algn="l">
              <a:spcBef>
                <a:spcPct val="50000"/>
              </a:spcBef>
            </a:pPr>
            <a:r>
              <a:rPr lang="vi-VN" altLang="zh-CN" sz="1000" b="1" dirty="0" smtClean="0">
                <a:latin typeface="+mj-lt"/>
                <a:ea typeface="微软雅黑" pitchFamily="34" charset="-122"/>
              </a:rPr>
              <a:t>Công dụng</a:t>
            </a:r>
            <a:r>
              <a:rPr lang="zh-CN" altLang="en-US" sz="1000" b="1" dirty="0" smtClean="0">
                <a:latin typeface="+mj-lt"/>
                <a:ea typeface="微软雅黑" pitchFamily="34" charset="-122"/>
              </a:rPr>
              <a:t>：</a:t>
            </a:r>
            <a:endParaRPr lang="en-US" altLang="zh-CN" sz="1000" b="1" dirty="0" smtClean="0">
              <a:latin typeface="+mj-lt"/>
              <a:ea typeface="微软雅黑" pitchFamily="34" charset="-122"/>
            </a:endParaRPr>
          </a:p>
          <a:p>
            <a:pPr algn="l">
              <a:spcBef>
                <a:spcPct val="50000"/>
              </a:spcBef>
            </a:pPr>
            <a:r>
              <a:rPr lang="vi-VN" altLang="zh-CN" sz="1000" dirty="0">
                <a:latin typeface="+mj-lt"/>
                <a:ea typeface="微软雅黑" pitchFamily="34" charset="-122"/>
              </a:rPr>
              <a:t>Tra cứu </a:t>
            </a:r>
            <a:r>
              <a:rPr lang="en-US" altLang="zh-CN" sz="1000" dirty="0" smtClean="0">
                <a:latin typeface="+mj-lt"/>
                <a:ea typeface="微软雅黑" pitchFamily="34" charset="-122"/>
              </a:rPr>
              <a:t>thông tin xin tăng ca của NV dưới</a:t>
            </a:r>
            <a:endParaRPr lang="en-US" altLang="zh-CN" sz="1000" dirty="0">
              <a:latin typeface="+mj-lt"/>
              <a:ea typeface="微软雅黑" pitchFamily="34" charset="-122"/>
            </a:endParaRPr>
          </a:p>
          <a:p>
            <a:pPr algn="l">
              <a:spcBef>
                <a:spcPct val="50000"/>
              </a:spcBef>
            </a:pPr>
            <a:r>
              <a:rPr lang="vi-VN" altLang="zh-CN" sz="1000" b="1" dirty="0" smtClean="0">
                <a:latin typeface="+mj-lt"/>
                <a:ea typeface="微软雅黑" pitchFamily="34" charset="-122"/>
              </a:rPr>
              <a:t>Giải thích chi tiết</a:t>
            </a:r>
            <a:r>
              <a:rPr lang="zh-CN" altLang="en-US" sz="1000" dirty="0" smtClean="0">
                <a:latin typeface="+mj-lt"/>
                <a:ea typeface="微软雅黑" pitchFamily="34" charset="-122"/>
              </a:rPr>
              <a:t>：</a:t>
            </a:r>
            <a:endParaRPr lang="en-US" altLang="zh-CN" sz="1000" dirty="0" smtClean="0">
              <a:latin typeface="+mj-lt"/>
              <a:ea typeface="微软雅黑" pitchFamily="34" charset="-122"/>
            </a:endParaRPr>
          </a:p>
          <a:p>
            <a:pPr marL="228600" indent="-228600" algn="l">
              <a:spcBef>
                <a:spcPct val="50000"/>
              </a:spcBef>
              <a:buFont typeface="+mj-lt"/>
              <a:buAutoNum type="arabicPeriod"/>
            </a:pPr>
            <a:r>
              <a:rPr lang="vi-VN" altLang="zh-CN" sz="1000" dirty="0">
                <a:latin typeface="Times New Roman" pitchFamily="18" charset="0"/>
                <a:ea typeface="微软雅黑" pitchFamily="34" charset="-122"/>
                <a:cs typeface="Times New Roman" pitchFamily="18" charset="0"/>
              </a:rPr>
              <a:t>Chỉ hiển thị </a:t>
            </a:r>
            <a:r>
              <a:rPr lang="en-US" altLang="zh-CN" sz="1000" dirty="0">
                <a:latin typeface="Times New Roman" pitchFamily="18" charset="0"/>
                <a:ea typeface="微软雅黑" pitchFamily="34" charset="-122"/>
                <a:cs typeface="Times New Roman" pitchFamily="18" charset="0"/>
              </a:rPr>
              <a:t>thông tin NV phòng ban mình phụ trách chấm công</a:t>
            </a: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Dựa vào điều kiện tìm kiếm bên trên, chọn “Tra cứu” tìm ra tất cả thông tin xin tăng ca của Nv cũng như trạng thái phê duyệt</a:t>
            </a:r>
            <a:r>
              <a:rPr lang="en-US" altLang="zh-CN" sz="1000" dirty="0">
                <a:latin typeface="Times New Roman" panose="02020603050405020304" pitchFamily="18" charset="0"/>
                <a:ea typeface="微软雅黑" pitchFamily="34" charset="-122"/>
                <a:cs typeface="Times New Roman" panose="02020603050405020304" pitchFamily="18" charset="0"/>
              </a:rPr>
              <a:t>.</a:t>
            </a:r>
            <a:endParaRPr lang="en-US" altLang="zh-CN" sz="10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Xuất Excel: kết xuất thông tin vừa tìm được bên dưới</a:t>
            </a: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3" name="Picture 2"/>
          <p:cNvPicPr>
            <a:picLocks noChangeAspect="1"/>
          </p:cNvPicPr>
          <p:nvPr/>
        </p:nvPicPr>
        <p:blipFill>
          <a:blip r:embed="rId2"/>
          <a:stretch>
            <a:fillRect/>
          </a:stretch>
        </p:blipFill>
        <p:spPr>
          <a:xfrm>
            <a:off x="-16266" y="1315319"/>
            <a:ext cx="6802844" cy="376986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75656" y="116632"/>
            <a:ext cx="3024336"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200" dirty="0" smtClean="0">
                <a:latin typeface="Times New Roman" pitchFamily="18" charset="0"/>
                <a:ea typeface="微软雅黑" pitchFamily="34" charset="-122"/>
                <a:cs typeface="Times New Roman" pitchFamily="18" charset="0"/>
              </a:rPr>
              <a:t> </a:t>
            </a:r>
            <a:r>
              <a:rPr lang="en-US" altLang="zh-CN" sz="1200" dirty="0" smtClean="0">
                <a:latin typeface="Times New Roman" pitchFamily="18" charset="0"/>
                <a:ea typeface="微软雅黑" pitchFamily="34" charset="-122"/>
                <a:cs typeface="Times New Roman" pitchFamily="18" charset="0"/>
              </a:rPr>
              <a:t>Chấm công nhân viên – Tra cứu chấm công</a:t>
            </a:r>
            <a:endParaRPr lang="zh-CN" altLang="en-US" sz="12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3554819"/>
          </a:xfrm>
          <a:prstGeom prst="rect">
            <a:avLst/>
          </a:prstGeom>
          <a:noFill/>
        </p:spPr>
        <p:txBody>
          <a:bodyPr wrap="square" rtlCol="0">
            <a:spAutoFit/>
          </a:bodyPr>
          <a:lstStyle/>
          <a:p>
            <a:pPr algn="l">
              <a:spcBef>
                <a:spcPct val="50000"/>
              </a:spcBef>
            </a:pPr>
            <a:r>
              <a:rPr lang="vi-VN" altLang="zh-CN" sz="1000" b="1" dirty="0" smtClean="0">
                <a:latin typeface="+mj-lt"/>
                <a:ea typeface="微软雅黑" pitchFamily="34" charset="-122"/>
              </a:rPr>
              <a:t>Công dụng</a:t>
            </a:r>
            <a:r>
              <a:rPr lang="zh-CN" altLang="en-US" sz="1000" b="1" dirty="0" smtClean="0">
                <a:latin typeface="+mj-lt"/>
                <a:ea typeface="微软雅黑" pitchFamily="34" charset="-122"/>
              </a:rPr>
              <a:t>：</a:t>
            </a:r>
            <a:endParaRPr lang="en-US" altLang="zh-CN" sz="1000" b="1" dirty="0" smtClean="0">
              <a:latin typeface="+mj-lt"/>
              <a:ea typeface="微软雅黑" pitchFamily="34" charset="-122"/>
            </a:endParaRPr>
          </a:p>
          <a:p>
            <a:pPr algn="l">
              <a:spcBef>
                <a:spcPct val="50000"/>
              </a:spcBef>
            </a:pPr>
            <a:r>
              <a:rPr lang="en-US" altLang="zh-CN" sz="1000" dirty="0" smtClean="0">
                <a:latin typeface="Times New Roman" panose="02020603050405020304" pitchFamily="18" charset="0"/>
                <a:ea typeface="Tahoma" panose="020B0604030504040204" pitchFamily="34" charset="0"/>
                <a:cs typeface="Times New Roman" panose="02020603050405020304" pitchFamily="18" charset="0"/>
              </a:rPr>
              <a:t>Tra cứu thông tin nghỉ của NV dưới, thông tin xin nghỉ bất thường đã được nhân sự xác nhận</a:t>
            </a:r>
            <a:endParaRPr lang="en-US" altLang="zh-CN" sz="1000" dirty="0">
              <a:latin typeface="Times New Roman" panose="02020603050405020304" pitchFamily="18" charset="0"/>
              <a:ea typeface="Tahoma" panose="020B0604030504040204" pitchFamily="34" charset="0"/>
              <a:cs typeface="Times New Roman" panose="02020603050405020304" pitchFamily="18" charset="0"/>
            </a:endParaRPr>
          </a:p>
          <a:p>
            <a:pPr algn="l">
              <a:spcBef>
                <a:spcPct val="50000"/>
              </a:spcBef>
            </a:pPr>
            <a:r>
              <a:rPr lang="vi-VN" altLang="zh-CN" sz="1000" b="1" dirty="0" smtClean="0">
                <a:latin typeface="+mj-lt"/>
                <a:ea typeface="微软雅黑" pitchFamily="34" charset="-122"/>
              </a:rPr>
              <a:t>Giải thích chi tiết</a:t>
            </a:r>
            <a:r>
              <a:rPr lang="zh-CN" altLang="en-US" sz="1000" dirty="0" smtClean="0">
                <a:latin typeface="+mj-lt"/>
                <a:ea typeface="微软雅黑" pitchFamily="34" charset="-122"/>
              </a:rPr>
              <a:t>：</a:t>
            </a:r>
            <a:endParaRPr lang="en-US" altLang="zh-CN" sz="1000" dirty="0" smtClean="0">
              <a:latin typeface="+mj-lt"/>
              <a:ea typeface="微软雅黑" pitchFamily="34" charset="-122"/>
            </a:endParaRPr>
          </a:p>
          <a:p>
            <a:pPr marL="228600" indent="-228600" algn="l">
              <a:spcBef>
                <a:spcPct val="50000"/>
              </a:spcBef>
              <a:buFont typeface="+mj-lt"/>
              <a:buAutoNum type="arabicPeriod"/>
            </a:pPr>
            <a:r>
              <a:rPr lang="vi-VN" altLang="zh-CN" sz="1000" dirty="0">
                <a:latin typeface="Times New Roman" pitchFamily="18" charset="0"/>
                <a:ea typeface="微软雅黑" pitchFamily="34" charset="-122"/>
                <a:cs typeface="Times New Roman" pitchFamily="18" charset="0"/>
              </a:rPr>
              <a:t>Chỉ hiển thị </a:t>
            </a:r>
            <a:r>
              <a:rPr lang="en-US" altLang="zh-CN" sz="1000" dirty="0">
                <a:latin typeface="Times New Roman" pitchFamily="18" charset="0"/>
                <a:ea typeface="微软雅黑" pitchFamily="34" charset="-122"/>
                <a:cs typeface="Times New Roman" pitchFamily="18" charset="0"/>
              </a:rPr>
              <a:t>thông tin NV phòng ban mình phụ trách chấm công</a:t>
            </a:r>
          </a:p>
          <a:p>
            <a:pPr marL="228600" indent="-228600" algn="l">
              <a:spcBef>
                <a:spcPct val="50000"/>
              </a:spcBef>
              <a:buFont typeface="+mj-lt"/>
              <a:buAutoNum type="arabicPeriod"/>
            </a:pPr>
            <a:r>
              <a:rPr lang="en-US" altLang="zh-CN" sz="1000" dirty="0">
                <a:latin typeface="Times New Roman" pitchFamily="18" charset="0"/>
                <a:ea typeface="微软雅黑" pitchFamily="34" charset="-122"/>
                <a:cs typeface="Times New Roman" pitchFamily="18" charset="0"/>
              </a:rPr>
              <a:t>Dựa vào điều kiện tìm kiếm bên trên, chọn “Tra cứu” tìm ra tất cả thông tin </a:t>
            </a:r>
            <a:r>
              <a:rPr lang="en-US" altLang="zh-CN" sz="1000" dirty="0" smtClean="0">
                <a:latin typeface="Times New Roman" pitchFamily="18" charset="0"/>
                <a:ea typeface="微软雅黑" pitchFamily="34" charset="-122"/>
                <a:cs typeface="Times New Roman" pitchFamily="18" charset="0"/>
              </a:rPr>
              <a:t>nghỉ và nghỉ bất thường đã được nhân sự xác nhận</a:t>
            </a:r>
            <a:endParaRPr lang="en-US" altLang="zh-CN" sz="1000" dirty="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en-US" altLang="zh-CN" sz="1000" dirty="0" smtClean="0">
                <a:latin typeface="Times New Roman" pitchFamily="18" charset="0"/>
                <a:ea typeface="微软雅黑" pitchFamily="34" charset="-122"/>
                <a:cs typeface="Times New Roman" pitchFamily="18" charset="0"/>
              </a:rPr>
              <a:t>Xuất Excel : kết xuất thông tin vừa tìm được bên dưới</a:t>
            </a: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34900" y="1347591"/>
            <a:ext cx="6751678" cy="378206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3024336" cy="261610"/>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lgn="l" eaLnBrk="0" hangingPunct="0"/>
            <a:r>
              <a:rPr lang="zh-CN" altLang="en-US" sz="1100" dirty="0" smtClean="0">
                <a:latin typeface="Times New Roman" pitchFamily="18" charset="0"/>
                <a:ea typeface="微软雅黑" pitchFamily="34" charset="-122"/>
                <a:cs typeface="Times New Roman" pitchFamily="18" charset="0"/>
              </a:rPr>
              <a:t> </a:t>
            </a:r>
            <a:r>
              <a:rPr lang="en-US" altLang="zh-CN" sz="1100" dirty="0" smtClean="0">
                <a:latin typeface="Times New Roman" pitchFamily="18" charset="0"/>
                <a:ea typeface="微软雅黑" pitchFamily="34" charset="-122"/>
                <a:cs typeface="Times New Roman" pitchFamily="18" charset="0"/>
              </a:rPr>
              <a:t>Chấm công nhân viên – Tình hình nghỉ phép</a:t>
            </a:r>
            <a:endParaRPr lang="zh-CN" altLang="en-US" sz="11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3554819"/>
          </a:xfrm>
          <a:prstGeom prst="rect">
            <a:avLst/>
          </a:prstGeom>
          <a:noFill/>
        </p:spPr>
        <p:txBody>
          <a:bodyPr wrap="square" rtlCol="0">
            <a:spAutoFit/>
          </a:bodyPr>
          <a:lstStyle/>
          <a:p>
            <a:pPr algn="l">
              <a:spcBef>
                <a:spcPct val="50000"/>
              </a:spcBef>
            </a:pPr>
            <a:r>
              <a:rPr lang="vi-VN" altLang="zh-CN" sz="1000" b="1" dirty="0" smtClean="0">
                <a:latin typeface="+mj-lt"/>
                <a:ea typeface="微软雅黑" pitchFamily="34" charset="-122"/>
              </a:rPr>
              <a:t>Công dụng</a:t>
            </a:r>
            <a:r>
              <a:rPr lang="zh-CN" altLang="en-US" sz="1000" b="1" dirty="0" smtClean="0">
                <a:latin typeface="+mj-lt"/>
                <a:ea typeface="微软雅黑" pitchFamily="34" charset="-122"/>
              </a:rPr>
              <a:t>：</a:t>
            </a:r>
            <a:endParaRPr lang="en-US" altLang="zh-CN" sz="1000" b="1" dirty="0" smtClean="0">
              <a:latin typeface="+mj-lt"/>
              <a:ea typeface="微软雅黑" pitchFamily="34" charset="-122"/>
            </a:endParaRPr>
          </a:p>
          <a:p>
            <a:pPr algn="l">
              <a:spcBef>
                <a:spcPct val="50000"/>
              </a:spcBef>
            </a:pPr>
            <a:r>
              <a:rPr lang="vi-VN" altLang="zh-CN" sz="1000" dirty="0">
                <a:latin typeface="+mj-lt"/>
                <a:ea typeface="微软雅黑" pitchFamily="34" charset="-122"/>
              </a:rPr>
              <a:t>Tra cứu tình </a:t>
            </a:r>
            <a:r>
              <a:rPr lang="vi-VN" altLang="zh-CN" sz="1000" dirty="0" smtClean="0">
                <a:latin typeface="+mj-lt"/>
                <a:ea typeface="微软雅黑" pitchFamily="34" charset="-122"/>
              </a:rPr>
              <a:t>hình </a:t>
            </a:r>
            <a:r>
              <a:rPr lang="en-US" altLang="zh-CN" sz="1000" dirty="0" smtClean="0">
                <a:latin typeface="Times New Roman" panose="02020603050405020304" pitchFamily="18" charset="0"/>
                <a:ea typeface="微软雅黑" pitchFamily="34" charset="-122"/>
                <a:cs typeface="Times New Roman" panose="02020603050405020304" pitchFamily="18" charset="0"/>
              </a:rPr>
              <a:t>nghỉ của NV dưới</a:t>
            </a:r>
            <a:endParaRPr lang="en-US" altLang="zh-CN" sz="1000" dirty="0">
              <a:latin typeface="Times New Roman" panose="02020603050405020304" pitchFamily="18" charset="0"/>
              <a:ea typeface="微软雅黑" pitchFamily="34" charset="-122"/>
              <a:cs typeface="Times New Roman" panose="02020603050405020304" pitchFamily="18" charset="0"/>
            </a:endParaRPr>
          </a:p>
          <a:p>
            <a:pPr algn="l">
              <a:spcBef>
                <a:spcPct val="50000"/>
              </a:spcBef>
            </a:pPr>
            <a:r>
              <a:rPr lang="vi-VN" altLang="zh-CN" sz="1000" b="1" dirty="0" smtClean="0">
                <a:latin typeface="+mj-lt"/>
                <a:ea typeface="微软雅黑" pitchFamily="34" charset="-122"/>
              </a:rPr>
              <a:t>Giải thích chi tiết</a:t>
            </a:r>
            <a:r>
              <a:rPr lang="zh-CN" altLang="en-US" sz="1000" dirty="0" smtClean="0">
                <a:latin typeface="+mj-lt"/>
                <a:ea typeface="微软雅黑" pitchFamily="34" charset="-122"/>
              </a:rPr>
              <a:t>：</a:t>
            </a:r>
            <a:endParaRPr lang="en-US" altLang="zh-CN" sz="1000" dirty="0" smtClean="0">
              <a:latin typeface="+mj-lt"/>
              <a:ea typeface="微软雅黑" pitchFamily="34" charset="-122"/>
            </a:endParaRPr>
          </a:p>
          <a:p>
            <a:pPr marL="228600" indent="-228600" algn="l">
              <a:spcBef>
                <a:spcPct val="50000"/>
              </a:spcBef>
              <a:buFont typeface="+mj-lt"/>
              <a:buAutoNum type="arabicPeriod"/>
            </a:pPr>
            <a:r>
              <a:rPr lang="vi-VN" altLang="zh-CN" sz="1000" dirty="0">
                <a:latin typeface="Times New Roman" pitchFamily="18" charset="0"/>
                <a:ea typeface="微软雅黑" pitchFamily="34" charset="-122"/>
                <a:cs typeface="Times New Roman" pitchFamily="18" charset="0"/>
              </a:rPr>
              <a:t>Chỉ hiển thị </a:t>
            </a:r>
            <a:r>
              <a:rPr lang="en-US" altLang="zh-CN" sz="1000" dirty="0">
                <a:latin typeface="Times New Roman" pitchFamily="18" charset="0"/>
                <a:ea typeface="微软雅黑" pitchFamily="34" charset="-122"/>
                <a:cs typeface="Times New Roman" pitchFamily="18" charset="0"/>
              </a:rPr>
              <a:t>thông tin NV phòng ban mình phụ trách chấm công</a:t>
            </a: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Dựa vào điều kiện tìm kiếm, chọn “Tra cứu” hệ thống hiển thị dữ liệu tương ứng</a:t>
            </a:r>
          </a:p>
          <a:p>
            <a:pPr marL="228600" indent="-228600" algn="l">
              <a:spcBef>
                <a:spcPct val="50000"/>
              </a:spcBef>
              <a:buFont typeface="+mj-lt"/>
              <a:buAutoNum type="arabicPeriod"/>
            </a:pPr>
            <a:r>
              <a:rPr lang="en-US" altLang="zh-CN" sz="1000" dirty="0" smtClean="0">
                <a:latin typeface="Times New Roman" panose="02020603050405020304" pitchFamily="18" charset="0"/>
                <a:ea typeface="微软雅黑" pitchFamily="34" charset="-122"/>
                <a:cs typeface="Times New Roman" panose="02020603050405020304" pitchFamily="18" charset="0"/>
              </a:rPr>
              <a:t>Xuất Excel. </a:t>
            </a:r>
          </a:p>
          <a:p>
            <a:pPr marL="228600" indent="-228600" algn="l">
              <a:buFont typeface="+mj-lt"/>
              <a:buAutoNum type="arabicPeriod"/>
            </a:pPr>
            <a:r>
              <a:rPr lang="vi-VN" altLang="zh-CN" sz="1000" dirty="0" smtClean="0">
                <a:latin typeface="+mj-lt"/>
                <a:ea typeface="微软雅黑" pitchFamily="34" charset="-122"/>
              </a:rPr>
              <a:t>Các số </a:t>
            </a:r>
            <a:r>
              <a:rPr lang="en-US" altLang="zh-CN" sz="1000" dirty="0" smtClean="0">
                <a:latin typeface="+mj-lt"/>
                <a:ea typeface="微软雅黑" pitchFamily="34" charset="-122"/>
              </a:rPr>
              <a:t>màu xanh </a:t>
            </a:r>
            <a:r>
              <a:rPr lang="vi-VN" altLang="zh-CN" sz="1000" dirty="0" smtClean="0">
                <a:latin typeface="+mj-lt"/>
                <a:ea typeface="微软雅黑" pitchFamily="34" charset="-122"/>
              </a:rPr>
              <a:t>là số lần xin phép, có thể Click vào các số đó</a:t>
            </a:r>
            <a:r>
              <a:rPr lang="en-US" altLang="zh-CN" sz="1000" dirty="0" smtClean="0">
                <a:latin typeface="+mj-lt"/>
                <a:ea typeface="微软雅黑" pitchFamily="34" charset="-122"/>
              </a:rPr>
              <a:t> </a:t>
            </a:r>
            <a:r>
              <a:rPr lang="en-US" altLang="zh-CN" sz="1000" dirty="0" smtClean="0">
                <a:latin typeface="Times New Roman" panose="02020603050405020304" pitchFamily="18" charset="0"/>
                <a:ea typeface="微软雅黑" pitchFamily="34" charset="-122"/>
                <a:cs typeface="Times New Roman" panose="02020603050405020304" pitchFamily="18" charset="0"/>
              </a:rPr>
              <a:t>để xem NV xin phép</a:t>
            </a:r>
          </a:p>
          <a:p>
            <a:pPr marL="228600" indent="-228600" algn="l"/>
            <a:r>
              <a:rPr lang="en-US" altLang="zh-CN" sz="1000" dirty="0" smtClean="0">
                <a:latin typeface="+mj-lt"/>
                <a:ea typeface="微软雅黑" pitchFamily="34" charset="-122"/>
              </a:rPr>
              <a:t>		</a:t>
            </a: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6041" y="1340768"/>
            <a:ext cx="6792619" cy="3804994"/>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3096344" cy="261610"/>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zh-CN" altLang="en-US" sz="1100" dirty="0" smtClean="0">
                <a:latin typeface="Times New Roman" pitchFamily="18" charset="0"/>
                <a:ea typeface="微软雅黑" pitchFamily="34" charset="-122"/>
                <a:cs typeface="Times New Roman" pitchFamily="18" charset="0"/>
              </a:rPr>
              <a:t> </a:t>
            </a:r>
            <a:r>
              <a:rPr lang="en-US" altLang="zh-CN" sz="1100" dirty="0" smtClean="0">
                <a:latin typeface="Times New Roman" pitchFamily="18" charset="0"/>
                <a:ea typeface="微软雅黑" pitchFamily="34" charset="-122"/>
                <a:cs typeface="Times New Roman" pitchFamily="18" charset="0"/>
              </a:rPr>
              <a:t>Chấm công nhân viên – Tình hình tăng ca</a:t>
            </a:r>
            <a:endParaRPr lang="zh-CN" altLang="en-US" sz="1100" dirty="0" smtClean="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4216539"/>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vi-VN" altLang="zh-CN" sz="1100" dirty="0">
                <a:latin typeface="+mj-lt"/>
                <a:ea typeface="微软雅黑" pitchFamily="34" charset="-122"/>
              </a:rPr>
              <a:t>Tra cứu </a:t>
            </a:r>
            <a:r>
              <a:rPr lang="vi-VN" altLang="zh-CN" sz="1100" dirty="0" smtClean="0">
                <a:latin typeface="+mj-lt"/>
                <a:ea typeface="微软雅黑" pitchFamily="34" charset="-122"/>
              </a:rPr>
              <a:t>tình trạng tăng ca </a:t>
            </a:r>
            <a:r>
              <a:rPr lang="vi-VN" altLang="zh-CN" sz="1100" dirty="0">
                <a:latin typeface="+mj-lt"/>
                <a:ea typeface="微软雅黑" pitchFamily="34" charset="-122"/>
              </a:rPr>
              <a:t>của nhân </a:t>
            </a:r>
            <a:r>
              <a:rPr lang="vi-VN" altLang="zh-CN" sz="1100" dirty="0" smtClean="0">
                <a:latin typeface="+mj-lt"/>
                <a:ea typeface="微软雅黑" pitchFamily="34" charset="-122"/>
              </a:rPr>
              <a:t>viên</a:t>
            </a:r>
            <a:r>
              <a:rPr lang="en-US" altLang="zh-CN" sz="1100" dirty="0" smtClean="0">
                <a:latin typeface="+mj-lt"/>
                <a:ea typeface="微软雅黑" pitchFamily="34" charset="-122"/>
              </a:rPr>
              <a:t> dưới</a:t>
            </a:r>
            <a:endParaRPr lang="en-US" altLang="zh-CN" sz="1100" dirty="0">
              <a:latin typeface="+mj-lt"/>
              <a:ea typeface="微软雅黑" pitchFamily="34" charset="-122"/>
            </a:endParaRP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vi-VN" altLang="zh-CN" sz="1100" dirty="0">
                <a:latin typeface="Times New Roman" pitchFamily="18" charset="0"/>
                <a:ea typeface="微软雅黑" pitchFamily="34" charset="-122"/>
                <a:cs typeface="Times New Roman" pitchFamily="18" charset="0"/>
              </a:rPr>
              <a:t>Chỉ hiển thị </a:t>
            </a:r>
            <a:r>
              <a:rPr lang="en-US" altLang="zh-CN" sz="1100" dirty="0">
                <a:latin typeface="Times New Roman" pitchFamily="18" charset="0"/>
                <a:ea typeface="微软雅黑" pitchFamily="34" charset="-122"/>
                <a:cs typeface="Times New Roman" pitchFamily="18" charset="0"/>
              </a:rPr>
              <a:t>thông tin NV phòng ban mình phụ trách chấm công</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Dựa vào điều kiện tìm kiếm bên trên, chọn “Tra cứu” hệ thống hiển thị dữ liệu tương ứng</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Xuất Excel: kết xuất thông tin hiển thị bên dưới</a:t>
            </a:r>
          </a:p>
          <a:p>
            <a:pPr marL="228600" indent="-228600" algn="l">
              <a:spcBef>
                <a:spcPct val="50000"/>
              </a:spcBef>
              <a:buFont typeface="+mj-lt"/>
              <a:buAutoNum type="arabicPeriod"/>
            </a:pPr>
            <a:r>
              <a:rPr lang="vi-VN" altLang="zh-CN" sz="1100" dirty="0" smtClean="0">
                <a:latin typeface="+mj-lt"/>
                <a:ea typeface="微软雅黑" pitchFamily="34" charset="-122"/>
              </a:rPr>
              <a:t>Các trường hiển thị số có thể Click vào, sau khi Click vào sẽ hiện ra thông tin tăng ca chi tiết.</a:t>
            </a:r>
            <a:endParaRPr lang="en-US" altLang="zh-CN" sz="1100" dirty="0" smtClean="0">
              <a:latin typeface="+mj-lt"/>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6041" y="1484784"/>
            <a:ext cx="6792619" cy="3804994"/>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331236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Chấm công nhân viên-Tra cứu nghỉ không phép</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71612"/>
            <a:ext cx="2214578" cy="3793346"/>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vi-VN" altLang="zh-CN" sz="1100" dirty="0">
                <a:latin typeface="+mj-lt"/>
                <a:ea typeface="微软雅黑" pitchFamily="34" charset="-122"/>
              </a:rPr>
              <a:t>Tra cứu </a:t>
            </a:r>
            <a:r>
              <a:rPr lang="vi-VN" altLang="zh-CN" sz="1100" dirty="0" smtClean="0">
                <a:latin typeface="+mj-lt"/>
                <a:ea typeface="微软雅黑" pitchFamily="34" charset="-122"/>
              </a:rPr>
              <a:t>nghỉ không phép của </a:t>
            </a:r>
            <a:r>
              <a:rPr lang="vi-VN" altLang="zh-CN" sz="1100" dirty="0">
                <a:latin typeface="+mj-lt"/>
                <a:ea typeface="微软雅黑" pitchFamily="34" charset="-122"/>
              </a:rPr>
              <a:t>nhân viên thuộc phòng ban mà người dùng quản lý.</a:t>
            </a:r>
            <a:endParaRPr lang="en-US" altLang="zh-CN" sz="1100" dirty="0">
              <a:latin typeface="+mj-lt"/>
              <a:ea typeface="微软雅黑" pitchFamily="34" charset="-122"/>
            </a:endParaRP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vi-VN" altLang="zh-CN" sz="1100" dirty="0" smtClean="0">
                <a:latin typeface="+mj-lt"/>
                <a:ea typeface="微软雅黑" pitchFamily="34" charset="-122"/>
              </a:rPr>
              <a:t>Chỉ hiển thị phòng ban mà người dùng đó có quyền hạn quản lý</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Nhập điều kiện tìm kiếm, sau đó “Tra cứu”, hệ thống hiển thị các nhân viên cần tìm</a:t>
            </a: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Xuất Excel</a:t>
            </a:r>
            <a:r>
              <a:rPr lang="en-US" altLang="zh-CN" sz="1100" dirty="0">
                <a:latin typeface="Times New Roman" pitchFamily="18" charset="0"/>
                <a:ea typeface="微软雅黑" pitchFamily="34" charset="-122"/>
                <a:cs typeface="Times New Roman" pitchFamily="18" charset="0"/>
              </a:rPr>
              <a:t> </a:t>
            </a:r>
            <a:r>
              <a:rPr lang="en-US" altLang="zh-CN" sz="1100" dirty="0" smtClean="0">
                <a:latin typeface="Times New Roman" pitchFamily="18" charset="0"/>
                <a:ea typeface="微软雅黑" pitchFamily="34" charset="-122"/>
                <a:cs typeface="Times New Roman" pitchFamily="18" charset="0"/>
              </a:rPr>
              <a:t>: kết xuất dữ liệu vừa tìm kiếm</a:t>
            </a: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0" y="1484784"/>
            <a:ext cx="6786278" cy="3807199"/>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116632"/>
            <a:ext cx="3024336"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Chấm công nhân viên-Tra cứu ca làm việc</a:t>
            </a:r>
            <a:endParaRPr lang="zh-CN" altLang="en-US" sz="1200" dirty="0" smtClean="0">
              <a:latin typeface="Times New Roman" panose="02020603050405020304" pitchFamily="18" charset="0"/>
              <a:ea typeface="微软雅黑" pitchFamily="34" charset="-122"/>
              <a:cs typeface="Times New Roman" panose="02020603050405020304" pitchFamily="18" charset="0"/>
            </a:endParaRPr>
          </a:p>
        </p:txBody>
      </p:sp>
      <p:sp>
        <p:nvSpPr>
          <p:cNvPr id="11" name="TextBox 10"/>
          <p:cNvSpPr txBox="1"/>
          <p:nvPr/>
        </p:nvSpPr>
        <p:spPr>
          <a:xfrm>
            <a:off x="6786578" y="1556792"/>
            <a:ext cx="2214578" cy="2777683"/>
          </a:xfrm>
          <a:prstGeom prst="rect">
            <a:avLst/>
          </a:prstGeom>
          <a:noFill/>
        </p:spPr>
        <p:txBody>
          <a:bodyPr wrap="square" rtlCol="0">
            <a:spAutoFit/>
          </a:bodyPr>
          <a:lstStyle/>
          <a:p>
            <a:pPr algn="l">
              <a:spcBef>
                <a:spcPct val="50000"/>
              </a:spcBef>
            </a:pPr>
            <a:r>
              <a:rPr lang="vi-VN" altLang="zh-CN" sz="1100" b="1" dirty="0" smtClean="0">
                <a:latin typeface="+mj-lt"/>
                <a:ea typeface="微软雅黑" pitchFamily="34" charset="-122"/>
              </a:rPr>
              <a:t>Công dụng</a:t>
            </a:r>
            <a:r>
              <a:rPr lang="zh-CN" altLang="en-US" sz="1100" b="1" dirty="0" smtClean="0">
                <a:latin typeface="+mj-lt"/>
                <a:ea typeface="微软雅黑" pitchFamily="34" charset="-122"/>
              </a:rPr>
              <a:t>：</a:t>
            </a:r>
            <a:endParaRPr lang="en-US" altLang="zh-CN" sz="1100" b="1" dirty="0" smtClean="0">
              <a:latin typeface="+mj-lt"/>
              <a:ea typeface="微软雅黑" pitchFamily="34" charset="-122"/>
            </a:endParaRPr>
          </a:p>
          <a:p>
            <a:pPr algn="l">
              <a:spcBef>
                <a:spcPct val="50000"/>
              </a:spcBef>
            </a:pPr>
            <a:r>
              <a:rPr lang="en-US" altLang="zh-CN" sz="1100" dirty="0" smtClean="0">
                <a:latin typeface="Times New Roman" panose="02020603050405020304" pitchFamily="18" charset="0"/>
                <a:ea typeface="微软雅黑" pitchFamily="34" charset="-122"/>
                <a:cs typeface="Times New Roman" panose="02020603050405020304" pitchFamily="18" charset="0"/>
              </a:rPr>
              <a:t>Tra cứu lịch làm việc của từng tháng</a:t>
            </a:r>
          </a:p>
          <a:p>
            <a:pPr algn="l">
              <a:spcBef>
                <a:spcPct val="50000"/>
              </a:spcBef>
            </a:pPr>
            <a:r>
              <a:rPr lang="vi-VN" altLang="zh-CN" sz="1100" b="1" dirty="0" smtClean="0">
                <a:latin typeface="+mj-lt"/>
                <a:ea typeface="微软雅黑" pitchFamily="34" charset="-122"/>
              </a:rPr>
              <a:t>Giải thích chi tiết</a:t>
            </a:r>
            <a:r>
              <a:rPr lang="zh-CN" altLang="en-US" sz="1100" dirty="0" smtClean="0">
                <a:latin typeface="+mj-lt"/>
                <a:ea typeface="微软雅黑" pitchFamily="34" charset="-122"/>
              </a:rPr>
              <a:t>：</a:t>
            </a:r>
            <a:endParaRPr lang="en-US" altLang="zh-CN" sz="1100" dirty="0" smtClean="0">
              <a:latin typeface="+mj-lt"/>
              <a:ea typeface="微软雅黑" pitchFamily="34" charset="-122"/>
            </a:endParaRPr>
          </a:p>
          <a:p>
            <a:pPr marL="228600" indent="-228600" algn="l">
              <a:spcBef>
                <a:spcPct val="50000"/>
              </a:spcBef>
              <a:buFont typeface="+mj-lt"/>
              <a:buAutoNum type="arabicPeriod"/>
            </a:pPr>
            <a:r>
              <a:rPr lang="en-US" altLang="zh-CN" sz="1100" dirty="0" smtClean="0">
                <a:latin typeface="Times New Roman" panose="02020603050405020304" pitchFamily="18" charset="0"/>
                <a:ea typeface="微软雅黑" pitchFamily="34" charset="-122"/>
                <a:cs typeface="Times New Roman" panose="02020603050405020304" pitchFamily="18" charset="0"/>
              </a:rPr>
              <a:t>Chọn ca làm, chọn tháng, năm, hệ thống tự động hiển thị lịch làm việc trong tháng đối với ca vừa tìm</a:t>
            </a: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sp>
        <p:nvSpPr>
          <p:cNvPr id="14" name="椭圆 81"/>
          <p:cNvSpPr/>
          <p:nvPr/>
        </p:nvSpPr>
        <p:spPr>
          <a:xfrm>
            <a:off x="5929322" y="2000240"/>
            <a:ext cx="214314" cy="21431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smtClean="0">
                <a:solidFill>
                  <a:schemeClr val="tx1"/>
                </a:solidFill>
                <a:latin typeface="微软雅黑" pitchFamily="34" charset="-122"/>
                <a:ea typeface="微软雅黑" pitchFamily="34" charset="-122"/>
              </a:rPr>
              <a:t>1</a:t>
            </a:r>
            <a:endParaRPr lang="zh-CN" altLang="en-US" sz="1000" dirty="0">
              <a:solidFill>
                <a:schemeClr val="tx1"/>
              </a:solidFill>
              <a:latin typeface="微软雅黑" pitchFamily="34" charset="-122"/>
              <a:ea typeface="微软雅黑" pitchFamily="34" charset="-122"/>
            </a:endParaRPr>
          </a:p>
        </p:txBody>
      </p:sp>
      <p:sp>
        <p:nvSpPr>
          <p:cNvPr id="15" name="AutoShape 23"/>
          <p:cNvSpPr>
            <a:spLocks noChangeArrowheads="1"/>
          </p:cNvSpPr>
          <p:nvPr/>
        </p:nvSpPr>
        <p:spPr bwMode="auto">
          <a:xfrm>
            <a:off x="6143636" y="2000240"/>
            <a:ext cx="357190" cy="214314"/>
          </a:xfrm>
          <a:prstGeom prst="roundRect">
            <a:avLst>
              <a:gd name="adj" fmla="val 16667"/>
            </a:avLst>
          </a:prstGeom>
          <a:noFill/>
          <a:ln w="19050" algn="ctr">
            <a:solidFill>
              <a:srgbClr val="FF0000"/>
            </a:solidFill>
            <a:round/>
            <a:headEnd/>
            <a:tailEnd/>
          </a:ln>
          <a:effectLst/>
        </p:spPr>
        <p:txBody>
          <a:bodyPr anchor="ctr"/>
          <a:lstStyle/>
          <a:p>
            <a:endParaRPr lang="zh-CN" altLang="en-US" sz="100" dirty="0">
              <a:ea typeface="微软雅黑" pitchFamily="34" charset="-122"/>
            </a:endParaRPr>
          </a:p>
        </p:txBody>
      </p:sp>
      <p:pic>
        <p:nvPicPr>
          <p:cNvPr id="2" name="Picture 1"/>
          <p:cNvPicPr>
            <a:picLocks noChangeAspect="1"/>
          </p:cNvPicPr>
          <p:nvPr/>
        </p:nvPicPr>
        <p:blipFill>
          <a:blip r:embed="rId2"/>
          <a:stretch>
            <a:fillRect/>
          </a:stretch>
        </p:blipFill>
        <p:spPr>
          <a:xfrm>
            <a:off x="0" y="1340768"/>
            <a:ext cx="6764877" cy="3800812"/>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68546"/>
            <a:ext cx="2592288" cy="336118"/>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lgn="l" eaLnBrk="0" hangingPunct="0">
              <a:lnSpc>
                <a:spcPct val="150000"/>
              </a:lnSpc>
            </a:pPr>
            <a:r>
              <a:rPr lang="en-US" altLang="zh-CN" sz="1200" dirty="0" smtClean="0">
                <a:latin typeface="Times New Roman" pitchFamily="18" charset="0"/>
                <a:ea typeface="微软雅黑" pitchFamily="34" charset="-122"/>
                <a:cs typeface="Times New Roman" pitchFamily="18" charset="0"/>
              </a:rPr>
              <a:t>Chấm công nhân viên-Dữ liệu quẹt thẻ</a:t>
            </a:r>
            <a:endParaRPr lang="en-US" altLang="zh-CN"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4216539"/>
          </a:xfrm>
          <a:prstGeom prst="rect">
            <a:avLst/>
          </a:prstGeom>
          <a:noFill/>
        </p:spPr>
        <p:txBody>
          <a:bodyPr wrap="square" rtlCol="0">
            <a:spAutoFit/>
          </a:bodyPr>
          <a:lstStyle/>
          <a:p>
            <a:pPr algn="l">
              <a:spcBef>
                <a:spcPct val="50000"/>
              </a:spcBef>
            </a:pPr>
            <a:r>
              <a:rPr lang="vi-VN" altLang="zh-CN" sz="1200" b="1" dirty="0" smtClean="0">
                <a:latin typeface="Times New Roman" pitchFamily="18" charset="0"/>
                <a:ea typeface="微软雅黑" pitchFamily="34" charset="-122"/>
                <a:cs typeface="Times New Roman" pitchFamily="18" charset="0"/>
              </a:rPr>
              <a:t>Công dụng</a:t>
            </a:r>
            <a:r>
              <a:rPr lang="zh-CN" altLang="en-US" sz="1200" b="1" dirty="0" smtClean="0">
                <a:latin typeface="Times New Roman" pitchFamily="18" charset="0"/>
                <a:ea typeface="微软雅黑" pitchFamily="34" charset="-122"/>
                <a:cs typeface="Times New Roman" pitchFamily="18" charset="0"/>
              </a:rPr>
              <a:t>：</a:t>
            </a:r>
            <a:endParaRPr lang="en-US" altLang="zh-CN" sz="1200" b="1" dirty="0" smtClean="0">
              <a:latin typeface="Times New Roman" pitchFamily="18" charset="0"/>
              <a:ea typeface="微软雅黑" pitchFamily="34" charset="-122"/>
              <a:cs typeface="Times New Roman" pitchFamily="18" charset="0"/>
            </a:endParaRPr>
          </a:p>
          <a:p>
            <a:pPr algn="l">
              <a:spcBef>
                <a:spcPct val="50000"/>
              </a:spcBef>
            </a:pPr>
            <a:r>
              <a:rPr lang="vi-VN" altLang="zh-CN" sz="1200" dirty="0">
                <a:latin typeface="+mj-lt"/>
                <a:ea typeface="微软雅黑" pitchFamily="34" charset="-122"/>
              </a:rPr>
              <a:t>Tra cứu </a:t>
            </a:r>
            <a:r>
              <a:rPr lang="en-US" altLang="zh-CN" sz="1200" dirty="0" smtClean="0">
                <a:latin typeface="Times New Roman" panose="02020603050405020304" pitchFamily="18" charset="0"/>
                <a:ea typeface="微软雅黑" pitchFamily="34" charset="-122"/>
                <a:cs typeface="Times New Roman" panose="02020603050405020304" pitchFamily="18" charset="0"/>
              </a:rPr>
              <a:t>dữ liệu quẹt thẻ của NV mình quản lý</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algn="l">
              <a:spcBef>
                <a:spcPct val="50000"/>
              </a:spcBef>
            </a:pPr>
            <a:r>
              <a:rPr lang="vi-VN" altLang="zh-CN" sz="1200" b="1" dirty="0" smtClean="0">
                <a:latin typeface="Times New Roman" pitchFamily="18" charset="0"/>
                <a:ea typeface="微软雅黑" pitchFamily="34" charset="-122"/>
                <a:cs typeface="Times New Roman" pitchFamily="18" charset="0"/>
              </a:rPr>
              <a:t>Giải thích chi tiết</a:t>
            </a:r>
            <a:r>
              <a:rPr lang="zh-CN" altLang="en-US" sz="1200" dirty="0" smtClean="0">
                <a:latin typeface="Times New Roman" pitchFamily="18" charset="0"/>
                <a:ea typeface="微软雅黑" pitchFamily="34" charset="-122"/>
                <a:cs typeface="Times New Roman" pitchFamily="18" charset="0"/>
              </a:rPr>
              <a:t>：</a:t>
            </a:r>
            <a:endParaRPr lang="en-US" altLang="zh-CN" sz="12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1200" dirty="0">
                <a:latin typeface="Times New Roman" pitchFamily="18" charset="0"/>
                <a:ea typeface="微软雅黑" pitchFamily="34" charset="-122"/>
                <a:cs typeface="Times New Roman" pitchFamily="18" charset="0"/>
              </a:rPr>
              <a:t>Chỉ hiển thị </a:t>
            </a:r>
            <a:r>
              <a:rPr lang="en-US" altLang="zh-CN" sz="1200" dirty="0">
                <a:latin typeface="Times New Roman" pitchFamily="18" charset="0"/>
                <a:ea typeface="微软雅黑" pitchFamily="34" charset="-122"/>
                <a:cs typeface="Times New Roman" pitchFamily="18" charset="0"/>
              </a:rPr>
              <a:t>thông tin NV phòng ban mình phụ trách chấm công</a:t>
            </a:r>
          </a:p>
          <a:p>
            <a:pPr marL="228600" indent="-228600" algn="l">
              <a:spcBef>
                <a:spcPct val="50000"/>
              </a:spcBef>
              <a:buFont typeface="+mj-lt"/>
              <a:buAutoNum type="arabicPeriod"/>
            </a:pPr>
            <a:r>
              <a:rPr lang="en-US" altLang="zh-CN" sz="1200" dirty="0" smtClean="0">
                <a:latin typeface="Times New Roman" pitchFamily="18" charset="0"/>
                <a:ea typeface="微软雅黑" pitchFamily="34" charset="-122"/>
                <a:cs typeface="Times New Roman" pitchFamily="18" charset="0"/>
              </a:rPr>
              <a:t>Chọn Nhân viên hoặc khoảng thời gian, chọn “Tra cứu” để tìm kiếm dữ liệu vào ra của NV trong khoảng thời gian đó</a:t>
            </a:r>
          </a:p>
          <a:p>
            <a:pPr marL="228600" indent="-228600" algn="l">
              <a:spcBef>
                <a:spcPct val="50000"/>
              </a:spcBef>
              <a:buFont typeface="+mj-lt"/>
              <a:buAutoNum type="arabicPeriod"/>
            </a:pPr>
            <a:r>
              <a:rPr lang="en-US" altLang="zh-CN" sz="1200" dirty="0" smtClean="0">
                <a:latin typeface="Times New Roman" pitchFamily="18" charset="0"/>
                <a:ea typeface="微软雅黑" pitchFamily="34" charset="-122"/>
                <a:cs typeface="Times New Roman" pitchFamily="18" charset="0"/>
              </a:rPr>
              <a:t>Xuất Excel: kết xuất dữ liệu vừa tìm kiếm</a:t>
            </a: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zh-CN" altLang="en-US" sz="1000" dirty="0">
              <a:latin typeface="Times New Roman" pitchFamily="18" charset="0"/>
              <a:ea typeface="微软雅黑" pitchFamily="34" charset="-122"/>
              <a:cs typeface="Times New Roman" pitchFamily="18" charset="0"/>
            </a:endParaRPr>
          </a:p>
        </p:txBody>
      </p:sp>
      <p:pic>
        <p:nvPicPr>
          <p:cNvPr id="2" name="Picture 1"/>
          <p:cNvPicPr>
            <a:picLocks noChangeAspect="1"/>
          </p:cNvPicPr>
          <p:nvPr/>
        </p:nvPicPr>
        <p:blipFill>
          <a:blip r:embed="rId2"/>
          <a:stretch>
            <a:fillRect/>
          </a:stretch>
        </p:blipFill>
        <p:spPr>
          <a:xfrm>
            <a:off x="0" y="1268760"/>
            <a:ext cx="6792619" cy="3804994"/>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1403648" y="44624"/>
            <a:ext cx="3168352" cy="369332"/>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algn="l" eaLnBrk="0" hangingPunct="0">
              <a:lnSpc>
                <a:spcPct val="150000"/>
              </a:lnSpc>
            </a:pPr>
            <a:r>
              <a:rPr lang="en-US" altLang="zh-CN" sz="1200" dirty="0" smtClean="0">
                <a:latin typeface="Times New Roman" pitchFamily="18" charset="0"/>
                <a:ea typeface="微软雅黑" pitchFamily="34" charset="-122"/>
                <a:cs typeface="Times New Roman" pitchFamily="18" charset="0"/>
              </a:rPr>
              <a:t>Chấm công nhân viên-Chi tiết chấm công tháng</a:t>
            </a:r>
            <a:endParaRPr lang="en-US" altLang="zh-CN" sz="1200" dirty="0">
              <a:latin typeface="Times New Roman" pitchFamily="18" charset="0"/>
              <a:ea typeface="微软雅黑" pitchFamily="34" charset="-122"/>
              <a:cs typeface="Times New Roman" pitchFamily="18" charset="0"/>
            </a:endParaRPr>
          </a:p>
        </p:txBody>
      </p:sp>
      <p:sp>
        <p:nvSpPr>
          <p:cNvPr id="11" name="TextBox 10"/>
          <p:cNvSpPr txBox="1"/>
          <p:nvPr/>
        </p:nvSpPr>
        <p:spPr>
          <a:xfrm>
            <a:off x="6786578" y="1571612"/>
            <a:ext cx="2214578" cy="4216539"/>
          </a:xfrm>
          <a:prstGeom prst="rect">
            <a:avLst/>
          </a:prstGeom>
          <a:noFill/>
        </p:spPr>
        <p:txBody>
          <a:bodyPr wrap="square" rtlCol="0">
            <a:spAutoFit/>
          </a:bodyPr>
          <a:lstStyle/>
          <a:p>
            <a:pPr algn="l">
              <a:spcBef>
                <a:spcPct val="50000"/>
              </a:spcBef>
            </a:pPr>
            <a:r>
              <a:rPr lang="vi-VN" altLang="zh-CN" sz="1200" b="1" dirty="0" smtClean="0">
                <a:latin typeface="Times New Roman" pitchFamily="18" charset="0"/>
                <a:ea typeface="微软雅黑" pitchFamily="34" charset="-122"/>
                <a:cs typeface="Times New Roman" pitchFamily="18" charset="0"/>
              </a:rPr>
              <a:t>Công dụng</a:t>
            </a:r>
            <a:r>
              <a:rPr lang="zh-CN" altLang="en-US" sz="1200" b="1" dirty="0" smtClean="0">
                <a:latin typeface="Times New Roman" pitchFamily="18" charset="0"/>
                <a:ea typeface="微软雅黑" pitchFamily="34" charset="-122"/>
                <a:cs typeface="Times New Roman" pitchFamily="18" charset="0"/>
              </a:rPr>
              <a:t>：</a:t>
            </a:r>
            <a:endParaRPr lang="en-US" altLang="zh-CN" sz="1200" b="1" dirty="0" smtClean="0">
              <a:latin typeface="Times New Roman" pitchFamily="18" charset="0"/>
              <a:ea typeface="微软雅黑" pitchFamily="34" charset="-122"/>
              <a:cs typeface="Times New Roman" pitchFamily="18" charset="0"/>
            </a:endParaRPr>
          </a:p>
          <a:p>
            <a:pPr algn="l">
              <a:spcBef>
                <a:spcPct val="50000"/>
              </a:spcBef>
            </a:pPr>
            <a:r>
              <a:rPr lang="en-US" altLang="zh-CN" sz="1200" dirty="0" smtClean="0">
                <a:latin typeface="Times New Roman" panose="02020603050405020304" pitchFamily="18" charset="0"/>
                <a:ea typeface="微软雅黑" pitchFamily="34" charset="-122"/>
                <a:cs typeface="Times New Roman" panose="02020603050405020304" pitchFamily="18" charset="0"/>
              </a:rPr>
              <a:t>Hiển thị tình trạng chấm công của nhân viên</a:t>
            </a:r>
            <a:endParaRPr lang="en-US" altLang="zh-CN" sz="1200" dirty="0">
              <a:latin typeface="Times New Roman" panose="02020603050405020304" pitchFamily="18" charset="0"/>
              <a:ea typeface="微软雅黑" pitchFamily="34" charset="-122"/>
              <a:cs typeface="Times New Roman" panose="02020603050405020304" pitchFamily="18" charset="0"/>
            </a:endParaRPr>
          </a:p>
          <a:p>
            <a:pPr algn="l">
              <a:spcBef>
                <a:spcPct val="50000"/>
              </a:spcBef>
            </a:pPr>
            <a:r>
              <a:rPr lang="vi-VN" altLang="zh-CN" sz="1200" b="1" dirty="0" smtClean="0">
                <a:latin typeface="Times New Roman" pitchFamily="18" charset="0"/>
                <a:ea typeface="微软雅黑" pitchFamily="34" charset="-122"/>
                <a:cs typeface="Times New Roman" pitchFamily="18" charset="0"/>
              </a:rPr>
              <a:t>Giải thích chi tiết</a:t>
            </a:r>
            <a:r>
              <a:rPr lang="zh-CN" altLang="en-US" sz="1200" dirty="0" smtClean="0">
                <a:latin typeface="Times New Roman" pitchFamily="18" charset="0"/>
                <a:ea typeface="微软雅黑" pitchFamily="34" charset="-122"/>
                <a:cs typeface="Times New Roman" pitchFamily="18" charset="0"/>
              </a:rPr>
              <a:t>：</a:t>
            </a:r>
            <a:endParaRPr lang="en-US" altLang="zh-CN" sz="12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1200" dirty="0">
                <a:latin typeface="Times New Roman" pitchFamily="18" charset="0"/>
                <a:ea typeface="微软雅黑" pitchFamily="34" charset="-122"/>
                <a:cs typeface="Times New Roman" pitchFamily="18" charset="0"/>
              </a:rPr>
              <a:t>Chỉ hiển thị </a:t>
            </a:r>
            <a:r>
              <a:rPr lang="en-US" altLang="zh-CN" sz="1200" dirty="0">
                <a:latin typeface="Times New Roman" pitchFamily="18" charset="0"/>
                <a:ea typeface="微软雅黑" pitchFamily="34" charset="-122"/>
                <a:cs typeface="Times New Roman" pitchFamily="18" charset="0"/>
              </a:rPr>
              <a:t>thông tin NV phòng ban mình phụ trách chấm công</a:t>
            </a:r>
          </a:p>
          <a:p>
            <a:pPr marL="228600" indent="-228600" algn="l">
              <a:spcBef>
                <a:spcPct val="50000"/>
              </a:spcBef>
              <a:buFont typeface="+mj-lt"/>
              <a:buAutoNum type="arabicPeriod"/>
            </a:pPr>
            <a:r>
              <a:rPr lang="en-US" altLang="zh-CN" sz="1200" dirty="0" smtClean="0">
                <a:latin typeface="Times New Roman" pitchFamily="18" charset="0"/>
                <a:ea typeface="微软雅黑" pitchFamily="34" charset="-122"/>
                <a:cs typeface="Times New Roman" pitchFamily="18" charset="0"/>
              </a:rPr>
              <a:t>Chọn Nhân viên hoặc khoảng thời gian, chọn “Tra cứu” để tìm kiếm dữ liệu vào ra của NV trong khoảng thời gian đó</a:t>
            </a:r>
          </a:p>
          <a:p>
            <a:pPr marL="228600" indent="-228600" algn="l">
              <a:spcBef>
                <a:spcPct val="50000"/>
              </a:spcBef>
              <a:buFont typeface="+mj-lt"/>
              <a:buAutoNum type="arabicPeriod"/>
            </a:pPr>
            <a:r>
              <a:rPr lang="en-US" altLang="zh-CN" sz="1200" dirty="0" smtClean="0">
                <a:latin typeface="Times New Roman" pitchFamily="18" charset="0"/>
                <a:ea typeface="微软雅黑" pitchFamily="34" charset="-122"/>
                <a:cs typeface="Times New Roman" pitchFamily="18" charset="0"/>
              </a:rPr>
              <a:t>Xuất Excel: kết xuất dữ liệu vừa tìm kiếm</a:t>
            </a: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en-US" altLang="zh-CN" sz="1000" dirty="0" smtClean="0">
              <a:latin typeface="Times New Roman" pitchFamily="18" charset="0"/>
              <a:ea typeface="微软雅黑" pitchFamily="34" charset="-122"/>
              <a:cs typeface="Times New Roman" pitchFamily="18" charset="0"/>
            </a:endParaRPr>
          </a:p>
          <a:p>
            <a:pPr algn="l"/>
            <a:endParaRPr lang="zh-CN" altLang="en-US" sz="1000" dirty="0">
              <a:latin typeface="Times New Roman" pitchFamily="18" charset="0"/>
              <a:ea typeface="微软雅黑" pitchFamily="34" charset="-122"/>
              <a:cs typeface="Times New Roman" pitchFamily="18" charset="0"/>
            </a:endParaRPr>
          </a:p>
        </p:txBody>
      </p:sp>
      <p:sp>
        <p:nvSpPr>
          <p:cNvPr id="3" name="TextBox 2"/>
          <p:cNvSpPr txBox="1"/>
          <p:nvPr/>
        </p:nvSpPr>
        <p:spPr>
          <a:xfrm>
            <a:off x="1187624" y="1052736"/>
            <a:ext cx="4824536" cy="369332"/>
          </a:xfrm>
          <a:prstGeom prst="rect">
            <a:avLst/>
          </a:prstGeom>
          <a:noFill/>
        </p:spPr>
        <p:txBody>
          <a:bodyPr wrap="square" rtlCol="0">
            <a:spAutoFit/>
          </a:bodyPr>
          <a:lstStyle/>
          <a:p>
            <a:r>
              <a:rPr lang="en-US" dirty="0" smtClean="0"/>
              <a:t>Làm sau</a:t>
            </a:r>
            <a:endParaRPr lang="en-US" dirty="0"/>
          </a:p>
        </p:txBody>
      </p:sp>
      <p:pic>
        <p:nvPicPr>
          <p:cNvPr id="2" name="Picture 1"/>
          <p:cNvPicPr>
            <a:picLocks noChangeAspect="1"/>
          </p:cNvPicPr>
          <p:nvPr/>
        </p:nvPicPr>
        <p:blipFill>
          <a:blip r:embed="rId2"/>
          <a:stretch>
            <a:fillRect/>
          </a:stretch>
        </p:blipFill>
        <p:spPr>
          <a:xfrm>
            <a:off x="0" y="1064405"/>
            <a:ext cx="6842398" cy="3585474"/>
          </a:xfrm>
          <a:prstGeom prst="rect">
            <a:avLst/>
          </a:prstGeom>
        </p:spPr>
      </p:pic>
    </p:spTree>
    <p:extLst>
      <p:ext uri="{BB962C8B-B14F-4D97-AF65-F5344CB8AC3E}">
        <p14:creationId xmlns:p14="http://schemas.microsoft.com/office/powerpoint/2010/main" val="37602128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1403648" y="116632"/>
            <a:ext cx="2592288" cy="276999"/>
          </a:xfrm>
          <a:prstGeom prst="rect">
            <a:avLst/>
          </a:prstGeom>
          <a:noFill/>
          <a:ln w="3175">
            <a:noFill/>
            <a:miter lim="800000"/>
            <a:headEnd/>
            <a:tailEnd/>
          </a:ln>
          <a:effectLst>
            <a:prstShdw prst="shdw17" dist="17961" dir="2700000">
              <a:schemeClr val="accent1">
                <a:gamma/>
                <a:shade val="60000"/>
                <a:invGamma/>
              </a:schemeClr>
            </a:prstShdw>
          </a:effectLst>
        </p:spPr>
        <p:txBody>
          <a:bodyPr wrap="square" anchor="ctr">
            <a:spAutoFit/>
          </a:bodyPr>
          <a:lstStyle/>
          <a:p>
            <a:pPr lvl="0" algn="l" eaLnBrk="0" hangingPunct="0"/>
            <a:r>
              <a:rPr lang="en-US" altLang="zh-CN" sz="1200" dirty="0" smtClean="0">
                <a:latin typeface="Times New Roman" panose="02020603050405020304" pitchFamily="18" charset="0"/>
                <a:ea typeface="微软雅黑" pitchFamily="34" charset="-122"/>
                <a:cs typeface="Times New Roman" panose="02020603050405020304" pitchFamily="18" charset="0"/>
              </a:rPr>
              <a:t>Chấm công nhân viên -</a:t>
            </a:r>
            <a:r>
              <a:rPr lang="en-US" altLang="zh-CN" sz="1200" dirty="0" smtClean="0">
                <a:latin typeface="+mj-lt"/>
                <a:ea typeface="微软雅黑" pitchFamily="34" charset="-122"/>
              </a:rPr>
              <a:t>N</a:t>
            </a:r>
            <a:r>
              <a:rPr lang="vi-VN" altLang="zh-CN" sz="1200" dirty="0" smtClean="0">
                <a:latin typeface="+mj-lt"/>
                <a:ea typeface="微软雅黑" pitchFamily="34" charset="-122"/>
              </a:rPr>
              <a:t>ghỉ phép năm </a:t>
            </a:r>
            <a:endParaRPr lang="zh-CN" altLang="en-US" sz="1200" dirty="0" smtClean="0">
              <a:latin typeface="+mj-lt"/>
              <a:ea typeface="微软雅黑" pitchFamily="34" charset="-122"/>
            </a:endParaRPr>
          </a:p>
        </p:txBody>
      </p:sp>
      <p:sp>
        <p:nvSpPr>
          <p:cNvPr id="6" name="TextBox 5"/>
          <p:cNvSpPr txBox="1"/>
          <p:nvPr/>
        </p:nvSpPr>
        <p:spPr>
          <a:xfrm>
            <a:off x="6786578" y="1571612"/>
            <a:ext cx="2214578" cy="3662541"/>
          </a:xfrm>
          <a:prstGeom prst="rect">
            <a:avLst/>
          </a:prstGeom>
          <a:noFill/>
        </p:spPr>
        <p:txBody>
          <a:bodyPr wrap="square" rtlCol="0">
            <a:spAutoFit/>
          </a:bodyPr>
          <a:lstStyle/>
          <a:p>
            <a:pPr algn="l">
              <a:spcBef>
                <a:spcPct val="50000"/>
              </a:spcBef>
            </a:pPr>
            <a:r>
              <a:rPr lang="vi-VN" altLang="zh-CN" sz="1200" b="1" dirty="0" smtClean="0">
                <a:latin typeface="Times New Roman" pitchFamily="18" charset="0"/>
                <a:ea typeface="微软雅黑" pitchFamily="34" charset="-122"/>
                <a:cs typeface="Times New Roman" pitchFamily="18" charset="0"/>
              </a:rPr>
              <a:t>Công dụng</a:t>
            </a:r>
            <a:r>
              <a:rPr lang="zh-CN" altLang="en-US" sz="1200" b="1" dirty="0" smtClean="0">
                <a:latin typeface="Times New Roman" pitchFamily="18" charset="0"/>
                <a:ea typeface="微软雅黑" pitchFamily="34" charset="-122"/>
                <a:cs typeface="Times New Roman" pitchFamily="18" charset="0"/>
              </a:rPr>
              <a:t>：</a:t>
            </a:r>
            <a:endParaRPr lang="en-US" altLang="zh-CN" sz="1200" b="1" dirty="0" smtClean="0">
              <a:latin typeface="Times New Roman" pitchFamily="18" charset="0"/>
              <a:ea typeface="微软雅黑" pitchFamily="34" charset="-122"/>
              <a:cs typeface="Times New Roman" pitchFamily="18" charset="0"/>
            </a:endParaRPr>
          </a:p>
          <a:p>
            <a:pPr algn="l">
              <a:spcBef>
                <a:spcPct val="50000"/>
              </a:spcBef>
            </a:pPr>
            <a:r>
              <a:rPr lang="vi-VN" altLang="zh-CN" sz="1200" dirty="0" smtClean="0">
                <a:latin typeface="Times New Roman" pitchFamily="18" charset="0"/>
                <a:ea typeface="微软雅黑" pitchFamily="34" charset="-122"/>
                <a:cs typeface="Times New Roman" pitchFamily="18" charset="0"/>
              </a:rPr>
              <a:t>Tra cứu tình trạng sử dụng nghỉ phép năm của </a:t>
            </a:r>
            <a:r>
              <a:rPr lang="en-US" altLang="zh-CN" sz="1200" dirty="0" smtClean="0">
                <a:latin typeface="Times New Roman" pitchFamily="18" charset="0"/>
                <a:ea typeface="微软雅黑" pitchFamily="34" charset="-122"/>
                <a:cs typeface="Times New Roman" pitchFamily="18" charset="0"/>
              </a:rPr>
              <a:t>NV </a:t>
            </a:r>
          </a:p>
          <a:p>
            <a:pPr algn="l">
              <a:spcBef>
                <a:spcPct val="50000"/>
              </a:spcBef>
            </a:pPr>
            <a:r>
              <a:rPr lang="vi-VN" altLang="zh-CN" sz="1200" b="1" dirty="0" smtClean="0">
                <a:latin typeface="Times New Roman" pitchFamily="18" charset="0"/>
                <a:ea typeface="微软雅黑" pitchFamily="34" charset="-122"/>
                <a:cs typeface="Times New Roman" pitchFamily="18" charset="0"/>
              </a:rPr>
              <a:t>Giải thích chi tiết</a:t>
            </a:r>
            <a:r>
              <a:rPr lang="zh-CN" altLang="en-US" sz="1200" dirty="0" smtClean="0">
                <a:latin typeface="Times New Roman" pitchFamily="18" charset="0"/>
                <a:ea typeface="微软雅黑" pitchFamily="34" charset="-122"/>
                <a:cs typeface="Times New Roman" pitchFamily="18" charset="0"/>
              </a:rPr>
              <a:t>：</a:t>
            </a:r>
            <a:endParaRPr lang="en-US" altLang="zh-CN" sz="1200" dirty="0" smtClean="0">
              <a:latin typeface="Times New Roman" pitchFamily="18" charset="0"/>
              <a:ea typeface="微软雅黑" pitchFamily="34" charset="-122"/>
              <a:cs typeface="Times New Roman" pitchFamily="18" charset="0"/>
            </a:endParaRPr>
          </a:p>
          <a:p>
            <a:pPr marL="228600" indent="-228600" algn="l">
              <a:spcBef>
                <a:spcPct val="50000"/>
              </a:spcBef>
              <a:buFont typeface="+mj-lt"/>
              <a:buAutoNum type="arabicPeriod"/>
            </a:pPr>
            <a:r>
              <a:rPr lang="vi-VN" altLang="zh-CN" sz="1200" dirty="0" smtClean="0">
                <a:latin typeface="Times New Roman" pitchFamily="18" charset="0"/>
                <a:ea typeface="微软雅黑" pitchFamily="34" charset="-122"/>
                <a:cs typeface="Times New Roman" pitchFamily="18" charset="0"/>
              </a:rPr>
              <a:t>Lựa chọn năm, </a:t>
            </a:r>
            <a:r>
              <a:rPr lang="en-US" altLang="zh-CN" sz="1200" dirty="0" smtClean="0">
                <a:latin typeface="Times New Roman" pitchFamily="18" charset="0"/>
                <a:ea typeface="微软雅黑" pitchFamily="34" charset="-122"/>
                <a:cs typeface="Times New Roman" pitchFamily="18" charset="0"/>
              </a:rPr>
              <a:t>chọn </a:t>
            </a:r>
            <a:r>
              <a:rPr lang="vi-VN" altLang="zh-CN" sz="1200" dirty="0" smtClean="0">
                <a:latin typeface="Times New Roman" pitchFamily="18" charset="0"/>
                <a:ea typeface="微软雅黑" pitchFamily="34" charset="-122"/>
                <a:cs typeface="Times New Roman" pitchFamily="18" charset="0"/>
              </a:rPr>
              <a:t>"Tra cứu" để hiện thị dữ liệu nghỉ phép</a:t>
            </a:r>
            <a:r>
              <a:rPr lang="en-US" altLang="zh-CN" sz="1200" dirty="0" smtClean="0">
                <a:latin typeface="Times New Roman" pitchFamily="18" charset="0"/>
                <a:ea typeface="微软雅黑" pitchFamily="34" charset="-122"/>
                <a:cs typeface="Times New Roman" pitchFamily="18" charset="0"/>
              </a:rPr>
              <a:t> của nhân viên</a:t>
            </a:r>
          </a:p>
          <a:p>
            <a:pPr marL="228600" indent="-228600" algn="l">
              <a:spcBef>
                <a:spcPct val="50000"/>
              </a:spcBef>
              <a:buFont typeface="+mj-lt"/>
              <a:buAutoNum type="arabicPeriod"/>
            </a:pPr>
            <a:r>
              <a:rPr lang="en-US" altLang="zh-CN" sz="1200" dirty="0" smtClean="0">
                <a:latin typeface="Times New Roman" pitchFamily="18" charset="0"/>
                <a:ea typeface="微软雅黑" pitchFamily="34" charset="-122"/>
                <a:cs typeface="Times New Roman" pitchFamily="18" charset="0"/>
              </a:rPr>
              <a:t>Chọn “Xuất Excel” để kết xuất dữ liệu vừa tìm kiếm</a:t>
            </a:r>
          </a:p>
          <a:p>
            <a:pPr marL="228600" indent="-228600" algn="l">
              <a:spcBef>
                <a:spcPct val="50000"/>
              </a:spcBef>
              <a:buFont typeface="+mj-lt"/>
              <a:buAutoNum type="arabicPeriod" startAt="3"/>
            </a:pPr>
            <a:endParaRPr lang="en-US" altLang="zh-CN" sz="1000" dirty="0" smtClean="0">
              <a:latin typeface="微软雅黑" pitchFamily="34" charset="-122"/>
              <a:ea typeface="微软雅黑" pitchFamily="34" charset="-122"/>
            </a:endParaRPr>
          </a:p>
          <a:p>
            <a:pPr marL="228600" indent="-228600" algn="l">
              <a:spcBef>
                <a:spcPct val="50000"/>
              </a:spcBef>
            </a:pPr>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en-US" altLang="zh-CN" sz="1000" dirty="0" smtClean="0">
              <a:latin typeface="微软雅黑" pitchFamily="34" charset="-122"/>
              <a:ea typeface="微软雅黑" pitchFamily="34" charset="-122"/>
            </a:endParaRPr>
          </a:p>
          <a:p>
            <a:pPr algn="l"/>
            <a:endParaRPr lang="zh-CN" altLang="en-US" sz="1000" dirty="0">
              <a:latin typeface="微软雅黑" pitchFamily="34" charset="-122"/>
              <a:ea typeface="微软雅黑" pitchFamily="34" charset="-122"/>
            </a:endParaRPr>
          </a:p>
        </p:txBody>
      </p:sp>
      <p:pic>
        <p:nvPicPr>
          <p:cNvPr id="2" name="Picture 1"/>
          <p:cNvPicPr>
            <a:picLocks noChangeAspect="1"/>
          </p:cNvPicPr>
          <p:nvPr/>
        </p:nvPicPr>
        <p:blipFill>
          <a:blip r:embed="rId2"/>
          <a:stretch>
            <a:fillRect/>
          </a:stretch>
        </p:blipFill>
        <p:spPr>
          <a:xfrm>
            <a:off x="0" y="1340768"/>
            <a:ext cx="6792619" cy="3804994"/>
          </a:xfrm>
          <a:prstGeom prst="rect">
            <a:avLst/>
          </a:prstGeom>
        </p:spPr>
      </p:pic>
    </p:spTree>
    <p:extLst>
      <p:ext uri="{BB962C8B-B14F-4D97-AF65-F5344CB8AC3E}">
        <p14:creationId xmlns:p14="http://schemas.microsoft.com/office/powerpoint/2010/main" val="3048282155"/>
      </p:ext>
    </p:extLst>
  </p:cSld>
  <p:clrMapOvr>
    <a:masterClrMapping/>
  </p:clrMapOvr>
  <p:timing>
    <p:tnLst>
      <p:par>
        <p:cTn id="1" dur="indefinite" restart="never" nodeType="tmRoot"/>
      </p:par>
    </p:tnLst>
  </p:timing>
</p:sld>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lgn="l">
          <a:defRPr sz="800" dirty="0" smtClean="0">
            <a:solidFill>
              <a:schemeClr val="tx1"/>
            </a:solidFill>
            <a:ea typeface="微软雅黑"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4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3175"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sz="12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25171</TotalTime>
  <Words>1654</Words>
  <Application>Microsoft Office PowerPoint</Application>
  <PresentationFormat>On-screen Show (4:3)</PresentationFormat>
  <Paragraphs>215</Paragraphs>
  <Slides>18</Slides>
  <Notes>0</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18</vt:i4>
      </vt:variant>
    </vt:vector>
  </HeadingPairs>
  <TitlesOfParts>
    <vt:vector size="33" baseType="lpstr">
      <vt:lpstr>Arial Unicode MS</vt:lpstr>
      <vt:lpstr>微软雅黑</vt:lpstr>
      <vt:lpstr>宋体</vt:lpstr>
      <vt:lpstr>Arial</vt:lpstr>
      <vt:lpstr>Calibri</vt:lpstr>
      <vt:lpstr>Tahoma</vt:lpstr>
      <vt:lpstr>Times New Roman</vt:lpstr>
      <vt:lpstr>2_自定义设计方案</vt:lpstr>
      <vt:lpstr>4_默认设计模板</vt:lpstr>
      <vt:lpstr>3_默认设计模板</vt:lpstr>
      <vt:lpstr>2_默认设计模板</vt:lpstr>
      <vt:lpstr>1_默认设计模板</vt:lpstr>
      <vt:lpstr>默认设计模板</vt:lpstr>
      <vt:lpstr>1_Custom Design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huong chuot</cp:lastModifiedBy>
  <cp:revision>2098</cp:revision>
  <dcterms:created xsi:type="dcterms:W3CDTF">2010-07-06T05:38:31Z</dcterms:created>
  <dcterms:modified xsi:type="dcterms:W3CDTF">2018-01-26T10:43:53Z</dcterms:modified>
</cp:coreProperties>
</file>