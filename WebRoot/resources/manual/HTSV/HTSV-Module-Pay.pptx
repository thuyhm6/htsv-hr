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Lst>
  <p:notesMasterIdLst>
    <p:notesMasterId r:id="rId37"/>
  </p:notesMasterIdLst>
  <p:handoutMasterIdLst>
    <p:handoutMasterId r:id="rId38"/>
  </p:handoutMasterIdLst>
  <p:sldIdLst>
    <p:sldId id="771" r:id="rId2"/>
    <p:sldId id="774" r:id="rId3"/>
    <p:sldId id="712" r:id="rId4"/>
    <p:sldId id="736" r:id="rId5"/>
    <p:sldId id="749" r:id="rId6"/>
    <p:sldId id="737" r:id="rId7"/>
    <p:sldId id="738" r:id="rId8"/>
    <p:sldId id="726" r:id="rId9"/>
    <p:sldId id="728" r:id="rId10"/>
    <p:sldId id="739" r:id="rId11"/>
    <p:sldId id="741" r:id="rId12"/>
    <p:sldId id="746" r:id="rId13"/>
    <p:sldId id="748" r:id="rId14"/>
    <p:sldId id="663" r:id="rId15"/>
    <p:sldId id="715" r:id="rId16"/>
    <p:sldId id="717" r:id="rId17"/>
    <p:sldId id="752" r:id="rId18"/>
    <p:sldId id="716" r:id="rId19"/>
    <p:sldId id="720" r:id="rId20"/>
    <p:sldId id="722" r:id="rId21"/>
    <p:sldId id="757" r:id="rId22"/>
    <p:sldId id="753" r:id="rId23"/>
    <p:sldId id="773" r:id="rId24"/>
    <p:sldId id="754" r:id="rId25"/>
    <p:sldId id="756" r:id="rId26"/>
    <p:sldId id="718" r:id="rId27"/>
    <p:sldId id="719" r:id="rId28"/>
    <p:sldId id="709" r:id="rId29"/>
    <p:sldId id="759" r:id="rId30"/>
    <p:sldId id="760" r:id="rId31"/>
    <p:sldId id="758" r:id="rId32"/>
    <p:sldId id="767" r:id="rId33"/>
    <p:sldId id="768" r:id="rId34"/>
    <p:sldId id="769" r:id="rId35"/>
    <p:sldId id="770" r:id="rId36"/>
  </p:sldIdLst>
  <p:sldSz cx="9144000" cy="6858000" type="screen4x3"/>
  <p:notesSz cx="9939338" cy="6807200"/>
  <p:custShowLst>
    <p:custShow name="Custom Show 1" id="0">
      <p:sldLst>
        <p:sld r:id="rId2"/>
        <p:sld r:id="rId4"/>
        <p:sld r:id="rId6"/>
        <p:sld r:id="rId5"/>
        <p:sld r:id="rId15"/>
        <p:sld r:id="rId16"/>
        <p:sld r:id="rId17"/>
        <p:sld r:id="rId18"/>
        <p:sld r:id="rId19"/>
        <p:sld r:id="rId20"/>
        <p:sld r:id="rId21"/>
        <p:sld r:id="rId22"/>
        <p:sld r:id="rId23"/>
        <p:sld r:id="rId24"/>
        <p:sld r:id="rId25"/>
        <p:sld r:id="rId26"/>
        <p:sld r:id="rId7"/>
        <p:sld r:id="rId8"/>
        <p:sld r:id="rId9"/>
        <p:sld r:id="rId10"/>
        <p:sld r:id="rId11"/>
        <p:sld r:id="rId12"/>
        <p:sld r:id="rId13"/>
        <p:sld r:id="rId14"/>
        <p:sld r:id="rId27"/>
        <p:sld r:id="rId28"/>
        <p:sld r:id="rId29"/>
        <p:sld r:id="rId30"/>
        <p:sld r:id="rId31"/>
        <p:sld r:id="rId32"/>
        <p:sld r:id="rId33"/>
        <p:sld r:id="rId34"/>
        <p:sld r:id="rId35"/>
        <p:sld r:id="rId36"/>
      </p:sldLst>
    </p:custShow>
  </p:custShowLst>
  <p:defaultTextStyle>
    <a:defPPr>
      <a:defRPr lang="zh-CN"/>
    </a:defPPr>
    <a:lvl1pPr algn="ctr" rtl="0" fontAlgn="base">
      <a:spcBef>
        <a:spcPct val="0"/>
      </a:spcBef>
      <a:spcAft>
        <a:spcPct val="0"/>
      </a:spcAft>
      <a:defRPr kern="1200">
        <a:solidFill>
          <a:schemeClr val="tx1"/>
        </a:solidFill>
        <a:latin typeface="Arial" charset="0"/>
        <a:ea typeface="宋体" pitchFamily="2" charset="-122"/>
        <a:cs typeface="+mn-cs"/>
      </a:defRPr>
    </a:lvl1pPr>
    <a:lvl2pPr marL="457200" algn="ctr" rtl="0" fontAlgn="base">
      <a:spcBef>
        <a:spcPct val="0"/>
      </a:spcBef>
      <a:spcAft>
        <a:spcPct val="0"/>
      </a:spcAft>
      <a:defRPr kern="1200">
        <a:solidFill>
          <a:schemeClr val="tx1"/>
        </a:solidFill>
        <a:latin typeface="Arial" charset="0"/>
        <a:ea typeface="宋体" pitchFamily="2" charset="-122"/>
        <a:cs typeface="+mn-cs"/>
      </a:defRPr>
    </a:lvl2pPr>
    <a:lvl3pPr marL="914400" algn="ctr" rtl="0" fontAlgn="base">
      <a:spcBef>
        <a:spcPct val="0"/>
      </a:spcBef>
      <a:spcAft>
        <a:spcPct val="0"/>
      </a:spcAft>
      <a:defRPr kern="1200">
        <a:solidFill>
          <a:schemeClr val="tx1"/>
        </a:solidFill>
        <a:latin typeface="Arial" charset="0"/>
        <a:ea typeface="宋体" pitchFamily="2" charset="-122"/>
        <a:cs typeface="+mn-cs"/>
      </a:defRPr>
    </a:lvl3pPr>
    <a:lvl4pPr marL="1371600" algn="ctr" rtl="0" fontAlgn="base">
      <a:spcBef>
        <a:spcPct val="0"/>
      </a:spcBef>
      <a:spcAft>
        <a:spcPct val="0"/>
      </a:spcAft>
      <a:defRPr kern="1200">
        <a:solidFill>
          <a:schemeClr val="tx1"/>
        </a:solidFill>
        <a:latin typeface="Arial" charset="0"/>
        <a:ea typeface="宋体" pitchFamily="2" charset="-122"/>
        <a:cs typeface="+mn-cs"/>
      </a:defRPr>
    </a:lvl4pPr>
    <a:lvl5pPr marL="1828800" algn="ctr"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3203">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D9F1"/>
    <a:srgbClr val="33CCCC"/>
    <a:srgbClr val="0070C0"/>
    <a:srgbClr val="D7E4BC"/>
    <a:srgbClr val="3DAE22"/>
    <a:srgbClr val="66FF99"/>
    <a:srgbClr val="CCECFF"/>
    <a:srgbClr val="99CCFF"/>
    <a:srgbClr val="385D8A"/>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3750" autoAdjust="0"/>
  </p:normalViewPr>
  <p:slideViewPr>
    <p:cSldViewPr>
      <p:cViewPr varScale="1">
        <p:scale>
          <a:sx n="75" d="100"/>
          <a:sy n="75" d="100"/>
        </p:scale>
        <p:origin x="1482" y="60"/>
      </p:cViewPr>
      <p:guideLst>
        <p:guide orient="horz" pos="3203"/>
        <p:guide pos="2880"/>
      </p:guideLst>
    </p:cSldViewPr>
  </p:slideViewPr>
  <p:outlineViewPr>
    <p:cViewPr>
      <p:scale>
        <a:sx n="33" d="100"/>
        <a:sy n="33" d="100"/>
      </p:scale>
      <p:origin x="0" y="200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2490" y="-84"/>
      </p:cViewPr>
      <p:guideLst>
        <p:guide orient="horz" pos="2144"/>
        <p:guide pos="313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vl1pPr>
          </a:lstStyle>
          <a:p>
            <a:endParaRPr lang="zh-CN" altLang="en-US"/>
          </a:p>
        </p:txBody>
      </p:sp>
      <p:sp>
        <p:nvSpPr>
          <p:cNvPr id="132099" name="Rectangle 3"/>
          <p:cNvSpPr>
            <a:spLocks noGrp="1" noChangeArrowheads="1"/>
          </p:cNvSpPr>
          <p:nvPr>
            <p:ph type="dt" sz="quarter" idx="1"/>
          </p:nvPr>
        </p:nvSpPr>
        <p:spPr bwMode="auto">
          <a:xfrm>
            <a:off x="5629992"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FE994EE2-8CF4-4965-9561-09C853560994}" type="datetimeFigureOut">
              <a:rPr lang="zh-CN" altLang="en-US"/>
              <a:pPr/>
              <a:t>2018/1/26</a:t>
            </a:fld>
            <a:endParaRPr lang="en-US" altLang="zh-CN"/>
          </a:p>
        </p:txBody>
      </p:sp>
      <p:sp>
        <p:nvSpPr>
          <p:cNvPr id="132100" name="Rectangle 4"/>
          <p:cNvSpPr>
            <a:spLocks noGrp="1" noChangeArrowheads="1"/>
          </p:cNvSpPr>
          <p:nvPr>
            <p:ph type="ftr" sz="quarter" idx="2"/>
          </p:nvPr>
        </p:nvSpPr>
        <p:spPr bwMode="auto">
          <a:xfrm>
            <a:off x="0"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vl1pPr>
          </a:lstStyle>
          <a:p>
            <a:endParaRPr lang="en-US" altLang="zh-CN"/>
          </a:p>
        </p:txBody>
      </p:sp>
      <p:sp>
        <p:nvSpPr>
          <p:cNvPr id="132101" name="Rectangle 5"/>
          <p:cNvSpPr>
            <a:spLocks noGrp="1" noChangeArrowheads="1"/>
          </p:cNvSpPr>
          <p:nvPr>
            <p:ph type="sldNum" sz="quarter" idx="3"/>
          </p:nvPr>
        </p:nvSpPr>
        <p:spPr bwMode="auto">
          <a:xfrm>
            <a:off x="5629992"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D0FCE28B-4E88-422F-815C-9402CA1A8CE5}" type="slidenum">
              <a:rPr lang="zh-CN" altLang="en-US"/>
              <a:pPr/>
              <a:t>‹#›</a:t>
            </a:fld>
            <a:endParaRPr lang="en-US" altLang="zh-CN"/>
          </a:p>
        </p:txBody>
      </p:sp>
    </p:spTree>
    <p:extLst>
      <p:ext uri="{BB962C8B-B14F-4D97-AF65-F5344CB8AC3E}">
        <p14:creationId xmlns:p14="http://schemas.microsoft.com/office/powerpoint/2010/main" val="192794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ltLang="zh-CN"/>
          </a:p>
        </p:txBody>
      </p:sp>
      <p:sp>
        <p:nvSpPr>
          <p:cNvPr id="55299" name="Rectangle 3"/>
          <p:cNvSpPr>
            <a:spLocks noGrp="1" noChangeArrowheads="1"/>
          </p:cNvSpPr>
          <p:nvPr>
            <p:ph type="dt" idx="1"/>
          </p:nvPr>
        </p:nvSpPr>
        <p:spPr bwMode="auto">
          <a:xfrm>
            <a:off x="5629992" y="0"/>
            <a:ext cx="4307046" cy="3403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3267075" y="511175"/>
            <a:ext cx="3405188" cy="2552700"/>
          </a:xfrm>
          <a:prstGeom prst="rect">
            <a:avLst/>
          </a:prstGeom>
          <a:noFill/>
          <a:ln w="9525">
            <a:solidFill>
              <a:srgbClr val="000000"/>
            </a:solidFill>
            <a:miter lim="800000"/>
            <a:headEnd/>
            <a:tailEnd/>
          </a:ln>
        </p:spPr>
      </p:sp>
      <p:sp>
        <p:nvSpPr>
          <p:cNvPr id="55301" name="Rectangle 5"/>
          <p:cNvSpPr>
            <a:spLocks noGrp="1" noChangeArrowheads="1"/>
          </p:cNvSpPr>
          <p:nvPr>
            <p:ph type="body" sz="quarter" idx="3"/>
          </p:nvPr>
        </p:nvSpPr>
        <p:spPr bwMode="auto">
          <a:xfrm>
            <a:off x="993934" y="3233420"/>
            <a:ext cx="7951470" cy="306324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55302" name="Rectangle 6"/>
          <p:cNvSpPr>
            <a:spLocks noGrp="1" noChangeArrowheads="1"/>
          </p:cNvSpPr>
          <p:nvPr>
            <p:ph type="ftr" sz="quarter" idx="4"/>
          </p:nvPr>
        </p:nvSpPr>
        <p:spPr bwMode="auto">
          <a:xfrm>
            <a:off x="0"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ltLang="zh-CN"/>
          </a:p>
        </p:txBody>
      </p:sp>
      <p:sp>
        <p:nvSpPr>
          <p:cNvPr id="55303" name="Rectangle 7"/>
          <p:cNvSpPr>
            <a:spLocks noGrp="1" noChangeArrowheads="1"/>
          </p:cNvSpPr>
          <p:nvPr>
            <p:ph type="sldNum" sz="quarter" idx="5"/>
          </p:nvPr>
        </p:nvSpPr>
        <p:spPr bwMode="auto">
          <a:xfrm>
            <a:off x="5629992" y="6465659"/>
            <a:ext cx="4307046" cy="34036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F83ACCD-3A3B-43D2-9AC9-1D3B37933DDF}" type="slidenum">
              <a:rPr lang="en-US" altLang="zh-CN"/>
              <a:pPr>
                <a:defRPr/>
              </a:pPr>
              <a:t>‹#›</a:t>
            </a:fld>
            <a:endParaRPr lang="en-US" altLang="zh-CN"/>
          </a:p>
        </p:txBody>
      </p:sp>
    </p:spTree>
    <p:extLst>
      <p:ext uri="{BB962C8B-B14F-4D97-AF65-F5344CB8AC3E}">
        <p14:creationId xmlns:p14="http://schemas.microsoft.com/office/powerpoint/2010/main" val="58162696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Phân</a:t>
            </a:r>
            <a:r>
              <a:rPr lang="en-US" altLang="zh-CN" baseline="0" dirty="0" smtClean="0"/>
              <a:t> loại lương: Nomal Salary; Resigne Salary</a:t>
            </a:r>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3</a:t>
            </a:fld>
            <a:endParaRPr lang="en-US" altLang="zh-CN"/>
          </a:p>
        </p:txBody>
      </p:sp>
    </p:spTree>
    <p:extLst>
      <p:ext uri="{BB962C8B-B14F-4D97-AF65-F5344CB8AC3E}">
        <p14:creationId xmlns:p14="http://schemas.microsoft.com/office/powerpoint/2010/main" val="1316136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4</a:t>
            </a:fld>
            <a:endParaRPr lang="en-US" altLang="zh-CN"/>
          </a:p>
        </p:txBody>
      </p:sp>
    </p:spTree>
    <p:extLst>
      <p:ext uri="{BB962C8B-B14F-4D97-AF65-F5344CB8AC3E}">
        <p14:creationId xmlns:p14="http://schemas.microsoft.com/office/powerpoint/2010/main" val="4240956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5</a:t>
            </a:fld>
            <a:endParaRPr lang="en-US" altLang="zh-CN"/>
          </a:p>
        </p:txBody>
      </p:sp>
    </p:spTree>
    <p:extLst>
      <p:ext uri="{BB962C8B-B14F-4D97-AF65-F5344CB8AC3E}">
        <p14:creationId xmlns:p14="http://schemas.microsoft.com/office/powerpoint/2010/main" val="1177230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rgbClr val="FF0000"/>
              </a:solidFill>
            </a:endParaRPr>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6</a:t>
            </a:fld>
            <a:endParaRPr lang="en-US" altLang="zh-CN"/>
          </a:p>
        </p:txBody>
      </p:sp>
    </p:spTree>
    <p:extLst>
      <p:ext uri="{BB962C8B-B14F-4D97-AF65-F5344CB8AC3E}">
        <p14:creationId xmlns:p14="http://schemas.microsoft.com/office/powerpoint/2010/main" val="391251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7</a:t>
            </a:fld>
            <a:endParaRPr lang="en-US" altLang="zh-CN"/>
          </a:p>
        </p:txBody>
      </p:sp>
    </p:spTree>
    <p:extLst>
      <p:ext uri="{BB962C8B-B14F-4D97-AF65-F5344CB8AC3E}">
        <p14:creationId xmlns:p14="http://schemas.microsoft.com/office/powerpoint/2010/main" val="1755735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14</a:t>
            </a:fld>
            <a:endParaRPr lang="en-US" altLang="zh-CN"/>
          </a:p>
        </p:txBody>
      </p:sp>
    </p:spTree>
    <p:extLst>
      <p:ext uri="{BB962C8B-B14F-4D97-AF65-F5344CB8AC3E}">
        <p14:creationId xmlns:p14="http://schemas.microsoft.com/office/powerpoint/2010/main" val="2125436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18</a:t>
            </a:fld>
            <a:endParaRPr lang="en-US" altLang="zh-CN"/>
          </a:p>
        </p:txBody>
      </p:sp>
    </p:spTree>
    <p:extLst>
      <p:ext uri="{BB962C8B-B14F-4D97-AF65-F5344CB8AC3E}">
        <p14:creationId xmlns:p14="http://schemas.microsoft.com/office/powerpoint/2010/main" val="1827444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19</a:t>
            </a:fld>
            <a:endParaRPr lang="en-US" altLang="zh-CN"/>
          </a:p>
        </p:txBody>
      </p:sp>
    </p:spTree>
    <p:extLst>
      <p:ext uri="{BB962C8B-B14F-4D97-AF65-F5344CB8AC3E}">
        <p14:creationId xmlns:p14="http://schemas.microsoft.com/office/powerpoint/2010/main" val="1204402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26</a:t>
            </a:fld>
            <a:endParaRPr lang="en-US" altLang="zh-CN"/>
          </a:p>
        </p:txBody>
      </p:sp>
    </p:spTree>
    <p:extLst>
      <p:ext uri="{BB962C8B-B14F-4D97-AF65-F5344CB8AC3E}">
        <p14:creationId xmlns:p14="http://schemas.microsoft.com/office/powerpoint/2010/main" val="824263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32</a:t>
            </a:fld>
            <a:endParaRPr lang="en-US" altLang="zh-CN"/>
          </a:p>
        </p:txBody>
      </p:sp>
    </p:spTree>
    <p:extLst>
      <p:ext uri="{BB962C8B-B14F-4D97-AF65-F5344CB8AC3E}">
        <p14:creationId xmlns:p14="http://schemas.microsoft.com/office/powerpoint/2010/main" val="3548155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33</a:t>
            </a:fld>
            <a:endParaRPr lang="en-US" altLang="zh-CN"/>
          </a:p>
        </p:txBody>
      </p:sp>
    </p:spTree>
    <p:extLst>
      <p:ext uri="{BB962C8B-B14F-4D97-AF65-F5344CB8AC3E}">
        <p14:creationId xmlns:p14="http://schemas.microsoft.com/office/powerpoint/2010/main" val="4046209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34</a:t>
            </a:fld>
            <a:endParaRPr lang="en-US" altLang="zh-CN"/>
          </a:p>
        </p:txBody>
      </p:sp>
    </p:spTree>
    <p:extLst>
      <p:ext uri="{BB962C8B-B14F-4D97-AF65-F5344CB8AC3E}">
        <p14:creationId xmlns:p14="http://schemas.microsoft.com/office/powerpoint/2010/main" val="2289807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F83ACCD-3A3B-43D2-9AC9-1D3B37933DDF}" type="slidenum">
              <a:rPr lang="en-US" altLang="zh-CN" smtClean="0"/>
              <a:pPr>
                <a:defRPr/>
              </a:pPr>
              <a:t>35</a:t>
            </a:fld>
            <a:endParaRPr lang="en-US" altLang="zh-CN"/>
          </a:p>
        </p:txBody>
      </p:sp>
    </p:spTree>
    <p:extLst>
      <p:ext uri="{BB962C8B-B14F-4D97-AF65-F5344CB8AC3E}">
        <p14:creationId xmlns:p14="http://schemas.microsoft.com/office/powerpoint/2010/main" val="19836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
        <p:nvSpPr>
          <p:cNvPr id="21" name="Line 3"/>
          <p:cNvSpPr>
            <a:spLocks noChangeShapeType="1"/>
          </p:cNvSpPr>
          <p:nvPr userDrawn="1"/>
        </p:nvSpPr>
        <p:spPr bwMode="auto">
          <a:xfrm>
            <a:off x="0" y="6491288"/>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
        <p:nvSpPr>
          <p:cNvPr id="8" name="Line 3"/>
          <p:cNvSpPr>
            <a:spLocks noChangeShapeType="1"/>
          </p:cNvSpPr>
          <p:nvPr userDrawn="1"/>
        </p:nvSpPr>
        <p:spPr bwMode="auto">
          <a:xfrm>
            <a:off x="0" y="6453336"/>
            <a:ext cx="9144000" cy="0"/>
          </a:xfrm>
          <a:prstGeom prst="line">
            <a:avLst/>
          </a:prstGeom>
          <a:noFill/>
          <a:ln w="9525">
            <a:solidFill>
              <a:schemeClr val="bg2"/>
            </a:solidFill>
            <a:round/>
            <a:headEnd/>
            <a:tailEnd/>
          </a:ln>
          <a:effectLst/>
        </p:spPr>
        <p:txBody>
          <a:bodyPr/>
          <a:lstStyle/>
          <a:p>
            <a:pPr algn="l">
              <a:defRPr/>
            </a:pPr>
            <a:endParaRPr lang="zh-CN" altLang="en-US">
              <a:latin typeface="Arial"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6"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0"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4"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Text Box 4"/>
          <p:cNvSpPr txBox="1">
            <a:spLocks noChangeArrowheads="1"/>
          </p:cNvSpPr>
          <p:nvPr userDrawn="1"/>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3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a:prstGeom prst="rect">
            <a:avLst/>
          </a:prstGeom>
        </p:spPr>
        <p:txBody>
          <a:body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22041" indent="0" algn="ctr">
              <a:buNone/>
              <a:defRPr/>
            </a:lvl2pPr>
            <a:lvl3pPr marL="844083" indent="0" algn="ctr">
              <a:buNone/>
              <a:defRPr/>
            </a:lvl3pPr>
            <a:lvl4pPr marL="1266124" indent="0" algn="ctr">
              <a:buNone/>
              <a:defRPr/>
            </a:lvl4pPr>
            <a:lvl5pPr marL="1688165" indent="0" algn="ctr">
              <a:buNone/>
              <a:defRPr/>
            </a:lvl5pPr>
            <a:lvl6pPr marL="2110207" indent="0" algn="ctr">
              <a:buNone/>
              <a:defRPr/>
            </a:lvl6pPr>
            <a:lvl7pPr marL="2532248" indent="0" algn="ctr">
              <a:buNone/>
              <a:defRPr/>
            </a:lvl7pPr>
            <a:lvl8pPr marL="2954289" indent="0" algn="ctr">
              <a:buNone/>
              <a:defRPr/>
            </a:lvl8pPr>
            <a:lvl9pPr marL="3376331"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193710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5497513" y="6524625"/>
            <a:ext cx="369887" cy="274638"/>
          </a:xfrm>
          <a:prstGeom prst="rect">
            <a:avLst/>
          </a:prstGeom>
          <a:noFill/>
          <a:ln w="9525" algn="ctr">
            <a:noFill/>
            <a:miter lim="800000"/>
            <a:headEnd/>
            <a:tailEnd/>
          </a:ln>
          <a:effectLst/>
        </p:spPr>
        <p:txBody>
          <a:bodyPr wrap="none">
            <a:spAutoFit/>
          </a:bodyPr>
          <a:lstStyle/>
          <a:p>
            <a:pPr marL="342900" indent="-342900" algn="l">
              <a:spcBef>
                <a:spcPct val="20000"/>
              </a:spcBef>
              <a:defRPr/>
            </a:pPr>
            <a:fld id="{16AE2F1E-482F-4615-8C38-16049E4E0602}" type="slidenum">
              <a:rPr lang="en-US" altLang="zh-CN" sz="1200">
                <a:latin typeface="Arial" pitchFamily="34" charset="0"/>
              </a:rPr>
              <a:pPr marL="342900" indent="-342900" algn="l">
                <a:spcBef>
                  <a:spcPct val="20000"/>
                </a:spcBef>
                <a:defRPr/>
              </a:pPr>
              <a:t>‹#›</a:t>
            </a:fld>
            <a:endParaRPr lang="en-US" altLang="zh-CN" sz="1200" dirty="0">
              <a:latin typeface="Arial" pitchFamily="34" charset="0"/>
            </a:endParaRPr>
          </a:p>
        </p:txBody>
      </p:sp>
      <p:graphicFrame>
        <p:nvGraphicFramePr>
          <p:cNvPr id="3" name="Group 165"/>
          <p:cNvGraphicFramePr>
            <a:graphicFrameLocks noGrp="1"/>
          </p:cNvGraphicFramePr>
          <p:nvPr userDrawn="1">
            <p:extLst>
              <p:ext uri="{D42A27DB-BD31-4B8C-83A1-F6EECF244321}">
                <p14:modId xmlns:p14="http://schemas.microsoft.com/office/powerpoint/2010/main" val="1223120086"/>
              </p:ext>
            </p:extLst>
          </p:nvPr>
        </p:nvGraphicFramePr>
        <p:xfrm>
          <a:off x="35496" y="116632"/>
          <a:ext cx="9015536" cy="274638"/>
        </p:xfrm>
        <a:graphic>
          <a:graphicData uri="http://schemas.openxmlformats.org/drawingml/2006/table">
            <a:tbl>
              <a:tblPr/>
              <a:tblGrid>
                <a:gridCol w="1378501"/>
                <a:gridCol w="3263187"/>
                <a:gridCol w="743114"/>
                <a:gridCol w="608002"/>
                <a:gridCol w="878226"/>
                <a:gridCol w="2144506"/>
              </a:tblGrid>
              <a:tr h="274638">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Function name</a:t>
                      </a:r>
                    </a:p>
                  </a:txBody>
                  <a:tcPr marL="3600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en-US" altLang="ko-KR" sz="1200" b="0"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Page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endParaRP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Write</a:t>
                      </a:r>
                    </a:p>
                  </a:txBody>
                  <a:tcPr marL="3600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微软雅黑" pitchFamily="34" charset="-122"/>
                          <a:ea typeface="微软雅黑" pitchFamily="34" charset="-122"/>
                        </a:rPr>
                        <a:t>26.1.2018</a:t>
                      </a:r>
                    </a:p>
                  </a:txBody>
                  <a:tcPr marL="3600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 bg1="lt1" tx1="dk1" bg2="lt2" tx2="dk2" accent1="accent1" accent2="accent2" accent3="accent3" accent4="accent4" accent5="accent5" accent6="accent6" hlink="hlink" folHlink="folHlink"/>
  <p:sldLayoutIdLst>
    <p:sldLayoutId id="2147483819" r:id="rId1"/>
    <p:sldLayoutId id="2147483820" r:id="rId2"/>
    <p:sldLayoutId id="2147483823" r:id="rId3"/>
    <p:sldLayoutId id="2147483824" r:id="rId4"/>
    <p:sldLayoutId id="2147483821" r:id="rId5"/>
    <p:sldLayoutId id="2147483822" r:id="rId6"/>
    <p:sldLayoutId id="2147483825" r:id="rId7"/>
    <p:sldLayoutId id="2147483840" r:id="rId8"/>
    <p:sldLayoutId id="2147483841" r:id="rId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700782" y="3140968"/>
            <a:ext cx="7399610" cy="477054"/>
          </a:xfrm>
          <a:prstGeom prst="rect">
            <a:avLst/>
          </a:prstGeom>
          <a:noFill/>
          <a:ln w="9525">
            <a:noFill/>
            <a:miter lim="800000"/>
            <a:headEnd/>
            <a:tailEnd/>
          </a:ln>
          <a:effectLst/>
        </p:spPr>
        <p:txBody>
          <a:bodyPr wrap="square">
            <a:spAutoFit/>
          </a:bodyPr>
          <a:lstStyle/>
          <a:p>
            <a:r>
              <a:rPr lang="en-US" altLang="zh-CN" sz="2500" b="1" dirty="0" smtClean="0">
                <a:latin typeface="Times New Roman" pitchFamily="18" charset="0"/>
                <a:ea typeface="微软雅黑" pitchFamily="34" charset="-122"/>
                <a:cs typeface="Times New Roman" pitchFamily="18" charset="0"/>
              </a:rPr>
              <a:t>- Module Lương -</a:t>
            </a:r>
            <a:endParaRPr lang="en-US" altLang="zh-CN" sz="2500" b="1" dirty="0">
              <a:latin typeface="Times New Roman" pitchFamily="18" charset="0"/>
              <a:ea typeface="微软雅黑" pitchFamily="34" charset="-122"/>
              <a:cs typeface="Times New Roman" pitchFamily="18" charset="0"/>
            </a:endParaRPr>
          </a:p>
        </p:txBody>
      </p:sp>
      <p:sp>
        <p:nvSpPr>
          <p:cNvPr id="11" name="TextBox 10"/>
          <p:cNvSpPr txBox="1"/>
          <p:nvPr/>
        </p:nvSpPr>
        <p:spPr>
          <a:xfrm>
            <a:off x="827584" y="2564904"/>
            <a:ext cx="7383764" cy="584775"/>
          </a:xfrm>
          <a:prstGeom prst="rect">
            <a:avLst/>
          </a:prstGeom>
          <a:noFill/>
        </p:spPr>
        <p:txBody>
          <a:bodyPr wrap="square" rtlCol="0">
            <a:spAutoFit/>
          </a:bodyPr>
          <a:lstStyle/>
          <a:p>
            <a:r>
              <a:rPr lang="en-US" altLang="zh-CN" sz="3200" dirty="0" smtClean="0">
                <a:latin typeface="Times New Roman" pitchFamily="18" charset="0"/>
                <a:ea typeface="Arial Unicode MS" pitchFamily="34" charset="-122"/>
                <a:cs typeface="Times New Roman" pitchFamily="18" charset="0"/>
              </a:rPr>
              <a:t>HƯỚNG DẪN SỬ DỤNG</a:t>
            </a:r>
            <a:endParaRPr lang="zh-CN" altLang="en-US" sz="3200" dirty="0">
              <a:latin typeface="Times New Roman" pitchFamily="18" charset="0"/>
              <a:ea typeface="Arial Unicode MS" pitchFamily="34" charset="-122"/>
              <a:cs typeface="Times New Roman" pitchFamily="18" charset="0"/>
            </a:endParaRPr>
          </a:p>
        </p:txBody>
      </p:sp>
      <p:cxnSp>
        <p:nvCxnSpPr>
          <p:cNvPr id="3" name="Straight Connector 2"/>
          <p:cNvCxnSpPr/>
          <p:nvPr/>
        </p:nvCxnSpPr>
        <p:spPr>
          <a:xfrm>
            <a:off x="1907704" y="3140968"/>
            <a:ext cx="4968552" cy="8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6181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竖排文字占位符 1"/>
          <p:cNvSpPr txBox="1">
            <a:spLocks noChangeArrowheads="1"/>
          </p:cNvSpPr>
          <p:nvPr/>
        </p:nvSpPr>
        <p:spPr bwMode="auto">
          <a:xfrm>
            <a:off x="1403648" y="116632"/>
            <a:ext cx="4852231" cy="26587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316531" indent="-316531" algn="l" defTabSz="844083" eaLnBrk="0" latinLnBrk="1" hangingPunct="0">
              <a:spcBef>
                <a:spcPct val="20000"/>
              </a:spcBef>
              <a:defRPr/>
            </a:pPr>
            <a:r>
              <a:rPr lang="en-US" altLang="zh-CN" sz="1200" kern="0" dirty="0" smtClean="0">
                <a:latin typeface="Times New Roman" panose="02020603050405020304" pitchFamily="18" charset="0"/>
                <a:ea typeface="微软雅黑" pitchFamily="34" charset="-122"/>
                <a:cs typeface="Times New Roman" panose="02020603050405020304" pitchFamily="18" charset="0"/>
              </a:rPr>
              <a:t>Hệ thống nhân sự</a:t>
            </a:r>
            <a:r>
              <a:rPr lang="zh-CN" altLang="en-US" sz="1200" b="0" kern="0" dirty="0" smtClean="0">
                <a:latin typeface="Times New Roman" panose="02020603050405020304" pitchFamily="18" charset="0"/>
                <a:ea typeface="微软雅黑" pitchFamily="34" charset="-122"/>
                <a:cs typeface="Times New Roman" panose="02020603050405020304" pitchFamily="18" charset="0"/>
              </a:rPr>
              <a:t> </a:t>
            </a:r>
            <a:r>
              <a:rPr lang="en-US" altLang="zh-CN" sz="1200" b="0" kern="0" dirty="0" smtClean="0">
                <a:latin typeface="Times New Roman" panose="02020603050405020304" pitchFamily="18" charset="0"/>
                <a:ea typeface="微软雅黑" pitchFamily="34" charset="-122"/>
                <a:cs typeface="Times New Roman" panose="02020603050405020304" pitchFamily="18" charset="0"/>
              </a:rPr>
              <a:t>&gt; </a:t>
            </a:r>
            <a:r>
              <a:rPr lang="en-US" altLang="zh-CN" sz="1200" kern="0" dirty="0" smtClean="0">
                <a:latin typeface="Times New Roman" panose="02020603050405020304" pitchFamily="18" charset="0"/>
                <a:ea typeface="微软雅黑" pitchFamily="34" charset="-122"/>
                <a:cs typeface="Times New Roman" panose="02020603050405020304" pitchFamily="18" charset="0"/>
              </a:rPr>
              <a:t>Đăng nhập</a:t>
            </a:r>
            <a:endParaRPr lang="zh-CN" altLang="en-US" sz="1200" kern="0" dirty="0">
              <a:latin typeface="Times New Roman" panose="02020603050405020304" pitchFamily="18" charset="0"/>
              <a:ea typeface="微软雅黑" pitchFamily="34" charset="-122"/>
              <a:cs typeface="Times New Roman" panose="02020603050405020304" pitchFamily="18" charset="0"/>
            </a:endParaRPr>
          </a:p>
        </p:txBody>
      </p:sp>
      <p:sp>
        <p:nvSpPr>
          <p:cNvPr id="39" name="Text Box 8"/>
          <p:cNvSpPr txBox="1">
            <a:spLocks noChangeArrowheads="1"/>
          </p:cNvSpPr>
          <p:nvPr/>
        </p:nvSpPr>
        <p:spPr bwMode="auto">
          <a:xfrm>
            <a:off x="52113" y="548680"/>
            <a:ext cx="4586356" cy="433324"/>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477" dirty="0" smtClean="0">
                <a:solidFill>
                  <a:srgbClr val="000000"/>
                </a:solidFill>
                <a:latin typeface="Times New Roman" panose="02020603050405020304" pitchFamily="18" charset="0"/>
                <a:ea typeface="微软雅黑" pitchFamily="34" charset="-122"/>
                <a:cs typeface="Times New Roman" panose="02020603050405020304" pitchFamily="18" charset="0"/>
              </a:rPr>
              <a:t>Địa chỉ đăng nhập</a:t>
            </a:r>
            <a:r>
              <a:rPr lang="en-US" altLang="zh-CN" sz="1477" dirty="0" smtClean="0">
                <a:solidFill>
                  <a:srgbClr val="000000"/>
                </a:solidFill>
                <a:latin typeface="微软雅黑" pitchFamily="34" charset="-122"/>
                <a:ea typeface="微软雅黑" pitchFamily="34" charset="-122"/>
              </a:rPr>
              <a:t>: </a:t>
            </a:r>
            <a:r>
              <a:rPr lang="en-US" altLang="zh-CN" sz="1477" dirty="0">
                <a:solidFill>
                  <a:srgbClr val="FF0000"/>
                </a:solidFill>
                <a:latin typeface="微软雅黑" pitchFamily="34" charset="-122"/>
                <a:ea typeface="微软雅黑" pitchFamily="34" charset="-122"/>
              </a:rPr>
              <a:t>http://10.42.200.56:9100</a:t>
            </a:r>
            <a:endParaRPr lang="zh-CN" altLang="en-US" sz="1477" u="sng" dirty="0">
              <a:solidFill>
                <a:srgbClr val="FF0000"/>
              </a:solidFill>
              <a:latin typeface="微软雅黑" pitchFamily="34" charset="-122"/>
              <a:ea typeface="微软雅黑" pitchFamily="34" charset="-122"/>
            </a:endParaRPr>
          </a:p>
        </p:txBody>
      </p:sp>
      <p:sp>
        <p:nvSpPr>
          <p:cNvPr id="40" name="Text Box 8"/>
          <p:cNvSpPr txBox="1">
            <a:spLocks noChangeArrowheads="1"/>
          </p:cNvSpPr>
          <p:nvPr/>
        </p:nvSpPr>
        <p:spPr bwMode="auto">
          <a:xfrm>
            <a:off x="2644401" y="4962087"/>
            <a:ext cx="4586356" cy="987193"/>
          </a:xfrm>
          <a:prstGeom prst="rect">
            <a:avLst/>
          </a:prstGeom>
          <a:noFill/>
          <a:ln w="9525" algn="ctr">
            <a:noFill/>
            <a:miter lim="800000"/>
            <a:headEnd/>
            <a:tailEnd/>
          </a:ln>
          <a:effectLst/>
        </p:spPr>
        <p:txBody>
          <a:bodyPr wrap="square">
            <a:spAutoFit/>
          </a:bodyPr>
          <a:lstStyle/>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USER ID</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Mã nhân viên</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       </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PASSWORD</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endParaRPr lang="en-US" altLang="zh-CN"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a:p>
            <a:pPr marL="316531" indent="-316531" algn="l" eaLnBrk="0" hangingPunct="0">
              <a:lnSpc>
                <a:spcPct val="150000"/>
              </a:lnSpc>
            </a:pP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Hệ thống</a:t>
            </a:r>
            <a:r>
              <a:rPr lang="zh-CN" altLang="en-US"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1292" dirty="0" smtClean="0">
                <a:solidFill>
                  <a:srgbClr val="FF0000"/>
                </a:solidFill>
                <a:latin typeface="Times New Roman" panose="02020603050405020304" pitchFamily="18" charset="0"/>
                <a:ea typeface="微软雅黑" pitchFamily="34" charset="-122"/>
                <a:cs typeface="Times New Roman" panose="02020603050405020304" pitchFamily="18" charset="0"/>
              </a:rPr>
              <a:t>Hub</a:t>
            </a:r>
            <a:endParaRPr lang="zh-CN" altLang="en-US" sz="1292"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5576" y="885811"/>
            <a:ext cx="7559490" cy="4000460"/>
          </a:xfrm>
          <a:prstGeom prst="rect">
            <a:avLst/>
          </a:prstGeom>
        </p:spPr>
      </p:pic>
    </p:spTree>
    <p:extLst>
      <p:ext uri="{BB962C8B-B14F-4D97-AF65-F5344CB8AC3E}">
        <p14:creationId xmlns:p14="http://schemas.microsoft.com/office/powerpoint/2010/main" val="24491270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187624" y="116632"/>
            <a:ext cx="3024336"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Quản lý công việc -Kế hoạch trả lương</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Trước khi tính lương mỗi tháng, lập kế hoạch trả lương trên hệ thống</a:t>
            </a:r>
            <a:endParaRPr lang="zh-CN" altLang="en-US" sz="1200" dirty="0">
              <a:latin typeface="Times New Roman" pitchFamily="18" charset="0"/>
              <a:cs typeface="Times New Roman" pitchFamily="18" charset="0"/>
            </a:endParaRPr>
          </a:p>
        </p:txBody>
      </p:sp>
      <p:sp>
        <p:nvSpPr>
          <p:cNvPr id="37" name="TextBox 36"/>
          <p:cNvSpPr txBox="1"/>
          <p:nvPr/>
        </p:nvSpPr>
        <p:spPr>
          <a:xfrm>
            <a:off x="6691492" y="2082914"/>
            <a:ext cx="891590"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38" name="TextBox 37"/>
          <p:cNvSpPr txBox="1"/>
          <p:nvPr/>
        </p:nvSpPr>
        <p:spPr>
          <a:xfrm>
            <a:off x="6660232" y="2287905"/>
            <a:ext cx="2483768" cy="2308324"/>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Tra cứu kế hoạch trả lương trước đây</a:t>
            </a:r>
          </a:p>
          <a:p>
            <a:pPr algn="l"/>
            <a:r>
              <a:rPr lang="en-US" altLang="zh-CN" sz="1200" b="1" dirty="0" smtClean="0">
                <a:latin typeface="Times New Roman" pitchFamily="18" charset="0"/>
                <a:cs typeface="Times New Roman" pitchFamily="18" charset="0"/>
              </a:rPr>
              <a:t>Thêm mới: </a:t>
            </a:r>
            <a:r>
              <a:rPr lang="en-US" altLang="zh-CN" sz="1200" dirty="0" smtClean="0">
                <a:latin typeface="Times New Roman" pitchFamily="18" charset="0"/>
                <a:cs typeface="Times New Roman" pitchFamily="18" charset="0"/>
              </a:rPr>
              <a:t>Chọn thêm mới để thêm 1 dòng ghi kế hoạch trả lương: nhập ngày phát, chọn loại NV, ngày bắt đầu, kết thúc chấm công, nhập/chọn ngày và thời gian mở lương, chọn “Lưu”, người thay đổi</a:t>
            </a:r>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thời gian thay đổi tự động mặc định là người thực hiện trên hệ thống</a:t>
            </a:r>
          </a:p>
          <a:p>
            <a:pPr algn="l"/>
            <a:r>
              <a:rPr lang="en-US" altLang="zh-CN" sz="1200" b="1" dirty="0" smtClean="0">
                <a:latin typeface="Times New Roman" pitchFamily="18" charset="0"/>
                <a:cs typeface="Times New Roman" pitchFamily="18" charset="0"/>
              </a:rPr>
              <a:t>Lưu: </a:t>
            </a:r>
            <a:r>
              <a:rPr lang="en-US" altLang="zh-CN" sz="1200" dirty="0" smtClean="0">
                <a:latin typeface="Times New Roman" pitchFamily="18" charset="0"/>
                <a:cs typeface="Times New Roman" pitchFamily="18" charset="0"/>
              </a:rPr>
              <a:t>Lưu thông tin vừa Thêm mới hoặc chỉnh sửa.</a:t>
            </a:r>
          </a:p>
        </p:txBody>
      </p:sp>
      <p:pic>
        <p:nvPicPr>
          <p:cNvPr id="3" name="Picture 2"/>
          <p:cNvPicPr>
            <a:picLocks noChangeAspect="1"/>
          </p:cNvPicPr>
          <p:nvPr/>
        </p:nvPicPr>
        <p:blipFill>
          <a:blip r:embed="rId3"/>
          <a:stretch>
            <a:fillRect/>
          </a:stretch>
        </p:blipFill>
        <p:spPr>
          <a:xfrm>
            <a:off x="0" y="1484784"/>
            <a:ext cx="6671933" cy="3503476"/>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403648" y="116632"/>
            <a:ext cx="2952328" cy="276999"/>
          </a:xfrm>
          <a:prstGeom prst="rect">
            <a:avLst/>
          </a:prstGeom>
          <a:noFill/>
        </p:spPr>
        <p:txBody>
          <a:bodyPr wrap="square" rtlCol="0">
            <a:spAutoFit/>
          </a:bodyPr>
          <a:lstStyle/>
          <a:p>
            <a:r>
              <a:rPr lang="en-US" altLang="zh-CN" sz="1200" dirty="0">
                <a:latin typeface="Times New Roman" pitchFamily="18" charset="0"/>
                <a:cs typeface="Times New Roman" pitchFamily="18" charset="0"/>
              </a:rPr>
              <a:t>Quản lý công việc - Đối </a:t>
            </a:r>
            <a:r>
              <a:rPr lang="en-US" altLang="zh-CN" sz="1200" dirty="0" smtClean="0">
                <a:latin typeface="Times New Roman" pitchFamily="18" charset="0"/>
                <a:cs typeface="Times New Roman" pitchFamily="18" charset="0"/>
              </a:rPr>
              <a:t>tượng nhận lương</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830997"/>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Sau khi tạo đối tượng nhận lương tại trang “Quy trình tính lương”, nếu muốn điều chỉnh Nv tham gia tính lương thì sẽ vào trang này</a:t>
            </a:r>
            <a:endParaRPr lang="zh-CN" altLang="en-US" sz="1200" dirty="0">
              <a:latin typeface="Times New Roman" pitchFamily="18" charset="0"/>
              <a:cs typeface="Times New Roman" pitchFamily="18" charset="0"/>
            </a:endParaRPr>
          </a:p>
        </p:txBody>
      </p:sp>
      <p:sp>
        <p:nvSpPr>
          <p:cNvPr id="6" name="TextBox 5"/>
          <p:cNvSpPr txBox="1"/>
          <p:nvPr/>
        </p:nvSpPr>
        <p:spPr>
          <a:xfrm>
            <a:off x="6660232" y="2373851"/>
            <a:ext cx="994183"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zh-CN" altLang="en-US"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9" name="TextBox 8"/>
          <p:cNvSpPr txBox="1"/>
          <p:nvPr/>
        </p:nvSpPr>
        <p:spPr>
          <a:xfrm>
            <a:off x="6660232" y="2708920"/>
            <a:ext cx="2483768" cy="3231654"/>
          </a:xfrm>
          <a:prstGeom prst="rect">
            <a:avLst/>
          </a:prstGeom>
          <a:noFill/>
        </p:spPr>
        <p:txBody>
          <a:bodyPr wrap="square" rtlCol="0">
            <a:spAutoFit/>
          </a:bodyPr>
          <a:lstStyle/>
          <a:p>
            <a:pPr algn="l"/>
            <a:r>
              <a:rPr lang="en-US" altLang="zh-CN" sz="1200" b="1" dirty="0" smtClean="0">
                <a:latin typeface="Times New Roman" pitchFamily="18" charset="0"/>
                <a:cs typeface="Times New Roman" pitchFamily="18" charset="0"/>
              </a:rPr>
              <a:t>Tra cứu:</a:t>
            </a:r>
            <a:r>
              <a:rPr lang="en-US" altLang="zh-CN" sz="1200" dirty="0" smtClean="0">
                <a:latin typeface="Times New Roman" pitchFamily="18" charset="0"/>
                <a:cs typeface="Times New Roman" pitchFamily="18" charset="0"/>
              </a:rPr>
              <a:t>Chọn ngày phát lương trong phần “Kế hoạch trả lương” sau đó chọn “Tra cứu”, hệ thống tìm ra tất cả những NV tham gia tính lương theo kế hoạch</a:t>
            </a:r>
          </a:p>
          <a:p>
            <a:pPr algn="l"/>
            <a:r>
              <a:rPr lang="en-US" altLang="zh-CN" sz="1200" b="1" dirty="0" smtClean="0">
                <a:latin typeface="Times New Roman" pitchFamily="18" charset="0"/>
                <a:cs typeface="Times New Roman" pitchFamily="18" charset="0"/>
              </a:rPr>
              <a:t>Thêm mới:</a:t>
            </a:r>
            <a:r>
              <a:rPr lang="en-US" altLang="zh-CN" sz="1200" dirty="0" smtClean="0">
                <a:latin typeface="Times New Roman" pitchFamily="18" charset="0"/>
                <a:cs typeface="Times New Roman" pitchFamily="18" charset="0"/>
              </a:rPr>
              <a:t>Nếu muốn thêm NV tham gia tính lương trong kế hoạch lần này, chọn “Thêm mới” hệ thống hiện thì 1 dòng, tìm kiếm NV muốn thêm, sau đó “Lưu”</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Xóa: </a:t>
            </a:r>
            <a:r>
              <a:rPr lang="en-US" altLang="zh-CN" sz="1200" dirty="0" smtClean="0">
                <a:latin typeface="Times New Roman" pitchFamily="18" charset="0"/>
                <a:cs typeface="Times New Roman" pitchFamily="18" charset="0"/>
              </a:rPr>
              <a:t>Nếu NV nào không tham gia tính lương lần này, có thể tích chọn NV đó, chọn “Xóa” xóa bỏ NV tham gia tính lương</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Lưu: </a:t>
            </a:r>
            <a:r>
              <a:rPr lang="en-US" altLang="zh-CN" sz="1200" dirty="0" smtClean="0">
                <a:latin typeface="Times New Roman" pitchFamily="18" charset="0"/>
                <a:cs typeface="Times New Roman" pitchFamily="18" charset="0"/>
              </a:rPr>
              <a:t>Lưu thông tin vừa Thêm mới hoặc sửa đổi</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 : </a:t>
            </a:r>
            <a:r>
              <a:rPr lang="en-US" altLang="zh-CN" sz="1200" dirty="0" smtClean="0">
                <a:latin typeface="Times New Roman" pitchFamily="18" charset="0"/>
                <a:cs typeface="Times New Roman" pitchFamily="18" charset="0"/>
              </a:rPr>
              <a:t>Kết xuất dữ liệu trang</a:t>
            </a:r>
            <a:endParaRPr lang="zh-CN" altLang="en-US" sz="1200" dirty="0">
              <a:latin typeface="Times New Roman" pitchFamily="18" charset="0"/>
              <a:cs typeface="Times New Roman" pitchFamily="18" charset="0"/>
            </a:endParaRPr>
          </a:p>
        </p:txBody>
      </p:sp>
      <p:sp>
        <p:nvSpPr>
          <p:cNvPr id="4" name="矩形 3"/>
          <p:cNvSpPr/>
          <p:nvPr/>
        </p:nvSpPr>
        <p:spPr>
          <a:xfrm>
            <a:off x="4211960" y="2564904"/>
            <a:ext cx="288032"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14434" y="1263972"/>
            <a:ext cx="6625762" cy="3605188"/>
          </a:xfrm>
          <a:prstGeom prst="rect">
            <a:avLst/>
          </a:prstGeom>
        </p:spPr>
      </p:pic>
    </p:spTree>
    <p:extLst>
      <p:ext uri="{BB962C8B-B14F-4D97-AF65-F5344CB8AC3E}">
        <p14:creationId xmlns:p14="http://schemas.microsoft.com/office/powerpoint/2010/main" val="20470566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378206" y="116632"/>
            <a:ext cx="2977770" cy="276999"/>
          </a:xfrm>
          <a:prstGeom prst="rect">
            <a:avLst/>
          </a:prstGeom>
          <a:noFill/>
        </p:spPr>
        <p:txBody>
          <a:bodyPr wrap="square" rtlCol="0">
            <a:spAutoFit/>
          </a:bodyPr>
          <a:lstStyle/>
          <a:p>
            <a:r>
              <a:rPr lang="en-US" altLang="zh-CN" sz="1200" dirty="0">
                <a:latin typeface="Times New Roman" pitchFamily="18" charset="0"/>
                <a:cs typeface="Times New Roman" pitchFamily="18" charset="0"/>
              </a:rPr>
              <a:t>Quản lý công việc - Quy </a:t>
            </a:r>
            <a:r>
              <a:rPr lang="en-US" altLang="zh-CN" sz="1200" dirty="0" smtClean="0">
                <a:latin typeface="Times New Roman" pitchFamily="18" charset="0"/>
                <a:cs typeface="Times New Roman" pitchFamily="18" charset="0"/>
              </a:rPr>
              <a:t>trình tính lương</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Hướng dẫn NV tính lương quy trình tính toán tiền lương trong hệ thống</a:t>
            </a:r>
            <a:endParaRPr lang="zh-CN" altLang="en-US" sz="1200" dirty="0">
              <a:latin typeface="Times New Roman" pitchFamily="18" charset="0"/>
              <a:cs typeface="Times New Roman" pitchFamily="18" charset="0"/>
            </a:endParaRPr>
          </a:p>
        </p:txBody>
      </p:sp>
      <p:sp>
        <p:nvSpPr>
          <p:cNvPr id="40" name="TextBox 39"/>
          <p:cNvSpPr txBox="1"/>
          <p:nvPr/>
        </p:nvSpPr>
        <p:spPr>
          <a:xfrm>
            <a:off x="6691492" y="2343070"/>
            <a:ext cx="891591"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41" name="TextBox 40"/>
          <p:cNvSpPr txBox="1"/>
          <p:nvPr/>
        </p:nvSpPr>
        <p:spPr>
          <a:xfrm>
            <a:off x="6660232" y="2573610"/>
            <a:ext cx="2483768" cy="3046988"/>
          </a:xfrm>
          <a:prstGeom prst="rect">
            <a:avLst/>
          </a:prstGeom>
          <a:noFill/>
        </p:spPr>
        <p:txBody>
          <a:bodyPr wrap="square" rtlCol="0">
            <a:spAutoFit/>
          </a:bodyPr>
          <a:lstStyle/>
          <a:p>
            <a:pPr algn="l"/>
            <a:r>
              <a:rPr lang="en-US" altLang="zh-CN" sz="1200" b="1" dirty="0" smtClean="0">
                <a:latin typeface="Times New Roman" pitchFamily="18" charset="0"/>
                <a:cs typeface="Times New Roman" pitchFamily="18" charset="0"/>
              </a:rPr>
              <a:t>Thực hiện: </a:t>
            </a:r>
            <a:r>
              <a:rPr lang="en-US" altLang="zh-CN" sz="1200" dirty="0" smtClean="0">
                <a:latin typeface="Times New Roman" pitchFamily="18" charset="0"/>
                <a:cs typeface="Times New Roman" pitchFamily="18" charset="0"/>
              </a:rPr>
              <a:t>Các đoạn nội dung có ô nhỏ cần lưu ý tích chọn và chọn “Thực hiện” để hệ thống tự động thực hiện. Khi hệ thống hiện lên bất kỳ nhắc nhở nào, NV tính lương cần chỉnh sửa dữ liệu lỗi và tiến hành lại từ bước đó</a:t>
            </a:r>
          </a:p>
          <a:p>
            <a:pPr algn="l"/>
            <a:r>
              <a:rPr lang="en-US" altLang="zh-CN" sz="1200" dirty="0" smtClean="0">
                <a:latin typeface="Times New Roman" pitchFamily="18" charset="0"/>
                <a:cs typeface="Times New Roman" pitchFamily="18" charset="0"/>
              </a:rPr>
              <a:t>Mở công: hủy trạng thái chốt, nhân viên có thể tại ESS xin tăng ca hoặc xin phép nghỉ</a:t>
            </a:r>
          </a:p>
          <a:p>
            <a:pPr algn="l"/>
            <a:r>
              <a:rPr lang="en-US" altLang="zh-CN" sz="1200" b="1" dirty="0" smtClean="0">
                <a:latin typeface="Times New Roman" pitchFamily="18" charset="0"/>
                <a:cs typeface="Times New Roman" pitchFamily="18" charset="0"/>
              </a:rPr>
              <a:t>Ghi chú</a:t>
            </a:r>
            <a:r>
              <a:rPr lang="en-US" altLang="zh-CN" sz="1200" b="1" dirty="0">
                <a:latin typeface="Times New Roman" pitchFamily="18" charset="0"/>
                <a:cs typeface="Times New Roman" pitchFamily="18" charset="0"/>
              </a:rPr>
              <a:t>:</a:t>
            </a:r>
            <a:endParaRPr lang="en-US" altLang="zh-CN" sz="1200" b="1" dirty="0" smtClean="0">
              <a:latin typeface="Times New Roman" pitchFamily="18" charset="0"/>
              <a:cs typeface="Times New Roman" pitchFamily="18" charset="0"/>
            </a:endParaRPr>
          </a:p>
          <a:p>
            <a:pPr algn="l"/>
            <a:r>
              <a:rPr lang="en-US" altLang="zh-CN" sz="1200" dirty="0" smtClean="0">
                <a:latin typeface="Times New Roman" pitchFamily="18" charset="0"/>
                <a:cs typeface="Times New Roman" pitchFamily="18" charset="0"/>
              </a:rPr>
              <a:t>Chấm công, bảo hiểm chưa được chốt thì chưa thể tính ra lương chính thức/lương thử việc. </a:t>
            </a:r>
            <a:r>
              <a:rPr lang="en-US" altLang="zh-CN" sz="1200" dirty="0" err="1" smtClean="0">
                <a:latin typeface="Times New Roman" pitchFamily="18" charset="0"/>
                <a:cs typeface="Times New Roman" pitchFamily="18" charset="0"/>
              </a:rPr>
              <a:t>Quy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trình</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xác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nhận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lương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không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ảnh</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hưởng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đến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việc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xem</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các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báo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cáo</a:t>
            </a:r>
            <a:endParaRPr lang="en-US" altLang="zh-CN" sz="1200" dirty="0" smtClean="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1" y="1340420"/>
            <a:ext cx="6691492" cy="3748346"/>
          </a:xfrm>
          <a:prstGeom prst="rect">
            <a:avLst/>
          </a:prstGeom>
        </p:spPr>
      </p:pic>
    </p:spTree>
    <p:extLst>
      <p:ext uri="{BB962C8B-B14F-4D97-AF65-F5344CB8AC3E}">
        <p14:creationId xmlns:p14="http://schemas.microsoft.com/office/powerpoint/2010/main" val="42057280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187624" y="127665"/>
            <a:ext cx="3312368" cy="276999"/>
          </a:xfrm>
          <a:prstGeom prst="rect">
            <a:avLst/>
          </a:prstGeom>
          <a:noFill/>
        </p:spPr>
        <p:txBody>
          <a:bodyPr wrap="square" rtlCol="0">
            <a:spAutoFit/>
          </a:bodyPr>
          <a:lstStyle/>
          <a:p>
            <a:r>
              <a:rPr lang="en-US" altLang="zh-CN" sz="1200" dirty="0">
                <a:latin typeface="Times New Roman" pitchFamily="18" charset="0"/>
                <a:cs typeface="Times New Roman" pitchFamily="18" charset="0"/>
              </a:rPr>
              <a:t>Quản lý công việc - Thông </a:t>
            </a:r>
            <a:r>
              <a:rPr lang="en-US" altLang="zh-CN" sz="1200" dirty="0" smtClean="0">
                <a:latin typeface="Times New Roman" pitchFamily="18" charset="0"/>
                <a:cs typeface="Times New Roman" pitchFamily="18" charset="0"/>
              </a:rPr>
              <a:t>tin tài khoản</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Quản lý thông tin tài khoản ngân hàng, mã BH, mã số thuế của NV</a:t>
            </a:r>
            <a:endParaRPr lang="zh-CN" altLang="en-US" sz="1200" dirty="0">
              <a:latin typeface="Times New Roman" pitchFamily="18" charset="0"/>
              <a:cs typeface="Times New Roman" pitchFamily="18" charset="0"/>
            </a:endParaRPr>
          </a:p>
        </p:txBody>
      </p:sp>
      <p:sp>
        <p:nvSpPr>
          <p:cNvPr id="37" name="TextBox 36"/>
          <p:cNvSpPr txBox="1"/>
          <p:nvPr/>
        </p:nvSpPr>
        <p:spPr>
          <a:xfrm>
            <a:off x="6691492" y="2082914"/>
            <a:ext cx="891591"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38" name="TextBox 37"/>
          <p:cNvSpPr txBox="1"/>
          <p:nvPr/>
        </p:nvSpPr>
        <p:spPr>
          <a:xfrm>
            <a:off x="6660232" y="2287905"/>
            <a:ext cx="2483768" cy="3231654"/>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Bản</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mẫu</a:t>
            </a:r>
            <a:r>
              <a:rPr lang="zh-CN" altLang="en-US" sz="1200" b="1" dirty="0" smtClean="0">
                <a:latin typeface="Times New Roman" pitchFamily="18" charset="0"/>
                <a:cs typeface="Times New Roman" pitchFamily="18" charset="0"/>
              </a:rPr>
              <a:t>：</a:t>
            </a:r>
            <a:r>
              <a:rPr lang="en-US" altLang="zh-CN" sz="1200" dirty="0" err="1" smtClean="0">
                <a:latin typeface="Times New Roman" pitchFamily="18" charset="0"/>
                <a:cs typeface="Times New Roman" pitchFamily="18" charset="0"/>
              </a:rPr>
              <a:t>Tải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mẫu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tài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khoản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của</a:t>
            </a:r>
            <a:r>
              <a:rPr lang="en-US" altLang="zh-CN" sz="1200" dirty="0" smtClean="0">
                <a:latin typeface="Times New Roman" pitchFamily="18" charset="0"/>
                <a:cs typeface="Times New Roman" pitchFamily="18" charset="0"/>
              </a:rPr>
              <a:t> CNV</a:t>
            </a:r>
            <a:endParaRPr lang="en-US" altLang="zh-CN"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Chèn file</a:t>
            </a:r>
            <a:r>
              <a:rPr lang="zh-CN" altLang="en-US" sz="1200" b="1" dirty="0" smtClean="0">
                <a:latin typeface="Times New Roman" pitchFamily="18" charset="0"/>
                <a:cs typeface="Times New Roman" pitchFamily="18" charset="0"/>
              </a:rPr>
              <a:t>：</a:t>
            </a:r>
            <a:r>
              <a:rPr lang="en-US" altLang="zh-CN" sz="1200" dirty="0" err="1" smtClean="0">
                <a:latin typeface="Times New Roman" pitchFamily="18" charset="0"/>
                <a:cs typeface="Times New Roman" pitchFamily="18" charset="0"/>
              </a:rPr>
              <a:t>tải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hệ</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thống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dữ</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liệu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tài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khoản</a:t>
            </a:r>
            <a:endParaRPr lang="en-US" altLang="zh-CN" sz="1200" dirty="0">
              <a:latin typeface="Times New Roman" pitchFamily="18" charset="0"/>
              <a:cs typeface="Times New Roman" pitchFamily="18" charset="0"/>
            </a:endParaRPr>
          </a:p>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b="1" dirty="0" smtClean="0">
                <a:latin typeface="Times New Roman" pitchFamily="18" charset="0"/>
                <a:cs typeface="Times New Roman" pitchFamily="18" charset="0"/>
              </a:rPr>
              <a:t>：</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tài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khoản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của</a:t>
            </a:r>
            <a:r>
              <a:rPr lang="en-US" altLang="zh-CN" sz="1200" dirty="0" smtClean="0">
                <a:latin typeface="Times New Roman" pitchFamily="18" charset="0"/>
                <a:cs typeface="Times New Roman" pitchFamily="18" charset="0"/>
              </a:rPr>
              <a:t> CNV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ĐK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endParaRPr lang="en-US" altLang="zh-CN"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Thêm mới</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Chọn “ Thêm mới” hiển thị 1 dòng, nhập tên ( tìm nhanh), các thông tin cơ bản khác tự động hiển thị, nhập thông tin liên quan sau đó “Lưu”</a:t>
            </a:r>
            <a:endParaRPr lang="zh-CN" altLang="en-US" sz="1200" dirty="0">
              <a:latin typeface="Times New Roman" pitchFamily="18" charset="0"/>
              <a:cs typeface="Times New Roman" pitchFamily="18" charset="0"/>
            </a:endParaRPr>
          </a:p>
          <a:p>
            <a:pPr algn="l"/>
            <a:r>
              <a:rPr lang="en-US" altLang="zh-CN" sz="1200" b="1" dirty="0" err="1" smtClean="0">
                <a:latin typeface="Times New Roman" pitchFamily="18" charset="0"/>
                <a:cs typeface="Times New Roman" pitchFamily="18" charset="0"/>
              </a:rPr>
              <a:t>Xóa</a:t>
            </a:r>
            <a:r>
              <a:rPr lang="zh-CN" altLang="en-US" sz="1200" b="1" dirty="0" smtClean="0">
                <a:latin typeface="Times New Roman" pitchFamily="18" charset="0"/>
                <a:cs typeface="Times New Roman" pitchFamily="18" charset="0"/>
              </a:rPr>
              <a:t>：</a:t>
            </a:r>
            <a:r>
              <a:rPr lang="en-US" altLang="zh-CN" sz="1200" dirty="0" err="1" smtClean="0">
                <a:latin typeface="Times New Roman" pitchFamily="18" charset="0"/>
                <a:cs typeface="Times New Roman" pitchFamily="18" charset="0"/>
              </a:rPr>
              <a:t>Chọn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dòng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muốn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chọn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này</a:t>
            </a:r>
            <a:endParaRPr lang="zh-CN" altLang="en-US" sz="1200" dirty="0">
              <a:latin typeface="Times New Roman" pitchFamily="18" charset="0"/>
              <a:cs typeface="Times New Roman" pitchFamily="18" charset="0"/>
            </a:endParaRPr>
          </a:p>
          <a:p>
            <a:pPr algn="l"/>
            <a:r>
              <a:rPr lang="en-US" altLang="zh-CN" sz="1200" b="1" dirty="0" err="1" smtClean="0">
                <a:latin typeface="Times New Roman" pitchFamily="18" charset="0"/>
                <a:cs typeface="Times New Roman" pitchFamily="18" charset="0"/>
              </a:rPr>
              <a:t>Lưu</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Lưu thông tin Thêm mới và sửa</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kết xuất Xuất Excel thông tin trang</a:t>
            </a:r>
            <a:endParaRPr lang="en-US" altLang="zh-CN" sz="1200" dirty="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38307" y="1340768"/>
            <a:ext cx="6621925" cy="3709377"/>
          </a:xfrm>
          <a:prstGeom prst="rect">
            <a:avLst/>
          </a:prstGeom>
        </p:spPr>
      </p:pic>
    </p:spTree>
    <p:extLst>
      <p:ext uri="{BB962C8B-B14F-4D97-AF65-F5344CB8AC3E}">
        <p14:creationId xmlns:p14="http://schemas.microsoft.com/office/powerpoint/2010/main" val="8625861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269876" y="116632"/>
            <a:ext cx="3302124" cy="276999"/>
          </a:xfrm>
          <a:prstGeom prst="rect">
            <a:avLst/>
          </a:prstGeom>
          <a:noFill/>
        </p:spPr>
        <p:txBody>
          <a:bodyPr wrap="square" rtlCol="0">
            <a:spAutoFit/>
          </a:bodyPr>
          <a:lstStyle/>
          <a:p>
            <a:r>
              <a:rPr lang="en-US" altLang="zh-CN" sz="1200" dirty="0">
                <a:latin typeface="Times New Roman" pitchFamily="18" charset="0"/>
                <a:cs typeface="Times New Roman" pitchFamily="18" charset="0"/>
              </a:rPr>
              <a:t>Quản lý công việc - Người </a:t>
            </a:r>
            <a:r>
              <a:rPr lang="en-US" altLang="zh-CN" sz="1200" dirty="0" smtClean="0">
                <a:latin typeface="Times New Roman" pitchFamily="18" charset="0"/>
                <a:cs typeface="Times New Roman" pitchFamily="18" charset="0"/>
              </a:rPr>
              <a:t>phụ trách lương</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1015663"/>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Thiết lập NV phụ trách tiền lương.</a:t>
            </a:r>
          </a:p>
          <a:p>
            <a:pPr algn="l"/>
            <a:r>
              <a:rPr lang="en-US" altLang="zh-CN" sz="1200" dirty="0" smtClean="0">
                <a:latin typeface="Times New Roman" pitchFamily="18" charset="0"/>
                <a:cs typeface="Times New Roman" pitchFamily="18" charset="0"/>
              </a:rPr>
              <a:t>Tại trang này, chọn “Thêm mới”, thêm NV phụ trách lương, bên phải chọn phòng ban NV đó phụ trách tính lương, sau đó “Lưu”</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69057" y="1268760"/>
            <a:ext cx="6591175" cy="3692152"/>
          </a:xfrm>
          <a:prstGeom prst="rect">
            <a:avLst/>
          </a:prstGeom>
        </p:spPr>
      </p:pic>
      <p:pic>
        <p:nvPicPr>
          <p:cNvPr id="5" name="Picture 4"/>
          <p:cNvPicPr>
            <a:picLocks noChangeAspect="1"/>
          </p:cNvPicPr>
          <p:nvPr/>
        </p:nvPicPr>
        <p:blipFill>
          <a:blip r:embed="rId4"/>
          <a:stretch>
            <a:fillRect/>
          </a:stretch>
        </p:blipFill>
        <p:spPr>
          <a:xfrm>
            <a:off x="323528" y="2733314"/>
            <a:ext cx="5871095" cy="3102727"/>
          </a:xfrm>
          <a:prstGeom prst="rect">
            <a:avLst/>
          </a:prstGeom>
        </p:spPr>
      </p:pic>
      <p:sp>
        <p:nvSpPr>
          <p:cNvPr id="4" name="Rectangle 3"/>
          <p:cNvSpPr/>
          <p:nvPr/>
        </p:nvSpPr>
        <p:spPr>
          <a:xfrm>
            <a:off x="6012160" y="1844824"/>
            <a:ext cx="360040" cy="14779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Elbow Connector 6"/>
          <p:cNvCxnSpPr>
            <a:endCxn id="5" idx="0"/>
          </p:cNvCxnSpPr>
          <p:nvPr/>
        </p:nvCxnSpPr>
        <p:spPr>
          <a:xfrm rot="10800000" flipV="1">
            <a:off x="3259077" y="1992614"/>
            <a:ext cx="2935547" cy="74069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55201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276999"/>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Nhập các dữ liệu lương lên hệ thống</a:t>
            </a:r>
            <a:endParaRPr lang="zh-CN" altLang="en-US" sz="1200" dirty="0">
              <a:latin typeface="Times New Roman" pitchFamily="18" charset="0"/>
              <a:cs typeface="Times New Roman" pitchFamily="18" charset="0"/>
            </a:endParaRPr>
          </a:p>
        </p:txBody>
      </p:sp>
      <p:sp>
        <p:nvSpPr>
          <p:cNvPr id="28" name="TextBox 27"/>
          <p:cNvSpPr txBox="1"/>
          <p:nvPr/>
        </p:nvSpPr>
        <p:spPr>
          <a:xfrm>
            <a:off x="6691492" y="2082914"/>
            <a:ext cx="891591"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29" name="TextBox 28"/>
          <p:cNvSpPr txBox="1"/>
          <p:nvPr/>
        </p:nvSpPr>
        <p:spPr>
          <a:xfrm>
            <a:off x="6660232" y="2287905"/>
            <a:ext cx="2483768" cy="1200329"/>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Bản</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mẫu</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Tích chọn dữ liệu muốn nhập, chọn “Bản mẫu” tải xuống bản mẫu của dữ liệu hạng mục này, thêm các thông tin tương ứng tại Bản mẫu.</a:t>
            </a:r>
            <a:endParaRPr lang="en-US" altLang="zh-CN"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Chèn file</a:t>
            </a:r>
            <a:r>
              <a:rPr lang="zh-CN" altLang="en-US" sz="1200" b="1" dirty="0" smtClean="0">
                <a:latin typeface="Times New Roman" pitchFamily="18" charset="0"/>
                <a:cs typeface="Times New Roman" pitchFamily="18" charset="0"/>
              </a:rPr>
              <a:t>：</a:t>
            </a:r>
            <a:r>
              <a:rPr lang="en-US" altLang="zh-CN" sz="1200" dirty="0" err="1" smtClean="0">
                <a:latin typeface="Times New Roman" pitchFamily="18" charset="0"/>
                <a:cs typeface="Times New Roman" pitchFamily="18" charset="0"/>
              </a:rPr>
              <a:t>nhập</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mẫu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vừa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thực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hiện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hệ</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thống</a:t>
            </a:r>
            <a:endParaRPr lang="en-US" altLang="zh-CN" sz="1200" dirty="0">
              <a:latin typeface="Times New Roman" pitchFamily="18" charset="0"/>
              <a:cs typeface="Times New Roman" pitchFamily="18" charset="0"/>
            </a:endParaRPr>
          </a:p>
        </p:txBody>
      </p:sp>
      <p:sp>
        <p:nvSpPr>
          <p:cNvPr id="8" name="TextBox 7"/>
          <p:cNvSpPr txBox="1"/>
          <p:nvPr/>
        </p:nvSpPr>
        <p:spPr>
          <a:xfrm>
            <a:off x="1403648" y="116632"/>
            <a:ext cx="2952328" cy="276999"/>
          </a:xfrm>
          <a:prstGeom prst="rect">
            <a:avLst/>
          </a:prstGeom>
          <a:noFill/>
        </p:spPr>
        <p:txBody>
          <a:bodyPr wrap="square" rtlCol="0">
            <a:spAutoFit/>
          </a:bodyPr>
          <a:lstStyle/>
          <a:p>
            <a:r>
              <a:rPr lang="en-US" altLang="zh-CN" sz="1200" dirty="0">
                <a:latin typeface="Times New Roman" pitchFamily="18" charset="0"/>
                <a:cs typeface="Times New Roman" pitchFamily="18" charset="0"/>
              </a:rPr>
              <a:t>Quản lý công việc - Nhập </a:t>
            </a:r>
            <a:r>
              <a:rPr lang="en-US" altLang="zh-CN" sz="1200" dirty="0" smtClean="0">
                <a:latin typeface="Times New Roman" pitchFamily="18" charset="0"/>
                <a:cs typeface="Times New Roman" pitchFamily="18" charset="0"/>
              </a:rPr>
              <a:t>dữ liệu lương</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0" y="1369536"/>
            <a:ext cx="6687634" cy="3746185"/>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Quản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lý</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thay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đổi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hoặc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thay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đổi</a:t>
            </a:r>
            <a:r>
              <a:rPr lang="en-US" altLang="zh-CN" sz="1200" dirty="0" smtClean="0">
                <a:latin typeface="Times New Roman" pitchFamily="18" charset="0"/>
                <a:cs typeface="Times New Roman" pitchFamily="18" charset="0"/>
              </a:rPr>
              <a:t> 1 </a:t>
            </a:r>
            <a:r>
              <a:rPr lang="en-US" altLang="zh-CN" sz="1200" dirty="0" err="1" smtClean="0">
                <a:latin typeface="Times New Roman" pitchFamily="18" charset="0"/>
                <a:cs typeface="Times New Roman" pitchFamily="18" charset="0"/>
              </a:rPr>
              <a:t>lần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mỗi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năm</a:t>
            </a:r>
            <a:endParaRPr lang="zh-CN" altLang="en-US" sz="1200" dirty="0">
              <a:latin typeface="Times New Roman" pitchFamily="18" charset="0"/>
              <a:cs typeface="Times New Roman" pitchFamily="18" charset="0"/>
            </a:endParaRPr>
          </a:p>
        </p:txBody>
      </p:sp>
      <p:sp>
        <p:nvSpPr>
          <p:cNvPr id="28" name="TextBox 27"/>
          <p:cNvSpPr txBox="1"/>
          <p:nvPr/>
        </p:nvSpPr>
        <p:spPr>
          <a:xfrm>
            <a:off x="6691492" y="1988840"/>
            <a:ext cx="891590"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10" name="TextBox 9"/>
          <p:cNvSpPr txBox="1"/>
          <p:nvPr/>
        </p:nvSpPr>
        <p:spPr>
          <a:xfrm>
            <a:off x="1269906" y="116632"/>
            <a:ext cx="2870045"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Quản lý chi trả -Hạng mục tiêu chuẩn</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287905"/>
            <a:ext cx="2483768" cy="3416320"/>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Bản</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mẫu</a:t>
            </a:r>
            <a:r>
              <a:rPr lang="en-US" altLang="zh-CN"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Tải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mẫu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a:t>
            </a:r>
          </a:p>
          <a:p>
            <a:pPr algn="l"/>
            <a:r>
              <a:rPr lang="en-US" altLang="zh-CN" sz="1200" b="1" dirty="0" smtClean="0">
                <a:latin typeface="Times New Roman" pitchFamily="18" charset="0"/>
                <a:cs typeface="Times New Roman" pitchFamily="18" charset="0"/>
              </a:rPr>
              <a:t>Chèn file: </a:t>
            </a:r>
            <a:r>
              <a:rPr lang="en-US" altLang="zh-CN" sz="1200" dirty="0" smtClean="0">
                <a:latin typeface="Times New Roman" pitchFamily="18" charset="0"/>
                <a:cs typeface="Times New Roman" pitchFamily="18" charset="0"/>
              </a:rPr>
              <a:t>Chọn nút này, nhập hàng loạt thông tin vào hệ thống</a:t>
            </a:r>
          </a:p>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CNV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điều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kiện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a:t>
            </a:r>
          </a:p>
          <a:p>
            <a:pPr algn="l"/>
            <a:r>
              <a:rPr lang="en-US" altLang="zh-CN" sz="1200" b="1" dirty="0" smtClean="0">
                <a:latin typeface="Times New Roman" pitchFamily="18" charset="0"/>
                <a:cs typeface="Times New Roman" pitchFamily="18" charset="0"/>
              </a:rPr>
              <a:t>Thêm mới: </a:t>
            </a:r>
            <a:r>
              <a:rPr lang="en-US" altLang="zh-CN" sz="1200" dirty="0" smtClean="0">
                <a:latin typeface="Times New Roman" pitchFamily="18" charset="0"/>
                <a:cs typeface="Times New Roman" pitchFamily="18" charset="0"/>
              </a:rPr>
              <a:t>Chọn “Thêm mới”, hiển ra 1 hàng, chọn chức vụ/chức danh/quốc tịch, hoặc nhập tên ( tìm nhanh), thông tin cở bản tự động hiện thị, nhập giá trị, ghi chú</a:t>
            </a:r>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xong chọn “Lưu”</a:t>
            </a:r>
            <a:endParaRPr lang="zh-CN" altLang="en-US" sz="1200" dirty="0">
              <a:latin typeface="Times New Roman" pitchFamily="18" charset="0"/>
              <a:cs typeface="Times New Roman" pitchFamily="18" charset="0"/>
            </a:endParaRPr>
          </a:p>
          <a:p>
            <a:pPr algn="l"/>
            <a:r>
              <a:rPr lang="en-US" altLang="zh-CN" sz="1200" b="1" dirty="0" err="1" smtClean="0">
                <a:latin typeface="Times New Roman" pitchFamily="18" charset="0"/>
                <a:cs typeface="Times New Roman" pitchFamily="18" charset="0"/>
              </a:rPr>
              <a:t>Xóa</a:t>
            </a:r>
            <a:r>
              <a:rPr lang="en-US" altLang="zh-CN"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Chọn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hàng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muốn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chọn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bỏ</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này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Có</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thể</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chọn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tất</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cả</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xóa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toàn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bô</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dữ</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liệu</a:t>
            </a:r>
            <a:r>
              <a:rPr lang="en-US" altLang="zh-CN" sz="1200" dirty="0" smtClean="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Lưu</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Lưu thông tin Thêm mới và chỉnh sửa</a:t>
            </a:r>
            <a:endParaRPr lang="en-US" altLang="zh-CN"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 Xuất Excel</a:t>
            </a:r>
            <a:r>
              <a:rPr lang="zh-CN" altLang="en-US" sz="1200" b="1" dirty="0" smtClean="0">
                <a:latin typeface="Times New Roman" pitchFamily="18" charset="0"/>
                <a:cs typeface="Times New Roman" pitchFamily="18" charset="0"/>
              </a:rPr>
              <a:t>：</a:t>
            </a:r>
            <a:r>
              <a:rPr lang="en-US" altLang="zh-CN" sz="1200" dirty="0" err="1" smtClean="0">
                <a:latin typeface="Times New Roman" pitchFamily="18" charset="0"/>
                <a:cs typeface="Times New Roman" pitchFamily="18" charset="0"/>
              </a:rPr>
              <a:t>Tải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trang</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41808" y="1340768"/>
            <a:ext cx="6658700" cy="3729977"/>
          </a:xfrm>
          <a:prstGeom prst="rect">
            <a:avLst/>
          </a:prstGeom>
        </p:spPr>
      </p:pic>
    </p:spTree>
    <p:extLst>
      <p:ext uri="{BB962C8B-B14F-4D97-AF65-F5344CB8AC3E}">
        <p14:creationId xmlns:p14="http://schemas.microsoft.com/office/powerpoint/2010/main" val="980384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Quản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lý</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những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thanh</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toán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có</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thể</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thay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đổi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mỗi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tháng</a:t>
            </a:r>
            <a:endParaRPr lang="zh-CN" altLang="en-US" sz="1200" dirty="0">
              <a:latin typeface="Times New Roman" pitchFamily="18" charset="0"/>
              <a:cs typeface="Times New Roman" pitchFamily="18" charset="0"/>
            </a:endParaRPr>
          </a:p>
        </p:txBody>
      </p:sp>
      <p:sp>
        <p:nvSpPr>
          <p:cNvPr id="28" name="TextBox 27"/>
          <p:cNvSpPr txBox="1"/>
          <p:nvPr/>
        </p:nvSpPr>
        <p:spPr>
          <a:xfrm>
            <a:off x="6672254" y="1988840"/>
            <a:ext cx="930062"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 </a:t>
            </a:r>
            <a:endParaRPr lang="zh-CN" altLang="en-US" sz="1200" b="1" dirty="0">
              <a:latin typeface="Times New Roman" pitchFamily="18" charset="0"/>
              <a:cs typeface="Times New Roman" pitchFamily="18" charset="0"/>
            </a:endParaRPr>
          </a:p>
        </p:txBody>
      </p:sp>
      <p:sp>
        <p:nvSpPr>
          <p:cNvPr id="10" name="TextBox 9"/>
          <p:cNvSpPr txBox="1"/>
          <p:nvPr/>
        </p:nvSpPr>
        <p:spPr>
          <a:xfrm>
            <a:off x="1403648" y="116632"/>
            <a:ext cx="2664296"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Quản lý chi trả -Điều chỉnh trả lương</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287905"/>
            <a:ext cx="2483768" cy="3785652"/>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Bản</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mẫu</a:t>
            </a:r>
            <a:r>
              <a:rPr lang="en-US" altLang="zh-CN" sz="1200" b="1" dirty="0" smtClean="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a:t>
            </a:r>
          </a:p>
          <a:p>
            <a:pPr algn="l"/>
            <a:r>
              <a:rPr lang="en-US" altLang="zh-CN" sz="1200" b="1" dirty="0" smtClean="0">
                <a:latin typeface="Times New Roman" pitchFamily="18" charset="0"/>
                <a:cs typeface="Times New Roman" pitchFamily="18" charset="0"/>
              </a:rPr>
              <a:t>Chèn file: </a:t>
            </a:r>
            <a:r>
              <a:rPr lang="en-US" altLang="zh-CN" sz="1200" dirty="0" smtClean="0">
                <a:latin typeface="Times New Roman" pitchFamily="18" charset="0"/>
                <a:cs typeface="Times New Roman" pitchFamily="18" charset="0"/>
              </a:rPr>
              <a:t>Chọn </a:t>
            </a:r>
            <a:r>
              <a:rPr lang="en-US" altLang="zh-CN" sz="1200" dirty="0">
                <a:latin typeface="Times New Roman" pitchFamily="18" charset="0"/>
                <a:cs typeface="Times New Roman" pitchFamily="18" charset="0"/>
              </a:rPr>
              <a:t>nút này, nhập hàng loạt thông tin vào hệ thống</a:t>
            </a:r>
          </a:p>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CNV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điều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kiện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a:t>
            </a:r>
          </a:p>
          <a:p>
            <a:pPr algn="l"/>
            <a:r>
              <a:rPr lang="en-US" altLang="zh-CN" sz="1200" b="1" dirty="0" smtClean="0">
                <a:latin typeface="Times New Roman" pitchFamily="18" charset="0"/>
                <a:cs typeface="Times New Roman" pitchFamily="18" charset="0"/>
              </a:rPr>
              <a:t>Thêm mới</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Chọn “Thêm mới”, </a:t>
            </a:r>
            <a:r>
              <a:rPr lang="en-US" altLang="zh-CN" sz="1200" dirty="0">
                <a:latin typeface="Times New Roman" pitchFamily="18" charset="0"/>
                <a:cs typeface="Times New Roman" pitchFamily="18" charset="0"/>
              </a:rPr>
              <a:t>hiển ra 1 hàng, chọn chức vụ/chức trách/quốc tịch, hoặc nhập tên ( tìm nhanh), thông tin cở bản tự động hiện thị, nhập giá trị, </a:t>
            </a:r>
            <a:r>
              <a:rPr lang="en-US" altLang="zh-CN" sz="1200" dirty="0" smtClean="0">
                <a:latin typeface="Times New Roman" pitchFamily="18" charset="0"/>
                <a:cs typeface="Times New Roman" pitchFamily="18" charset="0"/>
              </a:rPr>
              <a:t>tháng bắt đầu kết thúc xong </a:t>
            </a:r>
            <a:r>
              <a:rPr lang="en-US" altLang="zh-CN" sz="1200" dirty="0">
                <a:latin typeface="Times New Roman" pitchFamily="18" charset="0"/>
                <a:cs typeface="Times New Roman" pitchFamily="18" charset="0"/>
              </a:rPr>
              <a:t>chọn “Lưu</a:t>
            </a:r>
            <a:r>
              <a:rPr lang="en-US" altLang="zh-CN" sz="1200" dirty="0" smtClean="0">
                <a:latin typeface="Times New Roman" pitchFamily="18" charset="0"/>
                <a:cs typeface="Times New Roman" pitchFamily="18" charset="0"/>
              </a:rPr>
              <a:t>”.Danh mục chỉ có hiệu lực trong khoảng thời gian này.</a:t>
            </a:r>
            <a:endParaRPr lang="zh-CN" altLang="en-US" sz="1200" dirty="0">
              <a:latin typeface="Times New Roman" pitchFamily="18" charset="0"/>
              <a:cs typeface="Times New Roman" pitchFamily="18" charset="0"/>
            </a:endParaRPr>
          </a:p>
          <a:p>
            <a:pPr algn="l"/>
            <a:r>
              <a:rPr lang="en-US" altLang="zh-CN" sz="1200" b="1" dirty="0" err="1">
                <a:latin typeface="Times New Roman" pitchFamily="18" charset="0"/>
                <a:cs typeface="Times New Roman" pitchFamily="18" charset="0"/>
              </a:rPr>
              <a:t>Xóa</a:t>
            </a:r>
            <a:r>
              <a:rPr lang="en-US" altLang="zh-CN" sz="1200" b="1"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muốn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bỏ</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tất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cả</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toàn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bô</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dữ</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liệu</a:t>
            </a:r>
            <a:r>
              <a:rPr lang="en-US" altLang="zh-CN"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Lưu</a:t>
            </a:r>
            <a:r>
              <a:rPr lang="zh-CN" altLang="en-US" sz="1200" b="1"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Lưu thông tin </a:t>
            </a:r>
            <a:r>
              <a:rPr lang="en-US" altLang="zh-CN" sz="1200" dirty="0" smtClean="0">
                <a:latin typeface="Times New Roman" pitchFamily="18" charset="0"/>
                <a:cs typeface="Times New Roman" pitchFamily="18" charset="0"/>
              </a:rPr>
              <a:t>Thêm mới và sửa</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trang</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78316" y="1412776"/>
            <a:ext cx="6738548" cy="3774705"/>
          </a:xfrm>
          <a:prstGeom prst="rect">
            <a:avLst/>
          </a:prstGeom>
        </p:spPr>
      </p:pic>
    </p:spTree>
    <p:extLst>
      <p:ext uri="{BB962C8B-B14F-4D97-AF65-F5344CB8AC3E}">
        <p14:creationId xmlns:p14="http://schemas.microsoft.com/office/powerpoint/2010/main" val="10943441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thanh</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toán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không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theo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quy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tắc</a:t>
            </a:r>
            <a:r>
              <a:rPr lang="en-US" altLang="zh-CN" sz="1200" dirty="0" smtClean="0">
                <a:latin typeface="Times New Roman" pitchFamily="18" charset="0"/>
                <a:cs typeface="Times New Roman" pitchFamily="18" charset="0"/>
              </a:rPr>
              <a:t>. </a:t>
            </a:r>
            <a:endParaRPr lang="zh-CN" altLang="en-US" sz="1200" dirty="0">
              <a:latin typeface="Times New Roman" pitchFamily="18" charset="0"/>
              <a:cs typeface="Times New Roman" pitchFamily="18" charset="0"/>
            </a:endParaRPr>
          </a:p>
        </p:txBody>
      </p:sp>
      <p:sp>
        <p:nvSpPr>
          <p:cNvPr id="28" name="TextBox 27"/>
          <p:cNvSpPr txBox="1"/>
          <p:nvPr/>
        </p:nvSpPr>
        <p:spPr>
          <a:xfrm>
            <a:off x="6672254" y="2130529"/>
            <a:ext cx="930062"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 </a:t>
            </a:r>
            <a:endParaRPr lang="zh-CN" altLang="en-US" sz="1200" b="1" dirty="0">
              <a:latin typeface="Times New Roman" pitchFamily="18" charset="0"/>
              <a:cs typeface="Times New Roman" pitchFamily="18" charset="0"/>
            </a:endParaRPr>
          </a:p>
        </p:txBody>
      </p:sp>
      <p:sp>
        <p:nvSpPr>
          <p:cNvPr id="10" name="TextBox 9"/>
          <p:cNvSpPr txBox="1"/>
          <p:nvPr/>
        </p:nvSpPr>
        <p:spPr>
          <a:xfrm>
            <a:off x="1327732" y="116632"/>
            <a:ext cx="2596196"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Quản lý chi trả -Trả lương ngoại lệ</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429594"/>
            <a:ext cx="2483768" cy="3416320"/>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Bản</a:t>
            </a:r>
            <a:r>
              <a:rPr lang="en-US" altLang="zh-CN" sz="1200" b="1" dirty="0">
                <a:latin typeface="Times New Roman" pitchFamily="18" charset="0"/>
                <a:cs typeface="Times New Roman" pitchFamily="18" charset="0"/>
              </a:rPr>
              <a:t> </a:t>
            </a:r>
            <a:r>
              <a:rPr lang="en-US" altLang="zh-CN" sz="1200" b="1" dirty="0" err="1">
                <a:latin typeface="Times New Roman" pitchFamily="18" charset="0"/>
                <a:cs typeface="Times New Roman" pitchFamily="18" charset="0"/>
              </a:rPr>
              <a:t>mẫu</a:t>
            </a:r>
            <a:r>
              <a:rPr lang="en-US" altLang="zh-CN" sz="1200" b="1"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a:t>
            </a:r>
          </a:p>
          <a:p>
            <a:pPr algn="l"/>
            <a:r>
              <a:rPr lang="en-US" altLang="zh-CN" sz="1200" b="1" dirty="0" smtClean="0">
                <a:latin typeface="Times New Roman" pitchFamily="18" charset="0"/>
                <a:cs typeface="Times New Roman" pitchFamily="18" charset="0"/>
              </a:rPr>
              <a:t>Chèn file: </a:t>
            </a:r>
            <a:r>
              <a:rPr lang="en-US" altLang="zh-CN" sz="1200" dirty="0">
                <a:latin typeface="Times New Roman" pitchFamily="18" charset="0"/>
                <a:cs typeface="Times New Roman" pitchFamily="18" charset="0"/>
              </a:rPr>
              <a:t>Chọn nút này, nhập hàng loạt thông tin vào hệ thống</a:t>
            </a:r>
          </a:p>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b="1" dirty="0" smtClean="0">
                <a:latin typeface="Times New Roman" pitchFamily="18" charset="0"/>
                <a:cs typeface="Times New Roman" pitchFamily="18" charset="0"/>
              </a:rPr>
              <a:t> </a:t>
            </a:r>
            <a:r>
              <a:rPr lang="en-US" altLang="zh-CN"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CNV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điều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kiện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a:t>
            </a:r>
          </a:p>
          <a:p>
            <a:pPr algn="l"/>
            <a:r>
              <a:rPr lang="en-US" altLang="zh-CN" sz="1200" b="1" dirty="0" smtClean="0">
                <a:latin typeface="Times New Roman" pitchFamily="18" charset="0"/>
                <a:cs typeface="Times New Roman" pitchFamily="18" charset="0"/>
              </a:rPr>
              <a:t>Thêm mới</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Chọn “Thêm mới” hiện ra 1 hàng, chọn chức vụ/chức trách/quốc tịch hoặc nhập tên ( tìm nhanh), thông tin cơ bản tự động hiển thị,  nhập giá trị, ghi chú sau đó “Lưu”</a:t>
            </a:r>
            <a:endParaRPr lang="zh-CN" altLang="en-US" sz="1200" dirty="0">
              <a:latin typeface="Times New Roman" pitchFamily="18" charset="0"/>
              <a:cs typeface="Times New Roman" pitchFamily="18" charset="0"/>
            </a:endParaRPr>
          </a:p>
          <a:p>
            <a:pPr algn="l"/>
            <a:r>
              <a:rPr lang="en-US" altLang="zh-CN" sz="1200" b="1" dirty="0" err="1">
                <a:latin typeface="Times New Roman" pitchFamily="18" charset="0"/>
                <a:cs typeface="Times New Roman" pitchFamily="18" charset="0"/>
              </a:rPr>
              <a:t>Xóa</a:t>
            </a:r>
            <a:r>
              <a:rPr lang="en-US" altLang="zh-CN" sz="1200" b="1"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muốn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bỏ</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tất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cả</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toàn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bô</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dữ</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liệu</a:t>
            </a:r>
            <a:r>
              <a:rPr lang="en-US" altLang="zh-CN"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Lưu</a:t>
            </a:r>
            <a:r>
              <a:rPr lang="en-US" altLang="zh-CN" sz="1200" b="1" dirty="0" smtClean="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Lưu </a:t>
            </a:r>
            <a:r>
              <a:rPr lang="en-US" altLang="zh-CN" sz="1200" dirty="0">
                <a:latin typeface="Times New Roman" pitchFamily="18" charset="0"/>
                <a:cs typeface="Times New Roman" pitchFamily="18" charset="0"/>
              </a:rPr>
              <a:t>thông tin </a:t>
            </a:r>
            <a:r>
              <a:rPr lang="en-US" altLang="zh-CN" sz="1200" dirty="0" smtClean="0">
                <a:latin typeface="Times New Roman" pitchFamily="18" charset="0"/>
                <a:cs typeface="Times New Roman" pitchFamily="18" charset="0"/>
              </a:rPr>
              <a:t>Thêm mới </a:t>
            </a:r>
            <a:r>
              <a:rPr lang="en-US" altLang="zh-CN" sz="1200" dirty="0">
                <a:latin typeface="Times New Roman" pitchFamily="18" charset="0"/>
                <a:cs typeface="Times New Roman" pitchFamily="18" charset="0"/>
              </a:rPr>
              <a:t>và sửa</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 </a:t>
            </a:r>
            <a:r>
              <a:rPr lang="en-US" altLang="zh-CN" sz="1200" dirty="0" smtClean="0">
                <a:latin typeface="Times New Roman" pitchFamily="18" charset="0"/>
                <a:cs typeface="Times New Roman" pitchFamily="18" charset="0"/>
              </a:rPr>
              <a:t>Tải </a:t>
            </a:r>
            <a:r>
              <a:rPr lang="en-US" altLang="zh-CN" sz="1200" dirty="0">
                <a:latin typeface="Times New Roman" pitchFamily="18" charset="0"/>
                <a:cs typeface="Times New Roman" pitchFamily="18" charset="0"/>
              </a:rPr>
              <a:t>thông tin trang</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0" y="1350369"/>
            <a:ext cx="6660232" cy="3730835"/>
          </a:xfrm>
          <a:prstGeom prst="rect">
            <a:avLst/>
          </a:prstGeom>
        </p:spPr>
      </p:pic>
    </p:spTree>
    <p:extLst>
      <p:ext uri="{BB962C8B-B14F-4D97-AF65-F5344CB8AC3E}">
        <p14:creationId xmlns:p14="http://schemas.microsoft.com/office/powerpoint/2010/main" val="10943441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6672254" y="1988840"/>
            <a:ext cx="930062"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 </a:t>
            </a:r>
            <a:endParaRPr lang="zh-CN" altLang="en-US" sz="1200" b="1" dirty="0">
              <a:latin typeface="Times New Roman" pitchFamily="18" charset="0"/>
              <a:cs typeface="Times New Roman" pitchFamily="18" charset="0"/>
            </a:endParaRPr>
          </a:p>
        </p:txBody>
      </p:sp>
      <p:sp>
        <p:nvSpPr>
          <p:cNvPr id="10" name="TextBox 9"/>
          <p:cNvSpPr txBox="1"/>
          <p:nvPr/>
        </p:nvSpPr>
        <p:spPr>
          <a:xfrm>
            <a:off x="1324752" y="116632"/>
            <a:ext cx="2959215"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Khoản khấu trừ -Điều chỉnh khhoản trừ</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287905"/>
            <a:ext cx="2483768" cy="3416320"/>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Bản</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mẫu:</a:t>
            </a:r>
            <a:r>
              <a:rPr lang="en-US" altLang="zh-CN" sz="1200" dirty="0" err="1" smtClean="0">
                <a:latin typeface="Times New Roman" pitchFamily="18" charset="0"/>
                <a:cs typeface="Times New Roman" pitchFamily="18" charset="0"/>
              </a:rPr>
              <a:t>Tải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mẫu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a:t>
            </a:r>
          </a:p>
          <a:p>
            <a:pPr algn="l"/>
            <a:r>
              <a:rPr lang="en-US" altLang="zh-CN" sz="1200" b="1" dirty="0" smtClean="0">
                <a:latin typeface="Times New Roman" pitchFamily="18" charset="0"/>
                <a:cs typeface="Times New Roman" pitchFamily="18" charset="0"/>
              </a:rPr>
              <a:t>Chèn file: </a:t>
            </a:r>
            <a:r>
              <a:rPr lang="en-US" altLang="zh-CN" sz="1200" dirty="0" smtClean="0">
                <a:latin typeface="Times New Roman" pitchFamily="18" charset="0"/>
                <a:cs typeface="Times New Roman" pitchFamily="18" charset="0"/>
              </a:rPr>
              <a:t>Chọn </a:t>
            </a:r>
            <a:r>
              <a:rPr lang="en-US" altLang="zh-CN" sz="1200" dirty="0">
                <a:latin typeface="Times New Roman" pitchFamily="18" charset="0"/>
                <a:cs typeface="Times New Roman" pitchFamily="18" charset="0"/>
              </a:rPr>
              <a:t>nút này, nhập hàng loạt thông tin vào hệ thống</a:t>
            </a:r>
          </a:p>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các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điều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kiện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liên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quan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đến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khấu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trừ</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của</a:t>
            </a:r>
            <a:r>
              <a:rPr lang="en-US" altLang="zh-CN" sz="1200" dirty="0" smtClean="0">
                <a:latin typeface="Times New Roman" pitchFamily="18" charset="0"/>
                <a:cs typeface="Times New Roman" pitchFamily="18" charset="0"/>
              </a:rPr>
              <a:t> CNV</a:t>
            </a:r>
          </a:p>
          <a:p>
            <a:pPr algn="l"/>
            <a:r>
              <a:rPr lang="en-US" altLang="zh-CN" sz="1200" b="1" dirty="0" smtClean="0">
                <a:latin typeface="Times New Roman" pitchFamily="18" charset="0"/>
                <a:cs typeface="Times New Roman" pitchFamily="18" charset="0"/>
              </a:rPr>
              <a:t>Thêm mới: </a:t>
            </a:r>
            <a:r>
              <a:rPr lang="en-US" altLang="zh-CN" sz="1200" dirty="0" smtClean="0">
                <a:latin typeface="Times New Roman" pitchFamily="18" charset="0"/>
                <a:cs typeface="Times New Roman" pitchFamily="18" charset="0"/>
              </a:rPr>
              <a:t>Chọn nút này, hiện ra 1 hàng, chọn chức vụ/chức trách/quốc tịch, hoặc nhập họ tên( tìm nhanh), thông tin cơ bản tự động hiển thị, nhập giá trị, ghi chú xong chọn “Lưu”</a:t>
            </a:r>
            <a:endParaRPr lang="zh-CN" altLang="en-US" sz="1200" dirty="0">
              <a:latin typeface="Times New Roman" pitchFamily="18" charset="0"/>
              <a:cs typeface="Times New Roman" pitchFamily="18" charset="0"/>
            </a:endParaRPr>
          </a:p>
          <a:p>
            <a:pPr algn="l"/>
            <a:r>
              <a:rPr lang="en-US" altLang="zh-CN" sz="1200" b="1" dirty="0" err="1">
                <a:latin typeface="Times New Roman" pitchFamily="18" charset="0"/>
                <a:cs typeface="Times New Roman" pitchFamily="18" charset="0"/>
              </a:rPr>
              <a:t>Xóa</a:t>
            </a:r>
            <a:r>
              <a:rPr lang="en-US" altLang="zh-CN" sz="1200" b="1"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muốn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bỏ</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tất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cả</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toàn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bô</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dữ</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liệu</a:t>
            </a:r>
            <a:r>
              <a:rPr lang="en-US" altLang="zh-CN"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vi-VN" altLang="zh-CN" sz="1200" b="1" dirty="0" smtClean="0">
                <a:latin typeface="Times New Roman" pitchFamily="18" charset="0"/>
                <a:cs typeface="Times New Roman" pitchFamily="18" charset="0"/>
              </a:rPr>
              <a:t>Lưu</a:t>
            </a:r>
            <a:r>
              <a:rPr lang="zh-CN" altLang="en-US" sz="1200" b="1" dirty="0" smtClean="0">
                <a:latin typeface="Times New Roman" pitchFamily="18" charset="0"/>
                <a:cs typeface="Times New Roman" pitchFamily="18" charset="0"/>
              </a:rPr>
              <a:t>：</a:t>
            </a:r>
            <a:r>
              <a:rPr lang="en-US" altLang="zh-CN" sz="1200" dirty="0" smtClean="0">
                <a:latin typeface="Times New Roman" pitchFamily="18" charset="0"/>
                <a:cs typeface="Times New Roman" pitchFamily="18" charset="0"/>
              </a:rPr>
              <a:t>Lưu thông tin Thêm mới hoặc sửa</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 </a:t>
            </a:r>
            <a:r>
              <a:rPr lang="en-US" altLang="zh-CN" sz="1200" dirty="0" smtClean="0">
                <a:latin typeface="Times New Roman" pitchFamily="18" charset="0"/>
                <a:cs typeface="Times New Roman" pitchFamily="18" charset="0"/>
              </a:rPr>
              <a:t>Tải thông tin trang</a:t>
            </a:r>
            <a:endParaRPr lang="zh-CN" altLang="en-US" sz="1200" dirty="0">
              <a:latin typeface="Times New Roman" pitchFamily="18" charset="0"/>
              <a:cs typeface="Times New Roman" pitchFamily="18" charset="0"/>
            </a:endParaRPr>
          </a:p>
        </p:txBody>
      </p:sp>
      <p:sp>
        <p:nvSpPr>
          <p:cNvPr id="15" name="TextBox 14"/>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Thêm mới hoặc sửa đổi danh mục khấu trừ có thể thay đổi mỗi tháng</a:t>
            </a:r>
            <a:endParaRPr lang="zh-CN" altLang="en-US" sz="1200" dirty="0">
              <a:latin typeface="Times New Roman" pitchFamily="18" charset="0"/>
              <a:cs typeface="Times New Roman" pitchFamily="18" charset="0"/>
            </a:endParaRPr>
          </a:p>
        </p:txBody>
      </p:sp>
      <p:pic>
        <p:nvPicPr>
          <p:cNvPr id="2" name="Picture 1"/>
          <p:cNvPicPr>
            <a:picLocks noChangeAspect="1"/>
          </p:cNvPicPr>
          <p:nvPr/>
        </p:nvPicPr>
        <p:blipFill>
          <a:blip r:embed="rId2"/>
          <a:stretch>
            <a:fillRect/>
          </a:stretch>
        </p:blipFill>
        <p:spPr>
          <a:xfrm>
            <a:off x="-61766" y="1268760"/>
            <a:ext cx="6720051" cy="3764344"/>
          </a:xfrm>
          <a:prstGeom prst="rect">
            <a:avLst/>
          </a:prstGeom>
        </p:spPr>
      </p:pic>
    </p:spTree>
    <p:extLst>
      <p:ext uri="{BB962C8B-B14F-4D97-AF65-F5344CB8AC3E}">
        <p14:creationId xmlns:p14="http://schemas.microsoft.com/office/powerpoint/2010/main" val="26571023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6672254" y="2080587"/>
            <a:ext cx="930062"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 </a:t>
            </a:r>
            <a:endParaRPr lang="zh-CN" altLang="en-US" sz="1200" b="1" dirty="0">
              <a:latin typeface="Times New Roman" pitchFamily="18" charset="0"/>
              <a:cs typeface="Times New Roman" pitchFamily="18" charset="0"/>
            </a:endParaRPr>
          </a:p>
        </p:txBody>
      </p:sp>
      <p:sp>
        <p:nvSpPr>
          <p:cNvPr id="10" name="TextBox 9"/>
          <p:cNvSpPr txBox="1"/>
          <p:nvPr/>
        </p:nvSpPr>
        <p:spPr>
          <a:xfrm>
            <a:off x="1115616" y="116632"/>
            <a:ext cx="3168352"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Khoản khấu trừ -Khoản trừ ngoại lệ</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379652"/>
            <a:ext cx="2483768" cy="3416320"/>
          </a:xfrm>
          <a:prstGeom prst="rect">
            <a:avLst/>
          </a:prstGeom>
          <a:noFill/>
        </p:spPr>
        <p:txBody>
          <a:bodyPr wrap="square" rtlCol="0">
            <a:spAutoFit/>
          </a:bodyPr>
          <a:lstStyle/>
          <a:p>
            <a:pPr algn="l"/>
            <a:r>
              <a:rPr lang="en-US" altLang="zh-CN" sz="1200" b="1" dirty="0" err="1">
                <a:latin typeface="Times New Roman" pitchFamily="18" charset="0"/>
                <a:cs typeface="Times New Roman" pitchFamily="18" charset="0"/>
              </a:rPr>
              <a:t>Bản</a:t>
            </a:r>
            <a:r>
              <a:rPr lang="en-US" altLang="zh-CN" sz="1200" b="1" dirty="0">
                <a:latin typeface="Times New Roman" pitchFamily="18" charset="0"/>
                <a:cs typeface="Times New Roman" pitchFamily="18" charset="0"/>
              </a:rPr>
              <a:t> </a:t>
            </a:r>
            <a:r>
              <a:rPr lang="en-US" altLang="zh-CN" sz="1200" b="1" dirty="0" err="1">
                <a:latin typeface="Times New Roman" pitchFamily="18" charset="0"/>
                <a:cs typeface="Times New Roman" pitchFamily="18" charset="0"/>
              </a:rPr>
              <a:t>mẫu:</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a:t>
            </a:r>
          </a:p>
          <a:p>
            <a:pPr algn="l"/>
            <a:r>
              <a:rPr lang="en-US" altLang="zh-CN" sz="1200" b="1" dirty="0" smtClean="0">
                <a:latin typeface="Times New Roman" pitchFamily="18" charset="0"/>
                <a:cs typeface="Times New Roman" pitchFamily="18" charset="0"/>
              </a:rPr>
              <a:t>Chèn file: </a:t>
            </a:r>
            <a:r>
              <a:rPr lang="en-US" altLang="zh-CN" sz="1200" dirty="0">
                <a:latin typeface="Times New Roman" pitchFamily="18" charset="0"/>
                <a:cs typeface="Times New Roman" pitchFamily="18" charset="0"/>
              </a:rPr>
              <a:t>Chọn nút này, nhập hàng loạt thông tin vào </a:t>
            </a:r>
            <a:r>
              <a:rPr lang="en-US" altLang="zh-CN" sz="1200" dirty="0" smtClean="0">
                <a:latin typeface="Times New Roman" pitchFamily="18" charset="0"/>
                <a:cs typeface="Times New Roman" pitchFamily="18" charset="0"/>
              </a:rPr>
              <a:t>hệ thống</a:t>
            </a:r>
            <a:endParaRPr lang="en-US" altLang="zh-CN" sz="1200" dirty="0">
              <a:latin typeface="Times New Roman" pitchFamily="18" charset="0"/>
              <a:cs typeface="Times New Roman" pitchFamily="18" charset="0"/>
            </a:endParaRPr>
          </a:p>
          <a:p>
            <a:pPr algn="l"/>
            <a:r>
              <a:rPr lang="en-US" altLang="zh-CN" sz="1200" b="1" dirty="0" err="1" smtClean="0">
                <a:latin typeface="Times New Roman" pitchFamily="18" charset="0"/>
                <a:cs typeface="Times New Roman" pitchFamily="18" charset="0"/>
              </a:rPr>
              <a:t>Tra</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cứu</a:t>
            </a:r>
            <a:r>
              <a:rPr lang="zh-CN" altLang="en-US"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vào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các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điều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kiện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tim</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kiếm</a:t>
            </a:r>
            <a:r>
              <a:rPr lang="en-US" altLang="zh-CN" sz="1200" dirty="0" smtClean="0">
                <a:latin typeface="Times New Roman" pitchFamily="18" charset="0"/>
                <a:cs typeface="Times New Roman" pitchFamily="18" charset="0"/>
              </a:rPr>
              <a:t> , </a:t>
            </a:r>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liên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quan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đến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khấu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trừ</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cá</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nhân</a:t>
            </a:r>
            <a:endParaRPr lang="en-US" altLang="zh-CN" sz="1200" dirty="0" smtClean="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Thêm mới: </a:t>
            </a:r>
            <a:r>
              <a:rPr lang="en-US" altLang="zh-CN" sz="1200" dirty="0">
                <a:latin typeface="Times New Roman" pitchFamily="18" charset="0"/>
                <a:cs typeface="Times New Roman" pitchFamily="18" charset="0"/>
              </a:rPr>
              <a:t>Chọn nút này, hiện ra 1 hàng, chọn chức vụ/chức trách/quốc tịch, hoặc nhập họ tên( tìm nhanh), thông tin cơ bản tự động hiển thị, nhập giá trị, ghi chú xong chọn “Lưu”</a:t>
            </a:r>
            <a:endParaRPr lang="zh-CN" altLang="en-US" sz="1200" dirty="0">
              <a:latin typeface="Times New Roman" pitchFamily="18" charset="0"/>
              <a:cs typeface="Times New Roman" pitchFamily="18" charset="0"/>
            </a:endParaRPr>
          </a:p>
          <a:p>
            <a:pPr algn="l"/>
            <a:r>
              <a:rPr lang="en-US" altLang="zh-CN" sz="1200" b="1" dirty="0" err="1">
                <a:latin typeface="Times New Roman" pitchFamily="18" charset="0"/>
                <a:cs typeface="Times New Roman" pitchFamily="18" charset="0"/>
              </a:rPr>
              <a:t>Xóa</a:t>
            </a:r>
            <a:r>
              <a:rPr lang="en-US" altLang="zh-CN" sz="1200" b="1"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muốn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bỏ</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tất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cả</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toàn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bô</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dữ</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liệu</a:t>
            </a:r>
            <a:r>
              <a:rPr lang="en-US" altLang="zh-CN"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vi-VN" altLang="zh-CN" sz="1200" b="1" dirty="0">
                <a:latin typeface="Times New Roman" pitchFamily="18" charset="0"/>
                <a:cs typeface="Times New Roman" pitchFamily="18" charset="0"/>
              </a:rPr>
              <a:t>Lưu</a:t>
            </a:r>
            <a:r>
              <a:rPr lang="zh-CN" altLang="en-US" sz="1200" b="1"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Lưu thông tin </a:t>
            </a:r>
            <a:r>
              <a:rPr lang="en-US" altLang="zh-CN" sz="1200" dirty="0" smtClean="0">
                <a:latin typeface="Times New Roman" pitchFamily="18" charset="0"/>
                <a:cs typeface="Times New Roman" pitchFamily="18" charset="0"/>
              </a:rPr>
              <a:t>Thêm mới </a:t>
            </a:r>
            <a:r>
              <a:rPr lang="en-US" altLang="zh-CN" sz="1200" dirty="0">
                <a:latin typeface="Times New Roman" pitchFamily="18" charset="0"/>
                <a:cs typeface="Times New Roman" pitchFamily="18" charset="0"/>
              </a:rPr>
              <a:t>hoặc sửa</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 </a:t>
            </a:r>
            <a:r>
              <a:rPr lang="en-US" altLang="zh-CN" sz="1200" dirty="0">
                <a:latin typeface="Times New Roman" pitchFamily="18" charset="0"/>
                <a:cs typeface="Times New Roman" pitchFamily="18" charset="0"/>
              </a:rPr>
              <a:t>Tải thông tin trang</a:t>
            </a:r>
            <a:endParaRPr lang="zh-CN" altLang="en-US" sz="1200" dirty="0">
              <a:latin typeface="Times New Roman" pitchFamily="18" charset="0"/>
              <a:cs typeface="Times New Roman" pitchFamily="18" charset="0"/>
            </a:endParaRPr>
          </a:p>
        </p:txBody>
      </p:sp>
      <p:sp>
        <p:nvSpPr>
          <p:cNvPr id="14" name="TextBox 13"/>
          <p:cNvSpPr txBox="1"/>
          <p:nvPr/>
        </p:nvSpPr>
        <p:spPr>
          <a:xfrm>
            <a:off x="6660232" y="1484784"/>
            <a:ext cx="2483768" cy="646331"/>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Tra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cứu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khấu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trừ</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ngoại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lệ</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của</a:t>
            </a:r>
            <a:r>
              <a:rPr lang="en-US" altLang="zh-CN" sz="1200" dirty="0" smtClean="0">
                <a:latin typeface="Times New Roman" pitchFamily="18" charset="0"/>
                <a:cs typeface="Times New Roman" pitchFamily="18" charset="0"/>
              </a:rPr>
              <a:t> CNV </a:t>
            </a:r>
            <a:r>
              <a:rPr lang="en-US" altLang="zh-CN" sz="1200" dirty="0" err="1" smtClean="0">
                <a:latin typeface="Times New Roman" pitchFamily="18" charset="0"/>
                <a:cs typeface="Times New Roman" pitchFamily="18" charset="0"/>
              </a:rPr>
              <a:t>nào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đó</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trong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trường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hợp</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đặc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biệt</a:t>
            </a:r>
            <a:endParaRPr lang="zh-CN" altLang="en-US" sz="1200" dirty="0">
              <a:latin typeface="Times New Roman" pitchFamily="18" charset="0"/>
              <a:cs typeface="Times New Roman" pitchFamily="18" charset="0"/>
            </a:endParaRPr>
          </a:p>
        </p:txBody>
      </p:sp>
      <p:pic>
        <p:nvPicPr>
          <p:cNvPr id="2" name="Picture 1"/>
          <p:cNvPicPr>
            <a:picLocks noChangeAspect="1"/>
          </p:cNvPicPr>
          <p:nvPr/>
        </p:nvPicPr>
        <p:blipFill>
          <a:blip r:embed="rId2"/>
          <a:stretch>
            <a:fillRect/>
          </a:stretch>
        </p:blipFill>
        <p:spPr>
          <a:xfrm>
            <a:off x="2171" y="1340768"/>
            <a:ext cx="6664072" cy="3732986"/>
          </a:xfrm>
          <a:prstGeom prst="rect">
            <a:avLst/>
          </a:prstGeom>
        </p:spPr>
      </p:pic>
    </p:spTree>
    <p:extLst>
      <p:ext uri="{BB962C8B-B14F-4D97-AF65-F5344CB8AC3E}">
        <p14:creationId xmlns:p14="http://schemas.microsoft.com/office/powerpoint/2010/main" val="13782857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198470" y="116632"/>
            <a:ext cx="3445538"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-NV tham gia tính lương</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Đối chiếu số CNV nhận lương tháng này và 1 tháng trước đó</a:t>
            </a:r>
            <a:endParaRPr lang="zh-CN" altLang="en-US" sz="1200" dirty="0">
              <a:latin typeface="Times New Roman" pitchFamily="18" charset="0"/>
              <a:cs typeface="Times New Roman" pitchFamily="18" charset="0"/>
            </a:endParaRPr>
          </a:p>
        </p:txBody>
      </p:sp>
      <p:sp>
        <p:nvSpPr>
          <p:cNvPr id="28" name="TextBox 27"/>
          <p:cNvSpPr txBox="1"/>
          <p:nvPr/>
        </p:nvSpPr>
        <p:spPr>
          <a:xfrm>
            <a:off x="6700268" y="2132856"/>
            <a:ext cx="1616148"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từ</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cụm</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từ</a:t>
            </a:r>
            <a:r>
              <a:rPr lang="en-US" altLang="zh-CN"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29" name="TextBox 28"/>
          <p:cNvSpPr txBox="1"/>
          <p:nvPr/>
        </p:nvSpPr>
        <p:spPr>
          <a:xfrm>
            <a:off x="6660232" y="2337847"/>
            <a:ext cx="2483768" cy="1569660"/>
          </a:xfrm>
          <a:prstGeom prst="rect">
            <a:avLst/>
          </a:prstGeom>
          <a:noFill/>
        </p:spPr>
        <p:txBody>
          <a:bodyPr wrap="square" rtlCol="0">
            <a:spAutoFit/>
          </a:bodyPr>
          <a:lstStyle/>
          <a:p>
            <a:pPr algn="l"/>
            <a:r>
              <a:rPr lang="en-US" altLang="zh-CN" sz="1200" b="1" dirty="0" err="1" smtClean="0">
                <a:latin typeface="Times New Roman" pitchFamily="18" charset="0"/>
                <a:cs typeface="Times New Roman" pitchFamily="18" charset="0"/>
              </a:rPr>
              <a:t>Tháng</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trước</a:t>
            </a:r>
            <a:r>
              <a:rPr lang="en-US" altLang="zh-CN"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Hiển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thị</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số</a:t>
            </a:r>
            <a:r>
              <a:rPr lang="en-US" altLang="zh-CN" sz="1200" dirty="0" smtClean="0">
                <a:latin typeface="Times New Roman" pitchFamily="18" charset="0"/>
                <a:cs typeface="Times New Roman" pitchFamily="18" charset="0"/>
              </a:rPr>
              <a:t> CNV </a:t>
            </a:r>
            <a:r>
              <a:rPr lang="en-US" altLang="zh-CN" sz="1200" dirty="0" err="1" smtClean="0">
                <a:latin typeface="Times New Roman" pitchFamily="18" charset="0"/>
                <a:cs typeface="Times New Roman" pitchFamily="18" charset="0"/>
              </a:rPr>
              <a:t>cuối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trước</a:t>
            </a:r>
            <a:endParaRPr lang="en-US" altLang="zh-CN" sz="1200" dirty="0" smtClean="0">
              <a:latin typeface="Times New Roman" pitchFamily="18" charset="0"/>
              <a:cs typeface="Times New Roman" pitchFamily="18" charset="0"/>
            </a:endParaRPr>
          </a:p>
          <a:p>
            <a:pPr algn="l"/>
            <a:r>
              <a:rPr lang="en-US" altLang="zh-CN" sz="1200" b="1" dirty="0" err="1" smtClean="0">
                <a:latin typeface="Times New Roman" pitchFamily="18" charset="0"/>
                <a:cs typeface="Times New Roman" pitchFamily="18" charset="0"/>
              </a:rPr>
              <a:t>Tháng</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này</a:t>
            </a:r>
            <a:r>
              <a:rPr lang="en-US" altLang="zh-CN" sz="1200" b="1"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Hiển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thị</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số</a:t>
            </a:r>
            <a:r>
              <a:rPr lang="en-US" altLang="zh-CN" sz="1200" dirty="0" smtClean="0">
                <a:latin typeface="Times New Roman" pitchFamily="18" charset="0"/>
                <a:cs typeface="Times New Roman" pitchFamily="18" charset="0"/>
              </a:rPr>
              <a:t> CNV </a:t>
            </a:r>
            <a:r>
              <a:rPr lang="en-US" altLang="zh-CN" sz="1200" dirty="0" err="1" smtClean="0">
                <a:latin typeface="Times New Roman" pitchFamily="18" charset="0"/>
                <a:cs typeface="Times New Roman" pitchFamily="18" charset="0"/>
              </a:rPr>
              <a:t>cuối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này</a:t>
            </a:r>
            <a:r>
              <a:rPr lang="en-US" altLang="zh-CN" sz="1200" dirty="0" smtClean="0">
                <a:latin typeface="Times New Roman" pitchFamily="18" charset="0"/>
                <a:cs typeface="Times New Roman" pitchFamily="18" charset="0"/>
              </a:rPr>
              <a:t> </a:t>
            </a:r>
          </a:p>
          <a:p>
            <a:pPr algn="l"/>
            <a:r>
              <a:rPr lang="en-US" altLang="zh-CN" sz="1200" b="1" dirty="0" smtClean="0">
                <a:latin typeface="Times New Roman" pitchFamily="18" charset="0"/>
                <a:cs typeface="Times New Roman" pitchFamily="18" charset="0"/>
              </a:rPr>
              <a:t>Tăng giảm NV: </a:t>
            </a:r>
            <a:r>
              <a:rPr lang="en-US" altLang="zh-CN" sz="1200" dirty="0" smtClean="0">
                <a:latin typeface="Times New Roman" pitchFamily="18" charset="0"/>
                <a:cs typeface="Times New Roman" pitchFamily="18" charset="0"/>
              </a:rPr>
              <a:t>Thể hiện số tăng/ giảm NV giữa 2 tháng</a:t>
            </a:r>
          </a:p>
          <a:p>
            <a:pPr algn="l"/>
            <a:r>
              <a:rPr lang="en-US" altLang="zh-CN" sz="1200" dirty="0" smtClean="0">
                <a:latin typeface="Times New Roman" pitchFamily="18" charset="0"/>
                <a:cs typeface="Times New Roman" pitchFamily="18" charset="0"/>
              </a:rPr>
              <a:t>Click chọn số màu xanh bên trên sẽ hiển thị các</a:t>
            </a:r>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CNV tương ứng.</a:t>
            </a:r>
            <a:endParaRPr lang="zh-CN" altLang="en-US" sz="1200" dirty="0">
              <a:latin typeface="Times New Roman" pitchFamily="18" charset="0"/>
              <a:cs typeface="Times New Roman" pitchFamily="18" charset="0"/>
            </a:endParaRPr>
          </a:p>
        </p:txBody>
      </p:sp>
      <p:sp>
        <p:nvSpPr>
          <p:cNvPr id="13" name="矩形 13"/>
          <p:cNvSpPr/>
          <p:nvPr/>
        </p:nvSpPr>
        <p:spPr>
          <a:xfrm>
            <a:off x="0" y="2786058"/>
            <a:ext cx="6429388" cy="71438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2"/>
          <p:cNvSpPr/>
          <p:nvPr/>
        </p:nvSpPr>
        <p:spPr>
          <a:xfrm>
            <a:off x="1142976" y="2143116"/>
            <a:ext cx="5321752"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2"/>
          <p:cNvPicPr>
            <a:picLocks noChangeAspect="1"/>
          </p:cNvPicPr>
          <p:nvPr/>
        </p:nvPicPr>
        <p:blipFill>
          <a:blip r:embed="rId3"/>
          <a:stretch>
            <a:fillRect/>
          </a:stretch>
        </p:blipFill>
        <p:spPr>
          <a:xfrm>
            <a:off x="29406" y="1280460"/>
            <a:ext cx="6650844" cy="372557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59632" y="100802"/>
            <a:ext cx="3195989"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-Số lượng hạng mục</a:t>
            </a:r>
            <a:endParaRPr lang="zh-CN" altLang="en-US" sz="1200" dirty="0">
              <a:latin typeface="Times New Roman" pitchFamily="18" charset="0"/>
              <a:cs typeface="Times New Roman" pitchFamily="18" charset="0"/>
            </a:endParaRPr>
          </a:p>
        </p:txBody>
      </p:sp>
      <p:sp>
        <p:nvSpPr>
          <p:cNvPr id="11" name="TextBox 10"/>
          <p:cNvSpPr txBox="1"/>
          <p:nvPr/>
        </p:nvSpPr>
        <p:spPr>
          <a:xfrm>
            <a:off x="6660232" y="1484784"/>
            <a:ext cx="2483768" cy="461665"/>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Đối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chiếu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thông</a:t>
            </a:r>
            <a:r>
              <a:rPr lang="en-US" altLang="zh-CN" sz="1200" dirty="0" smtClean="0">
                <a:latin typeface="Times New Roman" pitchFamily="18" charset="0"/>
                <a:cs typeface="Times New Roman" pitchFamily="18" charset="0"/>
              </a:rPr>
              <a:t> tin </a:t>
            </a:r>
            <a:r>
              <a:rPr lang="en-US" altLang="zh-CN" sz="1200" dirty="0" err="1" smtClean="0">
                <a:latin typeface="Times New Roman" pitchFamily="18" charset="0"/>
                <a:cs typeface="Times New Roman" pitchFamily="18" charset="0"/>
              </a:rPr>
              <a:t>với</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trước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theo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từng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endParaRPr lang="zh-CN" altLang="en-US" sz="1200" dirty="0">
              <a:latin typeface="Times New Roman" pitchFamily="18" charset="0"/>
              <a:cs typeface="Times New Roman" pitchFamily="18" charset="0"/>
            </a:endParaRPr>
          </a:p>
        </p:txBody>
      </p:sp>
      <p:sp>
        <p:nvSpPr>
          <p:cNvPr id="12" name="TextBox 11"/>
          <p:cNvSpPr txBox="1"/>
          <p:nvPr/>
        </p:nvSpPr>
        <p:spPr>
          <a:xfrm>
            <a:off x="6672256" y="2132856"/>
            <a:ext cx="930063"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en-US" altLang="zh-CN" sz="1200" b="1" dirty="0" smtClean="0">
                <a:latin typeface="Times New Roman" pitchFamily="18" charset="0"/>
                <a:cs typeface="Times New Roman" pitchFamily="18" charset="0"/>
              </a:rPr>
              <a:t>: </a:t>
            </a:r>
            <a:endParaRPr lang="zh-CN" altLang="en-US" sz="1200" b="1" dirty="0">
              <a:latin typeface="Times New Roman" pitchFamily="18" charset="0"/>
              <a:cs typeface="Times New Roman" pitchFamily="18" charset="0"/>
            </a:endParaRPr>
          </a:p>
        </p:txBody>
      </p:sp>
      <p:sp>
        <p:nvSpPr>
          <p:cNvPr id="13" name="TextBox 12"/>
          <p:cNvSpPr txBox="1"/>
          <p:nvPr/>
        </p:nvSpPr>
        <p:spPr>
          <a:xfrm>
            <a:off x="6660232" y="2337847"/>
            <a:ext cx="2483768" cy="1569660"/>
          </a:xfrm>
          <a:prstGeom prst="rect">
            <a:avLst/>
          </a:prstGeom>
          <a:noFill/>
        </p:spPr>
        <p:txBody>
          <a:bodyPr wrap="square" rtlCol="0">
            <a:spAutoFit/>
          </a:bodyPr>
          <a:lstStyle/>
          <a:p>
            <a:pPr algn="l"/>
            <a:r>
              <a:rPr lang="en-US" altLang="zh-CN" sz="1200" b="1" dirty="0" smtClean="0">
                <a:latin typeface="Times New Roman" pitchFamily="18" charset="0"/>
                <a:cs typeface="Times New Roman" pitchFamily="18" charset="0"/>
              </a:rPr>
              <a:t>“Tra cứu”: </a:t>
            </a:r>
            <a:r>
              <a:rPr lang="en-US" altLang="zh-CN" sz="1200" dirty="0" smtClean="0">
                <a:latin typeface="Times New Roman" pitchFamily="18" charset="0"/>
                <a:cs typeface="Times New Roman" pitchFamily="18" charset="0"/>
              </a:rPr>
              <a:t>Chọn 2 tháng phát lương, sau đó “Tra cứu, hệ thống hiển thị các khoản tiền để so sánh</a:t>
            </a:r>
          </a:p>
          <a:p>
            <a:pPr algn="l"/>
            <a:r>
              <a:rPr lang="en-US" altLang="zh-CN" sz="1200" dirty="0" smtClean="0">
                <a:latin typeface="Times New Roman" pitchFamily="18" charset="0"/>
                <a:cs typeface="Times New Roman" pitchFamily="18" charset="0"/>
              </a:rPr>
              <a:t>--Click vào chữ số màu xanh để xem chi tiết nhân viên và khoản tiền liên quan</a:t>
            </a:r>
          </a:p>
          <a:p>
            <a:pPr algn="l"/>
            <a:r>
              <a:rPr lang="en-US" altLang="zh-CN" sz="1200" dirty="0" smtClean="0">
                <a:latin typeface="Times New Roman" pitchFamily="18" charset="0"/>
                <a:cs typeface="Times New Roman" pitchFamily="18" charset="0"/>
              </a:rPr>
              <a:t>Có thể xuất Excel trong khung dữ liệu vừa mở</a:t>
            </a:r>
          </a:p>
        </p:txBody>
      </p:sp>
      <p:pic>
        <p:nvPicPr>
          <p:cNvPr id="2" name="Picture 1"/>
          <p:cNvPicPr>
            <a:picLocks noChangeAspect="1"/>
          </p:cNvPicPr>
          <p:nvPr/>
        </p:nvPicPr>
        <p:blipFill>
          <a:blip r:embed="rId2"/>
          <a:stretch>
            <a:fillRect/>
          </a:stretch>
        </p:blipFill>
        <p:spPr>
          <a:xfrm>
            <a:off x="0" y="1381186"/>
            <a:ext cx="6660232" cy="3758675"/>
          </a:xfrm>
          <a:prstGeom prst="rect">
            <a:avLst/>
          </a:prstGeom>
        </p:spPr>
      </p:pic>
      <p:pic>
        <p:nvPicPr>
          <p:cNvPr id="3" name="Picture 2"/>
          <p:cNvPicPr>
            <a:picLocks noChangeAspect="1"/>
          </p:cNvPicPr>
          <p:nvPr/>
        </p:nvPicPr>
        <p:blipFill>
          <a:blip r:embed="rId3"/>
          <a:stretch>
            <a:fillRect/>
          </a:stretch>
        </p:blipFill>
        <p:spPr>
          <a:xfrm>
            <a:off x="13130" y="3645024"/>
            <a:ext cx="6577676" cy="2350887"/>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1569660"/>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Chọn “Kế hoạch trả lương”, sau đó “Tra cứu”, hệ thống hiển thị tất cả nhân viên nhạn quyết định nào đó trong tháng lương này</a:t>
            </a:r>
          </a:p>
          <a:p>
            <a:pPr algn="l"/>
            <a:r>
              <a:rPr lang="en-US" altLang="zh-CN" sz="1200" dirty="0" smtClean="0">
                <a:latin typeface="Times New Roman" pitchFamily="18" charset="0"/>
                <a:cs typeface="Times New Roman" pitchFamily="18" charset="0"/>
              </a:rPr>
              <a:t>-Tại phần “Quyết định”, chọn 1 dữ liệu của 1 nhân viên, hệ thống hiển thị 1 trang lương chi tiết của nhân viên đó</a:t>
            </a:r>
            <a:endParaRPr lang="zh-CN" altLang="en-US" sz="1200" dirty="0">
              <a:latin typeface="Times New Roman" pitchFamily="18" charset="0"/>
              <a:cs typeface="Times New Roman" pitchFamily="18" charset="0"/>
            </a:endParaRPr>
          </a:p>
        </p:txBody>
      </p:sp>
      <p:sp>
        <p:nvSpPr>
          <p:cNvPr id="7" name="TextBox 6"/>
          <p:cNvSpPr txBox="1"/>
          <p:nvPr/>
        </p:nvSpPr>
        <p:spPr>
          <a:xfrm>
            <a:off x="1187624" y="116632"/>
            <a:ext cx="3240360"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-Tra cứu quyết định</a:t>
            </a:r>
            <a:endParaRPr lang="zh-CN" altLang="en-US" sz="1200" dirty="0">
              <a:latin typeface="Times New Roman" pitchFamily="18" charset="0"/>
              <a:cs typeface="Times New Roman" pitchFamily="18" charset="0"/>
            </a:endParaRPr>
          </a:p>
        </p:txBody>
      </p:sp>
      <p:sp>
        <p:nvSpPr>
          <p:cNvPr id="6" name="矩形 5"/>
          <p:cNvSpPr/>
          <p:nvPr/>
        </p:nvSpPr>
        <p:spPr>
          <a:xfrm>
            <a:off x="5364088" y="2751311"/>
            <a:ext cx="432048" cy="1384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p:cNvPicPr>
            <a:picLocks noChangeAspect="1"/>
          </p:cNvPicPr>
          <p:nvPr/>
        </p:nvPicPr>
        <p:blipFill>
          <a:blip r:embed="rId2"/>
          <a:stretch>
            <a:fillRect/>
          </a:stretch>
        </p:blipFill>
        <p:spPr>
          <a:xfrm>
            <a:off x="0" y="1203832"/>
            <a:ext cx="6660232" cy="3515991"/>
          </a:xfrm>
          <a:prstGeom prst="rect">
            <a:avLst/>
          </a:prstGeom>
        </p:spPr>
      </p:pic>
      <p:pic>
        <p:nvPicPr>
          <p:cNvPr id="3" name="Picture 2"/>
          <p:cNvPicPr>
            <a:picLocks noChangeAspect="1"/>
          </p:cNvPicPr>
          <p:nvPr/>
        </p:nvPicPr>
        <p:blipFill>
          <a:blip r:embed="rId3"/>
          <a:stretch>
            <a:fillRect/>
          </a:stretch>
        </p:blipFill>
        <p:spPr>
          <a:xfrm>
            <a:off x="323528" y="3527629"/>
            <a:ext cx="5688153" cy="2758162"/>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294712" y="116632"/>
            <a:ext cx="3349295"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-Chi tiết khoản tiền cá nhân</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1569660"/>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Xem thông tin tiền lương vừa được tính của NV</a:t>
            </a:r>
          </a:p>
          <a:p>
            <a:pPr algn="l"/>
            <a:r>
              <a:rPr lang="en-US" altLang="zh-CN" sz="1200" dirty="0" smtClean="0">
                <a:latin typeface="Times New Roman" pitchFamily="18" charset="0"/>
                <a:cs typeface="Times New Roman" pitchFamily="18" charset="0"/>
              </a:rPr>
              <a:t>Tại “Kế hoạch trả lương” chọn 1 ngày, sau đó “Tra cứu”, hệ thống tìm ra tất cả NV tham gia tính lương trong kế hoạch đó.</a:t>
            </a:r>
          </a:p>
          <a:p>
            <a:pPr algn="l"/>
            <a:r>
              <a:rPr lang="en-US" altLang="zh-CN" sz="1200" dirty="0" smtClean="0">
                <a:latin typeface="Times New Roman" pitchFamily="18" charset="0"/>
                <a:cs typeface="Times New Roman" pitchFamily="18" charset="0"/>
              </a:rPr>
              <a:t>Chọn 1 NV, bên phải hiển thị các khoản tiền liên quan đến tiền lương</a:t>
            </a:r>
            <a:endParaRPr lang="zh-CN" altLang="en-US" sz="12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0" y="1340768"/>
            <a:ext cx="6670612" cy="3673979"/>
          </a:xfrm>
          <a:prstGeom prst="rect">
            <a:avLst/>
          </a:prstGeom>
        </p:spPr>
      </p:pic>
    </p:spTree>
    <p:extLst>
      <p:ext uri="{BB962C8B-B14F-4D97-AF65-F5344CB8AC3E}">
        <p14:creationId xmlns:p14="http://schemas.microsoft.com/office/powerpoint/2010/main" val="40419213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1569660"/>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Đối chiếu dữ liệu của mỗi người theo từng hạng mục khác nhau liên quan đến tiền lương</a:t>
            </a:r>
          </a:p>
          <a:p>
            <a:pPr algn="l"/>
            <a:r>
              <a:rPr lang="en-US" altLang="zh-CN" sz="1200" dirty="0" smtClean="0">
                <a:latin typeface="Times New Roman" pitchFamily="18" charset="0"/>
                <a:cs typeface="Times New Roman" pitchFamily="18" charset="0"/>
              </a:rPr>
              <a:t>-Chọn “kế hoạch trả lương”, hạng mục cần tra cứu thông tin, sau đó “Tra cứu”, hệ thống hiển thị tất cả nhân viên tham gia tính lương và số tiền, cùng với công thức tính.</a:t>
            </a:r>
            <a:endParaRPr lang="zh-CN" altLang="en-US" sz="1200" dirty="0">
              <a:latin typeface="Times New Roman" pitchFamily="18" charset="0"/>
              <a:cs typeface="Times New Roman" pitchFamily="18" charset="0"/>
            </a:endParaRPr>
          </a:p>
        </p:txBody>
      </p:sp>
      <p:sp>
        <p:nvSpPr>
          <p:cNvPr id="8" name="TextBox 7"/>
          <p:cNvSpPr txBox="1"/>
          <p:nvPr/>
        </p:nvSpPr>
        <p:spPr>
          <a:xfrm>
            <a:off x="1403648" y="116632"/>
            <a:ext cx="2880320"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-Đối chiếu hạng mục</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0" y="1249446"/>
            <a:ext cx="6660232" cy="3554442"/>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259632" y="116632"/>
            <a:ext cx="309634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-Khoản tiền thay đổi</a:t>
            </a:r>
            <a:endParaRPr lang="zh-CN" altLang="en-US" sz="1200" dirty="0">
              <a:latin typeface="Times New Roman" pitchFamily="18" charset="0"/>
              <a:cs typeface="Times New Roman" pitchFamily="18" charset="0"/>
            </a:endParaRPr>
          </a:p>
        </p:txBody>
      </p:sp>
      <p:sp>
        <p:nvSpPr>
          <p:cNvPr id="2" name="TextBox 1"/>
          <p:cNvSpPr txBox="1"/>
          <p:nvPr/>
        </p:nvSpPr>
        <p:spPr>
          <a:xfrm>
            <a:off x="6660232" y="1484784"/>
            <a:ext cx="2483768" cy="830997"/>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Đối chiếu các khoản tiền thay đổi giữa tháng này và  tháng trước đó. </a:t>
            </a:r>
          </a:p>
          <a:p>
            <a:pPr algn="l"/>
            <a:r>
              <a:rPr lang="en-US" altLang="zh-CN" sz="1200" dirty="0" smtClean="0">
                <a:latin typeface="Times New Roman" pitchFamily="18" charset="0"/>
                <a:cs typeface="Times New Roman" pitchFamily="18" charset="0"/>
              </a:rPr>
              <a:t>Phân biệt hạng mục gồm: Chi trả, Khấu trừ, Bảo hiểm</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3"/>
          <a:stretch>
            <a:fillRect/>
          </a:stretch>
        </p:blipFill>
        <p:spPr>
          <a:xfrm>
            <a:off x="0" y="1268760"/>
            <a:ext cx="6664071" cy="3732986"/>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138499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Đối chiếu các khoản tiền chi trả của công ty tháng này với 1 tháng trước đó</a:t>
            </a:r>
          </a:p>
          <a:p>
            <a:pPr algn="l"/>
            <a:r>
              <a:rPr lang="en-US" altLang="zh-CN" sz="1200" dirty="0" smtClean="0">
                <a:latin typeface="Times New Roman" pitchFamily="18" charset="0"/>
                <a:cs typeface="Times New Roman" pitchFamily="18" charset="0"/>
              </a:rPr>
              <a:t>.Trang này dùng để so sánh tổng số nhân viên tham gia tính lương trên hệ thống và tổng số tiền thu phập, lương thực lĩnh cũng như tổng khoản trừ.</a:t>
            </a:r>
            <a:endParaRPr lang="zh-CN" altLang="en-US" sz="1200" dirty="0">
              <a:latin typeface="Times New Roman" pitchFamily="18" charset="0"/>
              <a:cs typeface="Times New Roman" pitchFamily="18" charset="0"/>
            </a:endParaRPr>
          </a:p>
        </p:txBody>
      </p:sp>
      <p:sp>
        <p:nvSpPr>
          <p:cNvPr id="8" name="TextBox 7"/>
          <p:cNvSpPr txBox="1"/>
          <p:nvPr/>
        </p:nvSpPr>
        <p:spPr>
          <a:xfrm>
            <a:off x="1271936" y="116632"/>
            <a:ext cx="2940023"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-Thay đổi chi tiết</a:t>
            </a:r>
            <a:endParaRPr lang="zh-CN" altLang="en-US" sz="1200" dirty="0">
              <a:latin typeface="Times New Roman" pitchFamily="18" charset="0"/>
              <a:cs typeface="Times New Roman" pitchFamily="18" charset="0"/>
            </a:endParaRPr>
          </a:p>
        </p:txBody>
      </p:sp>
      <p:sp>
        <p:nvSpPr>
          <p:cNvPr id="4" name="矩形 3"/>
          <p:cNvSpPr/>
          <p:nvPr/>
        </p:nvSpPr>
        <p:spPr>
          <a:xfrm>
            <a:off x="4644008" y="2751311"/>
            <a:ext cx="1512168" cy="173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0" y="1196752"/>
            <a:ext cx="6660232" cy="3646442"/>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05626" y="107352"/>
            <a:ext cx="3266373"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 Hạng nục trả lương</a:t>
            </a:r>
            <a:endParaRPr lang="zh-CN" altLang="en-US" sz="1200" dirty="0">
              <a:latin typeface="Times New Roman" pitchFamily="18" charset="0"/>
              <a:cs typeface="Times New Roman" pitchFamily="18" charset="0"/>
            </a:endParaRP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904151"/>
            <a:ext cx="6192688" cy="150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直接箭头连接符 3"/>
          <p:cNvCxnSpPr/>
          <p:nvPr/>
        </p:nvCxnSpPr>
        <p:spPr>
          <a:xfrm>
            <a:off x="5148064" y="3212976"/>
            <a:ext cx="0" cy="64807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644008" y="2751311"/>
            <a:ext cx="1512168" cy="173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23528" y="2420888"/>
            <a:ext cx="1656184" cy="131965"/>
          </a:xfrm>
          <a:prstGeom prst="rect">
            <a:avLst/>
          </a:prstGeom>
          <a:solidFill>
            <a:srgbClr val="C6D9F1"/>
          </a:solidFill>
          <a:ln>
            <a:solidFill>
              <a:srgbClr val="C6D9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6732240" y="1597150"/>
            <a:ext cx="2123728" cy="1754326"/>
          </a:xfrm>
          <a:prstGeom prst="rect">
            <a:avLst/>
          </a:prstGeom>
          <a:noFill/>
        </p:spPr>
        <p:txBody>
          <a:bodyPr wrap="square" rtlCol="0">
            <a:spAutoFit/>
          </a:bodyPr>
          <a:lstStyle/>
          <a:p>
            <a:pPr algn="l"/>
            <a:r>
              <a:rPr lang="en-US" sz="1200" dirty="0" err="1" smtClean="0">
                <a:latin typeface="Times New Roman" pitchFamily="18" charset="0"/>
                <a:cs typeface="Times New Roman" pitchFamily="18" charset="0"/>
              </a:rPr>
              <a:t>Xác</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nhận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thông</a:t>
            </a:r>
            <a:r>
              <a:rPr lang="en-US" sz="1200" dirty="0" smtClean="0">
                <a:latin typeface="Times New Roman" pitchFamily="18" charset="0"/>
                <a:cs typeface="Times New Roman" pitchFamily="18" charset="0"/>
              </a:rPr>
              <a:t> tin </a:t>
            </a:r>
            <a:r>
              <a:rPr lang="en-US" sz="1200" dirty="0" err="1" smtClean="0">
                <a:latin typeface="Times New Roman" pitchFamily="18" charset="0"/>
                <a:cs typeface="Times New Roman" pitchFamily="18" charset="0"/>
              </a:rPr>
              <a:t>tính</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toán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lương</a:t>
            </a:r>
            <a:r>
              <a:rPr lang="en-US" sz="1200" dirty="0" smtClean="0">
                <a:latin typeface="Times New Roman" pitchFamily="18" charset="0"/>
                <a:cs typeface="Times New Roman" pitchFamily="18" charset="0"/>
              </a:rPr>
              <a:t>. Trang hiển thị hạng mục tiền lương của  2 tháng nào đó</a:t>
            </a:r>
          </a:p>
          <a:p>
            <a:pPr algn="l"/>
            <a:r>
              <a:rPr lang="en-US" sz="1200" dirty="0" smtClean="0">
                <a:latin typeface="Times New Roman" pitchFamily="18" charset="0"/>
                <a:cs typeface="Times New Roman" pitchFamily="18" charset="0"/>
              </a:rPr>
              <a:t>-- Nhập điều kiện tìm kiếm, chọn “Tra cứu”, hệ thống hiển thị số liệu thông tin bên dưới.</a:t>
            </a:r>
          </a:p>
          <a:p>
            <a:pPr algn="l"/>
            <a:r>
              <a:rPr lang="en-US" sz="1200" dirty="0" smtClean="0">
                <a:latin typeface="Times New Roman" pitchFamily="18" charset="0"/>
                <a:cs typeface="Times New Roman" pitchFamily="18" charset="0"/>
              </a:rPr>
              <a:t>--Chọn chữ số màu xanh, bên phải hiển thị chi tiết nhân viên và các khoản tiền liên quan</a:t>
            </a:r>
            <a:endParaRPr lang="en-US" sz="1200" dirty="0">
              <a:latin typeface="Times New Roman" pitchFamily="18" charset="0"/>
              <a:cs typeface="Times New Roman" pitchFamily="18" charset="0"/>
            </a:endParaRPr>
          </a:p>
        </p:txBody>
      </p:sp>
      <p:pic>
        <p:nvPicPr>
          <p:cNvPr id="5" name="Picture 4"/>
          <p:cNvPicPr>
            <a:picLocks noChangeAspect="1"/>
          </p:cNvPicPr>
          <p:nvPr/>
        </p:nvPicPr>
        <p:blipFill>
          <a:blip r:embed="rId3"/>
          <a:stretch>
            <a:fillRect/>
          </a:stretch>
        </p:blipFill>
        <p:spPr>
          <a:xfrm>
            <a:off x="1" y="1225522"/>
            <a:ext cx="6732240" cy="3579702"/>
          </a:xfrm>
          <a:prstGeom prst="rect">
            <a:avLst/>
          </a:prstGeom>
        </p:spPr>
      </p:pic>
    </p:spTree>
    <p:extLst>
      <p:ext uri="{BB962C8B-B14F-4D97-AF65-F5344CB8AC3E}">
        <p14:creationId xmlns:p14="http://schemas.microsoft.com/office/powerpoint/2010/main" val="11046797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Đối chiếu tiền lương tăng ca của tháng tìm kiếm</a:t>
            </a:r>
            <a:endParaRPr lang="zh-CN" altLang="en-US" sz="1200" dirty="0">
              <a:latin typeface="Times New Roman" pitchFamily="18" charset="0"/>
              <a:cs typeface="Times New Roman" pitchFamily="18" charset="0"/>
            </a:endParaRPr>
          </a:p>
        </p:txBody>
      </p:sp>
      <p:sp>
        <p:nvSpPr>
          <p:cNvPr id="28" name="TextBox 27"/>
          <p:cNvSpPr txBox="1"/>
          <p:nvPr/>
        </p:nvSpPr>
        <p:spPr>
          <a:xfrm>
            <a:off x="6717140" y="1927865"/>
            <a:ext cx="840295"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endParaRPr lang="zh-CN" altLang="en-US" sz="1200" b="1" dirty="0">
              <a:latin typeface="Times New Roman" pitchFamily="18" charset="0"/>
              <a:cs typeface="Times New Roman" pitchFamily="18" charset="0"/>
            </a:endParaRPr>
          </a:p>
        </p:txBody>
      </p:sp>
      <p:sp>
        <p:nvSpPr>
          <p:cNvPr id="8" name="TextBox 7"/>
          <p:cNvSpPr txBox="1"/>
          <p:nvPr/>
        </p:nvSpPr>
        <p:spPr>
          <a:xfrm>
            <a:off x="1269908" y="116632"/>
            <a:ext cx="2726028"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-Thống kê tăng ca</a:t>
            </a:r>
            <a:endParaRPr lang="zh-CN" altLang="en-US" sz="1200" dirty="0">
              <a:latin typeface="Times New Roman" pitchFamily="18" charset="0"/>
              <a:cs typeface="Times New Roman" pitchFamily="18" charset="0"/>
            </a:endParaRPr>
          </a:p>
        </p:txBody>
      </p:sp>
      <p:sp>
        <p:nvSpPr>
          <p:cNvPr id="3" name="矩形 2"/>
          <p:cNvSpPr/>
          <p:nvPr/>
        </p:nvSpPr>
        <p:spPr>
          <a:xfrm>
            <a:off x="4932040" y="3028310"/>
            <a:ext cx="1440160" cy="9407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pic>
        <p:nvPicPr>
          <p:cNvPr id="5" name="Picture 4"/>
          <p:cNvPicPr>
            <a:picLocks noChangeAspect="1"/>
          </p:cNvPicPr>
          <p:nvPr/>
        </p:nvPicPr>
        <p:blipFill>
          <a:blip r:embed="rId2"/>
          <a:stretch>
            <a:fillRect/>
          </a:stretch>
        </p:blipFill>
        <p:spPr>
          <a:xfrm>
            <a:off x="1" y="1141001"/>
            <a:ext cx="6717140" cy="3699910"/>
          </a:xfrm>
          <a:prstGeom prst="rect">
            <a:avLst/>
          </a:prstGeom>
        </p:spPr>
      </p:pic>
    </p:spTree>
    <p:extLst>
      <p:ext uri="{BB962C8B-B14F-4D97-AF65-F5344CB8AC3E}">
        <p14:creationId xmlns:p14="http://schemas.microsoft.com/office/powerpoint/2010/main" val="11046797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276999"/>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tiền bảo hiểm</a:t>
            </a:r>
            <a:endParaRPr lang="zh-CN" altLang="en-US" sz="1200" dirty="0">
              <a:latin typeface="Times New Roman" pitchFamily="18" charset="0"/>
              <a:cs typeface="Times New Roman" pitchFamily="18" charset="0"/>
            </a:endParaRPr>
          </a:p>
        </p:txBody>
      </p:sp>
      <p:sp>
        <p:nvSpPr>
          <p:cNvPr id="28" name="TextBox 27"/>
          <p:cNvSpPr txBox="1"/>
          <p:nvPr/>
        </p:nvSpPr>
        <p:spPr>
          <a:xfrm>
            <a:off x="6717140" y="1927865"/>
            <a:ext cx="840295"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endParaRPr lang="zh-CN" altLang="en-US" sz="1200" b="1" dirty="0">
              <a:latin typeface="Times New Roman" pitchFamily="18" charset="0"/>
              <a:cs typeface="Times New Roman" pitchFamily="18" charset="0"/>
            </a:endParaRPr>
          </a:p>
        </p:txBody>
      </p:sp>
      <p:sp>
        <p:nvSpPr>
          <p:cNvPr id="8" name="TextBox 7"/>
          <p:cNvSpPr txBox="1"/>
          <p:nvPr/>
        </p:nvSpPr>
        <p:spPr>
          <a:xfrm>
            <a:off x="1269908" y="116632"/>
            <a:ext cx="2726028"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 -Đối chiếu bảo hiểm</a:t>
            </a:r>
            <a:endParaRPr lang="zh-CN" altLang="en-US" sz="1200" dirty="0">
              <a:latin typeface="Times New Roman" pitchFamily="18" charset="0"/>
              <a:cs typeface="Times New Roman" pitchFamily="18" charset="0"/>
            </a:endParaRPr>
          </a:p>
        </p:txBody>
      </p:sp>
      <p:sp>
        <p:nvSpPr>
          <p:cNvPr id="3" name="矩形 2"/>
          <p:cNvSpPr/>
          <p:nvPr/>
        </p:nvSpPr>
        <p:spPr>
          <a:xfrm>
            <a:off x="4932040" y="3028310"/>
            <a:ext cx="1440160" cy="9407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 y="1374304"/>
            <a:ext cx="6660232" cy="3585744"/>
          </a:xfrm>
          <a:prstGeom prst="rect">
            <a:avLst/>
          </a:prstGeom>
        </p:spPr>
      </p:pic>
      <p:sp>
        <p:nvSpPr>
          <p:cNvPr id="9" name="TextBox 8"/>
          <p:cNvSpPr txBox="1"/>
          <p:nvPr/>
        </p:nvSpPr>
        <p:spPr>
          <a:xfrm>
            <a:off x="6660232" y="2291388"/>
            <a:ext cx="2483768" cy="120032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-Nhập điều kiện tìm kiếm, sau đó “Tra cứu”, hệ thống thống kê số người tính bảo hiểm trong 2 tháng.</a:t>
            </a:r>
          </a:p>
          <a:p>
            <a:r>
              <a:rPr lang="en-US" altLang="zh-CN" sz="1200" dirty="0" smtClean="0">
                <a:latin typeface="Times New Roman" pitchFamily="18" charset="0"/>
                <a:cs typeface="Times New Roman" pitchFamily="18" charset="0"/>
              </a:rPr>
              <a:t>-Chọn chữ số màu xanh, bên phải hiển thị các nhân viên và tiền bảo hiểm trong 2 tháng.</a:t>
            </a:r>
            <a:endParaRPr lang="zh-CN" altLang="en-US" sz="1200" dirty="0">
              <a:latin typeface="Times New Roman" pitchFamily="18" charset="0"/>
              <a:cs typeface="Times New Roman" pitchFamily="18" charset="0"/>
            </a:endParaRPr>
          </a:p>
        </p:txBody>
      </p:sp>
    </p:spTree>
    <p:extLst>
      <p:ext uri="{BB962C8B-B14F-4D97-AF65-F5344CB8AC3E}">
        <p14:creationId xmlns:p14="http://schemas.microsoft.com/office/powerpoint/2010/main" val="160597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1384995"/>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1. Tra cứu thông tin bảo hiểm cá nhân của nhân viên </a:t>
            </a:r>
          </a:p>
          <a:p>
            <a:r>
              <a:rPr lang="en-US" altLang="zh-CN" sz="1200" dirty="0" smtClean="0">
                <a:latin typeface="Times New Roman" pitchFamily="18" charset="0"/>
                <a:cs typeface="Times New Roman" pitchFamily="18" charset="0"/>
              </a:rPr>
              <a:t>2. Chọn “Ngày phát”, Phòng ban, sau đó “Tra cứu”, hệ thống hiện ra tất cả các nhân viên thuộc phòng ban và thông tin bảo hiểm cá nhân đã tính tương ứng</a:t>
            </a:r>
            <a:endParaRPr lang="zh-CN" altLang="en-US" sz="1200" dirty="0">
              <a:latin typeface="Times New Roman" pitchFamily="18" charset="0"/>
              <a:cs typeface="Times New Roman" pitchFamily="18" charset="0"/>
            </a:endParaRPr>
          </a:p>
        </p:txBody>
      </p:sp>
      <p:sp>
        <p:nvSpPr>
          <p:cNvPr id="8" name="TextBox 7"/>
          <p:cNvSpPr txBox="1"/>
          <p:nvPr/>
        </p:nvSpPr>
        <p:spPr>
          <a:xfrm>
            <a:off x="1269908" y="127665"/>
            <a:ext cx="2942052"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quả-Chi tiết bảo hiểm</a:t>
            </a:r>
            <a:endParaRPr lang="zh-CN" altLang="en-US" sz="1200" dirty="0">
              <a:latin typeface="Times New Roman" pitchFamily="18" charset="0"/>
              <a:cs typeface="Times New Roman" pitchFamily="18" charset="0"/>
            </a:endParaRPr>
          </a:p>
        </p:txBody>
      </p:sp>
      <p:sp>
        <p:nvSpPr>
          <p:cNvPr id="6" name="矩形 5"/>
          <p:cNvSpPr/>
          <p:nvPr/>
        </p:nvSpPr>
        <p:spPr>
          <a:xfrm>
            <a:off x="4644008" y="2751311"/>
            <a:ext cx="1512168" cy="173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sp>
        <p:nvSpPr>
          <p:cNvPr id="9" name="矩形 8"/>
          <p:cNvSpPr/>
          <p:nvPr/>
        </p:nvSpPr>
        <p:spPr>
          <a:xfrm>
            <a:off x="323528" y="2420888"/>
            <a:ext cx="1656184" cy="131965"/>
          </a:xfrm>
          <a:prstGeom prst="rect">
            <a:avLst/>
          </a:prstGeom>
          <a:solidFill>
            <a:srgbClr val="C6D9F1"/>
          </a:solidFill>
          <a:ln>
            <a:solidFill>
              <a:srgbClr val="C6D9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0" y="1268760"/>
            <a:ext cx="6660232" cy="3698584"/>
          </a:xfrm>
          <a:prstGeom prst="rect">
            <a:avLst/>
          </a:prstGeom>
        </p:spPr>
      </p:pic>
    </p:spTree>
    <p:extLst>
      <p:ext uri="{BB962C8B-B14F-4D97-AF65-F5344CB8AC3E}">
        <p14:creationId xmlns:p14="http://schemas.microsoft.com/office/powerpoint/2010/main" val="11046797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1015663"/>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tiền thuế cá nhân vủa nhân viên.</a:t>
            </a:r>
          </a:p>
          <a:p>
            <a:pPr algn="l"/>
            <a:r>
              <a:rPr lang="en-US" altLang="zh-CN" sz="1200" dirty="0" smtClean="0">
                <a:latin typeface="Times New Roman" pitchFamily="18" charset="0"/>
                <a:cs typeface="Times New Roman" pitchFamily="18" charset="0"/>
              </a:rPr>
              <a:t>Chọn “Ngày phát”, “Phòng ban” sau đó “Tra cứu”, hệ thống hiển thị tất cả nhân viên và dữ liệu thuế tương ứng.</a:t>
            </a:r>
            <a:endParaRPr lang="zh-CN" altLang="en-US" sz="1200" dirty="0">
              <a:latin typeface="Times New Roman" pitchFamily="18" charset="0"/>
              <a:cs typeface="Times New Roman" pitchFamily="18" charset="0"/>
            </a:endParaRPr>
          </a:p>
        </p:txBody>
      </p:sp>
      <p:sp>
        <p:nvSpPr>
          <p:cNvPr id="8" name="TextBox 7"/>
          <p:cNvSpPr txBox="1"/>
          <p:nvPr/>
        </p:nvSpPr>
        <p:spPr>
          <a:xfrm>
            <a:off x="1475656"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Đối chiếu kết quả-Tiền thuế</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0" y="1298555"/>
            <a:ext cx="6660232" cy="3644540"/>
          </a:xfrm>
          <a:prstGeom prst="rect">
            <a:avLst/>
          </a:prstGeom>
        </p:spPr>
      </p:pic>
    </p:spTree>
    <p:extLst>
      <p:ext uri="{BB962C8B-B14F-4D97-AF65-F5344CB8AC3E}">
        <p14:creationId xmlns:p14="http://schemas.microsoft.com/office/powerpoint/2010/main" val="11046797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07542" y="1484784"/>
            <a:ext cx="2483768" cy="1569660"/>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phiếu lương của CNV nào đó</a:t>
            </a: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    Nhập </a:t>
            </a:r>
            <a:r>
              <a:rPr lang="en-US" altLang="zh-CN" sz="1200" dirty="0">
                <a:latin typeface="Times New Roman" pitchFamily="18" charset="0"/>
                <a:cs typeface="Times New Roman" pitchFamily="18" charset="0"/>
              </a:rPr>
              <a:t>Họ tên/Mã nhân viên</a:t>
            </a: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“Kế hoạch trả lương”</a:t>
            </a:r>
            <a:endParaRPr lang="en-US" altLang="zh-CN" sz="1200" dirty="0">
              <a:latin typeface="Times New Roman" pitchFamily="18" charset="0"/>
              <a:cs typeface="Times New Roman" pitchFamily="18" charset="0"/>
            </a:endParaRPr>
          </a:p>
          <a:p>
            <a:pPr algn="l"/>
            <a:r>
              <a:rPr lang="en-US" altLang="zh-CN" sz="1200" dirty="0">
                <a:latin typeface="Times New Roman" pitchFamily="18" charset="0"/>
                <a:cs typeface="Times New Roman" pitchFamily="18" charset="0"/>
              </a:rPr>
              <a:t>     “Tra cứu” </a:t>
            </a:r>
            <a:endParaRPr lang="en-US" altLang="zh-CN" sz="1200" dirty="0" smtClean="0">
              <a:latin typeface="Times New Roman" pitchFamily="18" charset="0"/>
              <a:cs typeface="Times New Roman" pitchFamily="18" charset="0"/>
            </a:endParaRPr>
          </a:p>
          <a:p>
            <a:pPr algn="l"/>
            <a:r>
              <a:rPr lang="en-US" altLang="zh-CN" sz="1200" dirty="0" smtClean="0">
                <a:latin typeface="Times New Roman" pitchFamily="18" charset="0"/>
                <a:cs typeface="Times New Roman" pitchFamily="18" charset="0"/>
              </a:rPr>
              <a:t>--Hệ thống hiển thị phiếu lương chi tiết của nhân viên đó bên dưới</a:t>
            </a:r>
          </a:p>
          <a:p>
            <a:pPr algn="l"/>
            <a:r>
              <a:rPr lang="en-US" altLang="zh-CN" sz="1200" dirty="0" smtClean="0">
                <a:latin typeface="Times New Roman" pitchFamily="18" charset="0"/>
                <a:cs typeface="Times New Roman" pitchFamily="18" charset="0"/>
              </a:rPr>
              <a:t>--Chọn “In” để in phiếu lương</a:t>
            </a:r>
            <a:endParaRPr lang="zh-CN" altLang="en-US" sz="1200" dirty="0">
              <a:latin typeface="Times New Roman" pitchFamily="18" charset="0"/>
              <a:cs typeface="Times New Roman" pitchFamily="18" charset="0"/>
            </a:endParaRPr>
          </a:p>
        </p:txBody>
      </p:sp>
      <p:sp>
        <p:nvSpPr>
          <p:cNvPr id="10" name="TextBox 9"/>
          <p:cNvSpPr txBox="1"/>
          <p:nvPr/>
        </p:nvSpPr>
        <p:spPr>
          <a:xfrm>
            <a:off x="1475656" y="147229"/>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Tra cứu lương - Phiếu lương</a:t>
            </a:r>
            <a:endParaRPr lang="zh-CN" altLang="en-US" sz="1200" dirty="0">
              <a:latin typeface="Times New Roman" pitchFamily="18" charset="0"/>
              <a:cs typeface="Times New Roman" pitchFamily="18" charset="0"/>
            </a:endParaRPr>
          </a:p>
        </p:txBody>
      </p:sp>
      <p:cxnSp>
        <p:nvCxnSpPr>
          <p:cNvPr id="5" name="Straight Arrow Connector 4"/>
          <p:cNvCxnSpPr/>
          <p:nvPr/>
        </p:nvCxnSpPr>
        <p:spPr>
          <a:xfrm>
            <a:off x="6647913" y="1988840"/>
            <a:ext cx="1563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660232" y="2141240"/>
            <a:ext cx="1563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660232" y="2348880"/>
            <a:ext cx="1563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3"/>
          <a:stretch>
            <a:fillRect/>
          </a:stretch>
        </p:blipFill>
        <p:spPr>
          <a:xfrm>
            <a:off x="-20163" y="1268760"/>
            <a:ext cx="6680395" cy="3621018"/>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2123658"/>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tiền lương của nhân viên trong tháng nào đó</a:t>
            </a: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    Nhập </a:t>
            </a:r>
            <a:r>
              <a:rPr lang="en-US" altLang="zh-CN" sz="1200" dirty="0">
                <a:latin typeface="Times New Roman" pitchFamily="18" charset="0"/>
                <a:cs typeface="Times New Roman" pitchFamily="18" charset="0"/>
              </a:rPr>
              <a:t>Họ tên/Mã nhân </a:t>
            </a:r>
            <a:r>
              <a:rPr lang="en-US" altLang="zh-CN" sz="1200" dirty="0" smtClean="0">
                <a:latin typeface="Times New Roman" pitchFamily="18" charset="0"/>
                <a:cs typeface="Times New Roman" pitchFamily="18" charset="0"/>
              </a:rPr>
              <a:t>viên hoặc Phòng ban</a:t>
            </a:r>
            <a:endParaRPr lang="en-US" altLang="zh-CN" sz="1200" dirty="0">
              <a:latin typeface="Times New Roman" pitchFamily="18" charset="0"/>
              <a:cs typeface="Times New Roman" pitchFamily="18" charset="0"/>
            </a:endParaRP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“Kế hoạch trả lương”</a:t>
            </a:r>
            <a:endParaRPr lang="en-US" altLang="zh-CN" sz="1200" dirty="0">
              <a:latin typeface="Times New Roman" pitchFamily="18" charset="0"/>
              <a:cs typeface="Times New Roman" pitchFamily="18" charset="0"/>
            </a:endParaRPr>
          </a:p>
          <a:p>
            <a:pPr algn="l"/>
            <a:r>
              <a:rPr lang="en-US" altLang="zh-CN" sz="1200" dirty="0">
                <a:latin typeface="Times New Roman" pitchFamily="18" charset="0"/>
                <a:cs typeface="Times New Roman" pitchFamily="18" charset="0"/>
              </a:rPr>
              <a:t>     “Tra cứu” </a:t>
            </a:r>
            <a:endParaRPr lang="en-US" altLang="zh-CN" sz="1200" dirty="0" smtClean="0">
              <a:latin typeface="Times New Roman" pitchFamily="18" charset="0"/>
              <a:cs typeface="Times New Roman" pitchFamily="18" charset="0"/>
            </a:endParaRPr>
          </a:p>
          <a:p>
            <a:pPr algn="l"/>
            <a:r>
              <a:rPr lang="en-US" altLang="zh-CN" sz="1200" dirty="0" smtClean="0">
                <a:latin typeface="Times New Roman" pitchFamily="18" charset="0"/>
                <a:cs typeface="Times New Roman" pitchFamily="18" charset="0"/>
              </a:rPr>
              <a:t> Hệ </a:t>
            </a:r>
            <a:r>
              <a:rPr lang="en-US" altLang="zh-CN" sz="1200" dirty="0">
                <a:latin typeface="Times New Roman" pitchFamily="18" charset="0"/>
                <a:cs typeface="Times New Roman" pitchFamily="18" charset="0"/>
              </a:rPr>
              <a:t>thống hiển thị </a:t>
            </a:r>
            <a:r>
              <a:rPr lang="en-US" altLang="zh-CN" sz="1200" dirty="0" smtClean="0">
                <a:latin typeface="Times New Roman" pitchFamily="18" charset="0"/>
                <a:cs typeface="Times New Roman" pitchFamily="18" charset="0"/>
              </a:rPr>
              <a:t>lương tháng chi </a:t>
            </a:r>
            <a:r>
              <a:rPr lang="en-US" altLang="zh-CN" sz="1200" dirty="0">
                <a:latin typeface="Times New Roman" pitchFamily="18" charset="0"/>
                <a:cs typeface="Times New Roman" pitchFamily="18" charset="0"/>
              </a:rPr>
              <a:t>tiết của nhân </a:t>
            </a:r>
            <a:r>
              <a:rPr lang="en-US" altLang="zh-CN" sz="1200" dirty="0" smtClean="0">
                <a:latin typeface="Times New Roman" pitchFamily="18" charset="0"/>
                <a:cs typeface="Times New Roman" pitchFamily="18" charset="0"/>
              </a:rPr>
              <a:t>viên </a:t>
            </a:r>
            <a:r>
              <a:rPr lang="en-US" altLang="zh-CN" sz="1200" dirty="0">
                <a:latin typeface="Times New Roman" pitchFamily="18" charset="0"/>
                <a:cs typeface="Times New Roman" pitchFamily="18" charset="0"/>
              </a:rPr>
              <a:t>bên </a:t>
            </a:r>
            <a:r>
              <a:rPr lang="en-US" altLang="zh-CN" sz="1200" dirty="0" smtClean="0">
                <a:latin typeface="Times New Roman" pitchFamily="18" charset="0"/>
                <a:cs typeface="Times New Roman" pitchFamily="18" charset="0"/>
              </a:rPr>
              <a:t>dưới</a:t>
            </a:r>
          </a:p>
          <a:p>
            <a:pPr algn="l"/>
            <a:r>
              <a:rPr lang="en-US" altLang="zh-CN" sz="1200" dirty="0" smtClean="0">
                <a:latin typeface="Times New Roman" pitchFamily="18" charset="0"/>
                <a:cs typeface="Times New Roman" pitchFamily="18" charset="0"/>
              </a:rPr>
              <a:t>Chọn 1 nhân viên để xem chi tiết các khoản tiền trong tháng đó</a:t>
            </a:r>
            <a:endParaRPr lang="zh-CN" altLang="en-US" sz="1200" dirty="0">
              <a:latin typeface="Times New Roman" pitchFamily="18" charset="0"/>
              <a:cs typeface="Times New Roman" pitchFamily="18" charset="0"/>
            </a:endParaRPr>
          </a:p>
          <a:p>
            <a:pPr algn="l"/>
            <a:endParaRPr lang="zh-CN" altLang="en-US" sz="1200" dirty="0">
              <a:latin typeface="Times New Roman" pitchFamily="18" charset="0"/>
              <a:cs typeface="Times New Roman" pitchFamily="18" charset="0"/>
            </a:endParaRPr>
          </a:p>
        </p:txBody>
      </p:sp>
      <p:sp>
        <p:nvSpPr>
          <p:cNvPr id="8" name="TextBox 7"/>
          <p:cNvSpPr txBox="1"/>
          <p:nvPr/>
        </p:nvSpPr>
        <p:spPr>
          <a:xfrm>
            <a:off x="1187624" y="116632"/>
            <a:ext cx="2952328"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Tra cứu lương -Lương tháng chi tiết</a:t>
            </a:r>
            <a:endParaRPr lang="zh-CN" altLang="en-US" sz="1200" dirty="0">
              <a:latin typeface="Times New Roman" pitchFamily="18" charset="0"/>
              <a:cs typeface="Times New Roman" pitchFamily="18" charset="0"/>
            </a:endParaRPr>
          </a:p>
        </p:txBody>
      </p:sp>
      <p:sp>
        <p:nvSpPr>
          <p:cNvPr id="3" name="矩形 2"/>
          <p:cNvSpPr/>
          <p:nvPr/>
        </p:nvSpPr>
        <p:spPr>
          <a:xfrm>
            <a:off x="2195736" y="2606424"/>
            <a:ext cx="1008112" cy="102496"/>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cxnSp>
        <p:nvCxnSpPr>
          <p:cNvPr id="7" name="Straight Arrow Connector 6"/>
          <p:cNvCxnSpPr/>
          <p:nvPr/>
        </p:nvCxnSpPr>
        <p:spPr>
          <a:xfrm>
            <a:off x="6660232" y="1988840"/>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660232" y="2564904"/>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660232" y="2348880"/>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0" y="1383065"/>
            <a:ext cx="6660232" cy="3712090"/>
          </a:xfrm>
          <a:prstGeom prst="rect">
            <a:avLst/>
          </a:prstGeom>
        </p:spPr>
      </p:pic>
    </p:spTree>
    <p:extLst>
      <p:ext uri="{BB962C8B-B14F-4D97-AF65-F5344CB8AC3E}">
        <p14:creationId xmlns:p14="http://schemas.microsoft.com/office/powerpoint/2010/main" val="7664605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660232" y="1484784"/>
            <a:ext cx="2483768" cy="2308324"/>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Tra cứu tiền lương nhân viên từ tháng 1 đến thời điểm hiện tại</a:t>
            </a:r>
          </a:p>
          <a:p>
            <a:pPr algn="l"/>
            <a:r>
              <a:rPr lang="en-US" altLang="zh-CN" sz="1200" dirty="0" smtClean="0">
                <a:latin typeface="Times New Roman" pitchFamily="18" charset="0"/>
                <a:cs typeface="Times New Roman" pitchFamily="18" charset="0"/>
              </a:rPr>
              <a:t>    Nhập </a:t>
            </a:r>
            <a:r>
              <a:rPr lang="en-US" altLang="zh-CN" sz="1200" dirty="0">
                <a:latin typeface="Times New Roman" pitchFamily="18" charset="0"/>
                <a:cs typeface="Times New Roman" pitchFamily="18" charset="0"/>
              </a:rPr>
              <a:t>Họ tên/Mã nhân </a:t>
            </a:r>
            <a:r>
              <a:rPr lang="en-US" altLang="zh-CN" sz="1200" dirty="0" smtClean="0">
                <a:latin typeface="Times New Roman" pitchFamily="18" charset="0"/>
                <a:cs typeface="Times New Roman" pitchFamily="18" charset="0"/>
              </a:rPr>
              <a:t>viên</a:t>
            </a:r>
          </a:p>
          <a:p>
            <a:pPr algn="l"/>
            <a:r>
              <a:rPr lang="en-US" altLang="zh-CN" sz="1200" dirty="0" smtClean="0">
                <a:latin typeface="Times New Roman" pitchFamily="18" charset="0"/>
                <a:cs typeface="Times New Roman" pitchFamily="18" charset="0"/>
              </a:rPr>
              <a:t>     Chọn khoảng thời gian</a:t>
            </a:r>
          </a:p>
          <a:p>
            <a:pPr algn="l"/>
            <a:r>
              <a:rPr lang="en-US" altLang="zh-CN" sz="1200" dirty="0" smtClean="0">
                <a:latin typeface="Times New Roman" pitchFamily="18" charset="0"/>
                <a:cs typeface="Times New Roman" pitchFamily="18" charset="0"/>
              </a:rPr>
              <a:t>     “</a:t>
            </a:r>
            <a:r>
              <a:rPr lang="en-US" altLang="zh-CN" sz="1200" dirty="0">
                <a:latin typeface="Times New Roman" pitchFamily="18" charset="0"/>
                <a:cs typeface="Times New Roman" pitchFamily="18" charset="0"/>
              </a:rPr>
              <a:t>Tra cứu” </a:t>
            </a:r>
            <a:endParaRPr lang="en-US" altLang="zh-CN" sz="1200" dirty="0" smtClean="0">
              <a:latin typeface="Times New Roman" pitchFamily="18" charset="0"/>
              <a:cs typeface="Times New Roman" pitchFamily="18" charset="0"/>
            </a:endParaRPr>
          </a:p>
          <a:p>
            <a:pPr algn="l"/>
            <a:r>
              <a:rPr lang="en-US" altLang="zh-CN" sz="1200" dirty="0">
                <a:latin typeface="Times New Roman" pitchFamily="18" charset="0"/>
                <a:cs typeface="Times New Roman" pitchFamily="18" charset="0"/>
              </a:rPr>
              <a:t>H</a:t>
            </a:r>
            <a:r>
              <a:rPr lang="en-US" altLang="zh-CN" sz="1200" dirty="0" smtClean="0">
                <a:latin typeface="Times New Roman" pitchFamily="18" charset="0"/>
                <a:cs typeface="Times New Roman" pitchFamily="18" charset="0"/>
              </a:rPr>
              <a:t>ệ </a:t>
            </a:r>
            <a:r>
              <a:rPr lang="en-US" altLang="zh-CN" sz="1200" dirty="0">
                <a:latin typeface="Times New Roman" pitchFamily="18" charset="0"/>
                <a:cs typeface="Times New Roman" pitchFamily="18" charset="0"/>
              </a:rPr>
              <a:t>thống hiển thị </a:t>
            </a:r>
            <a:r>
              <a:rPr lang="en-US" altLang="zh-CN" sz="1200" dirty="0" smtClean="0">
                <a:latin typeface="Times New Roman" pitchFamily="18" charset="0"/>
                <a:cs typeface="Times New Roman" pitchFamily="18" charset="0"/>
              </a:rPr>
              <a:t>lương từng </a:t>
            </a:r>
            <a:r>
              <a:rPr lang="en-US" altLang="zh-CN" sz="1200" dirty="0">
                <a:latin typeface="Times New Roman" pitchFamily="18" charset="0"/>
                <a:cs typeface="Times New Roman" pitchFamily="18" charset="0"/>
              </a:rPr>
              <a:t>tháng chi tiết </a:t>
            </a:r>
            <a:r>
              <a:rPr lang="en-US" altLang="zh-CN" sz="1200" dirty="0" smtClean="0">
                <a:latin typeface="Times New Roman" pitchFamily="18" charset="0"/>
                <a:cs typeface="Times New Roman" pitchFamily="18" charset="0"/>
              </a:rPr>
              <a:t>trong khoảng thời gian tìm kiếm của </a:t>
            </a:r>
            <a:r>
              <a:rPr lang="en-US" altLang="zh-CN" sz="1200" dirty="0">
                <a:latin typeface="Times New Roman" pitchFamily="18" charset="0"/>
                <a:cs typeface="Times New Roman" pitchFamily="18" charset="0"/>
              </a:rPr>
              <a:t>nhân viên đó bên </a:t>
            </a:r>
            <a:r>
              <a:rPr lang="en-US" altLang="zh-CN" sz="1200" dirty="0" smtClean="0">
                <a:latin typeface="Times New Roman" pitchFamily="18" charset="0"/>
                <a:cs typeface="Times New Roman" pitchFamily="18" charset="0"/>
              </a:rPr>
              <a:t>dưới</a:t>
            </a:r>
          </a:p>
          <a:p>
            <a:pPr algn="l"/>
            <a:r>
              <a:rPr lang="en-US" altLang="zh-CN" sz="1200" dirty="0" smtClean="0">
                <a:latin typeface="Times New Roman" pitchFamily="18" charset="0"/>
                <a:cs typeface="Times New Roman" pitchFamily="18" charset="0"/>
              </a:rPr>
              <a:t>Chọn 1 dòng dữ liệu, bên phải hiện thị thông tin chi tiết hơn</a:t>
            </a:r>
            <a:endParaRPr lang="zh-CN" altLang="en-US" sz="1200" dirty="0">
              <a:latin typeface="Times New Roman" pitchFamily="18" charset="0"/>
              <a:cs typeface="Times New Roman" pitchFamily="18" charset="0"/>
            </a:endParaRPr>
          </a:p>
          <a:p>
            <a:pPr algn="l"/>
            <a:endParaRPr lang="en-US" altLang="zh-CN" sz="1200" dirty="0" smtClean="0">
              <a:latin typeface="Times New Roman" pitchFamily="18" charset="0"/>
              <a:cs typeface="Times New Roman" pitchFamily="18" charset="0"/>
            </a:endParaRPr>
          </a:p>
          <a:p>
            <a:pPr algn="l"/>
            <a:endParaRPr lang="zh-CN" altLang="en-US" sz="1200" dirty="0">
              <a:latin typeface="Times New Roman" pitchFamily="18" charset="0"/>
              <a:cs typeface="Times New Roman" pitchFamily="18" charset="0"/>
            </a:endParaRPr>
          </a:p>
        </p:txBody>
      </p:sp>
      <p:sp>
        <p:nvSpPr>
          <p:cNvPr id="12" name="TextBox 11"/>
          <p:cNvSpPr txBox="1"/>
          <p:nvPr/>
        </p:nvSpPr>
        <p:spPr>
          <a:xfrm>
            <a:off x="1269908" y="116632"/>
            <a:ext cx="2942052"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Tra cứu lương -Lương năm chi tiết</a:t>
            </a:r>
            <a:endParaRPr lang="zh-CN" altLang="en-US" sz="1200" dirty="0">
              <a:latin typeface="Times New Roman" pitchFamily="18" charset="0"/>
              <a:cs typeface="Times New Roman" pitchFamily="18" charset="0"/>
            </a:endParaRPr>
          </a:p>
        </p:txBody>
      </p:sp>
      <p:sp>
        <p:nvSpPr>
          <p:cNvPr id="6" name="矩形 5"/>
          <p:cNvSpPr/>
          <p:nvPr/>
        </p:nvSpPr>
        <p:spPr>
          <a:xfrm>
            <a:off x="5148064" y="2462408"/>
            <a:ext cx="1008112" cy="102496"/>
          </a:xfrm>
          <a:prstGeom prst="rect">
            <a:avLst/>
          </a:prstGeom>
          <a:solidFill>
            <a:srgbClr val="C6D9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itchFamily="18" charset="0"/>
              <a:cs typeface="Times New Roman" pitchFamily="18" charset="0"/>
            </a:endParaRPr>
          </a:p>
        </p:txBody>
      </p:sp>
      <p:cxnSp>
        <p:nvCxnSpPr>
          <p:cNvPr id="5" name="Straight Arrow Connector 4"/>
          <p:cNvCxnSpPr/>
          <p:nvPr/>
        </p:nvCxnSpPr>
        <p:spPr>
          <a:xfrm>
            <a:off x="6732240" y="1988840"/>
            <a:ext cx="1440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732240" y="2141240"/>
            <a:ext cx="1440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732240" y="2348880"/>
            <a:ext cx="1440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43984" y="1484784"/>
            <a:ext cx="6660232" cy="3580396"/>
          </a:xfrm>
          <a:prstGeom prst="rect">
            <a:avLst/>
          </a:prstGeom>
        </p:spPr>
      </p:pic>
    </p:spTree>
    <p:extLst>
      <p:ext uri="{BB962C8B-B14F-4D97-AF65-F5344CB8AC3E}">
        <p14:creationId xmlns:p14="http://schemas.microsoft.com/office/powerpoint/2010/main" val="277396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2123658"/>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Hiện thị tất cả thông tin liên quan đến tiền lương của nhân viên</a:t>
            </a: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    Nhập </a:t>
            </a:r>
            <a:r>
              <a:rPr lang="en-US" altLang="zh-CN" sz="1200" dirty="0">
                <a:latin typeface="Times New Roman" pitchFamily="18" charset="0"/>
                <a:cs typeface="Times New Roman" pitchFamily="18" charset="0"/>
              </a:rPr>
              <a:t>Họ tên/Mã nhân </a:t>
            </a:r>
            <a:r>
              <a:rPr lang="en-US" altLang="zh-CN" sz="1200" dirty="0" smtClean="0">
                <a:latin typeface="Times New Roman" pitchFamily="18" charset="0"/>
                <a:cs typeface="Times New Roman" pitchFamily="18" charset="0"/>
              </a:rPr>
              <a:t>viên hoặc Phòng ban</a:t>
            </a:r>
            <a:endParaRPr lang="en-US" altLang="zh-CN" sz="1200" dirty="0">
              <a:latin typeface="Times New Roman" pitchFamily="18" charset="0"/>
              <a:cs typeface="Times New Roman" pitchFamily="18" charset="0"/>
            </a:endParaRP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  “Kế hoạch trả lương”</a:t>
            </a:r>
            <a:endParaRPr lang="en-US" altLang="zh-CN" sz="1200" dirty="0">
              <a:latin typeface="Times New Roman" pitchFamily="18" charset="0"/>
              <a:cs typeface="Times New Roman" pitchFamily="18" charset="0"/>
            </a:endParaRPr>
          </a:p>
          <a:p>
            <a:pPr algn="l"/>
            <a:r>
              <a:rPr lang="en-US" altLang="zh-CN" sz="1200" dirty="0">
                <a:latin typeface="Times New Roman" pitchFamily="18" charset="0"/>
                <a:cs typeface="Times New Roman" pitchFamily="18" charset="0"/>
              </a:rPr>
              <a:t>    </a:t>
            </a:r>
            <a:r>
              <a:rPr lang="en-US" altLang="zh-CN" sz="1200" dirty="0" smtClean="0">
                <a:latin typeface="Times New Roman" pitchFamily="18" charset="0"/>
                <a:cs typeface="Times New Roman" pitchFamily="18" charset="0"/>
              </a:rPr>
              <a:t>   </a:t>
            </a:r>
            <a:r>
              <a:rPr lang="en-US" altLang="zh-CN" sz="1200" dirty="0">
                <a:latin typeface="Times New Roman" pitchFamily="18" charset="0"/>
                <a:cs typeface="Times New Roman" pitchFamily="18" charset="0"/>
              </a:rPr>
              <a:t>“Tra cứu” </a:t>
            </a:r>
            <a:endParaRPr lang="en-US" altLang="zh-CN" sz="1200" dirty="0" smtClean="0">
              <a:latin typeface="Times New Roman" pitchFamily="18" charset="0"/>
              <a:cs typeface="Times New Roman" pitchFamily="18" charset="0"/>
            </a:endParaRPr>
          </a:p>
          <a:p>
            <a:pPr algn="l"/>
            <a:r>
              <a:rPr lang="en-US" altLang="zh-CN" sz="1200" dirty="0" smtClean="0">
                <a:latin typeface="Times New Roman" pitchFamily="18" charset="0"/>
                <a:cs typeface="Times New Roman" pitchFamily="18" charset="0"/>
              </a:rPr>
              <a:t>Hệ thống hiển thị tất cả nhân viên cần tìm kiếm</a:t>
            </a:r>
          </a:p>
          <a:p>
            <a:pPr algn="l"/>
            <a:r>
              <a:rPr lang="en-US" altLang="zh-CN" sz="1200" dirty="0" smtClean="0">
                <a:latin typeface="Times New Roman" pitchFamily="18" charset="0"/>
                <a:cs typeface="Times New Roman" pitchFamily="18" charset="0"/>
              </a:rPr>
              <a:t>Xuất Excel : kết xuất thông tin vừa tìm kiếm</a:t>
            </a:r>
            <a:endParaRPr lang="en-US" altLang="zh-CN" sz="1200" dirty="0">
              <a:latin typeface="Times New Roman" pitchFamily="18" charset="0"/>
              <a:cs typeface="Times New Roman" pitchFamily="18" charset="0"/>
            </a:endParaRPr>
          </a:p>
          <a:p>
            <a:pPr algn="l"/>
            <a:endParaRPr lang="zh-CN" altLang="en-US" sz="1200" dirty="0">
              <a:latin typeface="Times New Roman" pitchFamily="18" charset="0"/>
              <a:cs typeface="Times New Roman" pitchFamily="18" charset="0"/>
            </a:endParaRPr>
          </a:p>
        </p:txBody>
      </p:sp>
      <p:sp>
        <p:nvSpPr>
          <p:cNvPr id="8" name="TextBox 7"/>
          <p:cNvSpPr txBox="1"/>
          <p:nvPr/>
        </p:nvSpPr>
        <p:spPr>
          <a:xfrm>
            <a:off x="1269908" y="116632"/>
            <a:ext cx="3374100"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Tra cứu lương -Tổng hợp lương (cá nhân)</a:t>
            </a:r>
            <a:endParaRPr lang="zh-CN" altLang="en-US" sz="1200" dirty="0">
              <a:latin typeface="Times New Roman" pitchFamily="18" charset="0"/>
              <a:cs typeface="Times New Roman" pitchFamily="18" charset="0"/>
            </a:endParaRPr>
          </a:p>
        </p:txBody>
      </p:sp>
      <p:sp>
        <p:nvSpPr>
          <p:cNvPr id="3" name="TextBox 2"/>
          <p:cNvSpPr txBox="1"/>
          <p:nvPr/>
        </p:nvSpPr>
        <p:spPr>
          <a:xfrm>
            <a:off x="6804248" y="909300"/>
            <a:ext cx="243978" cy="215444"/>
          </a:xfrm>
          <a:prstGeom prst="rect">
            <a:avLst/>
          </a:prstGeom>
          <a:noFill/>
        </p:spPr>
        <p:txBody>
          <a:bodyPr wrap="none" rtlCol="0">
            <a:spAutoFit/>
          </a:bodyPr>
          <a:lstStyle/>
          <a:p>
            <a:r>
              <a:rPr lang="en-US" altLang="zh-CN" sz="800" dirty="0" smtClean="0"/>
              <a:t>~</a:t>
            </a:r>
            <a:endParaRPr lang="zh-CN" altLang="en-US" sz="800" dirty="0"/>
          </a:p>
        </p:txBody>
      </p:sp>
      <p:pic>
        <p:nvPicPr>
          <p:cNvPr id="4" name="Picture 3"/>
          <p:cNvPicPr>
            <a:picLocks noChangeAspect="1"/>
          </p:cNvPicPr>
          <p:nvPr/>
        </p:nvPicPr>
        <p:blipFill>
          <a:blip r:embed="rId2"/>
          <a:stretch>
            <a:fillRect/>
          </a:stretch>
        </p:blipFill>
        <p:spPr>
          <a:xfrm>
            <a:off x="15278" y="1463103"/>
            <a:ext cx="6644954" cy="3625781"/>
          </a:xfrm>
          <a:prstGeom prst="rect">
            <a:avLst/>
          </a:prstGeom>
        </p:spPr>
      </p:pic>
      <p:cxnSp>
        <p:nvCxnSpPr>
          <p:cNvPr id="6" name="Straight Arrow Connector 5"/>
          <p:cNvCxnSpPr/>
          <p:nvPr/>
        </p:nvCxnSpPr>
        <p:spPr>
          <a:xfrm>
            <a:off x="6660232" y="1988840"/>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732240" y="2492896"/>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732240" y="2348880"/>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84270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1754326"/>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Tổng hợp thông tin liên quan đến tiền lương của phòng ban cần tìm kiếm</a:t>
            </a:r>
          </a:p>
          <a:p>
            <a:pPr algn="l"/>
            <a:r>
              <a:rPr lang="en-US" altLang="zh-CN" sz="1200" dirty="0" smtClean="0">
                <a:latin typeface="Times New Roman" pitchFamily="18" charset="0"/>
                <a:cs typeface="Times New Roman" pitchFamily="18" charset="0"/>
              </a:rPr>
              <a:t>       “Phòng ban”</a:t>
            </a:r>
          </a:p>
          <a:p>
            <a:pPr algn="l"/>
            <a:r>
              <a:rPr lang="en-US" altLang="zh-CN" sz="1200" dirty="0" smtClean="0">
                <a:latin typeface="Times New Roman" pitchFamily="18" charset="0"/>
                <a:cs typeface="Times New Roman" pitchFamily="18" charset="0"/>
              </a:rPr>
              <a:t>       “Kế hoạch trả lương”</a:t>
            </a:r>
          </a:p>
          <a:p>
            <a:pPr algn="l"/>
            <a:r>
              <a:rPr lang="en-US" altLang="zh-CN" sz="1200" dirty="0" smtClean="0">
                <a:latin typeface="Times New Roman" pitchFamily="18" charset="0"/>
                <a:cs typeface="Times New Roman" pitchFamily="18" charset="0"/>
              </a:rPr>
              <a:t>      “Tra cứu”</a:t>
            </a:r>
          </a:p>
          <a:p>
            <a:pPr algn="l"/>
            <a:r>
              <a:rPr lang="en-US" altLang="zh-CN" sz="1200" dirty="0" smtClean="0">
                <a:latin typeface="Times New Roman" pitchFamily="18" charset="0"/>
                <a:cs typeface="Times New Roman" pitchFamily="18" charset="0"/>
              </a:rPr>
              <a:t>Hệ thống hiển thị tất cả dữ liệu tương ứng</a:t>
            </a:r>
          </a:p>
          <a:p>
            <a:pPr algn="l"/>
            <a:r>
              <a:rPr lang="en-US" altLang="zh-CN" sz="1200" dirty="0" smtClean="0">
                <a:latin typeface="Times New Roman" pitchFamily="18" charset="0"/>
                <a:cs typeface="Times New Roman" pitchFamily="18" charset="0"/>
              </a:rPr>
              <a:t>Xuất Excel: kết xuất dữ liệu vừa tìm </a:t>
            </a:r>
            <a:endParaRPr lang="zh-CN" altLang="en-US" sz="1200" dirty="0">
              <a:latin typeface="Times New Roman" pitchFamily="18" charset="0"/>
              <a:cs typeface="Times New Roman" pitchFamily="18" charset="0"/>
            </a:endParaRPr>
          </a:p>
        </p:txBody>
      </p:sp>
      <p:sp>
        <p:nvSpPr>
          <p:cNvPr id="8" name="TextBox 7"/>
          <p:cNvSpPr txBox="1"/>
          <p:nvPr/>
        </p:nvSpPr>
        <p:spPr>
          <a:xfrm>
            <a:off x="1475656" y="127665"/>
            <a:ext cx="309634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Tra cứu lương -Tổng hợp lương ( phòng ban)</a:t>
            </a:r>
            <a:endParaRPr lang="zh-CN" altLang="en-US" sz="1200" dirty="0">
              <a:latin typeface="Times New Roman" pitchFamily="18" charset="0"/>
              <a:cs typeface="Times New Roman" pitchFamily="18" charset="0"/>
            </a:endParaRPr>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844552"/>
            <a:ext cx="3543300" cy="15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p:cNvPicPr>
          <p:nvPr/>
        </p:nvPicPr>
        <p:blipFill>
          <a:blip r:embed="rId3"/>
          <a:stretch>
            <a:fillRect/>
          </a:stretch>
        </p:blipFill>
        <p:spPr>
          <a:xfrm>
            <a:off x="0" y="1484784"/>
            <a:ext cx="6602752" cy="3587105"/>
          </a:xfrm>
          <a:prstGeom prst="rect">
            <a:avLst/>
          </a:prstGeom>
        </p:spPr>
      </p:pic>
      <p:cxnSp>
        <p:nvCxnSpPr>
          <p:cNvPr id="5" name="Straight Arrow Connector 4"/>
          <p:cNvCxnSpPr/>
          <p:nvPr/>
        </p:nvCxnSpPr>
        <p:spPr>
          <a:xfrm>
            <a:off x="6732240" y="2204864"/>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732240" y="2357264"/>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732240" y="2492896"/>
            <a:ext cx="216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5460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276999"/>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Kết xuất bảng lương</a:t>
            </a:r>
            <a:endParaRPr lang="zh-CN" altLang="en-US" sz="1200" dirty="0">
              <a:latin typeface="Times New Roman" pitchFamily="18" charset="0"/>
              <a:cs typeface="Times New Roman" pitchFamily="18" charset="0"/>
            </a:endParaRPr>
          </a:p>
        </p:txBody>
      </p:sp>
      <p:sp>
        <p:nvSpPr>
          <p:cNvPr id="8" name="TextBox 7"/>
          <p:cNvSpPr txBox="1"/>
          <p:nvPr/>
        </p:nvSpPr>
        <p:spPr>
          <a:xfrm>
            <a:off x="1403648" y="116632"/>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Tra cứu lương- Bảng lương</a:t>
            </a:r>
            <a:endParaRPr lang="zh-CN" altLang="en-US" sz="12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0" y="1340768"/>
            <a:ext cx="6660232" cy="3662258"/>
          </a:xfrm>
          <a:prstGeom prst="rect">
            <a:avLst/>
          </a:prstGeom>
        </p:spPr>
      </p:pic>
    </p:spTree>
    <p:extLst>
      <p:ext uri="{BB962C8B-B14F-4D97-AF65-F5344CB8AC3E}">
        <p14:creationId xmlns:p14="http://schemas.microsoft.com/office/powerpoint/2010/main" val="10118768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Xem tỷ lệ trích đóng của các loại bảo hiểm</a:t>
            </a:r>
            <a:endParaRPr lang="zh-CN" altLang="en-US" sz="1200" dirty="0">
              <a:latin typeface="Times New Roman" pitchFamily="18" charset="0"/>
              <a:cs typeface="Times New Roman" pitchFamily="18" charset="0"/>
            </a:endParaRPr>
          </a:p>
        </p:txBody>
      </p:sp>
      <p:sp>
        <p:nvSpPr>
          <p:cNvPr id="28" name="TextBox 27"/>
          <p:cNvSpPr txBox="1"/>
          <p:nvPr/>
        </p:nvSpPr>
        <p:spPr>
          <a:xfrm>
            <a:off x="6640194" y="1988840"/>
            <a:ext cx="994183"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zh-CN" altLang="en-US"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10" name="TextBox 9"/>
          <p:cNvSpPr txBox="1"/>
          <p:nvPr/>
        </p:nvSpPr>
        <p:spPr>
          <a:xfrm>
            <a:off x="1115616" y="116632"/>
            <a:ext cx="304208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Bảo hiểm -Tiêu chuẩn bảo hiểm</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287905"/>
            <a:ext cx="2483768" cy="1569660"/>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Trong trường hợp nhân viên nào đó có tỷ lệ trích đóng bảo hiểm khác với quy định, tại trang này chọn “Thêm mới”, nhập thông tin tương ứng trong khung hiện lên, sau đó “Lưu”</a:t>
            </a:r>
          </a:p>
          <a:p>
            <a:pPr algn="l"/>
            <a:r>
              <a:rPr lang="en-US" altLang="zh-CN" sz="1200" dirty="0" smtClean="0">
                <a:latin typeface="Times New Roman" pitchFamily="18" charset="0"/>
                <a:cs typeface="Times New Roman" pitchFamily="18" charset="0"/>
              </a:rPr>
              <a:t>Tiền bảo hiểm sẽ căn cứ theo tỷ suất vừa thiết lập tính tiền bảo hiểm cho họ.</a:t>
            </a:r>
            <a:endParaRPr lang="en-US" altLang="zh-CN" sz="1200" dirty="0">
              <a:latin typeface="Times New Roman" pitchFamily="18" charset="0"/>
              <a:cs typeface="Times New Roman" pitchFamily="18" charset="0"/>
            </a:endParaRPr>
          </a:p>
        </p:txBody>
      </p:sp>
      <p:pic>
        <p:nvPicPr>
          <p:cNvPr id="4" name="Picture 3"/>
          <p:cNvPicPr>
            <a:picLocks noChangeAspect="1"/>
          </p:cNvPicPr>
          <p:nvPr/>
        </p:nvPicPr>
        <p:blipFill>
          <a:blip r:embed="rId3"/>
          <a:stretch>
            <a:fillRect/>
          </a:stretch>
        </p:blipFill>
        <p:spPr>
          <a:xfrm>
            <a:off x="69999" y="1484784"/>
            <a:ext cx="6600617" cy="3651332"/>
          </a:xfrm>
          <a:prstGeom prst="rect">
            <a:avLst/>
          </a:prstGeom>
        </p:spPr>
      </p:pic>
    </p:spTree>
    <p:extLst>
      <p:ext uri="{BB962C8B-B14F-4D97-AF65-F5344CB8AC3E}">
        <p14:creationId xmlns:p14="http://schemas.microsoft.com/office/powerpoint/2010/main" val="5249368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276999"/>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Quản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lý</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truy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thu</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hiểm</a:t>
            </a:r>
            <a:endParaRPr lang="zh-CN" altLang="en-US" sz="1200" dirty="0">
              <a:latin typeface="Times New Roman" pitchFamily="18" charset="0"/>
              <a:cs typeface="Times New Roman" pitchFamily="18" charset="0"/>
            </a:endParaRPr>
          </a:p>
        </p:txBody>
      </p:sp>
      <p:sp>
        <p:nvSpPr>
          <p:cNvPr id="28" name="TextBox 27"/>
          <p:cNvSpPr txBox="1"/>
          <p:nvPr/>
        </p:nvSpPr>
        <p:spPr>
          <a:xfrm>
            <a:off x="6640194" y="1988840"/>
            <a:ext cx="994183"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zh-CN" altLang="en-US"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10" name="TextBox 9"/>
          <p:cNvSpPr txBox="1"/>
          <p:nvPr/>
        </p:nvSpPr>
        <p:spPr>
          <a:xfrm>
            <a:off x="1547664" y="92550"/>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Bảo hiểm -Truy thu bảo hiểm</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287905"/>
            <a:ext cx="2483768" cy="2308324"/>
          </a:xfrm>
          <a:prstGeom prst="rect">
            <a:avLst/>
          </a:prstGeom>
          <a:noFill/>
        </p:spPr>
        <p:txBody>
          <a:bodyPr wrap="square" rtlCol="0">
            <a:spAutoFit/>
          </a:bodyPr>
          <a:lstStyle/>
          <a:p>
            <a:pPr algn="l"/>
            <a:r>
              <a:rPr lang="en-US" altLang="zh-CN" sz="1200" dirty="0" smtClean="0">
                <a:latin typeface="Times New Roman" pitchFamily="18" charset="0"/>
                <a:cs typeface="Times New Roman" pitchFamily="18" charset="0"/>
              </a:rPr>
              <a:t>Hiển thị tất cả nhân viên thực hiện truy thu bảo hiểm theo tháng</a:t>
            </a:r>
          </a:p>
          <a:p>
            <a:pPr algn="l"/>
            <a:r>
              <a:rPr lang="en-US" altLang="zh-CN" sz="1200" dirty="0" smtClean="0">
                <a:latin typeface="Times New Roman" pitchFamily="18" charset="0"/>
                <a:cs typeface="Times New Roman" pitchFamily="18" charset="0"/>
              </a:rPr>
              <a:t>Muốn truy thu bảo hiểm đối với NV nào đó, chọn “Thêm mới”, điền thông tin tương ứng vào khung vừa hiển thị, sau đó “Lưu”</a:t>
            </a:r>
          </a:p>
          <a:p>
            <a:pPr algn="l"/>
            <a:r>
              <a:rPr lang="en-US" altLang="zh-CN" sz="1200" dirty="0" smtClean="0">
                <a:latin typeface="Times New Roman" pitchFamily="18" charset="0"/>
                <a:cs typeface="Times New Roman" pitchFamily="18" charset="0"/>
              </a:rPr>
              <a:t>Truy thu bảo hiểm cho nhiều NV, có thể chọn “Bản mẫu” tải file mẫu, nhập thông tin tương ứng và lưu lại vào máy. Tại trang hệ thống chọn “Chèn file”, chọn file vừa thực hiện lên hệ thống</a:t>
            </a:r>
            <a:endParaRPr lang="en-US" altLang="zh-CN" sz="1200" dirty="0">
              <a:latin typeface="Times New Roman" pitchFamily="18" charset="0"/>
              <a:cs typeface="Times New Roman" pitchFamily="18" charset="0"/>
            </a:endParaRPr>
          </a:p>
        </p:txBody>
      </p:sp>
      <p:pic>
        <p:nvPicPr>
          <p:cNvPr id="5" name="Picture 4"/>
          <p:cNvPicPr>
            <a:picLocks noChangeAspect="1"/>
          </p:cNvPicPr>
          <p:nvPr/>
        </p:nvPicPr>
        <p:blipFill>
          <a:blip r:embed="rId3"/>
          <a:stretch>
            <a:fillRect/>
          </a:stretch>
        </p:blipFill>
        <p:spPr>
          <a:xfrm>
            <a:off x="23373" y="1491281"/>
            <a:ext cx="6630692" cy="3657955"/>
          </a:xfrm>
          <a:prstGeom prst="rect">
            <a:avLst/>
          </a:prstGeom>
        </p:spPr>
      </p:pic>
    </p:spTree>
    <p:extLst>
      <p:ext uri="{BB962C8B-B14F-4D97-AF65-F5344CB8AC3E}">
        <p14:creationId xmlns:p14="http://schemas.microsoft.com/office/powerpoint/2010/main" val="1265694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475656" y="91661"/>
            <a:ext cx="201622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Bảo hiểm -Bảo hiểm ngoại lệ</a:t>
            </a:r>
            <a:endParaRPr lang="zh-CN" altLang="en-US" sz="1200" dirty="0">
              <a:latin typeface="Times New Roman" pitchFamily="18" charset="0"/>
              <a:cs typeface="Times New Roman" pitchFamily="18" charset="0"/>
            </a:endParaRPr>
          </a:p>
        </p:txBody>
      </p:sp>
      <p:sp>
        <p:nvSpPr>
          <p:cNvPr id="13" name="TextBox 13"/>
          <p:cNvSpPr txBox="1"/>
          <p:nvPr/>
        </p:nvSpPr>
        <p:spPr>
          <a:xfrm>
            <a:off x="6660232" y="1484784"/>
            <a:ext cx="2483768" cy="461665"/>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hiểm</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không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dựa</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theo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quy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tắc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tính</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toán</a:t>
            </a:r>
            <a:r>
              <a:rPr lang="en-US" altLang="zh-CN" sz="1200" dirty="0" smtClean="0">
                <a:latin typeface="Times New Roman" pitchFamily="18" charset="0"/>
                <a:cs typeface="Times New Roman" pitchFamily="18" charset="0"/>
              </a:rPr>
              <a:t>. </a:t>
            </a:r>
            <a:endParaRPr lang="zh-CN" altLang="en-US" sz="1200" dirty="0">
              <a:latin typeface="Times New Roman" pitchFamily="18" charset="0"/>
              <a:cs typeface="Times New Roman" pitchFamily="18" charset="0"/>
            </a:endParaRPr>
          </a:p>
        </p:txBody>
      </p:sp>
      <p:sp>
        <p:nvSpPr>
          <p:cNvPr id="14" name="TextBox 27"/>
          <p:cNvSpPr txBox="1"/>
          <p:nvPr/>
        </p:nvSpPr>
        <p:spPr>
          <a:xfrm>
            <a:off x="6640194" y="2121237"/>
            <a:ext cx="994183"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zh-CN" altLang="en-US"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15" name="TextBox 24"/>
          <p:cNvSpPr txBox="1"/>
          <p:nvPr/>
        </p:nvSpPr>
        <p:spPr>
          <a:xfrm>
            <a:off x="6660232" y="2420302"/>
            <a:ext cx="2483768" cy="3231654"/>
          </a:xfrm>
          <a:prstGeom prst="rect">
            <a:avLst/>
          </a:prstGeom>
          <a:noFill/>
        </p:spPr>
        <p:txBody>
          <a:bodyPr wrap="square" rtlCol="0">
            <a:spAutoFit/>
          </a:bodyPr>
          <a:lstStyle/>
          <a:p>
            <a:pPr algn="l"/>
            <a:r>
              <a:rPr lang="en-US" altLang="zh-CN" sz="1200" b="1" dirty="0" err="1">
                <a:latin typeface="Times New Roman" pitchFamily="18" charset="0"/>
                <a:cs typeface="Times New Roman" pitchFamily="18" charset="0"/>
              </a:rPr>
              <a:t>Tra</a:t>
            </a:r>
            <a:r>
              <a:rPr lang="en-US" altLang="zh-CN" sz="1200" b="1" dirty="0">
                <a:latin typeface="Times New Roman" pitchFamily="18" charset="0"/>
                <a:cs typeface="Times New Roman" pitchFamily="18" charset="0"/>
              </a:rPr>
              <a:t> </a:t>
            </a:r>
            <a:r>
              <a:rPr lang="en-US" altLang="zh-CN" sz="1200" b="1" dirty="0" err="1">
                <a:latin typeface="Times New Roman" pitchFamily="18" charset="0"/>
                <a:cs typeface="Times New Roman" pitchFamily="18" charset="0"/>
              </a:rPr>
              <a:t>cứu</a:t>
            </a:r>
            <a:r>
              <a:rPr lang="zh-CN" altLang="en-US" sz="1200" b="1" dirty="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Tra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cứu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CNV </a:t>
            </a:r>
            <a:r>
              <a:rPr lang="en-US" altLang="zh-CN" sz="1200" dirty="0" err="1">
                <a:latin typeface="Times New Roman" pitchFamily="18" charset="0"/>
                <a:cs typeface="Times New Roman" pitchFamily="18" charset="0"/>
              </a:rPr>
              <a:t>dựa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vào</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điều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kiện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Tra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cứu</a:t>
            </a:r>
            <a:r>
              <a:rPr lang="en-US" altLang="zh-CN" sz="1200" dirty="0">
                <a:latin typeface="Times New Roman" pitchFamily="18" charset="0"/>
                <a:cs typeface="Times New Roman" pitchFamily="18" charset="0"/>
              </a:rPr>
              <a:t>. </a:t>
            </a:r>
          </a:p>
          <a:p>
            <a:pPr algn="l"/>
            <a:r>
              <a:rPr lang="en-US" altLang="zh-CN" sz="1200" b="1" dirty="0" smtClean="0">
                <a:latin typeface="Times New Roman" pitchFamily="18" charset="0"/>
                <a:cs typeface="Times New Roman" pitchFamily="18" charset="0"/>
              </a:rPr>
              <a:t>Thêm mới</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nút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hiển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thị</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khung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mới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nhập</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liên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quan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sau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Lưu</a:t>
            </a:r>
            <a:r>
              <a:rPr lang="en-US" altLang="zh-CN" sz="1200" dirty="0">
                <a:latin typeface="Times New Roman" pitchFamily="18" charset="0"/>
                <a:cs typeface="Times New Roman" pitchFamily="18" charset="0"/>
              </a:rPr>
              <a:t>”</a:t>
            </a:r>
          </a:p>
          <a:p>
            <a:pPr algn="l"/>
            <a:r>
              <a:rPr lang="vi-VN" altLang="zh-CN" sz="1200" b="1" dirty="0">
                <a:latin typeface="Times New Roman" pitchFamily="18" charset="0"/>
                <a:cs typeface="Times New Roman" pitchFamily="18" charset="0"/>
              </a:rPr>
              <a:t>Lưu</a:t>
            </a:r>
            <a:r>
              <a:rPr lang="zh-CN" altLang="en-US" sz="1200" b="1"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Lưu các thông tin </a:t>
            </a:r>
            <a:r>
              <a:rPr lang="en-US" altLang="zh-CN" sz="1200" dirty="0" smtClean="0">
                <a:latin typeface="Times New Roman" pitchFamily="18" charset="0"/>
                <a:cs typeface="Times New Roman" pitchFamily="18" charset="0"/>
              </a:rPr>
              <a:t>Thêm mới </a:t>
            </a:r>
            <a:r>
              <a:rPr lang="en-US" altLang="zh-CN" sz="1200" dirty="0">
                <a:latin typeface="Times New Roman" pitchFamily="18" charset="0"/>
                <a:cs typeface="Times New Roman" pitchFamily="18" charset="0"/>
              </a:rPr>
              <a:t>hoặc sửa đổi</a:t>
            </a:r>
          </a:p>
          <a:p>
            <a:pPr algn="l"/>
            <a:r>
              <a:rPr lang="en-US" altLang="zh-CN" sz="1200" b="1" dirty="0" err="1">
                <a:latin typeface="Times New Roman" pitchFamily="18" charset="0"/>
                <a:cs typeface="Times New Roman" pitchFamily="18" charset="0"/>
              </a:rPr>
              <a:t>Xóa</a:t>
            </a:r>
            <a:r>
              <a:rPr lang="zh-CN" altLang="en-US" sz="1200" b="1" dirty="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muốn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bỏ</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 </a:t>
            </a:r>
            <a:r>
              <a:rPr lang="en-US" altLang="zh-CN" sz="1200" dirty="0" err="1">
                <a:latin typeface="Times New Roman" pitchFamily="18" charset="0"/>
                <a:cs typeface="Times New Roman" pitchFamily="18" charset="0"/>
              </a:rPr>
              <a:t>có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tích</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nhiều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trang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này</a:t>
            </a:r>
            <a:endParaRPr lang="en-US" altLang="zh-CN" sz="1200" dirty="0">
              <a:latin typeface="Times New Roman" pitchFamily="18" charset="0"/>
              <a:cs typeface="Times New Roman" pitchFamily="18" charset="0"/>
            </a:endParaRPr>
          </a:p>
          <a:p>
            <a:pPr algn="l"/>
            <a:r>
              <a:rPr lang="en-US" altLang="zh-CN" sz="1200" b="1" dirty="0" err="1">
                <a:latin typeface="Times New Roman" pitchFamily="18" charset="0"/>
                <a:cs typeface="Times New Roman" pitchFamily="18" charset="0"/>
              </a:rPr>
              <a:t>Bản</a:t>
            </a:r>
            <a:r>
              <a:rPr lang="en-US" altLang="zh-CN" sz="1200" b="1" dirty="0">
                <a:latin typeface="Times New Roman" pitchFamily="18" charset="0"/>
                <a:cs typeface="Times New Roman" pitchFamily="18" charset="0"/>
              </a:rPr>
              <a:t> </a:t>
            </a:r>
            <a:r>
              <a:rPr lang="en-US" altLang="zh-CN" sz="1200" b="1" dirty="0" err="1">
                <a:latin typeface="Times New Roman" pitchFamily="18" charset="0"/>
                <a:cs typeface="Times New Roman" pitchFamily="18" charset="0"/>
              </a:rPr>
              <a:t>mẫu</a:t>
            </a:r>
            <a:r>
              <a:rPr lang="zh-CN" altLang="en-US" sz="1200" b="1" dirty="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1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về</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máy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nhập</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các</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cần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thiết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sao</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Lưu</a:t>
            </a:r>
            <a:r>
              <a:rPr lang="en-US" altLang="zh-CN" sz="1200" dirty="0">
                <a:latin typeface="Times New Roman" pitchFamily="18" charset="0"/>
                <a:cs typeface="Times New Roman" pitchFamily="18" charset="0"/>
              </a:rPr>
              <a:t>”</a:t>
            </a:r>
          </a:p>
          <a:p>
            <a:pPr algn="l"/>
            <a:r>
              <a:rPr lang="en-US" altLang="zh-CN" sz="1200" b="1" dirty="0" smtClean="0">
                <a:latin typeface="Times New Roman" pitchFamily="18" charset="0"/>
                <a:cs typeface="Times New Roman" pitchFamily="18" charset="0"/>
              </a:rPr>
              <a:t>Chèn file</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lên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hệ</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thống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vừa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thực</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hiện</a:t>
            </a:r>
            <a:r>
              <a:rPr lang="en-US" altLang="zh-CN" sz="1200" dirty="0">
                <a:latin typeface="Times New Roman" pitchFamily="18" charset="0"/>
                <a:cs typeface="Times New Roman" pitchFamily="18" charset="0"/>
              </a:rPr>
              <a:t> </a:t>
            </a:r>
          </a:p>
        </p:txBody>
      </p:sp>
      <p:pic>
        <p:nvPicPr>
          <p:cNvPr id="2" name="Picture 1"/>
          <p:cNvPicPr>
            <a:picLocks noChangeAspect="1"/>
          </p:cNvPicPr>
          <p:nvPr/>
        </p:nvPicPr>
        <p:blipFill>
          <a:blip r:embed="rId3"/>
          <a:stretch>
            <a:fillRect/>
          </a:stretch>
        </p:blipFill>
        <p:spPr>
          <a:xfrm>
            <a:off x="-27604" y="1498625"/>
            <a:ext cx="6667798" cy="3370535"/>
          </a:xfrm>
          <a:prstGeom prst="rect">
            <a:avLst/>
          </a:prstGeom>
        </p:spPr>
      </p:pic>
    </p:spTree>
    <p:extLst>
      <p:ext uri="{BB962C8B-B14F-4D97-AF65-F5344CB8AC3E}">
        <p14:creationId xmlns:p14="http://schemas.microsoft.com/office/powerpoint/2010/main" val="16571975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0232" y="1484784"/>
            <a:ext cx="2483768" cy="461665"/>
          </a:xfrm>
          <a:prstGeom prst="rect">
            <a:avLst/>
          </a:prstGeom>
          <a:noFill/>
        </p:spPr>
        <p:txBody>
          <a:bodyPr wrap="square" rtlCol="0">
            <a:spAutoFit/>
          </a:bodyPr>
          <a:lstStyle/>
          <a:p>
            <a:pPr algn="l"/>
            <a:r>
              <a:rPr lang="en-US" altLang="zh-CN" sz="1200" dirty="0" err="1" smtClean="0">
                <a:latin typeface="Times New Roman" pitchFamily="18" charset="0"/>
                <a:cs typeface="Times New Roman" pitchFamily="18" charset="0"/>
              </a:rPr>
              <a:t>Quản</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lý</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hạng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mục</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truy</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đóng</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bảo</a:t>
            </a:r>
            <a:r>
              <a:rPr lang="en-US" altLang="zh-CN" sz="1200" dirty="0" smtClean="0">
                <a:latin typeface="Times New Roman" pitchFamily="18" charset="0"/>
                <a:cs typeface="Times New Roman" pitchFamily="18" charset="0"/>
              </a:rPr>
              <a:t> </a:t>
            </a:r>
            <a:r>
              <a:rPr lang="en-US" altLang="zh-CN" sz="1200" dirty="0" err="1" smtClean="0">
                <a:latin typeface="Times New Roman" pitchFamily="18" charset="0"/>
                <a:cs typeface="Times New Roman" pitchFamily="18" charset="0"/>
              </a:rPr>
              <a:t>hiểm</a:t>
            </a:r>
            <a:endParaRPr lang="zh-CN" altLang="en-US" sz="1200" dirty="0">
              <a:latin typeface="Times New Roman" pitchFamily="18" charset="0"/>
              <a:cs typeface="Times New Roman" pitchFamily="18" charset="0"/>
            </a:endParaRPr>
          </a:p>
        </p:txBody>
      </p:sp>
      <p:sp>
        <p:nvSpPr>
          <p:cNvPr id="28" name="TextBox 27"/>
          <p:cNvSpPr txBox="1"/>
          <p:nvPr/>
        </p:nvSpPr>
        <p:spPr>
          <a:xfrm>
            <a:off x="6640194" y="1988840"/>
            <a:ext cx="994183" cy="276999"/>
          </a:xfrm>
          <a:prstGeom prst="rect">
            <a:avLst/>
          </a:prstGeom>
          <a:noFill/>
        </p:spPr>
        <p:txBody>
          <a:bodyPr wrap="none" rtlCol="0">
            <a:spAutoFit/>
          </a:bodyPr>
          <a:lstStyle/>
          <a:p>
            <a:r>
              <a:rPr lang="en-US" altLang="zh-CN" sz="1200" b="1" dirty="0" err="1" smtClean="0">
                <a:latin typeface="Times New Roman" pitchFamily="18" charset="0"/>
                <a:cs typeface="Times New Roman" pitchFamily="18" charset="0"/>
              </a:rPr>
              <a:t>Giải</a:t>
            </a:r>
            <a:r>
              <a:rPr lang="en-US" altLang="zh-CN" sz="1200" b="1" dirty="0" smtClean="0">
                <a:latin typeface="Times New Roman" pitchFamily="18" charset="0"/>
                <a:cs typeface="Times New Roman" pitchFamily="18" charset="0"/>
              </a:rPr>
              <a:t> </a:t>
            </a:r>
            <a:r>
              <a:rPr lang="en-US" altLang="zh-CN" sz="1200" b="1" dirty="0" err="1" smtClean="0">
                <a:latin typeface="Times New Roman" pitchFamily="18" charset="0"/>
                <a:cs typeface="Times New Roman" pitchFamily="18" charset="0"/>
              </a:rPr>
              <a:t>thích</a:t>
            </a:r>
            <a:r>
              <a:rPr lang="zh-CN" altLang="en-US" sz="1200" b="1" dirty="0" smtClean="0">
                <a:latin typeface="Times New Roman" pitchFamily="18" charset="0"/>
                <a:cs typeface="Times New Roman" pitchFamily="18" charset="0"/>
              </a:rPr>
              <a:t>：</a:t>
            </a:r>
            <a:endParaRPr lang="zh-CN" altLang="en-US" sz="1200" b="1" dirty="0">
              <a:latin typeface="Times New Roman" pitchFamily="18" charset="0"/>
              <a:cs typeface="Times New Roman" pitchFamily="18" charset="0"/>
            </a:endParaRPr>
          </a:p>
        </p:txBody>
      </p:sp>
      <p:sp>
        <p:nvSpPr>
          <p:cNvPr id="10" name="TextBox 9"/>
          <p:cNvSpPr txBox="1"/>
          <p:nvPr/>
        </p:nvSpPr>
        <p:spPr>
          <a:xfrm>
            <a:off x="1187624" y="116632"/>
            <a:ext cx="2736304" cy="276999"/>
          </a:xfrm>
          <a:prstGeom prst="rect">
            <a:avLst/>
          </a:prstGeom>
          <a:noFill/>
        </p:spPr>
        <p:txBody>
          <a:bodyPr wrap="square" rtlCol="0">
            <a:spAutoFit/>
          </a:bodyPr>
          <a:lstStyle/>
          <a:p>
            <a:r>
              <a:rPr lang="en-US" altLang="zh-CN" sz="1200" dirty="0" smtClean="0">
                <a:latin typeface="Times New Roman" pitchFamily="18" charset="0"/>
                <a:cs typeface="Times New Roman" pitchFamily="18" charset="0"/>
              </a:rPr>
              <a:t>Bảo hiểm -Truy đóng bảo hiểm</a:t>
            </a:r>
            <a:endParaRPr lang="zh-CN" altLang="en-US" sz="1200" dirty="0">
              <a:latin typeface="Times New Roman" pitchFamily="18" charset="0"/>
              <a:cs typeface="Times New Roman" pitchFamily="18" charset="0"/>
            </a:endParaRPr>
          </a:p>
        </p:txBody>
      </p:sp>
      <p:sp>
        <p:nvSpPr>
          <p:cNvPr id="25" name="TextBox 24"/>
          <p:cNvSpPr txBox="1"/>
          <p:nvPr/>
        </p:nvSpPr>
        <p:spPr>
          <a:xfrm>
            <a:off x="6660232" y="2287905"/>
            <a:ext cx="2483768" cy="3231654"/>
          </a:xfrm>
          <a:prstGeom prst="rect">
            <a:avLst/>
          </a:prstGeom>
          <a:noFill/>
        </p:spPr>
        <p:txBody>
          <a:bodyPr wrap="square" rtlCol="0">
            <a:spAutoFit/>
          </a:bodyPr>
          <a:lstStyle/>
          <a:p>
            <a:pPr algn="l"/>
            <a:r>
              <a:rPr lang="en-US" altLang="zh-CN" sz="1200" b="1" dirty="0" err="1">
                <a:latin typeface="Times New Roman" pitchFamily="18" charset="0"/>
                <a:cs typeface="Times New Roman" pitchFamily="18" charset="0"/>
              </a:rPr>
              <a:t>Tra</a:t>
            </a:r>
            <a:r>
              <a:rPr lang="en-US" altLang="zh-CN" sz="1200" b="1" dirty="0">
                <a:latin typeface="Times New Roman" pitchFamily="18" charset="0"/>
                <a:cs typeface="Times New Roman" pitchFamily="18" charset="0"/>
              </a:rPr>
              <a:t> </a:t>
            </a:r>
            <a:r>
              <a:rPr lang="en-US" altLang="zh-CN" sz="1200" b="1" dirty="0" err="1">
                <a:latin typeface="Times New Roman" pitchFamily="18" charset="0"/>
                <a:cs typeface="Times New Roman" pitchFamily="18" charset="0"/>
              </a:rPr>
              <a:t>cứu</a:t>
            </a:r>
            <a:r>
              <a:rPr lang="zh-CN" altLang="en-US" sz="1200" b="1" dirty="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Tra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cứu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CNV </a:t>
            </a:r>
            <a:r>
              <a:rPr lang="en-US" altLang="zh-CN" sz="1200" dirty="0" err="1">
                <a:latin typeface="Times New Roman" pitchFamily="18" charset="0"/>
                <a:cs typeface="Times New Roman" pitchFamily="18" charset="0"/>
              </a:rPr>
              <a:t>dựa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vào</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điều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kiện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Tra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cứu</a:t>
            </a:r>
            <a:r>
              <a:rPr lang="en-US" altLang="zh-CN" sz="1200" dirty="0">
                <a:latin typeface="Times New Roman" pitchFamily="18" charset="0"/>
                <a:cs typeface="Times New Roman" pitchFamily="18" charset="0"/>
              </a:rPr>
              <a:t>. </a:t>
            </a:r>
          </a:p>
          <a:p>
            <a:pPr algn="l"/>
            <a:r>
              <a:rPr lang="en-US" altLang="zh-CN" sz="1200" b="1" dirty="0" smtClean="0">
                <a:latin typeface="Times New Roman" pitchFamily="18" charset="0"/>
                <a:cs typeface="Times New Roman" pitchFamily="18" charset="0"/>
              </a:rPr>
              <a:t>Thêm mới</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nút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hiển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thị</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khung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mới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nhập</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liên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quan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sau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Lưu</a:t>
            </a:r>
            <a:r>
              <a:rPr lang="en-US" altLang="zh-CN" sz="1200" dirty="0">
                <a:latin typeface="Times New Roman" pitchFamily="18" charset="0"/>
                <a:cs typeface="Times New Roman" pitchFamily="18" charset="0"/>
              </a:rPr>
              <a:t>”</a:t>
            </a:r>
          </a:p>
          <a:p>
            <a:pPr algn="l"/>
            <a:r>
              <a:rPr lang="vi-VN" altLang="zh-CN" sz="1200" b="1" dirty="0">
                <a:latin typeface="Times New Roman" pitchFamily="18" charset="0"/>
                <a:cs typeface="Times New Roman" pitchFamily="18" charset="0"/>
              </a:rPr>
              <a:t>Lưu</a:t>
            </a:r>
            <a:r>
              <a:rPr lang="zh-CN" altLang="en-US" sz="1200" b="1"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Lưu các thông tin </a:t>
            </a:r>
            <a:r>
              <a:rPr lang="en-US" altLang="zh-CN" sz="1200" dirty="0" smtClean="0">
                <a:latin typeface="Times New Roman" pitchFamily="18" charset="0"/>
                <a:cs typeface="Times New Roman" pitchFamily="18" charset="0"/>
              </a:rPr>
              <a:t>Thêm mới </a:t>
            </a:r>
            <a:r>
              <a:rPr lang="en-US" altLang="zh-CN" sz="1200" dirty="0">
                <a:latin typeface="Times New Roman" pitchFamily="18" charset="0"/>
                <a:cs typeface="Times New Roman" pitchFamily="18" charset="0"/>
              </a:rPr>
              <a:t>hoặc sửa đổi</a:t>
            </a:r>
          </a:p>
          <a:p>
            <a:pPr algn="l"/>
            <a:r>
              <a:rPr lang="en-US" altLang="zh-CN" sz="1200" b="1" dirty="0" err="1">
                <a:latin typeface="Times New Roman" pitchFamily="18" charset="0"/>
                <a:cs typeface="Times New Roman" pitchFamily="18" charset="0"/>
              </a:rPr>
              <a:t>Xóa</a:t>
            </a:r>
            <a:r>
              <a:rPr lang="zh-CN" altLang="en-US" sz="1200" b="1" dirty="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muốn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bỏ</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này</a:t>
            </a:r>
            <a:r>
              <a:rPr lang="en-US" altLang="zh-CN" sz="1200" dirty="0">
                <a:latin typeface="Times New Roman" pitchFamily="18" charset="0"/>
                <a:cs typeface="Times New Roman" pitchFamily="18" charset="0"/>
              </a:rPr>
              <a:t> ( </a:t>
            </a:r>
            <a:r>
              <a:rPr lang="en-US" altLang="zh-CN" sz="1200" dirty="0" err="1">
                <a:latin typeface="Times New Roman" pitchFamily="18" charset="0"/>
                <a:cs typeface="Times New Roman" pitchFamily="18" charset="0"/>
              </a:rPr>
              <a:t>có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tích</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chọn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nhiều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hàng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để</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xóa</a:t>
            </a:r>
            <a:r>
              <a:rPr lang="en-US" altLang="zh-CN"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a:p>
            <a:pPr algn="l"/>
            <a:r>
              <a:rPr lang="en-US" altLang="zh-CN" sz="1200" b="1" dirty="0" smtClean="0">
                <a:latin typeface="Times New Roman" pitchFamily="18" charset="0"/>
                <a:cs typeface="Times New Roman" pitchFamily="18" charset="0"/>
              </a:rPr>
              <a:t>Xuất Excel</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trang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này</a:t>
            </a:r>
            <a:endParaRPr lang="en-US" altLang="zh-CN" sz="1200" dirty="0">
              <a:latin typeface="Times New Roman" pitchFamily="18" charset="0"/>
              <a:cs typeface="Times New Roman" pitchFamily="18" charset="0"/>
            </a:endParaRPr>
          </a:p>
          <a:p>
            <a:pPr algn="l"/>
            <a:r>
              <a:rPr lang="en-US" altLang="zh-CN" sz="1200" b="1" dirty="0" err="1">
                <a:latin typeface="Times New Roman" pitchFamily="18" charset="0"/>
                <a:cs typeface="Times New Roman" pitchFamily="18" charset="0"/>
              </a:rPr>
              <a:t>Bản</a:t>
            </a:r>
            <a:r>
              <a:rPr lang="en-US" altLang="zh-CN" sz="1200" b="1" dirty="0">
                <a:latin typeface="Times New Roman" pitchFamily="18" charset="0"/>
                <a:cs typeface="Times New Roman" pitchFamily="18" charset="0"/>
              </a:rPr>
              <a:t> </a:t>
            </a:r>
            <a:r>
              <a:rPr lang="en-US" altLang="zh-CN" sz="1200" b="1" dirty="0" err="1">
                <a:latin typeface="Times New Roman" pitchFamily="18" charset="0"/>
                <a:cs typeface="Times New Roman" pitchFamily="18" charset="0"/>
              </a:rPr>
              <a:t>mẫu</a:t>
            </a:r>
            <a:r>
              <a:rPr lang="zh-CN" altLang="en-US" sz="1200" b="1" dirty="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1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về</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máy</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nhập</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các</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thông</a:t>
            </a:r>
            <a:r>
              <a:rPr lang="en-US" altLang="zh-CN" sz="1200" dirty="0">
                <a:latin typeface="Times New Roman" pitchFamily="18" charset="0"/>
                <a:cs typeface="Times New Roman" pitchFamily="18" charset="0"/>
              </a:rPr>
              <a:t> tin </a:t>
            </a:r>
            <a:r>
              <a:rPr lang="en-US" altLang="zh-CN" sz="1200" dirty="0" err="1">
                <a:latin typeface="Times New Roman" pitchFamily="18" charset="0"/>
                <a:cs typeface="Times New Roman" pitchFamily="18" charset="0"/>
              </a:rPr>
              <a:t>cần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thiết</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sao</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đó</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Lưu</a:t>
            </a:r>
            <a:r>
              <a:rPr lang="en-US" altLang="zh-CN" sz="1200" dirty="0">
                <a:latin typeface="Times New Roman" pitchFamily="18" charset="0"/>
                <a:cs typeface="Times New Roman" pitchFamily="18" charset="0"/>
              </a:rPr>
              <a:t>”</a:t>
            </a:r>
          </a:p>
          <a:p>
            <a:pPr algn="l"/>
            <a:r>
              <a:rPr lang="en-US" altLang="zh-CN" sz="1200" b="1" dirty="0" smtClean="0">
                <a:latin typeface="Times New Roman" pitchFamily="18" charset="0"/>
                <a:cs typeface="Times New Roman" pitchFamily="18" charset="0"/>
              </a:rPr>
              <a:t>Chèn file</a:t>
            </a:r>
            <a:r>
              <a:rPr lang="zh-CN" altLang="en-US" sz="1200" b="1" dirty="0" smtClean="0">
                <a:latin typeface="Times New Roman" pitchFamily="18" charset="0"/>
                <a:cs typeface="Times New Roman" pitchFamily="18" charset="0"/>
              </a:rPr>
              <a:t>：</a:t>
            </a:r>
            <a:r>
              <a:rPr lang="en-US" altLang="zh-CN" sz="1200" dirty="0" err="1">
                <a:latin typeface="Times New Roman" pitchFamily="18" charset="0"/>
                <a:cs typeface="Times New Roman" pitchFamily="18" charset="0"/>
              </a:rPr>
              <a:t>Tải</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lên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hệ</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thống</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bản</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mẫu</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vừa</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thực</a:t>
            </a:r>
            <a:r>
              <a:rPr lang="en-US" altLang="zh-CN" sz="1200" dirty="0">
                <a:latin typeface="Times New Roman" pitchFamily="18" charset="0"/>
                <a:cs typeface="Times New Roman" pitchFamily="18" charset="0"/>
              </a:rPr>
              <a:t> </a:t>
            </a:r>
            <a:r>
              <a:rPr lang="en-US" altLang="zh-CN" sz="1200" dirty="0" err="1">
                <a:latin typeface="Times New Roman" pitchFamily="18" charset="0"/>
                <a:cs typeface="Times New Roman" pitchFamily="18" charset="0"/>
              </a:rPr>
              <a:t>hiện</a:t>
            </a:r>
            <a:r>
              <a:rPr lang="en-US" altLang="zh-CN" sz="1200" dirty="0">
                <a:latin typeface="Times New Roman" pitchFamily="18" charset="0"/>
                <a:cs typeface="Times New Roman" pitchFamily="18" charset="0"/>
              </a:rPr>
              <a:t> </a:t>
            </a:r>
          </a:p>
        </p:txBody>
      </p:sp>
      <p:pic>
        <p:nvPicPr>
          <p:cNvPr id="3" name="Picture 2"/>
          <p:cNvPicPr>
            <a:picLocks noChangeAspect="1"/>
          </p:cNvPicPr>
          <p:nvPr/>
        </p:nvPicPr>
        <p:blipFill>
          <a:blip r:embed="rId3"/>
          <a:stretch>
            <a:fillRect/>
          </a:stretch>
        </p:blipFill>
        <p:spPr>
          <a:xfrm>
            <a:off x="11765" y="1356633"/>
            <a:ext cx="6648467" cy="3296503"/>
          </a:xfrm>
          <a:prstGeom prst="rect">
            <a:avLst/>
          </a:prstGeom>
        </p:spPr>
      </p:pic>
    </p:spTree>
    <p:extLst>
      <p:ext uri="{BB962C8B-B14F-4D97-AF65-F5344CB8AC3E}">
        <p14:creationId xmlns:p14="http://schemas.microsoft.com/office/powerpoint/2010/main" val="244393074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26543</TotalTime>
  <Words>3065</Words>
  <Application>Microsoft Office PowerPoint</Application>
  <PresentationFormat>On-screen Show (4:3)</PresentationFormat>
  <Paragraphs>226</Paragraphs>
  <Slides>35</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35</vt:i4>
      </vt:variant>
      <vt:variant>
        <vt:lpstr>Custom Shows</vt:lpstr>
      </vt:variant>
      <vt:variant>
        <vt:i4>1</vt:i4>
      </vt:variant>
    </vt:vector>
  </HeadingPairs>
  <TitlesOfParts>
    <vt:vector size="43" baseType="lpstr">
      <vt:lpstr>Arial Unicode MS</vt:lpstr>
      <vt:lpstr>微软雅黑</vt:lpstr>
      <vt:lpstr>宋体</vt:lpstr>
      <vt:lpstr>Arial</vt:lpstr>
      <vt:lpstr>Calibri</vt:lpstr>
      <vt:lpstr>Times New Roman</vt:lpstr>
      <vt:lpstr>2_自定义设计方案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huong chuot</cp:lastModifiedBy>
  <cp:revision>3024</cp:revision>
  <dcterms:created xsi:type="dcterms:W3CDTF">2010-07-06T05:38:31Z</dcterms:created>
  <dcterms:modified xsi:type="dcterms:W3CDTF">2018-01-26T10:13:31Z</dcterms:modified>
</cp:coreProperties>
</file>