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 id="2147483903" r:id="rId2"/>
    <p:sldMasterId id="2147483891" r:id="rId3"/>
    <p:sldMasterId id="2147483879" r:id="rId4"/>
    <p:sldMasterId id="2147483867" r:id="rId5"/>
    <p:sldMasterId id="2147483855" r:id="rId6"/>
    <p:sldMasterId id="2147483842" r:id="rId7"/>
    <p:sldMasterId id="2147483830" r:id="rId8"/>
  </p:sldMasterIdLst>
  <p:notesMasterIdLst>
    <p:notesMasterId r:id="rId48"/>
  </p:notesMasterIdLst>
  <p:handoutMasterIdLst>
    <p:handoutMasterId r:id="rId49"/>
  </p:handoutMasterIdLst>
  <p:sldIdLst>
    <p:sldId id="256" r:id="rId9"/>
    <p:sldId id="786" r:id="rId10"/>
    <p:sldId id="585" r:id="rId11"/>
    <p:sldId id="758" r:id="rId12"/>
    <p:sldId id="671" r:id="rId13"/>
    <p:sldId id="672" r:id="rId14"/>
    <p:sldId id="673" r:id="rId15"/>
    <p:sldId id="674" r:id="rId16"/>
    <p:sldId id="675" r:id="rId17"/>
    <p:sldId id="676" r:id="rId18"/>
    <p:sldId id="678" r:id="rId19"/>
    <p:sldId id="679" r:id="rId20"/>
    <p:sldId id="680" r:id="rId21"/>
    <p:sldId id="681" r:id="rId22"/>
    <p:sldId id="683" r:id="rId23"/>
    <p:sldId id="657" r:id="rId24"/>
    <p:sldId id="658" r:id="rId25"/>
    <p:sldId id="660" r:id="rId26"/>
    <p:sldId id="659" r:id="rId27"/>
    <p:sldId id="662" r:id="rId28"/>
    <p:sldId id="661" r:id="rId29"/>
    <p:sldId id="735" r:id="rId30"/>
    <p:sldId id="734" r:id="rId31"/>
    <p:sldId id="663" r:id="rId32"/>
    <p:sldId id="664" r:id="rId33"/>
    <p:sldId id="665" r:id="rId34"/>
    <p:sldId id="666" r:id="rId35"/>
    <p:sldId id="791" r:id="rId36"/>
    <p:sldId id="667" r:id="rId37"/>
    <p:sldId id="759" r:id="rId38"/>
    <p:sldId id="760" r:id="rId39"/>
    <p:sldId id="787" r:id="rId40"/>
    <p:sldId id="771" r:id="rId41"/>
    <p:sldId id="773" r:id="rId42"/>
    <p:sldId id="775" r:id="rId43"/>
    <p:sldId id="777" r:id="rId44"/>
    <p:sldId id="780" r:id="rId45"/>
    <p:sldId id="782" r:id="rId46"/>
    <p:sldId id="784" r:id="rId47"/>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itchFamily="34" charset="0"/>
        <a:ea typeface="宋体" pitchFamily="2" charset="-122"/>
        <a:cs typeface="+mn-cs"/>
      </a:defRPr>
    </a:lvl1pPr>
    <a:lvl2pPr marL="457200" algn="ctr" rtl="0" fontAlgn="base">
      <a:spcBef>
        <a:spcPct val="0"/>
      </a:spcBef>
      <a:spcAft>
        <a:spcPct val="0"/>
      </a:spcAft>
      <a:defRPr kern="1200">
        <a:solidFill>
          <a:schemeClr val="tx1"/>
        </a:solidFill>
        <a:latin typeface="Arial" pitchFamily="34" charset="0"/>
        <a:ea typeface="宋体" pitchFamily="2" charset="-122"/>
        <a:cs typeface="+mn-cs"/>
      </a:defRPr>
    </a:lvl2pPr>
    <a:lvl3pPr marL="914400" algn="ctr"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ctr"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ctr"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888">
          <p15:clr>
            <a:srgbClr val="A4A3A4"/>
          </p15:clr>
        </p15:guide>
        <p15:guide id="2" pos="215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CCFF"/>
    <a:srgbClr val="FF6600"/>
    <a:srgbClr val="FF9933"/>
    <a:srgbClr val="000099"/>
    <a:srgbClr val="33CCCC"/>
    <a:srgbClr val="3399FF"/>
    <a:srgbClr val="9999FF"/>
    <a:srgbClr val="99CC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6" autoAdjust="0"/>
    <p:restoredTop sz="99282" autoAdjust="0"/>
  </p:normalViewPr>
  <p:slideViewPr>
    <p:cSldViewPr>
      <p:cViewPr varScale="1">
        <p:scale>
          <a:sx n="80" d="100"/>
          <a:sy n="80" d="100"/>
        </p:scale>
        <p:origin x="1446" y="78"/>
      </p:cViewPr>
      <p:guideLst>
        <p:guide orient="horz" pos="1888"/>
        <p:guide pos="215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dirty="0">
              <a:ea typeface="微软雅黑" pitchFamily="34" charset="-122"/>
            </a:endParaRPr>
          </a:p>
        </p:txBody>
      </p:sp>
      <p:sp>
        <p:nvSpPr>
          <p:cNvPr id="1320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2F809E35-B4AC-482C-BF96-601431D08808}" type="datetimeFigureOut">
              <a:rPr lang="zh-CN" altLang="en-US">
                <a:ea typeface="微软雅黑" pitchFamily="34" charset="-122"/>
              </a:rPr>
              <a:pPr/>
              <a:t>2018/1/26</a:t>
            </a:fld>
            <a:endParaRPr lang="en-US" altLang="zh-CN" dirty="0">
              <a:ea typeface="微软雅黑" pitchFamily="34" charset="-122"/>
            </a:endParaRPr>
          </a:p>
        </p:txBody>
      </p:sp>
      <p:sp>
        <p:nvSpPr>
          <p:cNvPr id="1321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dirty="0">
              <a:ea typeface="微软雅黑" pitchFamily="34" charset="-122"/>
            </a:endParaRPr>
          </a:p>
        </p:txBody>
      </p:sp>
      <p:sp>
        <p:nvSpPr>
          <p:cNvPr id="1321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AC84FA5D-D624-4E8D-8EB8-90950245F5C5}" type="slidenum">
              <a:rPr lang="zh-CN" altLang="en-US">
                <a:ea typeface="微软雅黑" pitchFamily="34" charset="-122"/>
              </a:rPr>
              <a:pPr/>
              <a:t>‹#›</a:t>
            </a:fld>
            <a:endParaRPr lang="en-US" altLang="zh-CN" dirty="0">
              <a:ea typeface="微软雅黑" pitchFamily="34" charset="-122"/>
            </a:endParaRPr>
          </a:p>
        </p:txBody>
      </p:sp>
    </p:spTree>
    <p:extLst>
      <p:ext uri="{BB962C8B-B14F-4D97-AF65-F5344CB8AC3E}">
        <p14:creationId xmlns:p14="http://schemas.microsoft.com/office/powerpoint/2010/main" val="3639987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微软雅黑" pitchFamily="34" charset="-122"/>
              </a:defRPr>
            </a:lvl1pPr>
          </a:lstStyle>
          <a:p>
            <a:pPr>
              <a:defRPr/>
            </a:pPr>
            <a:endParaRPr lang="en-US" altLang="zh-CN" dirty="0"/>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55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微软雅黑" pitchFamily="34" charset="-122"/>
              </a:defRPr>
            </a:lvl1pPr>
          </a:lstStyle>
          <a:p>
            <a:pPr>
              <a:defRPr/>
            </a:pPr>
            <a:fld id="{7FD85DB2-E819-49CE-B234-25B8201BF18D}" type="slidenum">
              <a:rPr lang="en-US" altLang="zh-CN" smtClean="0"/>
              <a:pPr>
                <a:defRPr/>
              </a:pPr>
              <a:t>‹#›</a:t>
            </a:fld>
            <a:endParaRPr lang="en-US" altLang="zh-CN" dirty="0"/>
          </a:p>
        </p:txBody>
      </p:sp>
    </p:spTree>
    <p:extLst>
      <p:ext uri="{BB962C8B-B14F-4D97-AF65-F5344CB8AC3E}">
        <p14:creationId xmlns:p14="http://schemas.microsoft.com/office/powerpoint/2010/main" val="153901924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微软雅黑" pitchFamily="34" charset="-122"/>
        <a:cs typeface="+mn-cs"/>
      </a:defRPr>
    </a:lvl1pPr>
    <a:lvl2pPr marL="457200" algn="l" rtl="0" fontAlgn="base">
      <a:spcBef>
        <a:spcPct val="30000"/>
      </a:spcBef>
      <a:spcAft>
        <a:spcPct val="0"/>
      </a:spcAft>
      <a:defRPr sz="1200" kern="1200">
        <a:solidFill>
          <a:schemeClr val="tx1"/>
        </a:solidFill>
        <a:latin typeface="Arial" charset="0"/>
        <a:ea typeface="微软雅黑" pitchFamily="34" charset="-122"/>
        <a:cs typeface="+mn-cs"/>
      </a:defRPr>
    </a:lvl2pPr>
    <a:lvl3pPr marL="914400" algn="l" rtl="0" fontAlgn="base">
      <a:spcBef>
        <a:spcPct val="30000"/>
      </a:spcBef>
      <a:spcAft>
        <a:spcPct val="0"/>
      </a:spcAft>
      <a:defRPr sz="1200" kern="1200">
        <a:solidFill>
          <a:schemeClr val="tx1"/>
        </a:solidFill>
        <a:latin typeface="Arial" charset="0"/>
        <a:ea typeface="微软雅黑" pitchFamily="34" charset="-122"/>
        <a:cs typeface="+mn-cs"/>
      </a:defRPr>
    </a:lvl3pPr>
    <a:lvl4pPr marL="1371600" algn="l" rtl="0" fontAlgn="base">
      <a:spcBef>
        <a:spcPct val="30000"/>
      </a:spcBef>
      <a:spcAft>
        <a:spcPct val="0"/>
      </a:spcAft>
      <a:defRPr sz="1200" kern="1200">
        <a:solidFill>
          <a:schemeClr val="tx1"/>
        </a:solidFill>
        <a:latin typeface="Arial" charset="0"/>
        <a:ea typeface="微软雅黑" pitchFamily="34" charset="-122"/>
        <a:cs typeface="+mn-cs"/>
      </a:defRPr>
    </a:lvl4pPr>
    <a:lvl5pPr marL="1828800" algn="l" rtl="0" fontAlgn="base">
      <a:spcBef>
        <a:spcPct val="30000"/>
      </a:spcBef>
      <a:spcAft>
        <a:spcPct val="0"/>
      </a:spcAft>
      <a:defRPr sz="1200" kern="1200">
        <a:solidFill>
          <a:schemeClr val="tx1"/>
        </a:solidFill>
        <a:latin typeface="Arial" charset="0"/>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FD85DB2-E819-49CE-B234-25B8201BF18D}" type="slidenum">
              <a:rPr lang="en-US" altLang="zh-CN" smtClean="0"/>
              <a:pPr>
                <a:defRPr/>
              </a:pPr>
              <a:t>18</a:t>
            </a:fld>
            <a:endParaRPr lang="en-US" altLang="zh-CN" dirty="0"/>
          </a:p>
        </p:txBody>
      </p:sp>
    </p:spTree>
    <p:extLst>
      <p:ext uri="{BB962C8B-B14F-4D97-AF65-F5344CB8AC3E}">
        <p14:creationId xmlns:p14="http://schemas.microsoft.com/office/powerpoint/2010/main" val="3289907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33</a:t>
            </a:fld>
            <a:endParaRPr lang="en-US" altLang="zh-CN" dirty="0"/>
          </a:p>
        </p:txBody>
      </p:sp>
    </p:spTree>
    <p:extLst>
      <p:ext uri="{BB962C8B-B14F-4D97-AF65-F5344CB8AC3E}">
        <p14:creationId xmlns:p14="http://schemas.microsoft.com/office/powerpoint/2010/main" val="1632152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34</a:t>
            </a:fld>
            <a:endParaRPr lang="en-US" altLang="zh-CN" dirty="0"/>
          </a:p>
        </p:txBody>
      </p:sp>
    </p:spTree>
    <p:extLst>
      <p:ext uri="{BB962C8B-B14F-4D97-AF65-F5344CB8AC3E}">
        <p14:creationId xmlns:p14="http://schemas.microsoft.com/office/powerpoint/2010/main" val="3989132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35</a:t>
            </a:fld>
            <a:endParaRPr lang="en-US" altLang="zh-CN" dirty="0"/>
          </a:p>
        </p:txBody>
      </p:sp>
    </p:spTree>
    <p:extLst>
      <p:ext uri="{BB962C8B-B14F-4D97-AF65-F5344CB8AC3E}">
        <p14:creationId xmlns:p14="http://schemas.microsoft.com/office/powerpoint/2010/main" val="158448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36</a:t>
            </a:fld>
            <a:endParaRPr lang="en-US" altLang="zh-CN" dirty="0"/>
          </a:p>
        </p:txBody>
      </p:sp>
    </p:spTree>
    <p:extLst>
      <p:ext uri="{BB962C8B-B14F-4D97-AF65-F5344CB8AC3E}">
        <p14:creationId xmlns:p14="http://schemas.microsoft.com/office/powerpoint/2010/main" val="1632152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37</a:t>
            </a:fld>
            <a:endParaRPr lang="en-US" altLang="zh-CN" dirty="0"/>
          </a:p>
        </p:txBody>
      </p:sp>
    </p:spTree>
    <p:extLst>
      <p:ext uri="{BB962C8B-B14F-4D97-AF65-F5344CB8AC3E}">
        <p14:creationId xmlns:p14="http://schemas.microsoft.com/office/powerpoint/2010/main" val="3989132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38</a:t>
            </a:fld>
            <a:endParaRPr lang="en-US" altLang="zh-CN" dirty="0"/>
          </a:p>
        </p:txBody>
      </p:sp>
    </p:spTree>
    <p:extLst>
      <p:ext uri="{BB962C8B-B14F-4D97-AF65-F5344CB8AC3E}">
        <p14:creationId xmlns:p14="http://schemas.microsoft.com/office/powerpoint/2010/main" val="1584483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7FD85DB2-E819-49CE-B234-25B8201BF18D}" type="slidenum">
              <a:rPr lang="en-US" altLang="zh-CN" smtClean="0"/>
              <a:pPr>
                <a:defRPr/>
              </a:pPr>
              <a:t>39</a:t>
            </a:fld>
            <a:endParaRPr lang="en-US" altLang="zh-CN" dirty="0"/>
          </a:p>
        </p:txBody>
      </p:sp>
    </p:spTree>
    <p:extLst>
      <p:ext uri="{BB962C8B-B14F-4D97-AF65-F5344CB8AC3E}">
        <p14:creationId xmlns:p14="http://schemas.microsoft.com/office/powerpoint/2010/main" val="321215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59008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0_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2_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4_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950883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6334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090048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380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52518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62129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0220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8321773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148498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773863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17063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277192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11692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33814262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48256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408341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297653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705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5462235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8232360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583806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695961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9211480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51112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0356586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342495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30773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747435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9975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0188679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2793968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300909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771749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7828563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07551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4453343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489345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209447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4569979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72272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875178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8509763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55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28144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0928670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85644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20663235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685465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48443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13533546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2465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7017181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101894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1560810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249935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732246874"/>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955167032"/>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105818509"/>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3003280282"/>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2BABB5AB-D532-46D5-BA74-E02996469450}"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813710815"/>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2BABB5AB-D532-46D5-BA74-E02996469450}"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80910304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BB5AB-D532-46D5-BA74-E02996469450}"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44785842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75269187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4913374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3608541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423341768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47065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146353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9923236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62608251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A8DA3FFE-7133-4E99-9728-9EF3358A8F91}"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1893269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A8DA3FFE-7133-4E99-9728-9EF3358A8F91}"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4305623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3FFE-7133-4E99-9728-9EF3358A8F91}"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319150596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0832391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75131955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706193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88421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graphicFrame>
        <p:nvGraphicFramePr>
          <p:cNvPr id="4" name="Group 165"/>
          <p:cNvGraphicFramePr>
            <a:graphicFrameLocks noGrp="1"/>
          </p:cNvGraphicFramePr>
          <p:nvPr userDrawn="1">
            <p:extLst>
              <p:ext uri="{D42A27DB-BD31-4B8C-83A1-F6EECF244321}">
                <p14:modId xmlns:p14="http://schemas.microsoft.com/office/powerpoint/2010/main" val="3074143612"/>
              </p:ext>
            </p:extLst>
          </p:nvPr>
        </p:nvGraphicFramePr>
        <p:xfrm>
          <a:off x="0" y="116632"/>
          <a:ext cx="9144001" cy="274638"/>
        </p:xfrm>
        <a:graphic>
          <a:graphicData uri="http://schemas.openxmlformats.org/drawingml/2006/table">
            <a:tbl>
              <a:tblPr/>
              <a:tblGrid>
                <a:gridCol w="1400904"/>
                <a:gridCol w="3164085"/>
                <a:gridCol w="755191"/>
                <a:gridCol w="1098460"/>
                <a:gridCol w="961152"/>
                <a:gridCol w="1764209"/>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854" r:id="rId5"/>
    <p:sldLayoutId id="2147483794" r:id="rId6"/>
    <p:sldLayoutId id="2147483822" r:id="rId7"/>
    <p:sldLayoutId id="2147483795" r:id="rId8"/>
    <p:sldLayoutId id="2147483796" r:id="rId9"/>
    <p:sldLayoutId id="2147483823" r:id="rId10"/>
    <p:sldLayoutId id="2147483825" r:id="rId11"/>
    <p:sldLayoutId id="2147483827"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3339551099"/>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748116667"/>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144804293"/>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66380625"/>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25072077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ABB5AB-D532-46D5-BA74-E02996469450}"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D50C0-9690-42CA-97FD-377AAF3B3EEC}" type="slidenum">
              <a:rPr lang="vi-VN" smtClean="0"/>
              <a:t>‹#›</a:t>
            </a:fld>
            <a:endParaRPr lang="vi-VN"/>
          </a:p>
        </p:txBody>
      </p:sp>
    </p:spTree>
    <p:extLst>
      <p:ext uri="{BB962C8B-B14F-4D97-AF65-F5344CB8AC3E}">
        <p14:creationId xmlns:p14="http://schemas.microsoft.com/office/powerpoint/2010/main" val="382537866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A3FFE-7133-4E99-9728-9EF3358A8F91}"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96B1-0DD7-4619-BA63-FA810AEC1F27}" type="slidenum">
              <a:rPr lang="vi-VN" smtClean="0"/>
              <a:t>‹#›</a:t>
            </a:fld>
            <a:endParaRPr lang="vi-VN"/>
          </a:p>
        </p:txBody>
      </p:sp>
    </p:spTree>
    <p:extLst>
      <p:ext uri="{BB962C8B-B14F-4D97-AF65-F5344CB8AC3E}">
        <p14:creationId xmlns:p14="http://schemas.microsoft.com/office/powerpoint/2010/main" val="1052989851"/>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467544" y="3406498"/>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Module </a:t>
            </a:r>
            <a:r>
              <a:rPr lang="en-US" altLang="zh-CN" sz="2500" b="1" dirty="0" smtClean="0">
                <a:latin typeface="Times New Roman" pitchFamily="18" charset="0"/>
                <a:ea typeface="微软雅黑" pitchFamily="34" charset="-122"/>
                <a:cs typeface="Times New Roman" pitchFamily="18" charset="0"/>
              </a:rPr>
              <a:t>ESS </a:t>
            </a:r>
            <a:r>
              <a:rPr lang="en-US" altLang="zh-CN" sz="2500" b="1" dirty="0" smtClean="0">
                <a:latin typeface="Times New Roman" pitchFamily="18" charset="0"/>
                <a:ea typeface="微软雅黑" pitchFamily="34" charset="-122"/>
                <a:cs typeface="Times New Roman" pitchFamily="18" charset="0"/>
              </a:rPr>
              <a:t>- MyHome</a:t>
            </a:r>
            <a:endParaRPr lang="en-US" altLang="zh-CN" sz="2500" b="1" dirty="0">
              <a:latin typeface="Times New Roman" pitchFamily="18" charset="0"/>
              <a:ea typeface="微软雅黑" pitchFamily="34" charset="-122"/>
              <a:cs typeface="Times New Roman" pitchFamily="18" charset="0"/>
            </a:endParaRPr>
          </a:p>
        </p:txBody>
      </p:sp>
      <p:sp>
        <p:nvSpPr>
          <p:cNvPr id="11" name="TextBox 10"/>
          <p:cNvSpPr txBox="1"/>
          <p:nvPr/>
        </p:nvSpPr>
        <p:spPr>
          <a:xfrm>
            <a:off x="611560" y="2492896"/>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cxnSp>
        <p:nvCxnSpPr>
          <p:cNvPr id="3" name="Straight Connector 2"/>
          <p:cNvCxnSpPr/>
          <p:nvPr/>
        </p:nvCxnSpPr>
        <p:spPr>
          <a:xfrm>
            <a:off x="1763688" y="3068960"/>
            <a:ext cx="5040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903181"/>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5178111"/>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 </a:t>
            </a: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ESS</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1352735"/>
            <a:ext cx="7538680" cy="3840311"/>
          </a:xfrm>
          <a:prstGeom prst="rect">
            <a:avLst/>
          </a:prstGeom>
        </p:spPr>
      </p:pic>
    </p:spTree>
    <p:extLst>
      <p:ext uri="{BB962C8B-B14F-4D97-AF65-F5344CB8AC3E}">
        <p14:creationId xmlns:p14="http://schemas.microsoft.com/office/powerpoint/2010/main" val="40088862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93587"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Trang chủ My home</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820368" y="1556792"/>
            <a:ext cx="2071702" cy="2208297"/>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cs typeface="Times New Roman" pitchFamily="18" charset="0"/>
              </a:rPr>
              <a:t>Giải thích chi tiết</a:t>
            </a:r>
            <a:r>
              <a:rPr lang="zh-CN" altLang="en-US" sz="1100" dirty="0" smtClean="0">
                <a:latin typeface="+mj-lt"/>
                <a:ea typeface="微软雅黑" pitchFamily="34" charset="-122"/>
                <a:cs typeface="Times New Roman" pitchFamily="18" charset="0"/>
              </a:rPr>
              <a:t>：</a:t>
            </a:r>
            <a:endParaRPr lang="en-US" altLang="zh-CN" sz="1100" dirty="0" smtClean="0">
              <a:latin typeface="+mj-lt"/>
              <a:ea typeface="微软雅黑" pitchFamily="34" charset="-122"/>
              <a:cs typeface="Times New Roman" pitchFamily="18" charset="0"/>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Trang cá nhân của nhân viên</a:t>
            </a:r>
            <a:endParaRPr lang="en-US" altLang="zh-CN" sz="1100" dirty="0" smtClean="0">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endParaRPr lang="en-US" altLang="zh-CN" sz="1100" dirty="0" smtClean="0">
              <a:latin typeface="+mj-lt"/>
              <a:ea typeface="微软雅黑" pitchFamily="34" charset="-122"/>
              <a:cs typeface="Times New Roman" pitchFamily="18" charset="0"/>
            </a:endParaRPr>
          </a:p>
          <a:p>
            <a:pPr marL="228600" indent="-228600" algn="l">
              <a:spcBef>
                <a:spcPct val="50000"/>
              </a:spcBef>
            </a:pPr>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en-US" altLang="zh-CN" sz="1100" dirty="0" smtClean="0">
              <a:latin typeface="+mj-lt"/>
              <a:ea typeface="微软雅黑" pitchFamily="34" charset="-122"/>
              <a:cs typeface="Times New Roman" pitchFamily="18" charset="0"/>
            </a:endParaRPr>
          </a:p>
          <a:p>
            <a:pPr algn="l"/>
            <a:endParaRPr lang="zh-CN" altLang="en-US" sz="1100" dirty="0">
              <a:latin typeface="+mj-lt"/>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1" y="1355309"/>
            <a:ext cx="6820369" cy="355503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Nhân sự- Thông tin cơ bản</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393237"/>
          </a:xfrm>
          <a:prstGeom prst="rect">
            <a:avLst/>
          </a:prstGeom>
          <a:noFill/>
        </p:spPr>
        <p:txBody>
          <a:bodyPr wrap="square" rtlCol="0">
            <a:spAutoFit/>
          </a:bodyPr>
          <a:lstStyle/>
          <a:p>
            <a:pPr algn="l">
              <a:spcBef>
                <a:spcPct val="50000"/>
              </a:spcBef>
            </a:pPr>
            <a:r>
              <a:rPr lang="vi-VN" altLang="zh-CN" sz="1100" b="1" dirty="0" smtClean="0">
                <a:latin typeface="Times New Roman" pitchFamily="18" charset="0"/>
                <a:ea typeface="微软雅黑" pitchFamily="34" charset="-122"/>
                <a:cs typeface="Times New Roman" pitchFamily="18" charset="0"/>
              </a:rPr>
              <a:t>Công dụng:</a:t>
            </a:r>
            <a:endParaRPr lang="en-US" altLang="zh-CN" sz="1100" b="1" dirty="0" smtClean="0">
              <a:latin typeface="Times New Roman" pitchFamily="18" charset="0"/>
              <a:ea typeface="微软雅黑" pitchFamily="34" charset="-122"/>
              <a:cs typeface="Times New Roman" pitchFamily="18" charset="0"/>
            </a:endParaRPr>
          </a:p>
          <a:p>
            <a:pPr algn="l">
              <a:spcBef>
                <a:spcPct val="50000"/>
              </a:spcBef>
            </a:pPr>
            <a:r>
              <a:rPr lang="en-US" altLang="zh-CN" sz="1100" dirty="0" smtClean="0">
                <a:latin typeface="Times New Roman" pitchFamily="18" charset="0"/>
                <a:ea typeface="微软雅黑" pitchFamily="34" charset="-122"/>
                <a:cs typeface="Times New Roman" pitchFamily="18" charset="0"/>
              </a:rPr>
              <a:t>1. Xem thông tin cá nhân </a:t>
            </a:r>
          </a:p>
          <a:p>
            <a:pPr algn="l">
              <a:spcBef>
                <a:spcPct val="50000"/>
              </a:spcBef>
            </a:pPr>
            <a:r>
              <a:rPr lang="en-US" altLang="zh-CN" sz="1100" dirty="0" smtClean="0">
                <a:latin typeface="Times New Roman" pitchFamily="18" charset="0"/>
                <a:ea typeface="微软雅黑" pitchFamily="34" charset="-122"/>
                <a:cs typeface="Times New Roman" pitchFamily="18" charset="0"/>
              </a:rPr>
              <a:t>2. Có thể yêu cầu thay đổi thông tin nào đó gửi lên phòng nhân sự</a:t>
            </a:r>
          </a:p>
          <a:p>
            <a:pPr algn="l">
              <a:spcBef>
                <a:spcPct val="50000"/>
              </a:spcBef>
            </a:pP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6912" y="1061704"/>
            <a:ext cx="6793489" cy="4383519"/>
          </a:xfrm>
          <a:prstGeom prst="rect">
            <a:avLst/>
          </a:prstGeom>
        </p:spPr>
      </p:pic>
    </p:spTree>
    <p:extLst>
      <p:ext uri="{BB962C8B-B14F-4D97-AF65-F5344CB8AC3E}">
        <p14:creationId xmlns:p14="http://schemas.microsoft.com/office/powerpoint/2010/main" val="22431774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dirty="0">
                <a:latin typeface="+mj-lt"/>
                <a:ea typeface="微软雅黑" pitchFamily="34" charset="-122"/>
              </a:rPr>
              <a:t> </a:t>
            </a:r>
            <a:r>
              <a:rPr lang="vi-VN" altLang="zh-CN" sz="1200" dirty="0" smtClean="0">
                <a:latin typeface="+mj-lt"/>
                <a:ea typeface="微软雅黑" pitchFamily="34" charset="-122"/>
              </a:rPr>
              <a:t>Trang sửa </a:t>
            </a:r>
            <a:r>
              <a:rPr lang="en-US" altLang="zh-CN" sz="1200" dirty="0" smtClean="0">
                <a:latin typeface="Times New Roman" panose="02020603050405020304" pitchFamily="18" charset="0"/>
                <a:ea typeface="微软雅黑" pitchFamily="34" charset="-122"/>
                <a:cs typeface="Times New Roman" panose="02020603050405020304" pitchFamily="18" charset="0"/>
              </a:rPr>
              <a:t>thông tin cá nhân</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4662815"/>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Trang sửa thông tin </a:t>
            </a:r>
            <a:r>
              <a:rPr lang="en-US" altLang="zh-CN" sz="1100" dirty="0" smtClean="0">
                <a:latin typeface="+mj-lt"/>
                <a:ea typeface="微软雅黑" pitchFamily="34" charset="-122"/>
              </a:rPr>
              <a:t>cá nhân. </a:t>
            </a:r>
            <a:r>
              <a:rPr lang="en-US" altLang="zh-CN" sz="1100" dirty="0" smtClean="0">
                <a:latin typeface="Times New Roman" panose="02020603050405020304" pitchFamily="18" charset="0"/>
                <a:ea typeface="微软雅黑" pitchFamily="34" charset="-122"/>
                <a:cs typeface="Times New Roman" panose="02020603050405020304" pitchFamily="18" charset="0"/>
              </a:rPr>
              <a:t>Thông tin vừa sửa sẽ được chuyển đến trang nhân sự để thực hiện đồng ý hay từ chối thay đổi thông tin vừa yêu cầu</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“Sửa:, hệ thống hiển thị khung thông tin bên dưới</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Sau khi thay đổi thông tin, chọn “Sửa” gửi yêu cầu thay đổi cho phòng nhân sự; “Hủy bỏ” hủy thao tác vừa thực hiện</a:t>
            </a:r>
          </a:p>
          <a:p>
            <a:pPr marL="228600" indent="-228600" algn="l">
              <a:spcBef>
                <a:spcPct val="50000"/>
              </a:spcBef>
              <a:buFont typeface="+mj-lt"/>
              <a:buAutoNum type="arabicPeriod"/>
            </a:pPr>
            <a:endParaRPr lang="en-US" altLang="zh-CN" sz="1100" dirty="0" smtClean="0">
              <a:latin typeface="微软雅黑" pitchFamily="34" charset="-122"/>
              <a:ea typeface="微软雅黑" pitchFamily="34" charset="-122"/>
            </a:endParaRPr>
          </a:p>
          <a:p>
            <a:pPr marL="228600" indent="-228600" algn="l">
              <a:spcBef>
                <a:spcPct val="50000"/>
              </a:spcBef>
              <a:buFont typeface="+mj-lt"/>
              <a:buAutoNum type="arabicPeriod"/>
            </a:pPr>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3" name="Picture 2"/>
          <p:cNvPicPr>
            <a:picLocks noChangeAspect="1"/>
          </p:cNvPicPr>
          <p:nvPr/>
        </p:nvPicPr>
        <p:blipFill>
          <a:blip r:embed="rId2"/>
          <a:stretch>
            <a:fillRect/>
          </a:stretch>
        </p:blipFill>
        <p:spPr>
          <a:xfrm>
            <a:off x="0" y="1052736"/>
            <a:ext cx="6791843" cy="3790218"/>
          </a:xfrm>
          <a:prstGeom prst="rect">
            <a:avLst/>
          </a:prstGeom>
        </p:spPr>
      </p:pic>
      <p:pic>
        <p:nvPicPr>
          <p:cNvPr id="4" name="Picture 3"/>
          <p:cNvPicPr>
            <a:picLocks noChangeAspect="1"/>
          </p:cNvPicPr>
          <p:nvPr/>
        </p:nvPicPr>
        <p:blipFill>
          <a:blip r:embed="rId3"/>
          <a:stretch>
            <a:fillRect/>
          </a:stretch>
        </p:blipFill>
        <p:spPr>
          <a:xfrm>
            <a:off x="899592" y="3068960"/>
            <a:ext cx="5712295" cy="2283779"/>
          </a:xfrm>
          <a:prstGeom prst="rect">
            <a:avLst/>
          </a:prstGeom>
        </p:spPr>
      </p:pic>
      <p:cxnSp>
        <p:nvCxnSpPr>
          <p:cNvPr id="9" name="Elbow Connector 8"/>
          <p:cNvCxnSpPr>
            <a:endCxn id="4" idx="0"/>
          </p:cNvCxnSpPr>
          <p:nvPr/>
        </p:nvCxnSpPr>
        <p:spPr>
          <a:xfrm rot="10800000" flipV="1">
            <a:off x="3755740" y="2132856"/>
            <a:ext cx="2400436" cy="936104"/>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43054"/>
            <a:ext cx="2592288"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100" dirty="0" smtClean="0">
                <a:latin typeface="Times New Roman" pitchFamily="18" charset="0"/>
                <a:ea typeface="微软雅黑" pitchFamily="34" charset="-122"/>
                <a:cs typeface="Times New Roman" pitchFamily="18" charset="0"/>
              </a:rPr>
              <a:t>Trang thêm/sửa thông tin địa chỉ</a:t>
            </a:r>
            <a:endParaRPr lang="zh-CN" altLang="en-US" sz="11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816429"/>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Chức năng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Gửi yêu cầu thay đổi thông tin địa chỉ</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“Thêm mới”, hiển thị khung thông tin bên dưới</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Nhập thông tin địa chỉ cần thiết, sau đó “Lưu” gửi yêu cầu thay đổi; hoặc “Hủy bỏ”  hủy thao tác vừa thực hiện</a:t>
            </a: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0" y="1124744"/>
            <a:ext cx="6789401" cy="3803915"/>
          </a:xfrm>
          <a:prstGeom prst="rect">
            <a:avLst/>
          </a:prstGeom>
        </p:spPr>
      </p:pic>
      <p:pic>
        <p:nvPicPr>
          <p:cNvPr id="4" name="Picture 3"/>
          <p:cNvPicPr>
            <a:picLocks noChangeAspect="1"/>
          </p:cNvPicPr>
          <p:nvPr/>
        </p:nvPicPr>
        <p:blipFill>
          <a:blip r:embed="rId3"/>
          <a:stretch>
            <a:fillRect/>
          </a:stretch>
        </p:blipFill>
        <p:spPr>
          <a:xfrm>
            <a:off x="827584" y="3517645"/>
            <a:ext cx="5722398" cy="2271619"/>
          </a:xfrm>
          <a:prstGeom prst="rect">
            <a:avLst/>
          </a:prstGeom>
        </p:spPr>
      </p:pic>
      <p:cxnSp>
        <p:nvCxnSpPr>
          <p:cNvPr id="6" name="Elbow Connector 5"/>
          <p:cNvCxnSpPr>
            <a:endCxn id="4" idx="0"/>
          </p:cNvCxnSpPr>
          <p:nvPr/>
        </p:nvCxnSpPr>
        <p:spPr>
          <a:xfrm rot="10800000" flipV="1">
            <a:off x="3688784" y="2780927"/>
            <a:ext cx="2611409" cy="736717"/>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300193" y="2492896"/>
            <a:ext cx="144015" cy="369332"/>
          </a:xfrm>
          <a:prstGeom prst="rect">
            <a:avLst/>
          </a:prstGeom>
          <a:noFill/>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31640" y="116632"/>
            <a:ext cx="2592288"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100" dirty="0" smtClean="0">
                <a:latin typeface="微软雅黑" pitchFamily="34" charset="-122"/>
                <a:ea typeface="微软雅黑" pitchFamily="34" charset="-122"/>
              </a:rPr>
              <a:t> </a:t>
            </a:r>
            <a:r>
              <a:rPr lang="vi-VN" altLang="zh-CN" sz="1100" dirty="0">
                <a:latin typeface="Times New Roman" pitchFamily="18" charset="0"/>
                <a:ea typeface="微软雅黑" pitchFamily="34" charset="-122"/>
                <a:cs typeface="Times New Roman" pitchFamily="18" charset="0"/>
              </a:rPr>
              <a:t>Trang thêm/sửa thông tin </a:t>
            </a:r>
            <a:r>
              <a:rPr lang="vi-VN" altLang="zh-CN" sz="1100" dirty="0" smtClean="0">
                <a:latin typeface="Times New Roman" pitchFamily="18" charset="0"/>
                <a:ea typeface="微软雅黑" pitchFamily="34" charset="-122"/>
                <a:cs typeface="Times New Roman" pitchFamily="18" charset="0"/>
              </a:rPr>
              <a:t>gia đình</a:t>
            </a:r>
            <a:endParaRPr lang="zh-CN" altLang="en-US" sz="11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90106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Gửi yêu cầu thêm thông tin thành viên gia đình</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a:latin typeface="+mj-lt"/>
              <a:ea typeface="微软雅黑" pitchFamily="34" charset="-122"/>
            </a:endParaRP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“Thêm mới”, hệ thống hiển thị khung thông tin bên dưới</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Nhập thông tin các thành viên gia đình, sau đó “Lưu” gửi yêu cầu thay đổi, hoặc “Hủy bỏ” hủy thao tác vừa thực hiện</a:t>
            </a: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0" y="1052736"/>
            <a:ext cx="6816040" cy="3735304"/>
          </a:xfrm>
          <a:prstGeom prst="rect">
            <a:avLst/>
          </a:prstGeom>
        </p:spPr>
      </p:pic>
      <p:pic>
        <p:nvPicPr>
          <p:cNvPr id="4" name="Picture 3"/>
          <p:cNvPicPr>
            <a:picLocks noChangeAspect="1"/>
          </p:cNvPicPr>
          <p:nvPr/>
        </p:nvPicPr>
        <p:blipFill>
          <a:blip r:embed="rId3"/>
          <a:stretch>
            <a:fillRect/>
          </a:stretch>
        </p:blipFill>
        <p:spPr>
          <a:xfrm>
            <a:off x="755576" y="3429000"/>
            <a:ext cx="5852486" cy="3051548"/>
          </a:xfrm>
          <a:prstGeom prst="rect">
            <a:avLst/>
          </a:prstGeom>
        </p:spPr>
      </p:pic>
      <p:cxnSp>
        <p:nvCxnSpPr>
          <p:cNvPr id="6" name="Elbow Connector 5"/>
          <p:cNvCxnSpPr>
            <a:endCxn id="4" idx="0"/>
          </p:cNvCxnSpPr>
          <p:nvPr/>
        </p:nvCxnSpPr>
        <p:spPr>
          <a:xfrm rot="10800000" flipV="1">
            <a:off x="3681820" y="2920388"/>
            <a:ext cx="2546365" cy="508612"/>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93549"/>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dirty="0" smtClean="0">
                <a:latin typeface="Times New Roman" pitchFamily="18" charset="0"/>
                <a:ea typeface="微软雅黑" pitchFamily="34" charset="-122"/>
                <a:cs typeface="Times New Roman" pitchFamily="18" charset="0"/>
              </a:rPr>
              <a:t>Trang thêm/sửa </a:t>
            </a:r>
            <a:r>
              <a:rPr lang="en-US" altLang="zh-CN" sz="1200" dirty="0" smtClean="0">
                <a:latin typeface="Times New Roman" pitchFamily="18" charset="0"/>
                <a:ea typeface="微软雅黑" pitchFamily="34" charset="-122"/>
                <a:cs typeface="Times New Roman" pitchFamily="18" charset="0"/>
              </a:rPr>
              <a:t>Người liên hệ</a:t>
            </a:r>
            <a:r>
              <a:rPr lang="vi-VN" altLang="zh-CN" sz="1200" dirty="0" smtClean="0">
                <a:latin typeface="Times New Roman" pitchFamily="18" charset="0"/>
                <a:ea typeface="微软雅黑" pitchFamily="34" charset="-122"/>
                <a:cs typeface="Times New Roman" pitchFamily="18" charset="0"/>
              </a:rPr>
              <a:t> khẩn cấp</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508600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a:latin typeface="+mj-lt"/>
                <a:ea typeface="微软雅黑" pitchFamily="34" charset="-122"/>
              </a:rPr>
              <a:t>Thêm, xóa, sửa thông </a:t>
            </a:r>
            <a:r>
              <a:rPr lang="vi-VN" altLang="zh-CN" sz="1100" dirty="0" smtClean="0">
                <a:latin typeface="+mj-lt"/>
                <a:ea typeface="微软雅黑" pitchFamily="34" charset="-122"/>
              </a:rPr>
              <a:t>tin liên hệ khẩn cấp</a:t>
            </a:r>
            <a:endParaRPr lang="en-US" altLang="zh-CN" sz="1100" dirty="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Tại phần “Người liên hệ khẩn cấp”chọn “Thêm mới, hệ thống hiện lên khung thông tin. </a:t>
            </a: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hoặc điền thông tin cần thiết </a:t>
            </a: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“Lưu”để xin thêm mới thông tin hoặc “Hủy bỏ” hủy thao tác vừa thực hiện.</a:t>
            </a: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Có thể chọn vào phần màu xanh để xem thông tin người liên hệ khẩn cấp chi tiết, đồng thời có thẻ sửa trực tiếp trên khung đó và “Lưu” gửi thông tin chỉnh sửa đến phòng nhân sự chờ duyệt</a:t>
            </a:r>
          </a:p>
          <a:p>
            <a:pPr marL="228600" indent="-228600" algn="l">
              <a:spcBef>
                <a:spcPct val="50000"/>
              </a:spcBef>
              <a:buFont typeface="+mj-lt"/>
              <a:buAutoNum type="arabicPeriod"/>
            </a:pPr>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3" name="Picture 2"/>
          <p:cNvPicPr>
            <a:picLocks noChangeAspect="1"/>
          </p:cNvPicPr>
          <p:nvPr/>
        </p:nvPicPr>
        <p:blipFill>
          <a:blip r:embed="rId2"/>
          <a:stretch>
            <a:fillRect/>
          </a:stretch>
        </p:blipFill>
        <p:spPr>
          <a:xfrm>
            <a:off x="0" y="980728"/>
            <a:ext cx="6813920" cy="3826169"/>
          </a:xfrm>
          <a:prstGeom prst="rect">
            <a:avLst/>
          </a:prstGeom>
        </p:spPr>
      </p:pic>
      <p:sp>
        <p:nvSpPr>
          <p:cNvPr id="4" name="TextBox 3"/>
          <p:cNvSpPr txBox="1"/>
          <p:nvPr/>
        </p:nvSpPr>
        <p:spPr>
          <a:xfrm>
            <a:off x="2051720" y="5229200"/>
            <a:ext cx="1512168" cy="369332"/>
          </a:xfrm>
          <a:prstGeom prst="rect">
            <a:avLst/>
          </a:prstGeom>
          <a:noFill/>
        </p:spPr>
        <p:txBody>
          <a:bodyPr wrap="square" rtlCol="0">
            <a:spAutoFit/>
          </a:bodyPr>
          <a:lstStyle/>
          <a:p>
            <a:r>
              <a:rPr lang="en-US" dirty="0" smtClean="0"/>
              <a:t>Chưa xong</a:t>
            </a:r>
            <a:endParaRPr lang="en-US" dirty="0"/>
          </a:p>
        </p:txBody>
      </p:sp>
      <p:pic>
        <p:nvPicPr>
          <p:cNvPr id="2" name="Picture 1"/>
          <p:cNvPicPr>
            <a:picLocks noChangeAspect="1"/>
          </p:cNvPicPr>
          <p:nvPr/>
        </p:nvPicPr>
        <p:blipFill>
          <a:blip r:embed="rId3"/>
          <a:stretch>
            <a:fillRect/>
          </a:stretch>
        </p:blipFill>
        <p:spPr>
          <a:xfrm>
            <a:off x="1259632" y="3521182"/>
            <a:ext cx="4942857" cy="2571429"/>
          </a:xfrm>
          <a:prstGeom prst="rect">
            <a:avLst/>
          </a:prstGeom>
        </p:spPr>
      </p:pic>
      <p:cxnSp>
        <p:nvCxnSpPr>
          <p:cNvPr id="6" name="Elbow Connector 5"/>
          <p:cNvCxnSpPr>
            <a:endCxn id="2" idx="0"/>
          </p:cNvCxnSpPr>
          <p:nvPr/>
        </p:nvCxnSpPr>
        <p:spPr>
          <a:xfrm rot="10800000" flipV="1">
            <a:off x="3731062" y="3212976"/>
            <a:ext cx="2497123" cy="308206"/>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31640"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Nhân sự - </a:t>
            </a:r>
            <a:r>
              <a:rPr lang="en-US" altLang="zh-CN" sz="1200" dirty="0">
                <a:latin typeface="Times New Roman" pitchFamily="18" charset="0"/>
                <a:ea typeface="微软雅黑" pitchFamily="34" charset="-122"/>
                <a:cs typeface="Times New Roman" pitchFamily="18" charset="0"/>
              </a:rPr>
              <a:t>T</a:t>
            </a:r>
            <a:r>
              <a:rPr lang="vi-VN" altLang="zh-CN" sz="1200" dirty="0" smtClean="0">
                <a:latin typeface="Times New Roman" pitchFamily="18" charset="0"/>
                <a:ea typeface="微软雅黑" pitchFamily="34" charset="-122"/>
                <a:cs typeface="Times New Roman" pitchFamily="18" charset="0"/>
              </a:rPr>
              <a:t>hông tin công việc</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2292935"/>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Xem các quyết định nhân sự của bản thân tại công ty, và quá trình làm việc trước đây</a:t>
            </a: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8197" name="Picture 5"/>
          <p:cNvPicPr>
            <a:picLocks noChangeAspect="1" noChangeArrowheads="1"/>
          </p:cNvPicPr>
          <p:nvPr/>
        </p:nvPicPr>
        <p:blipFill>
          <a:blip r:embed="rId2"/>
          <a:srcRect/>
          <a:stretch>
            <a:fillRect/>
          </a:stretch>
        </p:blipFill>
        <p:spPr bwMode="auto">
          <a:xfrm>
            <a:off x="1714480" y="2571744"/>
            <a:ext cx="828675" cy="71438"/>
          </a:xfrm>
          <a:prstGeom prst="rect">
            <a:avLst/>
          </a:prstGeom>
          <a:noFill/>
          <a:ln w="9525">
            <a:noFill/>
            <a:miter lim="800000"/>
            <a:headEnd/>
            <a:tailEnd/>
          </a:ln>
          <a:effectLst/>
        </p:spPr>
      </p:pic>
      <p:pic>
        <p:nvPicPr>
          <p:cNvPr id="32" name="Picture 5"/>
          <p:cNvPicPr>
            <a:picLocks noChangeAspect="1" noChangeArrowheads="1"/>
          </p:cNvPicPr>
          <p:nvPr/>
        </p:nvPicPr>
        <p:blipFill>
          <a:blip r:embed="rId2"/>
          <a:srcRect/>
          <a:stretch>
            <a:fillRect/>
          </a:stretch>
        </p:blipFill>
        <p:spPr bwMode="auto">
          <a:xfrm>
            <a:off x="4000496" y="2714620"/>
            <a:ext cx="828675" cy="71438"/>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0" y="1340768"/>
            <a:ext cx="6830269" cy="382608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08938"/>
            <a:ext cx="2592288"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100" dirty="0" smtClean="0">
                <a:latin typeface="Times New Roman" pitchFamily="18" charset="0"/>
                <a:ea typeface="微软雅黑" pitchFamily="34" charset="-122"/>
                <a:cs typeface="Times New Roman" pitchFamily="18" charset="0"/>
              </a:rPr>
              <a:t>Trang thêm</a:t>
            </a:r>
            <a:r>
              <a:rPr lang="en-US" altLang="zh-CN" sz="1100" dirty="0" smtClean="0">
                <a:latin typeface="Times New Roman" pitchFamily="18" charset="0"/>
                <a:ea typeface="微软雅黑" pitchFamily="34" charset="-122"/>
                <a:cs typeface="Times New Roman" pitchFamily="18" charset="0"/>
              </a:rPr>
              <a:t>/</a:t>
            </a:r>
            <a:r>
              <a:rPr lang="en-US" altLang="zh-CN" sz="1100" dirty="0" err="1" smtClean="0">
                <a:latin typeface="Times New Roman" pitchFamily="18" charset="0"/>
                <a:ea typeface="微软雅黑" pitchFamily="34" charset="-122"/>
                <a:cs typeface="Times New Roman" pitchFamily="18" charset="0"/>
              </a:rPr>
              <a:t>sửa</a:t>
            </a:r>
            <a:r>
              <a:rPr lang="en-US" altLang="zh-CN" sz="1100" dirty="0" smtClean="0">
                <a:latin typeface="Times New Roman" pitchFamily="18" charset="0"/>
                <a:ea typeface="微软雅黑" pitchFamily="34" charset="-122"/>
                <a:cs typeface="Times New Roman" pitchFamily="18" charset="0"/>
              </a:rPr>
              <a:t> thông tin </a:t>
            </a:r>
            <a:r>
              <a:rPr lang="en-US" altLang="zh-CN" sz="1100" dirty="0" err="1" smtClean="0">
                <a:latin typeface="Times New Roman" pitchFamily="18" charset="0"/>
                <a:ea typeface="微软雅黑" pitchFamily="34" charset="-122"/>
                <a:cs typeface="Times New Roman" pitchFamily="18" charset="0"/>
              </a:rPr>
              <a:t>kinh</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nghiệm</a:t>
            </a:r>
            <a:endParaRPr lang="zh-CN" altLang="en-US" sz="11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5509200"/>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Thêm, sửa, xóa thông tin kinh nghiệm</a:t>
            </a:r>
            <a:endParaRPr lang="en-US" altLang="zh-CN" sz="1100" dirty="0" smtClean="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Tahoma" panose="020B0604030504040204" pitchFamily="34" charset="0"/>
                <a:cs typeface="Times New Roman" panose="02020603050405020304" pitchFamily="18" charset="0"/>
              </a:rPr>
              <a:t>Tại phần kinh nghiệm chọn “Thêm mới”, hệ thống hiện lên khung thông tin. </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Tahoma" panose="020B0604030504040204" pitchFamily="34" charset="0"/>
                <a:cs typeface="Times New Roman" panose="02020603050405020304" pitchFamily="18" charset="0"/>
              </a:rPr>
              <a:t>Nhập hoặc chọn thông tin cần thiết </a:t>
            </a:r>
          </a:p>
          <a:p>
            <a:pPr marL="228600" indent="-228600" algn="l">
              <a:spcBef>
                <a:spcPct val="50000"/>
              </a:spcBef>
              <a:buFont typeface="+mj-lt"/>
              <a:buAutoNum type="arabicPeriod"/>
            </a:pPr>
            <a:r>
              <a:rPr lang="en-US" altLang="zh-CN" sz="1100" dirty="0">
                <a:latin typeface="Times New Roman" panose="02020603050405020304" pitchFamily="18" charset="0"/>
                <a:ea typeface="Tahoma" panose="020B0604030504040204" pitchFamily="34" charset="0"/>
                <a:cs typeface="Times New Roman" panose="02020603050405020304" pitchFamily="18" charset="0"/>
              </a:rPr>
              <a:t>C</a:t>
            </a:r>
            <a:r>
              <a:rPr lang="en-US" altLang="zh-CN" sz="1100" dirty="0" smtClean="0">
                <a:latin typeface="Times New Roman" panose="02020603050405020304" pitchFamily="18" charset="0"/>
                <a:ea typeface="Tahoma" panose="020B0604030504040204" pitchFamily="34" charset="0"/>
                <a:cs typeface="Times New Roman" panose="02020603050405020304" pitchFamily="18" charset="0"/>
              </a:rPr>
              <a:t>họn “Lưu” để gửi thông tin chờ nhân sự duyệt hoặc “Hủy bỏ” hủy thao tác vừa thực hiện</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Tahoma" panose="020B0604030504040204" pitchFamily="34" charset="0"/>
                <a:cs typeface="Times New Roman" panose="02020603050405020304" pitchFamily="18" charset="0"/>
              </a:rPr>
              <a:t>Có thể chọn phần màu xanh để xem thông tin chi tiết. Tại khung hiển thị, Nv có thể chỉnh sửa thông tin hoặc xóa bỏ thông tin và gửi lên phòng nhân sự chờ duyệt</a:t>
            </a:r>
            <a:endParaRPr lang="en-US" altLang="zh-CN" sz="1100" dirty="0">
              <a:latin typeface="Times New Roman" panose="02020603050405020304" pitchFamily="18" charset="0"/>
              <a:ea typeface="Tahoma" panose="020B0604030504040204" pitchFamily="34" charset="0"/>
              <a:cs typeface="Times New Roman" panose="02020603050405020304" pitchFamily="18" charset="0"/>
            </a:endParaRPr>
          </a:p>
          <a:p>
            <a:pPr algn="l">
              <a:spcBef>
                <a:spcPct val="50000"/>
              </a:spcBef>
            </a:pPr>
            <a:endParaRPr lang="en-US" altLang="zh-CN" sz="1100" dirty="0" smtClean="0">
              <a:latin typeface="+mj-lt"/>
              <a:ea typeface="微软雅黑" pitchFamily="34" charset="-122"/>
            </a:endParaRP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6" name="Picture 5"/>
          <p:cNvPicPr>
            <a:picLocks noChangeAspect="1"/>
          </p:cNvPicPr>
          <p:nvPr/>
        </p:nvPicPr>
        <p:blipFill>
          <a:blip r:embed="rId2"/>
          <a:stretch>
            <a:fillRect/>
          </a:stretch>
        </p:blipFill>
        <p:spPr>
          <a:xfrm>
            <a:off x="-25019" y="1196752"/>
            <a:ext cx="6811597" cy="3745306"/>
          </a:xfrm>
          <a:prstGeom prst="rect">
            <a:avLst/>
          </a:prstGeom>
        </p:spPr>
      </p:pic>
      <p:pic>
        <p:nvPicPr>
          <p:cNvPr id="8" name="Picture 7"/>
          <p:cNvPicPr>
            <a:picLocks noChangeAspect="1"/>
          </p:cNvPicPr>
          <p:nvPr/>
        </p:nvPicPr>
        <p:blipFill>
          <a:blip r:embed="rId3"/>
          <a:stretch>
            <a:fillRect/>
          </a:stretch>
        </p:blipFill>
        <p:spPr>
          <a:xfrm>
            <a:off x="755576" y="2930117"/>
            <a:ext cx="5702444" cy="3236522"/>
          </a:xfrm>
          <a:prstGeom prst="rect">
            <a:avLst/>
          </a:prstGeom>
        </p:spPr>
      </p:pic>
      <p:sp>
        <p:nvSpPr>
          <p:cNvPr id="9" name="Flowchart: Process 8"/>
          <p:cNvSpPr/>
          <p:nvPr/>
        </p:nvSpPr>
        <p:spPr>
          <a:xfrm>
            <a:off x="6012160" y="2348880"/>
            <a:ext cx="360040"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4" name="Elbow Connector 13"/>
          <p:cNvCxnSpPr>
            <a:stCxn id="9" idx="2"/>
            <a:endCxn id="8" idx="0"/>
          </p:cNvCxnSpPr>
          <p:nvPr/>
        </p:nvCxnSpPr>
        <p:spPr>
          <a:xfrm rot="5400000">
            <a:off x="4680879" y="1418815"/>
            <a:ext cx="437221" cy="258538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Nhân sự- Thông tin chứng chỉ</a:t>
            </a:r>
            <a:endParaRPr lang="zh-CN" altLang="en-US" sz="10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2970044"/>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Xem thông tin về trinh độ học vấn, bằng cấp, chứng chỉ của bản thân và có thể yêu cầu bổ sung thông tin</a:t>
            </a:r>
            <a:endParaRPr lang="en-US" altLang="zh-CN" sz="1100" b="1"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100" dirty="0" smtClean="0">
              <a:latin typeface="+mj-lt"/>
              <a:ea typeface="微软雅黑" pitchFamily="34" charset="-122"/>
            </a:endParaRP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41987" name="Picture 3"/>
          <p:cNvPicPr>
            <a:picLocks noChangeAspect="1" noChangeArrowheads="1"/>
          </p:cNvPicPr>
          <p:nvPr/>
        </p:nvPicPr>
        <p:blipFill>
          <a:blip r:embed="rId2"/>
          <a:srcRect/>
          <a:stretch>
            <a:fillRect/>
          </a:stretch>
        </p:blipFill>
        <p:spPr bwMode="auto">
          <a:xfrm>
            <a:off x="6196027" y="4071942"/>
            <a:ext cx="447675" cy="209550"/>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1" y="1199312"/>
            <a:ext cx="6786578" cy="380161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100" dirty="0" smtClean="0">
                <a:latin typeface="Times New Roman" pitchFamily="18" charset="0"/>
                <a:ea typeface="微软雅黑" pitchFamily="34" charset="-122"/>
                <a:cs typeface="Times New Roman" pitchFamily="18" charset="0"/>
              </a:rPr>
              <a:t> </a:t>
            </a:r>
            <a:r>
              <a:rPr lang="vi-VN" altLang="zh-CN" sz="1200" dirty="0" smtClean="0">
                <a:latin typeface="Times New Roman" pitchFamily="18" charset="0"/>
                <a:ea typeface="微软雅黑" pitchFamily="34" charset="-122"/>
                <a:cs typeface="Times New Roman" pitchFamily="18" charset="0"/>
              </a:rPr>
              <a:t>Trang thêm/sửa </a:t>
            </a:r>
            <a:r>
              <a:rPr lang="en-US" altLang="zh-CN" sz="1200" dirty="0" smtClean="0">
                <a:latin typeface="Times New Roman" pitchFamily="18" charset="0"/>
                <a:ea typeface="微软雅黑" pitchFamily="34" charset="-122"/>
                <a:cs typeface="Times New Roman" pitchFamily="18" charset="0"/>
              </a:rPr>
              <a:t>Trình độ</a:t>
            </a:r>
            <a:r>
              <a:rPr lang="vi-VN" altLang="zh-CN" sz="1200" dirty="0" smtClean="0">
                <a:latin typeface="Times New Roman" pitchFamily="18" charset="0"/>
                <a:ea typeface="微软雅黑" pitchFamily="34" charset="-122"/>
                <a:cs typeface="Times New Roman" pitchFamily="18" charset="0"/>
              </a:rPr>
              <a:t> học vấn</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449353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Giải </a:t>
            </a:r>
            <a:r>
              <a:rPr lang="vi-VN" altLang="zh-CN" sz="1100" b="1" dirty="0">
                <a:latin typeface="+mj-lt"/>
                <a:ea typeface="微软雅黑" pitchFamily="34" charset="-122"/>
              </a:rPr>
              <a:t>thích chi tiết</a:t>
            </a:r>
            <a:r>
              <a:rPr lang="zh-CN" altLang="en-US" sz="1100" dirty="0">
                <a:latin typeface="+mj-lt"/>
                <a:ea typeface="微软雅黑" pitchFamily="34" charset="-122"/>
              </a:rPr>
              <a:t>：</a:t>
            </a:r>
            <a:endParaRPr lang="en-US" altLang="zh-CN" sz="1100" dirty="0">
              <a:latin typeface="+mj-lt"/>
              <a:ea typeface="微软雅黑" pitchFamily="34" charset="-122"/>
            </a:endParaRP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Tại phần “Trình độ học vấn” chọn “Thêm mới”, hệ thống hiển thị khung thông tin</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Nv điền hoặc chọn các thông tin cần thiết </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“Lưu” để xin thay đổi thông tin, “Hủy bỏ” hủy thao tác vừa thực hiện</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phần màu xanh để xem thông tin cụ thể, tại khung hiển thị. Có thể sửa trực tiếp tại khung đó hoặc xóa thông tin không cần đến</a:t>
            </a:r>
            <a:endParaRPr lang="vi-VN" altLang="zh-CN" sz="11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100" dirty="0" smtClean="0">
              <a:latin typeface="微软雅黑" pitchFamily="34" charset="-122"/>
              <a:ea typeface="微软雅黑" pitchFamily="34" charset="-122"/>
            </a:endParaRPr>
          </a:p>
          <a:p>
            <a:pPr marL="228600" indent="-228600" algn="l">
              <a:spcBef>
                <a:spcPct val="50000"/>
              </a:spcBef>
              <a:buFont typeface="+mj-lt"/>
              <a:buAutoNum type="arabicPeriod"/>
            </a:pPr>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3" name="Picture 2"/>
          <p:cNvPicPr>
            <a:picLocks noChangeAspect="1"/>
          </p:cNvPicPr>
          <p:nvPr/>
        </p:nvPicPr>
        <p:blipFill>
          <a:blip r:embed="rId2"/>
          <a:stretch>
            <a:fillRect/>
          </a:stretch>
        </p:blipFill>
        <p:spPr>
          <a:xfrm>
            <a:off x="0" y="1152626"/>
            <a:ext cx="6786578" cy="3768747"/>
          </a:xfrm>
          <a:prstGeom prst="rect">
            <a:avLst/>
          </a:prstGeom>
        </p:spPr>
      </p:pic>
      <p:pic>
        <p:nvPicPr>
          <p:cNvPr id="4" name="Picture 3"/>
          <p:cNvPicPr>
            <a:picLocks noChangeAspect="1"/>
          </p:cNvPicPr>
          <p:nvPr/>
        </p:nvPicPr>
        <p:blipFill>
          <a:blip r:embed="rId3"/>
          <a:stretch>
            <a:fillRect/>
          </a:stretch>
        </p:blipFill>
        <p:spPr>
          <a:xfrm>
            <a:off x="1619672" y="2682300"/>
            <a:ext cx="4464496" cy="3669336"/>
          </a:xfrm>
          <a:prstGeom prst="rect">
            <a:avLst/>
          </a:prstGeom>
        </p:spPr>
      </p:pic>
      <p:sp>
        <p:nvSpPr>
          <p:cNvPr id="6" name="Flowchart: Process 5"/>
          <p:cNvSpPr/>
          <p:nvPr/>
        </p:nvSpPr>
        <p:spPr>
          <a:xfrm>
            <a:off x="6012160" y="1916832"/>
            <a:ext cx="432048"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9" name="Elbow Connector 8"/>
          <p:cNvCxnSpPr>
            <a:stCxn id="6" idx="2"/>
            <a:endCxn id="4" idx="0"/>
          </p:cNvCxnSpPr>
          <p:nvPr/>
        </p:nvCxnSpPr>
        <p:spPr>
          <a:xfrm rot="5400000">
            <a:off x="4729326" y="1183442"/>
            <a:ext cx="621452" cy="2376264"/>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39552" y="1916832"/>
            <a:ext cx="3960440"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31640" y="116632"/>
            <a:ext cx="2592288"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100" dirty="0" smtClean="0">
                <a:latin typeface="微软雅黑" pitchFamily="34" charset="-122"/>
                <a:ea typeface="微软雅黑" pitchFamily="34" charset="-122"/>
              </a:rPr>
              <a:t> </a:t>
            </a:r>
            <a:r>
              <a:rPr lang="vi-VN" altLang="zh-CN" sz="1100" dirty="0">
                <a:latin typeface="Times New Roman" pitchFamily="18" charset="0"/>
                <a:ea typeface="微软雅黑" pitchFamily="34" charset="-122"/>
                <a:cs typeface="Times New Roman" pitchFamily="18" charset="0"/>
              </a:rPr>
              <a:t>Trang </a:t>
            </a:r>
            <a:r>
              <a:rPr lang="vi-VN" altLang="zh-CN" sz="1100" dirty="0" smtClean="0">
                <a:latin typeface="Times New Roman" pitchFamily="18" charset="0"/>
                <a:ea typeface="微软雅黑" pitchFamily="34" charset="-122"/>
                <a:cs typeface="Times New Roman" pitchFamily="18" charset="0"/>
              </a:rPr>
              <a:t>thêm/sửa</a:t>
            </a:r>
            <a:r>
              <a:rPr lang="en-US" altLang="zh-CN" sz="1100" dirty="0" smtClean="0">
                <a:latin typeface="Times New Roman" pitchFamily="18" charset="0"/>
                <a:ea typeface="微软雅黑" pitchFamily="34" charset="-122"/>
                <a:cs typeface="Times New Roman" pitchFamily="18" charset="0"/>
              </a:rPr>
              <a:t> Thông tin </a:t>
            </a:r>
            <a:r>
              <a:rPr lang="vi-VN" altLang="zh-CN" sz="1100" dirty="0" smtClean="0">
                <a:latin typeface="Times New Roman" pitchFamily="18" charset="0"/>
                <a:ea typeface="微软雅黑" pitchFamily="34" charset="-122"/>
                <a:cs typeface="Times New Roman" pitchFamily="18" charset="0"/>
              </a:rPr>
              <a:t>chứng </a:t>
            </a:r>
            <a:r>
              <a:rPr lang="en-US" altLang="zh-CN" sz="1100" dirty="0" smtClean="0">
                <a:latin typeface="Times New Roman" pitchFamily="18" charset="0"/>
                <a:ea typeface="微软雅黑" pitchFamily="34" charset="-122"/>
                <a:cs typeface="Times New Roman" pitchFamily="18" charset="0"/>
              </a:rPr>
              <a:t>chỉ</a:t>
            </a:r>
            <a:endParaRPr lang="zh-CN" altLang="en-US" sz="11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90106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Tại phần “Thông tin chứng chỉ” chọn “Thêm mới”, hệ thống hiện lên khung thông tin.</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 Chọn hoặc điền thông tin cần thiết</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 “Lưu” gửi thông tin thay đổi đến nhân sự xác nhận, hoặc “Hủy bỏ” hủy thao tác vừa thực hiện</a:t>
            </a: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marL="228600" indent="-228600" algn="l">
              <a:spcBef>
                <a:spcPct val="50000"/>
              </a:spcBef>
              <a:buFont typeface="+mj-lt"/>
              <a:buAutoNum type="arabicPeriod"/>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39819" y="1054374"/>
            <a:ext cx="6748044" cy="3741873"/>
          </a:xfrm>
          <a:prstGeom prst="rect">
            <a:avLst/>
          </a:prstGeom>
        </p:spPr>
      </p:pic>
      <p:pic>
        <p:nvPicPr>
          <p:cNvPr id="3" name="Picture 2"/>
          <p:cNvPicPr>
            <a:picLocks noChangeAspect="1"/>
          </p:cNvPicPr>
          <p:nvPr/>
        </p:nvPicPr>
        <p:blipFill>
          <a:blip r:embed="rId3"/>
          <a:stretch>
            <a:fillRect/>
          </a:stretch>
        </p:blipFill>
        <p:spPr>
          <a:xfrm>
            <a:off x="1677913" y="2672899"/>
            <a:ext cx="4766295" cy="3695218"/>
          </a:xfrm>
          <a:prstGeom prst="rect">
            <a:avLst/>
          </a:prstGeom>
        </p:spPr>
      </p:pic>
      <p:sp>
        <p:nvSpPr>
          <p:cNvPr id="5" name="Flowchart: Process 4"/>
          <p:cNvSpPr/>
          <p:nvPr/>
        </p:nvSpPr>
        <p:spPr>
          <a:xfrm>
            <a:off x="6012160" y="2132856"/>
            <a:ext cx="432048" cy="216024"/>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5" idx="2"/>
            <a:endCxn id="3" idx="0"/>
          </p:cNvCxnSpPr>
          <p:nvPr/>
        </p:nvCxnSpPr>
        <p:spPr>
          <a:xfrm rot="5400000">
            <a:off x="4982614" y="1427328"/>
            <a:ext cx="324019" cy="2167123"/>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611560" y="2132856"/>
            <a:ext cx="4680520"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Nhân sự - Chi tiết thay đổi</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985706"/>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lvl="0" algn="l">
              <a:spcBef>
                <a:spcPct val="50000"/>
              </a:spcBef>
            </a:pPr>
            <a:r>
              <a:rPr lang="en-US" altLang="zh-CN" sz="1100" dirty="0" smtClean="0">
                <a:latin typeface="Times New Roman" pitchFamily="18" charset="0"/>
                <a:ea typeface="微软雅黑" pitchFamily="34" charset="-122"/>
                <a:cs typeface="Times New Roman" pitchFamily="18" charset="0"/>
              </a:rPr>
              <a:t>Xem các yêu cầu thay đổi thông tin của bản thân</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a:latin typeface="+mj-lt"/>
              <a:ea typeface="微软雅黑" pitchFamily="34" charset="-122"/>
            </a:endParaRP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“Tra cứu” hệ thống mặc định tìm kiếm các thông tin yêu cầu thay đổi của cá nhân từ trước đây nay.Nv cũng có thể tìm kiếm qua khoảng thời gian, trạng thái duyệt.</a:t>
            </a: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phần màu xanh có thể xem cụ thể thông tin đã thay đổi.</a:t>
            </a: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58680" y="908720"/>
            <a:ext cx="6727898" cy="3717032"/>
          </a:xfrm>
          <a:prstGeom prst="rect">
            <a:avLst/>
          </a:prstGeom>
        </p:spPr>
      </p:pic>
      <p:pic>
        <p:nvPicPr>
          <p:cNvPr id="4" name="Picture 3"/>
          <p:cNvPicPr>
            <a:picLocks noChangeAspect="1"/>
          </p:cNvPicPr>
          <p:nvPr/>
        </p:nvPicPr>
        <p:blipFill>
          <a:blip r:embed="rId3"/>
          <a:stretch>
            <a:fillRect/>
          </a:stretch>
        </p:blipFill>
        <p:spPr>
          <a:xfrm>
            <a:off x="755576" y="2731686"/>
            <a:ext cx="5599221" cy="2667946"/>
          </a:xfrm>
          <a:prstGeom prst="rect">
            <a:avLst/>
          </a:prstGeom>
        </p:spPr>
      </p:pic>
      <p:sp>
        <p:nvSpPr>
          <p:cNvPr id="5" name="Rectangle 4"/>
          <p:cNvSpPr/>
          <p:nvPr/>
        </p:nvSpPr>
        <p:spPr>
          <a:xfrm>
            <a:off x="899592" y="1772816"/>
            <a:ext cx="43204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5" idx="2"/>
            <a:endCxn id="4" idx="0"/>
          </p:cNvCxnSpPr>
          <p:nvPr/>
        </p:nvCxnSpPr>
        <p:spPr>
          <a:xfrm rot="16200000" flipH="1">
            <a:off x="1927974" y="1104473"/>
            <a:ext cx="814854" cy="243957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Lương – Tiền lương chi tiết</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071702" cy="3647152"/>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Tra cứu </a:t>
            </a:r>
            <a:r>
              <a:rPr lang="en-US" altLang="zh-CN" sz="1100" dirty="0" smtClean="0">
                <a:latin typeface="Times New Roman" panose="02020603050405020304" pitchFamily="18" charset="0"/>
                <a:ea typeface="微软雅黑" pitchFamily="34" charset="-122"/>
                <a:cs typeface="Times New Roman" panose="02020603050405020304" pitchFamily="18" charset="0"/>
              </a:rPr>
              <a:t>tiền lương của cá nhân qua các tháng</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Lựa chọn “Kế hoạch trả lương”-&gt; “Tra cứu”, hệ thống hiển thị thông tin lương của tháng đó</a:t>
            </a:r>
          </a:p>
          <a:p>
            <a:pPr marL="228600" indent="-228600" algn="l">
              <a:spcBef>
                <a:spcPct val="50000"/>
              </a:spcBef>
              <a:buAutoNum type="arabicPeriod"/>
            </a:pPr>
            <a:r>
              <a:rPr lang="en-US" altLang="zh-CN" sz="1100" dirty="0" smtClean="0">
                <a:solidFill>
                  <a:srgbClr val="0070C0"/>
                </a:solidFill>
                <a:latin typeface="Times New Roman" panose="02020603050405020304" pitchFamily="18" charset="0"/>
                <a:ea typeface="微软雅黑" pitchFamily="34" charset="-122"/>
                <a:cs typeface="Times New Roman" panose="02020603050405020304" pitchFamily="18" charset="0"/>
              </a:rPr>
              <a:t>(Nếu</a:t>
            </a:r>
            <a:r>
              <a:rPr lang="en-US" altLang="zh-CN" sz="1100" dirty="0" smtClean="0">
                <a:latin typeface="Times New Roman" panose="02020603050405020304" pitchFamily="18" charset="0"/>
                <a:ea typeface="微软雅黑" pitchFamily="34" charset="-122"/>
                <a:cs typeface="Times New Roman" panose="02020603050405020304" pitchFamily="18" charset="0"/>
              </a:rPr>
              <a:t> </a:t>
            </a:r>
            <a:r>
              <a:rPr lang="en-US" altLang="zh-CN" sz="1100" dirty="0">
                <a:solidFill>
                  <a:srgbClr val="3366FF"/>
                </a:solidFill>
                <a:latin typeface="Times New Roman" panose="02020603050405020304" pitchFamily="18" charset="0"/>
                <a:ea typeface="微软雅黑" pitchFamily="34" charset="-122"/>
                <a:cs typeface="Times New Roman" panose="02020603050405020304" pitchFamily="18" charset="0"/>
              </a:rPr>
              <a:t>t</a:t>
            </a:r>
            <a:r>
              <a:rPr lang="en-US" altLang="zh-CN" sz="1100" dirty="0" smtClean="0">
                <a:solidFill>
                  <a:srgbClr val="3366FF"/>
                </a:solidFill>
                <a:latin typeface="Times New Roman" panose="02020603050405020304" pitchFamily="18" charset="0"/>
                <a:ea typeface="微软雅黑" pitchFamily="34" charset="-122"/>
                <a:cs typeface="Times New Roman" panose="02020603050405020304" pitchFamily="18" charset="0"/>
              </a:rPr>
              <a:t>ra cứu không hiển thị dữ liệu, hệ thống sẽ hiện lên thông báo tiền lương chưa mở</a:t>
            </a:r>
            <a:r>
              <a:rPr lang="en-US" altLang="zh-CN" sz="1100" dirty="0" smtClean="0">
                <a:solidFill>
                  <a:srgbClr val="0070C0"/>
                </a:solidFill>
                <a:latin typeface="Times New Roman" panose="02020603050405020304" pitchFamily="18" charset="0"/>
                <a:ea typeface="微软雅黑" pitchFamily="34" charset="-122"/>
                <a:cs typeface="Times New Roman" panose="02020603050405020304" pitchFamily="18" charset="0"/>
              </a:rPr>
              <a:t>)</a:t>
            </a: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46087" name="Picture 7"/>
          <p:cNvPicPr>
            <a:picLocks noChangeAspect="1" noChangeArrowheads="1"/>
          </p:cNvPicPr>
          <p:nvPr/>
        </p:nvPicPr>
        <p:blipFill>
          <a:blip r:embed="rId2"/>
          <a:srcRect/>
          <a:stretch>
            <a:fillRect/>
          </a:stretch>
        </p:blipFill>
        <p:spPr bwMode="auto">
          <a:xfrm>
            <a:off x="5086359" y="2143116"/>
            <a:ext cx="771525" cy="1419225"/>
          </a:xfrm>
          <a:prstGeom prst="rect">
            <a:avLst/>
          </a:prstGeom>
          <a:noFill/>
          <a:ln w="9525">
            <a:noFill/>
            <a:miter lim="800000"/>
            <a:headEnd/>
            <a:tailEnd/>
          </a:ln>
          <a:effectLst/>
        </p:spPr>
      </p:pic>
      <p:pic>
        <p:nvPicPr>
          <p:cNvPr id="3" name="Picture 2"/>
          <p:cNvPicPr>
            <a:picLocks noChangeAspect="1"/>
          </p:cNvPicPr>
          <p:nvPr/>
        </p:nvPicPr>
        <p:blipFill>
          <a:blip r:embed="rId3"/>
          <a:stretch>
            <a:fillRect/>
          </a:stretch>
        </p:blipFill>
        <p:spPr>
          <a:xfrm>
            <a:off x="28523" y="1339791"/>
            <a:ext cx="6761097" cy="377224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31640"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Tra cứu nhóm ca làm</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2885405"/>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Xem lịch sử thay đổi nhóm  ca làm của cá nhân</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Có thể chọn điều kiện tìm kiếm -&gt; “Tra cứu” hệ thống tự động tìm kiếm tất cả các ca làm việc của bản thân.</a:t>
            </a: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2051" name="Picture 3"/>
          <p:cNvPicPr>
            <a:picLocks noChangeAspect="1" noChangeArrowheads="1"/>
          </p:cNvPicPr>
          <p:nvPr/>
        </p:nvPicPr>
        <p:blipFill>
          <a:blip r:embed="rId2"/>
          <a:srcRect/>
          <a:stretch>
            <a:fillRect/>
          </a:stretch>
        </p:blipFill>
        <p:spPr bwMode="auto">
          <a:xfrm>
            <a:off x="5572132" y="2643183"/>
            <a:ext cx="790575" cy="142876"/>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18662" y="1282786"/>
            <a:ext cx="6786578" cy="380161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31640"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Ca làm cá nhân</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271612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pt-BR" altLang="zh-CN" sz="1100" dirty="0" smtClean="0">
                <a:latin typeface="Times New Roman" pitchFamily="18" charset="0"/>
                <a:ea typeface="微软雅黑" pitchFamily="34" charset="-122"/>
                <a:cs typeface="Times New Roman" pitchFamily="18" charset="0"/>
              </a:rPr>
              <a:t>T</a:t>
            </a:r>
            <a:r>
              <a:rPr lang="vi-VN" altLang="zh-CN" sz="1100" dirty="0" smtClean="0">
                <a:latin typeface="Times New Roman" pitchFamily="18" charset="0"/>
                <a:ea typeface="微软雅黑" pitchFamily="34" charset="-122"/>
                <a:cs typeface="Times New Roman" pitchFamily="18" charset="0"/>
              </a:rPr>
              <a:t>rang t</a:t>
            </a:r>
            <a:r>
              <a:rPr lang="pt-BR" altLang="zh-CN" sz="1100" dirty="0" smtClean="0">
                <a:latin typeface="Times New Roman" pitchFamily="18" charset="0"/>
                <a:ea typeface="微软雅黑" pitchFamily="34" charset="-122"/>
                <a:cs typeface="Times New Roman" pitchFamily="18" charset="0"/>
              </a:rPr>
              <a:t>ra cứu ca làm c</a:t>
            </a:r>
            <a:r>
              <a:rPr lang="vi-VN" altLang="zh-CN" sz="1100" dirty="0" smtClean="0">
                <a:latin typeface="Times New Roman" pitchFamily="18" charset="0"/>
                <a:ea typeface="微软雅黑" pitchFamily="34" charset="-122"/>
                <a:cs typeface="Times New Roman" pitchFamily="18" charset="0"/>
              </a:rPr>
              <a:t>ủa</a:t>
            </a:r>
            <a:r>
              <a:rPr lang="pt-BR" altLang="zh-CN" sz="1100" dirty="0" smtClean="0">
                <a:latin typeface="Times New Roman" pitchFamily="18" charset="0"/>
                <a:ea typeface="微软雅黑" pitchFamily="34" charset="-122"/>
                <a:cs typeface="Times New Roman" pitchFamily="18" charset="0"/>
              </a:rPr>
              <a:t> cá nhâ</a:t>
            </a:r>
            <a:r>
              <a:rPr lang="vi-VN" altLang="zh-CN" sz="1100" dirty="0" smtClean="0">
                <a:latin typeface="Times New Roman" pitchFamily="18" charset="0"/>
                <a:ea typeface="微软雅黑" pitchFamily="34" charset="-122"/>
                <a:cs typeface="Times New Roman" pitchFamily="18" charset="0"/>
              </a:rPr>
              <a:t>n</a:t>
            </a:r>
            <a:r>
              <a:rPr lang="en-US" altLang="zh-CN" sz="1100" dirty="0" smtClean="0">
                <a:latin typeface="Times New Roman" pitchFamily="18" charset="0"/>
                <a:ea typeface="微软雅黑" pitchFamily="34" charset="-122"/>
                <a:cs typeface="Times New Roman" pitchFamily="18" charset="0"/>
              </a:rPr>
              <a:t> trong khoảng thời gian tìm kiếm</a:t>
            </a:r>
            <a:r>
              <a:rPr lang="vi-VN" altLang="zh-CN" sz="1100" dirty="0" smtClean="0">
                <a:latin typeface="Times New Roman" pitchFamily="18" charset="0"/>
                <a:ea typeface="微软雅黑" pitchFamily="34" charset="-122"/>
                <a:cs typeface="Times New Roman" pitchFamily="18" charset="0"/>
              </a:rPr>
              <a:t>.</a:t>
            </a:r>
            <a:endParaRPr lang="en-US" altLang="zh-CN" sz="1100" dirty="0" smtClean="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vi-VN" altLang="zh-CN" sz="1100" dirty="0" smtClean="0">
                <a:latin typeface="+mj-lt"/>
                <a:ea typeface="微软雅黑" pitchFamily="34" charset="-122"/>
              </a:rPr>
              <a:t>Sau khi chọn điều kiện tra cứu, </a:t>
            </a:r>
            <a:r>
              <a:rPr lang="en-US" altLang="zh-CN" sz="1100" dirty="0" smtClean="0">
                <a:latin typeface="+mj-lt"/>
                <a:ea typeface="微软雅黑" pitchFamily="34" charset="-122"/>
              </a:rPr>
              <a:t>c</a:t>
            </a:r>
            <a:r>
              <a:rPr lang="vi-VN" altLang="zh-CN" sz="1100" dirty="0" smtClean="0">
                <a:latin typeface="+mj-lt"/>
                <a:ea typeface="微软雅黑" pitchFamily="34" charset="-122"/>
              </a:rPr>
              <a:t>lick </a:t>
            </a:r>
            <a:r>
              <a:rPr lang="en-US" altLang="zh-CN" sz="1100" dirty="0" smtClean="0">
                <a:latin typeface="+mj-lt"/>
                <a:ea typeface="微软雅黑" pitchFamily="34" charset="-122"/>
              </a:rPr>
              <a:t>“T</a:t>
            </a:r>
            <a:r>
              <a:rPr lang="vi-VN" altLang="zh-CN" sz="1100" dirty="0" smtClean="0">
                <a:latin typeface="+mj-lt"/>
                <a:ea typeface="微软雅黑" pitchFamily="34" charset="-122"/>
              </a:rPr>
              <a:t>ra cứu</a:t>
            </a:r>
            <a:r>
              <a:rPr lang="en-US" altLang="zh-CN" sz="1100" dirty="0" smtClean="0">
                <a:latin typeface="+mj-lt"/>
                <a:ea typeface="微软雅黑" pitchFamily="34" charset="-122"/>
              </a:rPr>
              <a:t>”</a:t>
            </a:r>
            <a:r>
              <a:rPr lang="vi-VN" altLang="zh-CN" sz="1100" dirty="0" smtClean="0">
                <a:latin typeface="+mj-lt"/>
                <a:ea typeface="微软雅黑" pitchFamily="34" charset="-122"/>
              </a:rPr>
              <a:t> để hiện thị kết quả tra cứu.</a:t>
            </a:r>
            <a:endParaRPr lang="en-US" altLang="zh-CN" sz="1100" dirty="0" smtClean="0">
              <a:latin typeface="+mj-lt"/>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179179"/>
            <a:ext cx="6786578" cy="380161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Xin nghỉ phép</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324261"/>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en-US" altLang="zh-CN" sz="1000" dirty="0" smtClean="0">
                <a:latin typeface="Times New Roman" panose="02020603050405020304" pitchFamily="18" charset="0"/>
                <a:ea typeface="微软雅黑" pitchFamily="34" charset="-122"/>
                <a:cs typeface="Times New Roman" panose="02020603050405020304" pitchFamily="18" charset="0"/>
              </a:rPr>
              <a:t>Nhân viên xin nghỉ.</a:t>
            </a: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Chọn loại nghỉ phép</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Chọn thời gian nghỉ</a:t>
            </a:r>
            <a:endParaRPr lang="en-US" altLang="zh-CN" sz="1000"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000" dirty="0" smtClean="0">
                <a:latin typeface="Times New Roman" pitchFamily="18" charset="0"/>
                <a:ea typeface="微软雅黑" pitchFamily="34" charset="-122"/>
                <a:cs typeface="Times New Roman" pitchFamily="18" charset="0"/>
              </a:rPr>
              <a:t>C</a:t>
            </a:r>
            <a:r>
              <a:rPr lang="en-US" altLang="zh-CN" sz="1000" dirty="0" smtClean="0">
                <a:latin typeface="Times New Roman" pitchFamily="18" charset="0"/>
                <a:ea typeface="微软雅黑" pitchFamily="34" charset="-122"/>
                <a:cs typeface="Times New Roman" pitchFamily="18" charset="0"/>
              </a:rPr>
              <a:t>họn</a:t>
            </a:r>
            <a:r>
              <a:rPr lang="vi-VN" altLang="zh-CN" sz="1000" dirty="0" smtClean="0">
                <a:latin typeface="Times New Roman" pitchFamily="18" charset="0"/>
                <a:ea typeface="微软雅黑" pitchFamily="34" charset="-122"/>
                <a:cs typeface="Times New Roman" pitchFamily="18" charset="0"/>
              </a:rPr>
              <a:t> “</a:t>
            </a:r>
            <a:r>
              <a:rPr lang="en-US" altLang="zh-CN" sz="1000" dirty="0" smtClean="0">
                <a:latin typeface="Times New Roman" pitchFamily="18" charset="0"/>
                <a:ea typeface="微软雅黑" pitchFamily="34" charset="-122"/>
                <a:cs typeface="Times New Roman" pitchFamily="18" charset="0"/>
              </a:rPr>
              <a:t>Xin phép</a:t>
            </a:r>
            <a:r>
              <a:rPr lang="vi-VN" altLang="zh-CN" sz="1000" dirty="0" smtClean="0">
                <a:latin typeface="Times New Roman" pitchFamily="18" charset="0"/>
                <a:ea typeface="微软雅黑" pitchFamily="34" charset="-122"/>
                <a:cs typeface="Times New Roman" pitchFamily="18" charset="0"/>
              </a:rPr>
              <a:t>" để hoàn thành xin phép.</a:t>
            </a:r>
            <a:r>
              <a:rPr lang="en-US" altLang="zh-CN" sz="1000" dirty="0" smtClean="0">
                <a:latin typeface="Times New Roman" pitchFamily="18" charset="0"/>
                <a:ea typeface="微软雅黑" pitchFamily="34" charset="-122"/>
                <a:cs typeface="Times New Roman" pitchFamily="18" charset="0"/>
              </a:rPr>
              <a:t> Thông tin xin nghỉ sẽ được chuyển đến người phê duyệt hiện thị bên dưới trang chơ phê duyệt</a:t>
            </a:r>
            <a:endParaRPr lang="en-US" altLang="zh-CN" sz="1000"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000" dirty="0" smtClean="0">
                <a:latin typeface="Times New Roman" pitchFamily="18" charset="0"/>
                <a:ea typeface="微软雅黑" pitchFamily="34" charset="-122"/>
                <a:cs typeface="Times New Roman" pitchFamily="18" charset="0"/>
              </a:rPr>
              <a:t>Nhắc nhở xác nhận </a:t>
            </a:r>
            <a:r>
              <a:rPr lang="en-US" altLang="zh-CN" sz="1000" dirty="0" smtClean="0">
                <a:latin typeface="Times New Roman" pitchFamily="18" charset="0"/>
                <a:ea typeface="微软雅黑" pitchFamily="34" charset="-122"/>
                <a:cs typeface="Times New Roman" pitchFamily="18" charset="0"/>
              </a:rPr>
              <a:t>nộp giấy khám bệnh </a:t>
            </a:r>
            <a:r>
              <a:rPr lang="vi-VN" altLang="zh-CN" sz="1000" dirty="0" smtClean="0">
                <a:latin typeface="Times New Roman" pitchFamily="18" charset="0"/>
                <a:ea typeface="微软雅黑" pitchFamily="34" charset="-122"/>
                <a:cs typeface="Times New Roman" pitchFamily="18" charset="0"/>
              </a:rPr>
              <a:t>ở trang chủ Hub, tất cả những xin nghỉ ốm </a:t>
            </a:r>
            <a:r>
              <a:rPr lang="en-US" altLang="zh-CN" sz="1000" dirty="0" smtClean="0">
                <a:latin typeface="Times New Roman" pitchFamily="18" charset="0"/>
                <a:ea typeface="微软雅黑" pitchFamily="34" charset="-122"/>
                <a:cs typeface="Times New Roman" pitchFamily="18" charset="0"/>
              </a:rPr>
              <a:t>đã được duyệt, </a:t>
            </a:r>
            <a:r>
              <a:rPr lang="vi-VN" altLang="zh-CN" sz="1000" dirty="0" smtClean="0">
                <a:latin typeface="Times New Roman" pitchFamily="18" charset="0"/>
                <a:ea typeface="微软雅黑" pitchFamily="34" charset="-122"/>
                <a:cs typeface="Times New Roman" pitchFamily="18" charset="0"/>
              </a:rPr>
              <a:t>sau khi kết thúc thời gian nghỉ </a:t>
            </a:r>
            <a:r>
              <a:rPr lang="en-US" altLang="zh-CN" sz="1000" dirty="0" smtClean="0">
                <a:latin typeface="Times New Roman" pitchFamily="18" charset="0"/>
                <a:ea typeface="微软雅黑" pitchFamily="34" charset="-122"/>
                <a:cs typeface="Times New Roman" pitchFamily="18" charset="0"/>
              </a:rPr>
              <a:t>ốm</a:t>
            </a:r>
            <a:r>
              <a:rPr lang="vi-VN" altLang="zh-CN" sz="1000" dirty="0" smtClean="0">
                <a:latin typeface="Times New Roman" pitchFamily="18" charset="0"/>
                <a:ea typeface="微软雅黑" pitchFamily="34" charset="-122"/>
                <a:cs typeface="Times New Roman" pitchFamily="18" charset="0"/>
              </a:rPr>
              <a:t> sẽ</a:t>
            </a:r>
            <a:r>
              <a:rPr lang="en-US" altLang="zh-CN" sz="1000" dirty="0" smtClean="0">
                <a:latin typeface="Times New Roman" pitchFamily="18" charset="0"/>
                <a:ea typeface="微软雅黑" pitchFamily="34" charset="-122"/>
                <a:cs typeface="Times New Roman" pitchFamily="18" charset="0"/>
              </a:rPr>
              <a:t> hiển thị</a:t>
            </a:r>
            <a:r>
              <a:rPr lang="vi-VN" altLang="zh-CN" sz="1000" dirty="0" smtClean="0">
                <a:latin typeface="Times New Roman" pitchFamily="18" charset="0"/>
                <a:ea typeface="微软雅黑" pitchFamily="34" charset="-122"/>
                <a:cs typeface="Times New Roman" pitchFamily="18" charset="0"/>
              </a:rPr>
              <a:t> nhắc nhở </a:t>
            </a:r>
            <a:r>
              <a:rPr lang="en-US" altLang="zh-CN" sz="1000" dirty="0" smtClean="0">
                <a:latin typeface="Times New Roman" pitchFamily="18" charset="0"/>
                <a:ea typeface="微软雅黑" pitchFamily="34" charset="-122"/>
                <a:cs typeface="Times New Roman" pitchFamily="18" charset="0"/>
              </a:rPr>
              <a:t>tại trang chủ HUB</a:t>
            </a:r>
            <a:r>
              <a:rPr lang="vi-VN" altLang="zh-CN" sz="1000" dirty="0" smtClean="0">
                <a:latin typeface="Times New Roman" pitchFamily="18" charset="0"/>
                <a:ea typeface="微软雅黑" pitchFamily="34" charset="-122"/>
                <a:cs typeface="Times New Roman" pitchFamily="18" charset="0"/>
              </a:rPr>
              <a:t>, nếu như </a:t>
            </a:r>
            <a:r>
              <a:rPr lang="en-US" altLang="zh-CN" sz="1000" dirty="0" smtClean="0">
                <a:latin typeface="Times New Roman" pitchFamily="18" charset="0"/>
                <a:ea typeface="微软雅黑" pitchFamily="34" charset="-122"/>
                <a:cs typeface="Times New Roman" pitchFamily="18" charset="0"/>
              </a:rPr>
              <a:t>nhân viên</a:t>
            </a:r>
            <a:r>
              <a:rPr lang="vi-VN" altLang="zh-CN" sz="1000" dirty="0" smtClean="0">
                <a:latin typeface="Times New Roman" pitchFamily="18" charset="0"/>
                <a:ea typeface="微软雅黑" pitchFamily="34" charset="-122"/>
                <a:cs typeface="Times New Roman" pitchFamily="18" charset="0"/>
              </a:rPr>
              <a:t> nhân sự nhận được giấy chứng nhận</a:t>
            </a:r>
            <a:r>
              <a:rPr lang="en-US" altLang="zh-CN" sz="1000" dirty="0" smtClean="0">
                <a:latin typeface="Times New Roman" pitchFamily="18" charset="0"/>
                <a:ea typeface="微软雅黑" pitchFamily="34" charset="-122"/>
                <a:cs typeface="Times New Roman" pitchFamily="18" charset="0"/>
              </a:rPr>
              <a:t> khám</a:t>
            </a:r>
            <a:r>
              <a:rPr lang="vi-VN" altLang="zh-CN" sz="1000" dirty="0" smtClean="0">
                <a:latin typeface="Times New Roman" pitchFamily="18" charset="0"/>
                <a:ea typeface="微软雅黑" pitchFamily="34" charset="-122"/>
                <a:cs typeface="Times New Roman" pitchFamily="18" charset="0"/>
              </a:rPr>
              <a:t> bệnh của nhân viên</a:t>
            </a:r>
            <a:r>
              <a:rPr lang="en-US" altLang="zh-CN" sz="1000" dirty="0" smtClean="0">
                <a:latin typeface="Times New Roman" pitchFamily="18" charset="0"/>
                <a:ea typeface="微软雅黑" pitchFamily="34" charset="-122"/>
                <a:cs typeface="Times New Roman" pitchFamily="18" charset="0"/>
              </a:rPr>
              <a:t>,</a:t>
            </a:r>
            <a:r>
              <a:rPr lang="vi-VN" altLang="zh-CN" sz="1000" dirty="0" smtClean="0">
                <a:latin typeface="Times New Roman" pitchFamily="18" charset="0"/>
                <a:ea typeface="微软雅黑" pitchFamily="34" charset="-122"/>
                <a:cs typeface="Times New Roman" pitchFamily="18" charset="0"/>
              </a:rPr>
              <a:t> </a:t>
            </a:r>
            <a:r>
              <a:rPr lang="en-US" altLang="zh-CN" sz="1000" dirty="0" smtClean="0">
                <a:latin typeface="Times New Roman" pitchFamily="18" charset="0"/>
                <a:ea typeface="微软雅黑" pitchFamily="34" charset="-122"/>
                <a:cs typeface="Times New Roman" pitchFamily="18" charset="0"/>
              </a:rPr>
              <a:t>chọn </a:t>
            </a:r>
            <a:r>
              <a:rPr lang="vi-VN" altLang="zh-CN" sz="1000" dirty="0" smtClean="0">
                <a:latin typeface="Times New Roman" pitchFamily="18" charset="0"/>
                <a:ea typeface="微软雅黑" pitchFamily="34" charset="-122"/>
                <a:cs typeface="Times New Roman" pitchFamily="18" charset="0"/>
              </a:rPr>
              <a:t>‘Đã nộp</a:t>
            </a:r>
            <a:r>
              <a:rPr lang="en-US" altLang="zh-CN" sz="1000" dirty="0" smtClean="0">
                <a:latin typeface="Times New Roman" pitchFamily="18" charset="0"/>
                <a:ea typeface="微软雅黑" pitchFamily="34" charset="-122"/>
                <a:cs typeface="Times New Roman" pitchFamily="18" charset="0"/>
              </a:rPr>
              <a:t>” để</a:t>
            </a:r>
            <a:r>
              <a:rPr lang="vi-VN" altLang="zh-CN" sz="1000" dirty="0" smtClean="0">
                <a:latin typeface="Times New Roman" pitchFamily="18" charset="0"/>
                <a:ea typeface="微软雅黑" pitchFamily="34" charset="-122"/>
                <a:cs typeface="Times New Roman" pitchFamily="18" charset="0"/>
              </a:rPr>
              <a:t> hệ thống sẽ không hiển thị nhắc nhở nữa. Nếu không </a:t>
            </a:r>
            <a:r>
              <a:rPr lang="en-US" altLang="zh-CN" sz="1000" dirty="0">
                <a:latin typeface="Times New Roman" pitchFamily="18" charset="0"/>
                <a:ea typeface="微软雅黑" pitchFamily="34" charset="-122"/>
                <a:cs typeface="Times New Roman" pitchFamily="18" charset="0"/>
              </a:rPr>
              <a:t>c</a:t>
            </a:r>
            <a:r>
              <a:rPr lang="vi-VN" altLang="zh-CN" sz="1000" dirty="0" smtClean="0">
                <a:latin typeface="Times New Roman" pitchFamily="18" charset="0"/>
                <a:ea typeface="微软雅黑" pitchFamily="34" charset="-122"/>
                <a:cs typeface="Times New Roman" pitchFamily="18" charset="0"/>
              </a:rPr>
              <a:t>lick </a:t>
            </a:r>
            <a:r>
              <a:rPr lang="vi-VN" altLang="zh-CN" sz="1000" dirty="0">
                <a:latin typeface="Times New Roman" pitchFamily="18" charset="0"/>
                <a:ea typeface="微软雅黑" pitchFamily="34" charset="-122"/>
                <a:cs typeface="Times New Roman" pitchFamily="18" charset="0"/>
              </a:rPr>
              <a:t>vào nút ‘Đã </a:t>
            </a:r>
            <a:r>
              <a:rPr lang="vi-VN" altLang="zh-CN" sz="1000" dirty="0" smtClean="0">
                <a:latin typeface="Times New Roman" pitchFamily="18" charset="0"/>
                <a:ea typeface="微软雅黑" pitchFamily="34" charset="-122"/>
                <a:cs typeface="Times New Roman" pitchFamily="18" charset="0"/>
              </a:rPr>
              <a:t>nộp</a:t>
            </a:r>
            <a:r>
              <a:rPr lang="en-US" altLang="zh-CN" sz="1000" dirty="0" smtClean="0">
                <a:latin typeface="Times New Roman" pitchFamily="18" charset="0"/>
                <a:ea typeface="微软雅黑" pitchFamily="34" charset="-122"/>
                <a:cs typeface="Times New Roman" pitchFamily="18" charset="0"/>
              </a:rPr>
              <a:t>” </a:t>
            </a:r>
            <a:r>
              <a:rPr lang="vi-VN" altLang="zh-CN" sz="1000" dirty="0" smtClean="0">
                <a:latin typeface="Times New Roman" pitchFamily="18" charset="0"/>
                <a:ea typeface="微软雅黑" pitchFamily="34" charset="-122"/>
                <a:cs typeface="Times New Roman" pitchFamily="18" charset="0"/>
              </a:rPr>
              <a:t> hệ thống sẽ vẫn hiển thị nhắc nhở thông tin đó.</a:t>
            </a:r>
            <a:endParaRPr lang="en-US" altLang="zh-CN" sz="1000" dirty="0" smtClean="0">
              <a:latin typeface="Times New Roman" pitchFamily="18" charset="0"/>
              <a:ea typeface="微软雅黑" pitchFamily="34" charset="-122"/>
              <a:cs typeface="Times New Roman" pitchFamily="18" charset="0"/>
            </a:endParaRPr>
          </a:p>
          <a:p>
            <a:pPr algn="l">
              <a:spcBef>
                <a:spcPct val="50000"/>
              </a:spcBef>
            </a:pPr>
            <a:endParaRPr lang="en-US" altLang="zh-CN" sz="1000" dirty="0" smtClean="0">
              <a:latin typeface="+mj-lt"/>
              <a:ea typeface="微软雅黑" pitchFamily="34" charset="-122"/>
            </a:endParaRPr>
          </a:p>
        </p:txBody>
      </p:sp>
      <p:pic>
        <p:nvPicPr>
          <p:cNvPr id="3" name="Picture 2"/>
          <p:cNvPicPr>
            <a:picLocks noChangeAspect="1"/>
          </p:cNvPicPr>
          <p:nvPr/>
        </p:nvPicPr>
        <p:blipFill>
          <a:blip r:embed="rId3"/>
          <a:stretch>
            <a:fillRect/>
          </a:stretch>
        </p:blipFill>
        <p:spPr>
          <a:xfrm>
            <a:off x="-55645" y="1412776"/>
            <a:ext cx="6812905" cy="374139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vi-VN" altLang="zh-CN" sz="1200" dirty="0" smtClean="0">
                <a:latin typeface="Times New Roman" pitchFamily="18" charset="0"/>
                <a:ea typeface="微软雅黑" pitchFamily="34" charset="-122"/>
                <a:cs typeface="Times New Roman" pitchFamily="18" charset="0"/>
              </a:rPr>
              <a:t>C</a:t>
            </a:r>
            <a:r>
              <a:rPr lang="en-US" altLang="zh-CN" sz="1200" dirty="0" smtClean="0">
                <a:latin typeface="Times New Roman" pitchFamily="18" charset="0"/>
                <a:ea typeface="微软雅黑" pitchFamily="34" charset="-122"/>
                <a:cs typeface="Times New Roman" pitchFamily="18" charset="0"/>
              </a:rPr>
              <a:t>hấm công – Chi tiết nghỉ phép</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071702" cy="3046988"/>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en-US" altLang="zh-CN" sz="1000" dirty="0" smtClean="0">
                <a:latin typeface="Times New Roman" panose="02020603050405020304" pitchFamily="18" charset="0"/>
                <a:ea typeface="微软雅黑" pitchFamily="34" charset="-122"/>
                <a:cs typeface="Times New Roman" panose="02020603050405020304" pitchFamily="18" charset="0"/>
              </a:rPr>
              <a:t>Tra cứu thông tin nghỉ phép cá nhân</a:t>
            </a: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Tra cứu tất cả các lần xin nghỉ</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Nghỉ phép chưa được nhân sự xác nhận có thể “Hủy bỏ” </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Chọn dữ liệu màu xanh hiển thị khung thông tin về ngày nghỉ phép đó</a:t>
            </a:r>
            <a:endParaRPr lang="en-US" altLang="zh-CN" sz="1000" dirty="0">
              <a:latin typeface="Times New Roman" pitchFamily="18" charset="0"/>
              <a:ea typeface="微软雅黑" pitchFamily="34" charset="-122"/>
              <a:cs typeface="Times New Roman" pitchFamily="18" charset="0"/>
            </a:endParaRPr>
          </a:p>
          <a:p>
            <a:pPr algn="l"/>
            <a:r>
              <a:rPr lang="en-US" altLang="zh-CN" sz="1100" dirty="0" smtClean="0">
                <a:latin typeface="+mj-lt"/>
                <a:ea typeface="微软雅黑" pitchFamily="34" charset="-122"/>
              </a:rPr>
              <a:t>--</a:t>
            </a:r>
            <a:r>
              <a:rPr lang="en-US" altLang="zh-CN" sz="1100" dirty="0" smtClean="0">
                <a:latin typeface="Times New Roman" panose="02020603050405020304" pitchFamily="18" charset="0"/>
                <a:ea typeface="微软雅黑" pitchFamily="34" charset="-122"/>
                <a:cs typeface="Times New Roman" panose="02020603050405020304" pitchFamily="18" charset="0"/>
              </a:rPr>
              <a:t>Trong khung hiển ra, chọn “In” để in ra đơn nghỉ phép này</a:t>
            </a: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35945" y="1222429"/>
            <a:ext cx="6750633" cy="3729963"/>
          </a:xfrm>
          <a:prstGeom prst="rect">
            <a:avLst/>
          </a:prstGeom>
        </p:spPr>
      </p:pic>
      <p:pic>
        <p:nvPicPr>
          <p:cNvPr id="4" name="Picture 3"/>
          <p:cNvPicPr>
            <a:picLocks noChangeAspect="1"/>
          </p:cNvPicPr>
          <p:nvPr/>
        </p:nvPicPr>
        <p:blipFill>
          <a:blip r:embed="rId3"/>
          <a:stretch>
            <a:fillRect/>
          </a:stretch>
        </p:blipFill>
        <p:spPr>
          <a:xfrm>
            <a:off x="764217" y="3057258"/>
            <a:ext cx="5294090" cy="3159854"/>
          </a:xfrm>
          <a:prstGeom prst="rect">
            <a:avLst/>
          </a:prstGeom>
        </p:spPr>
      </p:pic>
      <p:sp>
        <p:nvSpPr>
          <p:cNvPr id="5" name="Flowchart: Process 4"/>
          <p:cNvSpPr/>
          <p:nvPr/>
        </p:nvSpPr>
        <p:spPr>
          <a:xfrm>
            <a:off x="764217" y="2348880"/>
            <a:ext cx="423407"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5" idx="2"/>
            <a:endCxn id="4" idx="0"/>
          </p:cNvCxnSpPr>
          <p:nvPr/>
        </p:nvCxnSpPr>
        <p:spPr>
          <a:xfrm rot="16200000" flipH="1">
            <a:off x="1911410" y="1557406"/>
            <a:ext cx="564362" cy="243534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Xin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385542"/>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vi-VN" altLang="zh-CN" sz="1000" dirty="0" smtClean="0">
                <a:latin typeface="+mj-lt"/>
                <a:ea typeface="微软雅黑" pitchFamily="34" charset="-122"/>
              </a:rPr>
              <a:t>Trang xin tăng ca cá nhân</a:t>
            </a:r>
            <a:endParaRPr lang="en-US" altLang="zh-CN" sz="1000" dirty="0" smtClean="0">
              <a:latin typeface="+mj-lt"/>
              <a:ea typeface="微软雅黑" pitchFamily="34" charset="-122"/>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Chọn ngày tăng ca, thời gian tăng ca, hệ thống tự động tính ra thời lượng tăng ca hôm đó.</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Chọn “Xin phép”, dữ liệu xin tăng ca sẽ chuyển đến trang người duyệt chờ phê duyệt</a:t>
            </a:r>
            <a:endParaRPr lang="en-US" altLang="zh-CN" sz="1000" dirty="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800" dirty="0" smtClean="0">
              <a:latin typeface="+mj-lt"/>
              <a:ea typeface="微软雅黑" pitchFamily="34" charset="-122"/>
            </a:endParaRPr>
          </a:p>
          <a:p>
            <a:pPr marL="228600" indent="-228600" algn="l">
              <a:spcBef>
                <a:spcPct val="50000"/>
              </a:spcBef>
              <a:buFont typeface="+mj-lt"/>
              <a:buAutoNum type="arabicPeriod" startAt="3"/>
            </a:pPr>
            <a:endParaRPr lang="en-US" altLang="zh-CN" sz="800" dirty="0" smtClean="0">
              <a:latin typeface="+mj-lt"/>
              <a:ea typeface="微软雅黑" pitchFamily="34" charset="-122"/>
            </a:endParaRPr>
          </a:p>
          <a:p>
            <a:pPr marL="228600" indent="-228600" algn="l">
              <a:spcBef>
                <a:spcPct val="50000"/>
              </a:spcBef>
              <a:buFont typeface="+mj-lt"/>
              <a:buAutoNum type="arabicPeriod" startAt="3"/>
            </a:pPr>
            <a:endParaRPr lang="en-US" altLang="zh-CN" sz="800" dirty="0" smtClean="0">
              <a:latin typeface="+mj-lt"/>
              <a:ea typeface="微软雅黑" pitchFamily="34" charset="-122"/>
            </a:endParaRPr>
          </a:p>
          <a:p>
            <a:pPr marL="228600" indent="-228600" algn="l">
              <a:spcBef>
                <a:spcPct val="50000"/>
              </a:spcBef>
            </a:pPr>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en-US" altLang="zh-CN" sz="800" dirty="0" smtClean="0">
              <a:latin typeface="+mj-lt"/>
              <a:ea typeface="微软雅黑" pitchFamily="34" charset="-122"/>
            </a:endParaRPr>
          </a:p>
          <a:p>
            <a:pPr algn="l"/>
            <a:endParaRPr lang="zh-CN" altLang="en-US" sz="8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0" y="1124744"/>
            <a:ext cx="6786578" cy="346325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a:t>
            </a:r>
            <a:r>
              <a:rPr lang="vi-VN" altLang="zh-CN" sz="1200" dirty="0" smtClean="0">
                <a:latin typeface="Times New Roman" pitchFamily="18" charset="0"/>
                <a:ea typeface="微软雅黑" pitchFamily="34" charset="-122"/>
                <a:cs typeface="Times New Roman" pitchFamily="18" charset="0"/>
              </a:rPr>
              <a:t>Chi tiết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5339923"/>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Trang tra cứu </a:t>
            </a:r>
            <a:r>
              <a:rPr lang="en-US" altLang="zh-CN" sz="1100" dirty="0" smtClean="0">
                <a:latin typeface="+mj-lt"/>
                <a:ea typeface="微软雅黑" pitchFamily="34" charset="-122"/>
              </a:rPr>
              <a:t>các </a:t>
            </a:r>
            <a:r>
              <a:rPr lang="en-US" altLang="zh-CN" sz="1100" dirty="0" smtClean="0">
                <a:latin typeface="Times New Roman" panose="02020603050405020304" pitchFamily="18" charset="0"/>
                <a:ea typeface="微软雅黑" pitchFamily="34" charset="-122"/>
                <a:cs typeface="Times New Roman" panose="02020603050405020304" pitchFamily="18" charset="0"/>
              </a:rPr>
              <a:t>lần xin tăng ca của bản thân</a:t>
            </a:r>
            <a:r>
              <a:rPr lang="vi-VN" altLang="zh-CN" sz="1100" dirty="0" smtClean="0">
                <a:latin typeface="+mj-lt"/>
                <a:ea typeface="微软雅黑" pitchFamily="34" charset="-122"/>
              </a:rPr>
              <a:t>.</a:t>
            </a:r>
            <a:endParaRPr lang="en-US" altLang="zh-CN" sz="1100" dirty="0" smtClean="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khoảng thời gian cần tra cứu -&gt; “Tra cứu”, hệ thống hiển thị các dữ liệu tăng ca cá nhân.</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thông tin màu xanh để xem chi tiết tăng ca và quy trình phê duyệt</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Có thể “Hủy bỏ” tăng ca bằng cách tích chọn 1 dữ liệu -&gt; “Hủy bỏ”</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“Xin tăng ca” để chuyển sang trang Xin tăng ca</a:t>
            </a:r>
          </a:p>
          <a:p>
            <a:pPr algn="l">
              <a:spcBef>
                <a:spcPct val="50000"/>
              </a:spcBef>
            </a:pPr>
            <a:endParaRPr lang="en-US" altLang="zh-CN" sz="1100" dirty="0" smtClean="0">
              <a:latin typeface="+mj-lt"/>
              <a:ea typeface="微软雅黑" pitchFamily="34" charset="-122"/>
            </a:endParaRPr>
          </a:p>
          <a:p>
            <a:pPr marL="228600" indent="-228600" algn="l">
              <a:spcBef>
                <a:spcPct val="50000"/>
              </a:spcBef>
              <a:buFont typeface="+mj-lt"/>
              <a:buAutoNum type="arabicPeriod" startAt="4"/>
            </a:pPr>
            <a:endParaRPr lang="en-US" altLang="zh-CN" sz="1100" dirty="0" smtClean="0">
              <a:latin typeface="+mj-lt"/>
              <a:ea typeface="微软雅黑" pitchFamily="34" charset="-122"/>
            </a:endParaRPr>
          </a:p>
          <a:p>
            <a:pPr marL="228600" indent="-228600" algn="l">
              <a:spcBef>
                <a:spcPct val="50000"/>
              </a:spcBef>
              <a:buFont typeface="+mj-lt"/>
              <a:buAutoNum type="arabicPeriod" startAt="4"/>
            </a:pPr>
            <a:endParaRPr lang="en-US" altLang="zh-CN" sz="1100" dirty="0" smtClean="0">
              <a:latin typeface="+mj-lt"/>
              <a:ea typeface="微软雅黑" pitchFamily="34" charset="-122"/>
            </a:endParaRPr>
          </a:p>
          <a:p>
            <a:pPr marL="228600" indent="-228600" algn="l">
              <a:spcBef>
                <a:spcPct val="50000"/>
              </a:spcBef>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0" y="1184556"/>
            <a:ext cx="6786578" cy="3793959"/>
          </a:xfrm>
          <a:prstGeom prst="rect">
            <a:avLst/>
          </a:prstGeom>
        </p:spPr>
      </p:pic>
      <p:pic>
        <p:nvPicPr>
          <p:cNvPr id="4" name="Picture 3"/>
          <p:cNvPicPr>
            <a:picLocks noChangeAspect="1"/>
          </p:cNvPicPr>
          <p:nvPr/>
        </p:nvPicPr>
        <p:blipFill>
          <a:blip r:embed="rId3"/>
          <a:stretch>
            <a:fillRect/>
          </a:stretch>
        </p:blipFill>
        <p:spPr>
          <a:xfrm>
            <a:off x="704026" y="3081535"/>
            <a:ext cx="5423557" cy="3156184"/>
          </a:xfrm>
          <a:prstGeom prst="rect">
            <a:avLst/>
          </a:prstGeom>
        </p:spPr>
      </p:pic>
      <p:sp>
        <p:nvSpPr>
          <p:cNvPr id="5" name="Rectangle 4"/>
          <p:cNvSpPr/>
          <p:nvPr/>
        </p:nvSpPr>
        <p:spPr>
          <a:xfrm>
            <a:off x="971600" y="2420888"/>
            <a:ext cx="50405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8" name="Elbow Connector 7"/>
          <p:cNvCxnSpPr>
            <a:endCxn id="4" idx="0"/>
          </p:cNvCxnSpPr>
          <p:nvPr/>
        </p:nvCxnSpPr>
        <p:spPr>
          <a:xfrm>
            <a:off x="1187624" y="2614065"/>
            <a:ext cx="2228181" cy="467470"/>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Nghỉ bất thường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632037"/>
          </a:xfrm>
          <a:prstGeom prst="rect">
            <a:avLst/>
          </a:prstGeom>
          <a:noFill/>
        </p:spPr>
        <p:txBody>
          <a:bodyPr wrap="square" rtlCol="0">
            <a:spAutoFit/>
          </a:bodyPr>
          <a:lstStyle/>
          <a:p>
            <a:pPr algn="l">
              <a:spcBef>
                <a:spcPct val="50000"/>
              </a:spcBef>
            </a:pPr>
            <a:r>
              <a:rPr lang="vi-VN" altLang="zh-CN" sz="1000" b="1" dirty="0" smtClean="0">
                <a:latin typeface="Times New Roman" pitchFamily="18" charset="0"/>
                <a:ea typeface="微软雅黑" pitchFamily="34" charset="-122"/>
                <a:cs typeface="Times New Roman" pitchFamily="18" charset="0"/>
              </a:rPr>
              <a:t>Công dụng</a:t>
            </a:r>
            <a:r>
              <a:rPr lang="zh-CN" altLang="en-US" sz="1000" b="1" dirty="0" smtClean="0">
                <a:latin typeface="Times New Roman" pitchFamily="18" charset="0"/>
                <a:ea typeface="微软雅黑" pitchFamily="34" charset="-122"/>
                <a:cs typeface="Times New Roman" pitchFamily="18" charset="0"/>
              </a:rPr>
              <a:t>：</a:t>
            </a:r>
            <a:endParaRPr lang="en-US" altLang="zh-CN" sz="1000" b="1" dirty="0" smtClean="0">
              <a:latin typeface="Times New Roman" pitchFamily="18" charset="0"/>
              <a:ea typeface="微软雅黑" pitchFamily="34" charset="-122"/>
              <a:cs typeface="Times New Roman" pitchFamily="18" charset="0"/>
            </a:endParaRPr>
          </a:p>
          <a:p>
            <a:pPr algn="l">
              <a:spcBef>
                <a:spcPct val="50000"/>
              </a:spcBef>
            </a:pPr>
            <a:r>
              <a:rPr lang="en-US" altLang="zh-CN" sz="1000" dirty="0" smtClean="0">
                <a:latin typeface="Times New Roman" pitchFamily="18" charset="0"/>
                <a:ea typeface="微软雅黑" pitchFamily="34" charset="-122"/>
                <a:cs typeface="Times New Roman" pitchFamily="18" charset="0"/>
              </a:rPr>
              <a:t>Xin xác nhận chấm công bất thường như : đến muộn, về sớm, nghỉ không phép có lý do chính đáng. Bên dưới tự động hiển thị các loại nghỉ bất thường dựa theo dữ liệu từ máy chấm công</a:t>
            </a:r>
          </a:p>
          <a:p>
            <a:pPr algn="l">
              <a:spcBef>
                <a:spcPct val="50000"/>
              </a:spcBef>
            </a:pPr>
            <a:r>
              <a:rPr lang="vi-VN" altLang="zh-CN" sz="1000" b="1" dirty="0" smtClean="0">
                <a:latin typeface="Times New Roman" pitchFamily="18" charset="0"/>
                <a:ea typeface="微软雅黑" pitchFamily="34" charset="-122"/>
                <a:cs typeface="Times New Roman" pitchFamily="18" charset="0"/>
              </a:rPr>
              <a:t>Giải thích chi tiết</a:t>
            </a:r>
            <a:r>
              <a:rPr lang="zh-CN" altLang="en-US" sz="1000" dirty="0" smtClean="0">
                <a:latin typeface="Times New Roman" pitchFamily="18" charset="0"/>
                <a:ea typeface="微软雅黑" pitchFamily="34" charset="-122"/>
                <a:cs typeface="Times New Roman" pitchFamily="18" charset="0"/>
              </a:rPr>
              <a:t>：</a:t>
            </a:r>
            <a:endParaRPr lang="en-US" altLang="zh-CN" sz="10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Hệ thống tự động hiển thị các loại nghỉ bất thường trong tháng đang làm việc. Người dùng có thể chọn khoảng thời gian để tra cứu thông tin nghỉ bất thường của bản thân</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Muốn xin xác nhận nghỉ bất thường, tích chọn vào 1 ngày cần xác nhận, ghi lý do, sau đó “Xin phép” chờ người duyệt xác nhận</a:t>
            </a:r>
          </a:p>
          <a:p>
            <a:pPr marL="228600" indent="-228600" algn="l">
              <a:spcBef>
                <a:spcPct val="50000"/>
              </a:spcBef>
              <a:buFont typeface="+mj-lt"/>
              <a:buAutoNum type="arabicPeriod"/>
            </a:pPr>
            <a:endParaRPr lang="en-US" altLang="zh-CN" sz="1000" dirty="0" smtClean="0">
              <a:latin typeface="Times New Roman" pitchFamily="18" charset="0"/>
              <a:ea typeface="微软雅黑" pitchFamily="34" charset="-122"/>
              <a:cs typeface="Times New Roman" pitchFamily="18" charset="0"/>
            </a:endParaRPr>
          </a:p>
          <a:p>
            <a:pPr algn="l">
              <a:spcBef>
                <a:spcPct val="50000"/>
              </a:spcBef>
            </a:pPr>
            <a:endParaRPr lang="en-US" altLang="zh-CN" sz="1000" dirty="0" smtClean="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80" name="Rectangle 978"/>
          <p:cNvSpPr>
            <a:spLocks noChangeArrowheads="1"/>
          </p:cNvSpPr>
          <p:nvPr/>
        </p:nvSpPr>
        <p:spPr bwMode="auto">
          <a:xfrm>
            <a:off x="3931065" y="3286124"/>
            <a:ext cx="215900" cy="141287"/>
          </a:xfrm>
          <a:prstGeom prst="rect">
            <a:avLst/>
          </a:prstGeom>
          <a:noFill/>
          <a:ln w="3175">
            <a:solidFill>
              <a:schemeClr val="tx1"/>
            </a:solidFill>
            <a:miter lim="800000"/>
            <a:headEnd/>
            <a:tailEnd/>
          </a:ln>
          <a:effectLst/>
        </p:spPr>
        <p:txBody>
          <a:bodyPr wrap="none" anchor="ctr"/>
          <a:lstStyle/>
          <a:p>
            <a:pPr algn="ctr"/>
            <a:endParaRPr lang="zh-CN" altLang="en-US" sz="1200" dirty="0">
              <a:ea typeface="微软雅黑" pitchFamily="34" charset="-122"/>
            </a:endParaRPr>
          </a:p>
        </p:txBody>
      </p:sp>
      <p:sp>
        <p:nvSpPr>
          <p:cNvPr id="81" name="Rectangle 979"/>
          <p:cNvSpPr>
            <a:spLocks noChangeArrowheads="1"/>
          </p:cNvSpPr>
          <p:nvPr/>
        </p:nvSpPr>
        <p:spPr bwMode="auto">
          <a:xfrm>
            <a:off x="3644224" y="3929066"/>
            <a:ext cx="503237" cy="142875"/>
          </a:xfrm>
          <a:prstGeom prst="rect">
            <a:avLst/>
          </a:prstGeom>
          <a:noFill/>
          <a:ln w="3175">
            <a:solidFill>
              <a:schemeClr val="tx1"/>
            </a:solidFill>
            <a:miter lim="800000"/>
            <a:headEnd/>
            <a:tailEnd/>
          </a:ln>
          <a:effectLst/>
        </p:spPr>
        <p:txBody>
          <a:bodyPr wrap="none" anchor="ctr"/>
          <a:lstStyle/>
          <a:p>
            <a:pPr algn="ctr"/>
            <a:r>
              <a:rPr lang="en-US" altLang="zh-CN" sz="800" dirty="0" smtClean="0">
                <a:ea typeface="微软雅黑" pitchFamily="34" charset="-122"/>
              </a:rPr>
              <a:t>2013-05-5</a:t>
            </a:r>
            <a:endParaRPr lang="en-US" altLang="zh-CN" sz="800" dirty="0">
              <a:ea typeface="微软雅黑" pitchFamily="34" charset="-122"/>
            </a:endParaRPr>
          </a:p>
        </p:txBody>
      </p:sp>
      <p:sp>
        <p:nvSpPr>
          <p:cNvPr id="82" name="Rectangle 980"/>
          <p:cNvSpPr>
            <a:spLocks noChangeArrowheads="1"/>
          </p:cNvSpPr>
          <p:nvPr/>
        </p:nvSpPr>
        <p:spPr bwMode="auto">
          <a:xfrm>
            <a:off x="3644224" y="4144966"/>
            <a:ext cx="503237" cy="142875"/>
          </a:xfrm>
          <a:prstGeom prst="rect">
            <a:avLst/>
          </a:prstGeom>
          <a:noFill/>
          <a:ln w="3175">
            <a:solidFill>
              <a:schemeClr val="tx1"/>
            </a:solidFill>
            <a:miter lim="800000"/>
            <a:headEnd/>
            <a:tailEnd/>
          </a:ln>
          <a:effectLst/>
        </p:spPr>
        <p:txBody>
          <a:bodyPr wrap="none" anchor="ctr"/>
          <a:lstStyle/>
          <a:p>
            <a:pPr algn="ctr"/>
            <a:r>
              <a:rPr lang="en-US" altLang="zh-CN" sz="800" dirty="0" smtClean="0">
                <a:ea typeface="微软雅黑" pitchFamily="34" charset="-122"/>
              </a:rPr>
              <a:t>2013-05-5</a:t>
            </a:r>
            <a:endParaRPr lang="en-US" altLang="zh-CN" sz="800" dirty="0">
              <a:ea typeface="微软雅黑" pitchFamily="34" charset="-122"/>
            </a:endParaRPr>
          </a:p>
        </p:txBody>
      </p:sp>
      <p:sp>
        <p:nvSpPr>
          <p:cNvPr id="83" name="Rectangle 981"/>
          <p:cNvSpPr>
            <a:spLocks noChangeArrowheads="1"/>
          </p:cNvSpPr>
          <p:nvPr/>
        </p:nvSpPr>
        <p:spPr bwMode="auto">
          <a:xfrm>
            <a:off x="3643306" y="4432304"/>
            <a:ext cx="503237" cy="142875"/>
          </a:xfrm>
          <a:prstGeom prst="rect">
            <a:avLst/>
          </a:prstGeom>
          <a:noFill/>
          <a:ln w="3175">
            <a:solidFill>
              <a:schemeClr val="tx1"/>
            </a:solidFill>
            <a:miter lim="800000"/>
            <a:headEnd/>
            <a:tailEnd/>
          </a:ln>
          <a:effectLst/>
        </p:spPr>
        <p:txBody>
          <a:bodyPr wrap="none" anchor="ctr"/>
          <a:lstStyle/>
          <a:p>
            <a:pPr algn="ctr"/>
            <a:r>
              <a:rPr lang="en-US" altLang="zh-CN" sz="800" dirty="0" smtClean="0">
                <a:ea typeface="微软雅黑" pitchFamily="34" charset="-122"/>
              </a:rPr>
              <a:t>2013-05-5</a:t>
            </a:r>
            <a:endParaRPr lang="en-US" altLang="zh-CN" sz="800" dirty="0">
              <a:ea typeface="微软雅黑" pitchFamily="34" charset="-122"/>
            </a:endParaRPr>
          </a:p>
        </p:txBody>
      </p:sp>
      <p:sp>
        <p:nvSpPr>
          <p:cNvPr id="84" name="Rectangle 982"/>
          <p:cNvSpPr>
            <a:spLocks noChangeArrowheads="1"/>
          </p:cNvSpPr>
          <p:nvPr/>
        </p:nvSpPr>
        <p:spPr bwMode="auto">
          <a:xfrm>
            <a:off x="3644224" y="4648204"/>
            <a:ext cx="503237" cy="142875"/>
          </a:xfrm>
          <a:prstGeom prst="rect">
            <a:avLst/>
          </a:prstGeom>
          <a:noFill/>
          <a:ln w="3175">
            <a:solidFill>
              <a:schemeClr val="tx1"/>
            </a:solidFill>
            <a:miter lim="800000"/>
            <a:headEnd/>
            <a:tailEnd/>
          </a:ln>
          <a:effectLst/>
        </p:spPr>
        <p:txBody>
          <a:bodyPr wrap="none" anchor="ctr"/>
          <a:lstStyle/>
          <a:p>
            <a:pPr algn="ctr"/>
            <a:r>
              <a:rPr lang="en-US" altLang="zh-CN" sz="800" dirty="0" smtClean="0">
                <a:ea typeface="微软雅黑" pitchFamily="34" charset="-122"/>
              </a:rPr>
              <a:t>2013-05-5</a:t>
            </a:r>
            <a:endParaRPr lang="en-US" altLang="zh-CN" sz="800" dirty="0">
              <a:ea typeface="微软雅黑" pitchFamily="34" charset="-122"/>
            </a:endParaRPr>
          </a:p>
        </p:txBody>
      </p:sp>
      <p:sp>
        <p:nvSpPr>
          <p:cNvPr id="85" name="Rectangle 983"/>
          <p:cNvSpPr>
            <a:spLocks noChangeArrowheads="1"/>
          </p:cNvSpPr>
          <p:nvPr/>
        </p:nvSpPr>
        <p:spPr bwMode="auto">
          <a:xfrm>
            <a:off x="3931065" y="3502024"/>
            <a:ext cx="215900" cy="141287"/>
          </a:xfrm>
          <a:prstGeom prst="rect">
            <a:avLst/>
          </a:prstGeom>
          <a:noFill/>
          <a:ln w="3175">
            <a:solidFill>
              <a:schemeClr val="tx1"/>
            </a:solidFill>
            <a:miter lim="800000"/>
            <a:headEnd/>
            <a:tailEnd/>
          </a:ln>
          <a:effectLst/>
        </p:spPr>
        <p:txBody>
          <a:bodyPr wrap="none" anchor="ctr"/>
          <a:lstStyle/>
          <a:p>
            <a:pPr algn="ctr"/>
            <a:endParaRPr lang="zh-CN" altLang="en-US" sz="1200" dirty="0">
              <a:ea typeface="微软雅黑" pitchFamily="34" charset="-122"/>
            </a:endParaRPr>
          </a:p>
        </p:txBody>
      </p:sp>
      <p:sp>
        <p:nvSpPr>
          <p:cNvPr id="86" name="Rectangle 984"/>
          <p:cNvSpPr>
            <a:spLocks noChangeArrowheads="1"/>
          </p:cNvSpPr>
          <p:nvPr/>
        </p:nvSpPr>
        <p:spPr bwMode="auto">
          <a:xfrm>
            <a:off x="4218403" y="3502024"/>
            <a:ext cx="285750" cy="141287"/>
          </a:xfrm>
          <a:prstGeom prst="rect">
            <a:avLst/>
          </a:prstGeom>
          <a:noFill/>
          <a:ln w="3175">
            <a:solidFill>
              <a:schemeClr val="tx1"/>
            </a:solidFill>
            <a:miter lim="800000"/>
            <a:headEnd/>
            <a:tailEnd/>
          </a:ln>
          <a:effectLst/>
        </p:spPr>
        <p:txBody>
          <a:bodyPr wrap="none" anchor="ctr"/>
          <a:lstStyle/>
          <a:p>
            <a:pPr algn="ctr"/>
            <a:r>
              <a:rPr lang="en-US" altLang="zh-CN" sz="800" dirty="0">
                <a:ea typeface="微软雅黑" pitchFamily="34" charset="-122"/>
              </a:rPr>
              <a:t>00:00</a:t>
            </a:r>
            <a:endParaRPr lang="zh-CN" altLang="en-US" sz="800" dirty="0">
              <a:ea typeface="微软雅黑" pitchFamily="34" charset="-122"/>
            </a:endParaRPr>
          </a:p>
        </p:txBody>
      </p:sp>
      <p:sp>
        <p:nvSpPr>
          <p:cNvPr id="87" name="Rectangle 985"/>
          <p:cNvSpPr>
            <a:spLocks noChangeArrowheads="1"/>
          </p:cNvSpPr>
          <p:nvPr/>
        </p:nvSpPr>
        <p:spPr bwMode="auto">
          <a:xfrm>
            <a:off x="4218403" y="3286124"/>
            <a:ext cx="285750" cy="141287"/>
          </a:xfrm>
          <a:prstGeom prst="rect">
            <a:avLst/>
          </a:prstGeom>
          <a:noFill/>
          <a:ln w="3175">
            <a:solidFill>
              <a:schemeClr val="tx1"/>
            </a:solidFill>
            <a:miter lim="800000"/>
            <a:headEnd/>
            <a:tailEnd/>
          </a:ln>
          <a:effectLst/>
        </p:spPr>
        <p:txBody>
          <a:bodyPr wrap="none" anchor="ctr"/>
          <a:lstStyle/>
          <a:p>
            <a:pPr algn="ctr"/>
            <a:r>
              <a:rPr lang="en-US" altLang="zh-CN" sz="800" dirty="0">
                <a:ea typeface="微软雅黑" pitchFamily="34" charset="-122"/>
              </a:rPr>
              <a:t>00:00</a:t>
            </a:r>
            <a:endParaRPr lang="zh-CN" altLang="en-US" sz="800" dirty="0">
              <a:ea typeface="微软雅黑" pitchFamily="34" charset="-122"/>
            </a:endParaRPr>
          </a:p>
        </p:txBody>
      </p:sp>
      <p:sp>
        <p:nvSpPr>
          <p:cNvPr id="88" name="Rectangle 986"/>
          <p:cNvSpPr>
            <a:spLocks noChangeArrowheads="1"/>
          </p:cNvSpPr>
          <p:nvPr/>
        </p:nvSpPr>
        <p:spPr bwMode="auto">
          <a:xfrm>
            <a:off x="4218899" y="4146554"/>
            <a:ext cx="285750" cy="141287"/>
          </a:xfrm>
          <a:prstGeom prst="rect">
            <a:avLst/>
          </a:prstGeom>
          <a:noFill/>
          <a:ln w="3175">
            <a:solidFill>
              <a:schemeClr val="tx1"/>
            </a:solidFill>
            <a:miter lim="800000"/>
            <a:headEnd/>
            <a:tailEnd/>
          </a:ln>
          <a:effectLst/>
        </p:spPr>
        <p:txBody>
          <a:bodyPr wrap="none" anchor="ctr"/>
          <a:lstStyle/>
          <a:p>
            <a:pPr algn="ctr"/>
            <a:r>
              <a:rPr lang="en-US" altLang="zh-CN" sz="800" dirty="0">
                <a:ea typeface="微软雅黑" pitchFamily="34" charset="-122"/>
              </a:rPr>
              <a:t>18:00</a:t>
            </a:r>
            <a:endParaRPr lang="zh-CN" altLang="en-US" sz="800" dirty="0">
              <a:ea typeface="微软雅黑" pitchFamily="34" charset="-122"/>
            </a:endParaRPr>
          </a:p>
        </p:txBody>
      </p:sp>
      <p:sp>
        <p:nvSpPr>
          <p:cNvPr id="89" name="Rectangle 987"/>
          <p:cNvSpPr>
            <a:spLocks noChangeArrowheads="1"/>
          </p:cNvSpPr>
          <p:nvPr/>
        </p:nvSpPr>
        <p:spPr bwMode="auto">
          <a:xfrm>
            <a:off x="4218899" y="3930654"/>
            <a:ext cx="285750" cy="141287"/>
          </a:xfrm>
          <a:prstGeom prst="rect">
            <a:avLst/>
          </a:prstGeom>
          <a:noFill/>
          <a:ln w="3175">
            <a:solidFill>
              <a:schemeClr val="tx1"/>
            </a:solidFill>
            <a:miter lim="800000"/>
            <a:headEnd/>
            <a:tailEnd/>
          </a:ln>
          <a:effectLst/>
        </p:spPr>
        <p:txBody>
          <a:bodyPr wrap="none" anchor="ctr"/>
          <a:lstStyle/>
          <a:p>
            <a:pPr algn="ctr"/>
            <a:r>
              <a:rPr lang="en-US" altLang="zh-CN" sz="800" dirty="0">
                <a:ea typeface="微软雅黑" pitchFamily="34" charset="-122"/>
              </a:rPr>
              <a:t>09:00</a:t>
            </a:r>
            <a:endParaRPr lang="zh-CN" altLang="en-US" sz="800" dirty="0">
              <a:ea typeface="微软雅黑" pitchFamily="34" charset="-122"/>
            </a:endParaRPr>
          </a:p>
        </p:txBody>
      </p:sp>
      <p:sp>
        <p:nvSpPr>
          <p:cNvPr id="90" name="Rectangle 988"/>
          <p:cNvSpPr>
            <a:spLocks noChangeArrowheads="1"/>
          </p:cNvSpPr>
          <p:nvPr/>
        </p:nvSpPr>
        <p:spPr bwMode="auto">
          <a:xfrm>
            <a:off x="4218899" y="4649791"/>
            <a:ext cx="285750" cy="141288"/>
          </a:xfrm>
          <a:prstGeom prst="rect">
            <a:avLst/>
          </a:prstGeom>
          <a:noFill/>
          <a:ln w="3175">
            <a:solidFill>
              <a:schemeClr val="tx1"/>
            </a:solidFill>
            <a:miter lim="800000"/>
            <a:headEnd/>
            <a:tailEnd/>
          </a:ln>
          <a:effectLst/>
        </p:spPr>
        <p:txBody>
          <a:bodyPr wrap="none" anchor="ctr"/>
          <a:lstStyle/>
          <a:p>
            <a:pPr algn="ctr"/>
            <a:r>
              <a:rPr lang="en-US" altLang="zh-CN" sz="800" dirty="0">
                <a:ea typeface="微软雅黑" pitchFamily="34" charset="-122"/>
              </a:rPr>
              <a:t>18:00</a:t>
            </a:r>
            <a:endParaRPr lang="zh-CN" altLang="en-US" sz="800" dirty="0">
              <a:ea typeface="微软雅黑" pitchFamily="34" charset="-122"/>
            </a:endParaRPr>
          </a:p>
        </p:txBody>
      </p:sp>
      <p:grpSp>
        <p:nvGrpSpPr>
          <p:cNvPr id="91" name="Group 990"/>
          <p:cNvGrpSpPr>
            <a:grpSpLocks/>
          </p:cNvGrpSpPr>
          <p:nvPr/>
        </p:nvGrpSpPr>
        <p:grpSpPr bwMode="auto">
          <a:xfrm>
            <a:off x="4506236" y="3930654"/>
            <a:ext cx="73025" cy="142875"/>
            <a:chOff x="3334" y="935"/>
            <a:chExt cx="226" cy="272"/>
          </a:xfrm>
        </p:grpSpPr>
        <p:sp>
          <p:nvSpPr>
            <p:cNvPr id="92" name="Rectangle 991"/>
            <p:cNvSpPr>
              <a:spLocks noChangeArrowheads="1"/>
            </p:cNvSpPr>
            <p:nvPr/>
          </p:nvSpPr>
          <p:spPr bwMode="auto">
            <a:xfrm>
              <a:off x="3334" y="935"/>
              <a:ext cx="226" cy="272"/>
            </a:xfrm>
            <a:prstGeom prst="rect">
              <a:avLst/>
            </a:prstGeom>
            <a:solidFill>
              <a:srgbClr val="C0C0C0"/>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sp>
          <p:nvSpPr>
            <p:cNvPr id="93" name="AutoShape 992"/>
            <p:cNvSpPr>
              <a:spLocks noChangeArrowheads="1"/>
            </p:cNvSpPr>
            <p:nvPr/>
          </p:nvSpPr>
          <p:spPr bwMode="auto">
            <a:xfrm>
              <a:off x="3379" y="1026"/>
              <a:ext cx="136" cy="91"/>
            </a:xfrm>
            <a:prstGeom prst="flowChartMerge">
              <a:avLst/>
            </a:prstGeom>
            <a:solidFill>
              <a:srgbClr val="969696"/>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grpSp>
      <p:grpSp>
        <p:nvGrpSpPr>
          <p:cNvPr id="94" name="Group 996"/>
          <p:cNvGrpSpPr>
            <a:grpSpLocks/>
          </p:cNvGrpSpPr>
          <p:nvPr/>
        </p:nvGrpSpPr>
        <p:grpSpPr bwMode="auto">
          <a:xfrm>
            <a:off x="4506236" y="4433891"/>
            <a:ext cx="73025" cy="142875"/>
            <a:chOff x="3334" y="935"/>
            <a:chExt cx="226" cy="272"/>
          </a:xfrm>
        </p:grpSpPr>
        <p:sp>
          <p:nvSpPr>
            <p:cNvPr id="95" name="Rectangle 997"/>
            <p:cNvSpPr>
              <a:spLocks noChangeArrowheads="1"/>
            </p:cNvSpPr>
            <p:nvPr/>
          </p:nvSpPr>
          <p:spPr bwMode="auto">
            <a:xfrm>
              <a:off x="3334" y="935"/>
              <a:ext cx="226" cy="272"/>
            </a:xfrm>
            <a:prstGeom prst="rect">
              <a:avLst/>
            </a:prstGeom>
            <a:solidFill>
              <a:srgbClr val="C0C0C0"/>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sp>
          <p:nvSpPr>
            <p:cNvPr id="96" name="AutoShape 998"/>
            <p:cNvSpPr>
              <a:spLocks noChangeArrowheads="1"/>
            </p:cNvSpPr>
            <p:nvPr/>
          </p:nvSpPr>
          <p:spPr bwMode="auto">
            <a:xfrm>
              <a:off x="3379" y="1026"/>
              <a:ext cx="136" cy="91"/>
            </a:xfrm>
            <a:prstGeom prst="flowChartMerge">
              <a:avLst/>
            </a:prstGeom>
            <a:solidFill>
              <a:srgbClr val="969696"/>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grpSp>
      <p:grpSp>
        <p:nvGrpSpPr>
          <p:cNvPr id="97" name="Group 999"/>
          <p:cNvGrpSpPr>
            <a:grpSpLocks/>
          </p:cNvGrpSpPr>
          <p:nvPr/>
        </p:nvGrpSpPr>
        <p:grpSpPr bwMode="auto">
          <a:xfrm>
            <a:off x="4506236" y="4649791"/>
            <a:ext cx="73025" cy="142875"/>
            <a:chOff x="3334" y="935"/>
            <a:chExt cx="226" cy="272"/>
          </a:xfrm>
        </p:grpSpPr>
        <p:sp>
          <p:nvSpPr>
            <p:cNvPr id="98" name="Rectangle 1000"/>
            <p:cNvSpPr>
              <a:spLocks noChangeArrowheads="1"/>
            </p:cNvSpPr>
            <p:nvPr/>
          </p:nvSpPr>
          <p:spPr bwMode="auto">
            <a:xfrm>
              <a:off x="3334" y="935"/>
              <a:ext cx="226" cy="272"/>
            </a:xfrm>
            <a:prstGeom prst="rect">
              <a:avLst/>
            </a:prstGeom>
            <a:solidFill>
              <a:srgbClr val="C0C0C0"/>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sp>
          <p:nvSpPr>
            <p:cNvPr id="99" name="AutoShape 1001"/>
            <p:cNvSpPr>
              <a:spLocks noChangeArrowheads="1"/>
            </p:cNvSpPr>
            <p:nvPr/>
          </p:nvSpPr>
          <p:spPr bwMode="auto">
            <a:xfrm>
              <a:off x="3379" y="1026"/>
              <a:ext cx="136" cy="91"/>
            </a:xfrm>
            <a:prstGeom prst="flowChartMerge">
              <a:avLst/>
            </a:prstGeom>
            <a:solidFill>
              <a:srgbClr val="969696"/>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grpSp>
      <p:pic>
        <p:nvPicPr>
          <p:cNvPr id="100" name="Picture 3" descr="C:\Users\caomx\AppData\Roaming\Tencent\Users\867695629\QQ\WinTemp\RichOle\29DF~OQB]AR]MIOV3[]BVZM.jpg"/>
          <p:cNvPicPr>
            <a:picLocks noChangeAspect="1" noChangeArrowheads="1"/>
          </p:cNvPicPr>
          <p:nvPr/>
        </p:nvPicPr>
        <p:blipFill>
          <a:blip r:embed="rId2" cstate="print"/>
          <a:srcRect/>
          <a:stretch>
            <a:fillRect/>
          </a:stretch>
        </p:blipFill>
        <p:spPr bwMode="auto">
          <a:xfrm>
            <a:off x="1071538" y="3571876"/>
            <a:ext cx="857250" cy="209550"/>
          </a:xfrm>
          <a:prstGeom prst="rect">
            <a:avLst/>
          </a:prstGeom>
          <a:noFill/>
        </p:spPr>
      </p:pic>
      <p:pic>
        <p:nvPicPr>
          <p:cNvPr id="101" name="Picture 1" descr="C:\Users\caomx\AppData\Roaming\Tencent\Users\867695629\QQ\WinTemp\RichOle\6I5RWY{@EPNIW6VQ5RB}IVY.jpg"/>
          <p:cNvPicPr>
            <a:picLocks noChangeAspect="1" noChangeArrowheads="1"/>
          </p:cNvPicPr>
          <p:nvPr/>
        </p:nvPicPr>
        <p:blipFill>
          <a:blip r:embed="rId3" cstate="print"/>
          <a:srcRect/>
          <a:stretch>
            <a:fillRect/>
          </a:stretch>
        </p:blipFill>
        <p:spPr bwMode="auto">
          <a:xfrm>
            <a:off x="6130647" y="2214554"/>
            <a:ext cx="441617" cy="142876"/>
          </a:xfrm>
          <a:prstGeom prst="rect">
            <a:avLst/>
          </a:prstGeom>
          <a:noFill/>
        </p:spPr>
      </p:pic>
      <p:sp>
        <p:nvSpPr>
          <p:cNvPr id="102" name="椭圆 111"/>
          <p:cNvSpPr/>
          <p:nvPr/>
        </p:nvSpPr>
        <p:spPr>
          <a:xfrm>
            <a:off x="4079195" y="307181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
        <p:nvSpPr>
          <p:cNvPr id="103" name="椭圆 112"/>
          <p:cNvSpPr/>
          <p:nvPr/>
        </p:nvSpPr>
        <p:spPr>
          <a:xfrm>
            <a:off x="6143636" y="200024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56" name="Rectangle 989"/>
          <p:cNvSpPr>
            <a:spLocks noChangeArrowheads="1"/>
          </p:cNvSpPr>
          <p:nvPr/>
        </p:nvSpPr>
        <p:spPr bwMode="auto">
          <a:xfrm>
            <a:off x="4218899" y="4433891"/>
            <a:ext cx="285750" cy="141288"/>
          </a:xfrm>
          <a:prstGeom prst="rect">
            <a:avLst/>
          </a:prstGeom>
          <a:noFill/>
          <a:ln w="3175">
            <a:solidFill>
              <a:schemeClr val="tx1"/>
            </a:solidFill>
            <a:miter lim="800000"/>
            <a:headEnd/>
            <a:tailEnd/>
          </a:ln>
          <a:effectLst/>
        </p:spPr>
        <p:txBody>
          <a:bodyPr wrap="none" anchor="ctr"/>
          <a:lstStyle/>
          <a:p>
            <a:pPr algn="ctr"/>
            <a:r>
              <a:rPr lang="en-US" altLang="zh-CN" sz="800" dirty="0" smtClean="0">
                <a:ea typeface="微软雅黑" pitchFamily="34" charset="-122"/>
              </a:rPr>
              <a:t>09:30</a:t>
            </a:r>
            <a:endParaRPr lang="zh-CN" altLang="en-US" sz="800" dirty="0">
              <a:ea typeface="微软雅黑" pitchFamily="34" charset="-122"/>
            </a:endParaRPr>
          </a:p>
        </p:txBody>
      </p:sp>
      <p:grpSp>
        <p:nvGrpSpPr>
          <p:cNvPr id="157" name="Group 993"/>
          <p:cNvGrpSpPr>
            <a:grpSpLocks/>
          </p:cNvGrpSpPr>
          <p:nvPr/>
        </p:nvGrpSpPr>
        <p:grpSpPr bwMode="auto">
          <a:xfrm>
            <a:off x="4506236" y="4146554"/>
            <a:ext cx="73025" cy="142875"/>
            <a:chOff x="3334" y="935"/>
            <a:chExt cx="226" cy="272"/>
          </a:xfrm>
        </p:grpSpPr>
        <p:sp>
          <p:nvSpPr>
            <p:cNvPr id="158" name="Rectangle 994"/>
            <p:cNvSpPr>
              <a:spLocks noChangeArrowheads="1"/>
            </p:cNvSpPr>
            <p:nvPr/>
          </p:nvSpPr>
          <p:spPr bwMode="auto">
            <a:xfrm>
              <a:off x="3334" y="935"/>
              <a:ext cx="226" cy="272"/>
            </a:xfrm>
            <a:prstGeom prst="rect">
              <a:avLst/>
            </a:prstGeom>
            <a:solidFill>
              <a:srgbClr val="C0C0C0"/>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sp>
          <p:nvSpPr>
            <p:cNvPr id="159" name="AutoShape 995"/>
            <p:cNvSpPr>
              <a:spLocks noChangeArrowheads="1"/>
            </p:cNvSpPr>
            <p:nvPr/>
          </p:nvSpPr>
          <p:spPr bwMode="auto">
            <a:xfrm>
              <a:off x="3379" y="1026"/>
              <a:ext cx="136" cy="91"/>
            </a:xfrm>
            <a:prstGeom prst="flowChartMerge">
              <a:avLst/>
            </a:prstGeom>
            <a:solidFill>
              <a:srgbClr val="969696"/>
            </a:solidFill>
            <a:ln w="9525" algn="ctr">
              <a:solidFill>
                <a:srgbClr val="000000"/>
              </a:solidFill>
              <a:miter lim="800000"/>
              <a:headEnd/>
              <a:tailEnd/>
            </a:ln>
            <a:effectLst/>
          </p:spPr>
          <p:txBody>
            <a:bodyPr wrap="none" anchor="ctr"/>
            <a:lstStyle/>
            <a:p>
              <a:endParaRPr lang="zh-CN" altLang="en-US" dirty="0">
                <a:ea typeface="微软雅黑" pitchFamily="34" charset="-122"/>
              </a:endParaRPr>
            </a:p>
          </p:txBody>
        </p:sp>
      </p:grpSp>
      <p:sp>
        <p:nvSpPr>
          <p:cNvPr id="160" name="AutoShape 23"/>
          <p:cNvSpPr>
            <a:spLocks noChangeArrowheads="1"/>
          </p:cNvSpPr>
          <p:nvPr/>
        </p:nvSpPr>
        <p:spPr bwMode="auto">
          <a:xfrm>
            <a:off x="6143636" y="2214554"/>
            <a:ext cx="428628" cy="142876"/>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pic>
        <p:nvPicPr>
          <p:cNvPr id="2" name="Picture 1"/>
          <p:cNvPicPr>
            <a:picLocks noChangeAspect="1"/>
          </p:cNvPicPr>
          <p:nvPr/>
        </p:nvPicPr>
        <p:blipFill>
          <a:blip r:embed="rId4"/>
          <a:stretch>
            <a:fillRect/>
          </a:stretch>
        </p:blipFill>
        <p:spPr>
          <a:xfrm>
            <a:off x="-1" y="1515988"/>
            <a:ext cx="6679421" cy="374158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 Chi tiết nghỉ bất thường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56792"/>
            <a:ext cx="2214578" cy="508600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Tra cứu thông tin nghỉ bất thường cá nhân như nghỉ không phép, đến muộn về sớm, quên quẹt thẻ đã được gửi lên cấp trên.</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điều kiện tra cứu, sau đó “Tra cứu”, hệ thống hiển thị tất cả thông tin xác nhận nghỉ bất thường cần tìm</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thông tin màu xanh để xem chi tiết thông tin xác nhận chấm công</a:t>
            </a:r>
          </a:p>
          <a:p>
            <a:pPr marL="228600" indent="-228600" algn="l">
              <a:spcBef>
                <a:spcPct val="50000"/>
              </a:spcBef>
              <a:buFont typeface="+mj-lt"/>
              <a:buAutoNum type="arabicPeriod"/>
            </a:pPr>
            <a:endParaRPr lang="vi-VN" altLang="zh-CN" sz="1100" dirty="0" smtClean="0">
              <a:latin typeface="+mj-lt"/>
              <a:ea typeface="微软雅黑" pitchFamily="34" charset="-122"/>
            </a:endParaRPr>
          </a:p>
          <a:p>
            <a:pPr marL="228600" indent="-228600" algn="l">
              <a:spcBef>
                <a:spcPct val="50000"/>
              </a:spcBef>
              <a:buFont typeface="+mj-lt"/>
              <a:buAutoNum type="arabicPeriod" startAt="4"/>
            </a:pPr>
            <a:endParaRPr lang="en-US" altLang="zh-CN" sz="1100" dirty="0" smtClean="0">
              <a:latin typeface="+mj-lt"/>
              <a:ea typeface="微软雅黑" pitchFamily="34" charset="-122"/>
            </a:endParaRPr>
          </a:p>
          <a:p>
            <a:pPr marL="228600" indent="-228600" algn="l">
              <a:spcBef>
                <a:spcPct val="50000"/>
              </a:spcBef>
              <a:buFont typeface="+mj-lt"/>
              <a:buAutoNum type="arabicPeriod" startAt="4"/>
            </a:pPr>
            <a:endParaRPr lang="en-US" altLang="zh-CN" sz="1100" dirty="0" smtClean="0">
              <a:latin typeface="+mj-lt"/>
              <a:ea typeface="微软雅黑" pitchFamily="34" charset="-122"/>
            </a:endParaRPr>
          </a:p>
          <a:p>
            <a:pPr marL="228600" indent="-228600" algn="l">
              <a:spcBef>
                <a:spcPct val="50000"/>
              </a:spcBef>
              <a:buFont typeface="+mj-lt"/>
              <a:buAutoNum type="arabicPeriod" startAt="4"/>
            </a:pPr>
            <a:endParaRPr lang="en-US" altLang="zh-CN" sz="1100" dirty="0" smtClean="0">
              <a:latin typeface="+mj-lt"/>
              <a:ea typeface="微软雅黑" pitchFamily="34" charset="-122"/>
            </a:endParaRPr>
          </a:p>
          <a:p>
            <a:pPr marL="228600" indent="-228600" algn="l">
              <a:spcBef>
                <a:spcPct val="50000"/>
              </a:spcBef>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1" y="1267254"/>
            <a:ext cx="6786578" cy="3754956"/>
          </a:xfrm>
          <a:prstGeom prst="rect">
            <a:avLst/>
          </a:prstGeom>
        </p:spPr>
      </p:pic>
      <p:pic>
        <p:nvPicPr>
          <p:cNvPr id="4" name="Picture 3"/>
          <p:cNvPicPr>
            <a:picLocks noChangeAspect="1"/>
          </p:cNvPicPr>
          <p:nvPr/>
        </p:nvPicPr>
        <p:blipFill>
          <a:blip r:embed="rId3"/>
          <a:stretch>
            <a:fillRect/>
          </a:stretch>
        </p:blipFill>
        <p:spPr>
          <a:xfrm>
            <a:off x="636024" y="3068960"/>
            <a:ext cx="5562811" cy="3333962"/>
          </a:xfrm>
          <a:prstGeom prst="rect">
            <a:avLst/>
          </a:prstGeom>
        </p:spPr>
      </p:pic>
      <p:sp>
        <p:nvSpPr>
          <p:cNvPr id="5" name="Rectangle 4"/>
          <p:cNvSpPr/>
          <p:nvPr/>
        </p:nvSpPr>
        <p:spPr>
          <a:xfrm>
            <a:off x="1619672" y="2492896"/>
            <a:ext cx="43204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8" name="Elbow Connector 7"/>
          <p:cNvCxnSpPr>
            <a:endCxn id="4" idx="0"/>
          </p:cNvCxnSpPr>
          <p:nvPr/>
        </p:nvCxnSpPr>
        <p:spPr>
          <a:xfrm>
            <a:off x="1835696" y="2560141"/>
            <a:ext cx="1581734" cy="50881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 Tra cứu chấm công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077766"/>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Tra cứu thông tin ngày nghỉ và nghỉ bất thường của cá nhân trong 1 khoảng thời gian</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điều kiện tra cứu, sau đó “Tra cứu”, hệ thống hiển thị tất cả dữ liệu cần tìm</a:t>
            </a:r>
          </a:p>
          <a:p>
            <a:pPr marL="228600" indent="-228600" algn="l">
              <a:spcBef>
                <a:spcPct val="50000"/>
              </a:spcBef>
              <a:buFont typeface="+mj-lt"/>
              <a:buAutoNum type="arabicPeriod" startAt="3"/>
            </a:pPr>
            <a:endParaRPr lang="en-US" altLang="zh-CN" sz="800" dirty="0" smtClean="0">
              <a:latin typeface="微软雅黑" pitchFamily="34" charset="-122"/>
              <a:ea typeface="微软雅黑" pitchFamily="34" charset="-122"/>
            </a:endParaRPr>
          </a:p>
          <a:p>
            <a:pPr marL="228600" indent="-228600" algn="l">
              <a:spcBef>
                <a:spcPct val="50000"/>
              </a:spcBef>
            </a:pPr>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zh-CN" altLang="en-US" sz="800" dirty="0">
              <a:latin typeface="微软雅黑" pitchFamily="34" charset="-122"/>
              <a:ea typeface="微软雅黑" pitchFamily="34" charset="-122"/>
            </a:endParaRPr>
          </a:p>
        </p:txBody>
      </p:sp>
      <p:pic>
        <p:nvPicPr>
          <p:cNvPr id="3" name="Picture 2"/>
          <p:cNvPicPr>
            <a:picLocks noChangeAspect="1"/>
          </p:cNvPicPr>
          <p:nvPr/>
        </p:nvPicPr>
        <p:blipFill>
          <a:blip r:embed="rId2"/>
          <a:stretch>
            <a:fillRect/>
          </a:stretch>
        </p:blipFill>
        <p:spPr>
          <a:xfrm>
            <a:off x="0" y="1550094"/>
            <a:ext cx="6786578" cy="3266321"/>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Tra cứu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077766"/>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itchFamily="18" charset="0"/>
                <a:ea typeface="微软雅黑" pitchFamily="34" charset="-122"/>
                <a:cs typeface="Times New Roman" pitchFamily="18" charset="0"/>
              </a:rPr>
              <a:t>Tra cứu thông tin tăng ca của bản thân trong khoảng thời gian nào đó</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điều kiện tìm kiếm, sau đó “Tra cứu”, hệ thống hiển thị tất cả dữ liệu cần tìm</a:t>
            </a:r>
          </a:p>
          <a:p>
            <a:pPr marL="228600" indent="-228600" algn="l">
              <a:spcBef>
                <a:spcPct val="50000"/>
              </a:spcBef>
              <a:buFont typeface="+mj-lt"/>
              <a:buAutoNum type="arabicPeriod" startAt="3"/>
            </a:pPr>
            <a:endParaRPr lang="en-US" altLang="zh-CN" sz="800" dirty="0" smtClean="0">
              <a:latin typeface="微软雅黑" pitchFamily="34" charset="-122"/>
              <a:ea typeface="微软雅黑" pitchFamily="34" charset="-122"/>
            </a:endParaRPr>
          </a:p>
          <a:p>
            <a:pPr marL="228600" indent="-228600" algn="l">
              <a:spcBef>
                <a:spcPct val="50000"/>
              </a:spcBef>
            </a:pPr>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zh-CN" altLang="en-US" sz="8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640714"/>
            <a:ext cx="6786578" cy="3704341"/>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Lịch làm việc</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2523768"/>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Tra cứu lịch làm việc cá nhân</a:t>
            </a:r>
            <a:r>
              <a:rPr lang="en-US" altLang="zh-CN" sz="1200" dirty="0" smtClean="0">
                <a:latin typeface="+mj-lt"/>
                <a:ea typeface="微软雅黑" pitchFamily="34" charset="-122"/>
              </a:rPr>
              <a:t> </a:t>
            </a:r>
            <a:endParaRPr lang="vi-VN" altLang="zh-CN" sz="1200" dirty="0" smtClean="0">
              <a:latin typeface="+mj-lt"/>
              <a:ea typeface="微软雅黑" pitchFamily="34" charset="-122"/>
            </a:endParaRP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tháng,, hệ thống tự động hiển thị lịch làm việc tháng đó</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pPr>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en-US" altLang="zh-CN" sz="800" dirty="0" smtClean="0">
              <a:latin typeface="微软雅黑" pitchFamily="34" charset="-122"/>
              <a:ea typeface="微软雅黑" pitchFamily="34" charset="-122"/>
            </a:endParaRPr>
          </a:p>
          <a:p>
            <a:pPr algn="l"/>
            <a:endParaRPr lang="zh-CN" altLang="en-US" sz="8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3808" y="1256922"/>
            <a:ext cx="6782770" cy="379947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95395"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 Tình hình nghỉ phép</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214578" cy="4493538"/>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Xem tình hình nghỉ của bản thân trong khoảng thời gian nào đó</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khoảng thời gian, sau đó “Tra cứu”, hệ thống hiển thị tổng hợp số lần nghỉ của từng loại nghỉ</a:t>
            </a: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1 số màu xanh, hiển thị khung chi tiết các ngày xin nghỉ </a:t>
            </a: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“Xuất Excel” để kết xuất dữ liệu vừa tìm </a:t>
            </a:r>
          </a:p>
          <a:p>
            <a:pPr marL="228600" indent="-228600" algn="l">
              <a:spcBef>
                <a:spcPct val="50000"/>
              </a:spcBef>
              <a:buFont typeface="+mj-lt"/>
              <a:buAutoNum type="arabicPeriod" startAt="3"/>
            </a:pPr>
            <a:endParaRPr lang="en-US" altLang="zh-CN" sz="1000" dirty="0" smtClean="0">
              <a:latin typeface="+mj-lt"/>
              <a:ea typeface="微软雅黑" pitchFamily="34" charset="-122"/>
            </a:endParaRPr>
          </a:p>
          <a:p>
            <a:pPr marL="228600" indent="-228600" algn="l">
              <a:spcBef>
                <a:spcPct val="50000"/>
              </a:spcBef>
            </a:pPr>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zh-CN" altLang="en-US" sz="10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24842" y="1340768"/>
            <a:ext cx="6761736" cy="3560852"/>
          </a:xfrm>
          <a:prstGeom prst="rect">
            <a:avLst/>
          </a:prstGeom>
        </p:spPr>
      </p:pic>
      <p:pic>
        <p:nvPicPr>
          <p:cNvPr id="4" name="Picture 3"/>
          <p:cNvPicPr>
            <a:picLocks noChangeAspect="1"/>
          </p:cNvPicPr>
          <p:nvPr/>
        </p:nvPicPr>
        <p:blipFill>
          <a:blip r:embed="rId3"/>
          <a:stretch>
            <a:fillRect/>
          </a:stretch>
        </p:blipFill>
        <p:spPr>
          <a:xfrm>
            <a:off x="925540" y="3006382"/>
            <a:ext cx="5518668" cy="2759334"/>
          </a:xfrm>
          <a:prstGeom prst="rect">
            <a:avLst/>
          </a:prstGeom>
        </p:spPr>
      </p:pic>
      <p:sp>
        <p:nvSpPr>
          <p:cNvPr id="2" name="Rectangle 1"/>
          <p:cNvSpPr/>
          <p:nvPr/>
        </p:nvSpPr>
        <p:spPr>
          <a:xfrm>
            <a:off x="6444208" y="2204864"/>
            <a:ext cx="34237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9" name="Elbow Connector 8"/>
          <p:cNvCxnSpPr>
            <a:stCxn id="2" idx="2"/>
            <a:endCxn id="4" idx="0"/>
          </p:cNvCxnSpPr>
          <p:nvPr/>
        </p:nvCxnSpPr>
        <p:spPr>
          <a:xfrm rot="5400000">
            <a:off x="4857387" y="1248376"/>
            <a:ext cx="585494" cy="2930519"/>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95395"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 Tình hình tăng ca</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214578" cy="4216539"/>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Xem tình hình tăng ca của bản thân trong khoảng thời gian nào đó</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khoảng thời gian, sau đó “Tra cứu”, hệ thống hiển thị tổng hợp số tiếng tăng ca của từng loại tăng ca</a:t>
            </a: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1 số màu xanh, hiển thị khung chi tiết các ngày tăng ca.</a:t>
            </a:r>
          </a:p>
          <a:p>
            <a:pPr marL="228600" indent="-228600" algn="l">
              <a:spcBef>
                <a:spcPct val="50000"/>
              </a:spcBef>
              <a:buFont typeface="+mj-lt"/>
              <a:buAutoNum type="arabicPeriod" startAt="3"/>
            </a:pPr>
            <a:endParaRPr lang="en-US" altLang="zh-CN" sz="1000" dirty="0" smtClean="0">
              <a:latin typeface="+mj-lt"/>
              <a:ea typeface="微软雅黑" pitchFamily="34" charset="-122"/>
            </a:endParaRPr>
          </a:p>
          <a:p>
            <a:pPr marL="228600" indent="-228600" algn="l">
              <a:spcBef>
                <a:spcPct val="50000"/>
              </a:spcBef>
            </a:pPr>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zh-CN" altLang="en-US" sz="1000" dirty="0">
              <a:latin typeface="+mj-lt"/>
              <a:ea typeface="微软雅黑" pitchFamily="34" charset="-122"/>
            </a:endParaRPr>
          </a:p>
        </p:txBody>
      </p:sp>
      <p:pic>
        <p:nvPicPr>
          <p:cNvPr id="3" name="Picture 2"/>
          <p:cNvPicPr>
            <a:picLocks noChangeAspect="1"/>
          </p:cNvPicPr>
          <p:nvPr/>
        </p:nvPicPr>
        <p:blipFill>
          <a:blip r:embed="rId2"/>
          <a:stretch>
            <a:fillRect/>
          </a:stretch>
        </p:blipFill>
        <p:spPr>
          <a:xfrm>
            <a:off x="-22415" y="1340768"/>
            <a:ext cx="6808993" cy="3781588"/>
          </a:xfrm>
          <a:prstGeom prst="rect">
            <a:avLst/>
          </a:prstGeom>
        </p:spPr>
      </p:pic>
      <p:pic>
        <p:nvPicPr>
          <p:cNvPr id="6" name="Picture 5"/>
          <p:cNvPicPr>
            <a:picLocks noChangeAspect="1"/>
          </p:cNvPicPr>
          <p:nvPr/>
        </p:nvPicPr>
        <p:blipFill>
          <a:blip r:embed="rId3"/>
          <a:stretch>
            <a:fillRect/>
          </a:stretch>
        </p:blipFill>
        <p:spPr>
          <a:xfrm>
            <a:off x="539552" y="2996952"/>
            <a:ext cx="6103010" cy="3068552"/>
          </a:xfrm>
          <a:prstGeom prst="rect">
            <a:avLst/>
          </a:prstGeom>
        </p:spPr>
      </p:pic>
      <p:sp>
        <p:nvSpPr>
          <p:cNvPr id="8" name="Flowchart: Process 7"/>
          <p:cNvSpPr/>
          <p:nvPr/>
        </p:nvSpPr>
        <p:spPr>
          <a:xfrm>
            <a:off x="2704401" y="2160111"/>
            <a:ext cx="451787"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8" idx="2"/>
            <a:endCxn id="6" idx="0"/>
          </p:cNvCxnSpPr>
          <p:nvPr/>
        </p:nvCxnSpPr>
        <p:spPr>
          <a:xfrm rot="16200000" flipH="1">
            <a:off x="2914264" y="2320158"/>
            <a:ext cx="692825" cy="66076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590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01244"/>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 Nghỉ phép năm</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293209"/>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Tra cứu tình hình sử dụng nghỉ phép của </a:t>
            </a:r>
            <a:r>
              <a:rPr lang="en-US" altLang="zh-CN" sz="1200" dirty="0" smtClean="0">
                <a:latin typeface="Times New Roman" panose="02020603050405020304" pitchFamily="18" charset="0"/>
                <a:ea typeface="微软雅黑" pitchFamily="34" charset="-122"/>
                <a:cs typeface="Times New Roman" panose="02020603050405020304" pitchFamily="18" charset="0"/>
              </a:rPr>
              <a:t>bản thân</a:t>
            </a:r>
            <a:r>
              <a:rPr lang="vi-VN" altLang="zh-CN"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vi-VN" altLang="zh-CN" sz="1200" dirty="0" smtClean="0">
                <a:latin typeface="+mj-lt"/>
                <a:ea typeface="微软雅黑" pitchFamily="34" charset="-122"/>
              </a:rPr>
              <a:t>Chọn năm</a:t>
            </a:r>
            <a:r>
              <a:rPr lang="en-US" altLang="zh-CN" sz="1200" dirty="0" smtClean="0">
                <a:latin typeface="+mj-lt"/>
                <a:ea typeface="微软雅黑" pitchFamily="34" charset="-122"/>
              </a:rPr>
              <a:t>,sau đó</a:t>
            </a:r>
            <a:r>
              <a:rPr lang="vi-VN" altLang="zh-CN" sz="1200" dirty="0" smtClean="0">
                <a:latin typeface="+mj-lt"/>
                <a:ea typeface="微软雅黑" pitchFamily="34" charset="-122"/>
              </a:rPr>
              <a:t> </a:t>
            </a:r>
            <a:r>
              <a:rPr lang="en-US" altLang="zh-CN" sz="1200" dirty="0" smtClean="0">
                <a:latin typeface="+mj-lt"/>
                <a:ea typeface="微软雅黑" pitchFamily="34" charset="-122"/>
              </a:rPr>
              <a:t>“</a:t>
            </a:r>
            <a:r>
              <a:rPr lang="vi-VN" altLang="zh-CN" sz="1200" dirty="0" smtClean="0">
                <a:latin typeface="+mj-lt"/>
                <a:ea typeface="微软雅黑" pitchFamily="34" charset="-122"/>
              </a:rPr>
              <a:t>Tra cứu</a:t>
            </a:r>
            <a:r>
              <a:rPr lang="en-US" altLang="zh-CN" sz="1200" dirty="0" smtClean="0">
                <a:latin typeface="+mj-lt"/>
                <a:ea typeface="微软雅黑" pitchFamily="34" charset="-122"/>
              </a:rPr>
              <a:t>”</a:t>
            </a:r>
            <a:r>
              <a:rPr lang="vi-VN" altLang="zh-CN" sz="1200" dirty="0" smtClean="0">
                <a:latin typeface="+mj-lt"/>
                <a:ea typeface="微软雅黑" pitchFamily="34" charset="-122"/>
              </a:rPr>
              <a:t> để hiển thị </a:t>
            </a:r>
            <a:r>
              <a:rPr lang="en-US" altLang="zh-CN" sz="1200" dirty="0" smtClean="0">
                <a:latin typeface="Times New Roman" panose="02020603050405020304" pitchFamily="18" charset="0"/>
                <a:ea typeface="微软雅黑" pitchFamily="34" charset="-122"/>
                <a:cs typeface="Times New Roman" panose="02020603050405020304" pitchFamily="18" charset="0"/>
              </a:rPr>
              <a:t>thông tin nghỉ phép của năm đó</a:t>
            </a:r>
          </a:p>
          <a:p>
            <a:pPr algn="l">
              <a:spcBef>
                <a:spcPct val="50000"/>
              </a:spcBef>
            </a:pPr>
            <a:endParaRPr lang="en-US" altLang="zh-CN" sz="1000" dirty="0" smtClean="0">
              <a:latin typeface="+mj-lt"/>
              <a:ea typeface="微软雅黑" pitchFamily="34" charset="-122"/>
            </a:endParaRPr>
          </a:p>
          <a:p>
            <a:pPr marL="228600" indent="-228600" algn="l">
              <a:spcBef>
                <a:spcPct val="50000"/>
              </a:spcBef>
            </a:pPr>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zh-CN" altLang="en-US" sz="1000" dirty="0">
              <a:latin typeface="+mj-lt"/>
              <a:ea typeface="微软雅黑" pitchFamily="34" charset="-122"/>
            </a:endParaRPr>
          </a:p>
        </p:txBody>
      </p:sp>
      <p:pic>
        <p:nvPicPr>
          <p:cNvPr id="30724" name="Picture 4"/>
          <p:cNvPicPr>
            <a:picLocks noChangeAspect="1" noChangeArrowheads="1"/>
          </p:cNvPicPr>
          <p:nvPr/>
        </p:nvPicPr>
        <p:blipFill>
          <a:blip r:embed="rId2"/>
          <a:srcRect/>
          <a:stretch>
            <a:fillRect/>
          </a:stretch>
        </p:blipFill>
        <p:spPr bwMode="auto">
          <a:xfrm>
            <a:off x="1424000" y="2928934"/>
            <a:ext cx="5219702" cy="1381125"/>
          </a:xfrm>
          <a:prstGeom prst="rect">
            <a:avLst/>
          </a:prstGeom>
          <a:noFill/>
          <a:ln w="9525">
            <a:noFill/>
            <a:miter lim="800000"/>
            <a:headEnd/>
            <a:tailEnd/>
          </a:ln>
          <a:effectLst/>
        </p:spPr>
      </p:pic>
      <p:sp>
        <p:nvSpPr>
          <p:cNvPr id="31" name="AutoShape 23"/>
          <p:cNvSpPr>
            <a:spLocks noChangeArrowheads="1"/>
          </p:cNvSpPr>
          <p:nvPr/>
        </p:nvSpPr>
        <p:spPr bwMode="auto">
          <a:xfrm>
            <a:off x="1071538" y="2285992"/>
            <a:ext cx="1000132" cy="142876"/>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32" name="椭圆 24"/>
          <p:cNvSpPr/>
          <p:nvPr/>
        </p:nvSpPr>
        <p:spPr>
          <a:xfrm>
            <a:off x="2214546" y="221455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33" name="AutoShape 23"/>
          <p:cNvSpPr>
            <a:spLocks noChangeArrowheads="1"/>
          </p:cNvSpPr>
          <p:nvPr/>
        </p:nvSpPr>
        <p:spPr bwMode="auto">
          <a:xfrm>
            <a:off x="6143636" y="2285992"/>
            <a:ext cx="285752" cy="142876"/>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34" name="椭圆 26"/>
          <p:cNvSpPr/>
          <p:nvPr/>
        </p:nvSpPr>
        <p:spPr>
          <a:xfrm>
            <a:off x="5857884" y="2285992"/>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pic>
        <p:nvPicPr>
          <p:cNvPr id="2" name="Picture 1"/>
          <p:cNvPicPr>
            <a:picLocks noChangeAspect="1"/>
          </p:cNvPicPr>
          <p:nvPr/>
        </p:nvPicPr>
        <p:blipFill>
          <a:blip r:embed="rId3"/>
          <a:stretch>
            <a:fillRect/>
          </a:stretch>
        </p:blipFill>
        <p:spPr>
          <a:xfrm>
            <a:off x="0" y="1412776"/>
            <a:ext cx="6785496" cy="380100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68097"/>
            <a:ext cx="2592288" cy="336567"/>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Đào tạo – Đăng ký khóa học</a:t>
            </a:r>
            <a:endParaRPr lang="vi-VN" altLang="zh-CN"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677930"/>
          </a:xfrm>
          <a:prstGeom prst="rect">
            <a:avLst/>
          </a:prstGeom>
          <a:noFill/>
        </p:spPr>
        <p:txBody>
          <a:bodyPr wrap="square" rtlCol="0">
            <a:spAutoFit/>
          </a:bodyPr>
          <a:lstStyle/>
          <a:p>
            <a:pPr algn="l">
              <a:spcBef>
                <a:spcPct val="50000"/>
              </a:spcBef>
              <a:defRPr/>
            </a:pPr>
            <a:r>
              <a:rPr lang="en-US" altLang="zh-CN" sz="1200" dirty="0" smtClean="0">
                <a:latin typeface="Times New Roman" panose="02020603050405020304" pitchFamily="18" charset="0"/>
                <a:ea typeface="微软雅黑" pitchFamily="34" charset="-122"/>
                <a:cs typeface="Times New Roman" panose="02020603050405020304" pitchFamily="18" charset="0"/>
              </a:rPr>
              <a:t>Hiển thị các khóa học có thể tham gia</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defRPr/>
            </a:pPr>
            <a:r>
              <a:rPr lang="en-US" altLang="zh-CN" sz="1200" dirty="0" smtClean="0">
                <a:latin typeface="Times New Roman" panose="02020603050405020304" pitchFamily="18" charset="0"/>
                <a:ea typeface="微软雅黑" pitchFamily="34" charset="-122"/>
                <a:cs typeface="Times New Roman" panose="02020603050405020304" pitchFamily="18" charset="0"/>
              </a:rPr>
              <a:t>2</a:t>
            </a:r>
            <a:r>
              <a:rPr lang="zh-CN" altLang="en-US" sz="1200" dirty="0" smtClean="0">
                <a:latin typeface="Times New Roman" panose="02020603050405020304" pitchFamily="18" charset="0"/>
                <a:ea typeface="微软雅黑" pitchFamily="34" charset="-122"/>
                <a:cs typeface="Times New Roman" panose="02020603050405020304" pitchFamily="18" charset="0"/>
              </a:rPr>
              <a:t>、</a:t>
            </a:r>
            <a:r>
              <a:rPr lang="en-US" altLang="zh-CN" sz="1200" dirty="0" smtClean="0">
                <a:latin typeface="Times New Roman" panose="02020603050405020304" pitchFamily="18" charset="0"/>
                <a:ea typeface="微软雅黑" pitchFamily="34" charset="-122"/>
                <a:cs typeface="Times New Roman" panose="02020603050405020304" pitchFamily="18" charset="0"/>
              </a:rPr>
              <a:t>Tìm kiếm</a:t>
            </a:r>
            <a:r>
              <a:rPr lang="vi-VN" altLang="zh-CN" sz="1200" dirty="0" smtClean="0">
                <a:latin typeface="Times New Roman" panose="02020603050405020304" pitchFamily="18" charset="0"/>
                <a:ea typeface="微软雅黑" pitchFamily="34" charset="-122"/>
                <a:cs typeface="Times New Roman" panose="02020603050405020304" pitchFamily="18" charset="0"/>
              </a:rPr>
              <a:t>: có thể dựa vào "Ngày bắt đầu", "Ngày kết thúc", "Tên khóa học" để tìm kiếm.</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defRPr/>
            </a:pPr>
            <a:r>
              <a:rPr lang="en-US" altLang="zh-CN" sz="1200" dirty="0" smtClean="0">
                <a:latin typeface="Times New Roman" panose="02020603050405020304" pitchFamily="18" charset="0"/>
                <a:ea typeface="微软雅黑" pitchFamily="34" charset="-122"/>
                <a:cs typeface="Times New Roman" panose="02020603050405020304" pitchFamily="18" charset="0"/>
              </a:rPr>
              <a:t>3</a:t>
            </a:r>
            <a:r>
              <a:rPr lang="zh-CN" altLang="en-US" sz="1200" dirty="0" smtClean="0">
                <a:latin typeface="Times New Roman" panose="02020603050405020304" pitchFamily="18" charset="0"/>
                <a:ea typeface="微软雅黑" pitchFamily="34" charset="-122"/>
                <a:cs typeface="Times New Roman" panose="02020603050405020304" pitchFamily="18" charset="0"/>
              </a:rPr>
              <a:t>、</a:t>
            </a:r>
            <a:r>
              <a:rPr lang="en-US" altLang="zh-CN" sz="1200" dirty="0" smtClean="0">
                <a:latin typeface="Times New Roman" panose="02020603050405020304" pitchFamily="18" charset="0"/>
                <a:ea typeface="微软雅黑" pitchFamily="34" charset="-122"/>
                <a:cs typeface="Times New Roman" panose="02020603050405020304" pitchFamily="18" charset="0"/>
              </a:rPr>
              <a:t>Có thể thiết lập người duyệt cho bản thân.</a:t>
            </a:r>
          </a:p>
          <a:p>
            <a:pPr algn="l">
              <a:spcBef>
                <a:spcPct val="50000"/>
              </a:spcBef>
              <a:defRPr/>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khóa học muốn đăng ký, “Xin phép”, dữ liệu chuyển đến trang người duyệt</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pPr>
            <a:r>
              <a:rPr lang="en-US" altLang="zh-CN" sz="1000" dirty="0" smtClean="0">
                <a:latin typeface="Times New Roman" panose="02020603050405020304" pitchFamily="18" charset="0"/>
                <a:ea typeface="微软雅黑" pitchFamily="34" charset="-122"/>
                <a:cs typeface="Times New Roman" panose="02020603050405020304" pitchFamily="18" charset="0"/>
              </a:rPr>
              <a:t>Trang này có thể xem được số người đã đăng ký khóa học</a:t>
            </a: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en-US" altLang="zh-CN" sz="1000" dirty="0" smtClean="0">
              <a:latin typeface="Times New Roman" panose="02020603050405020304" pitchFamily="18" charset="0"/>
              <a:ea typeface="微软雅黑" pitchFamily="34" charset="-122"/>
              <a:cs typeface="Times New Roman" panose="02020603050405020304" pitchFamily="18" charset="0"/>
            </a:endParaRPr>
          </a:p>
          <a:p>
            <a:pPr algn="l"/>
            <a:endParaRPr lang="zh-CN" altLang="en-US" sz="1000" dirty="0">
              <a:latin typeface="Times New Roman" panose="02020603050405020304" pitchFamily="18" charset="0"/>
              <a:ea typeface="微软雅黑" pitchFamily="34" charset="-122"/>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0" y="1432670"/>
            <a:ext cx="6763350" cy="3801925"/>
          </a:xfrm>
          <a:prstGeom prst="rect">
            <a:avLst/>
          </a:prstGeom>
        </p:spPr>
      </p:pic>
    </p:spTree>
    <p:extLst>
      <p:ext uri="{BB962C8B-B14F-4D97-AF65-F5344CB8AC3E}">
        <p14:creationId xmlns:p14="http://schemas.microsoft.com/office/powerpoint/2010/main" val="29560399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Text Box 2"/>
          <p:cNvSpPr txBox="1">
            <a:spLocks noChangeArrowheads="1"/>
          </p:cNvSpPr>
          <p:nvPr/>
        </p:nvSpPr>
        <p:spPr bwMode="auto">
          <a:xfrm>
            <a:off x="1044575" y="1412875"/>
            <a:ext cx="7919913" cy="1292662"/>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lgn="l">
              <a:spcBef>
                <a:spcPct val="50000"/>
              </a:spcBef>
              <a:defRPr/>
            </a:pPr>
            <a:r>
              <a:rPr lang="en-US" altLang="zh-CN" sz="1200" dirty="0" smtClean="0">
                <a:latin typeface="Times New Roman" pitchFamily="18" charset="0"/>
                <a:cs typeface="Times New Roman" pitchFamily="18" charset="0"/>
              </a:rPr>
              <a:t>1</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Công dụng</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Xem tình trạng phê duyệt xin tham gia khóa học của cá nhân.</a:t>
            </a:r>
            <a:endParaRPr lang="zh-CN" altLang="en-US" sz="1200" dirty="0" smtClean="0">
              <a:latin typeface="Times New Roman" pitchFamily="18" charset="0"/>
              <a:cs typeface="Times New Roman" pitchFamily="18" charset="0"/>
            </a:endParaRPr>
          </a:p>
          <a:p>
            <a:pPr algn="l">
              <a:spcBef>
                <a:spcPct val="50000"/>
              </a:spcBef>
              <a:defRPr/>
            </a:pPr>
            <a:r>
              <a:rPr lang="en-US" altLang="zh-CN" sz="1200" dirty="0" smtClean="0">
                <a:latin typeface="Times New Roman" pitchFamily="18" charset="0"/>
                <a:cs typeface="Times New Roman" pitchFamily="18" charset="0"/>
              </a:rPr>
              <a:t>2</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T</a:t>
            </a:r>
            <a:r>
              <a:rPr lang="en-US" altLang="zh-CN" sz="1200" dirty="0" smtClean="0">
                <a:latin typeface="Times New Roman" pitchFamily="18" charset="0"/>
                <a:cs typeface="Times New Roman" pitchFamily="18" charset="0"/>
              </a:rPr>
              <a:t>ìm kiếm</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có thể thông qua ‘Ngày bắt đầu’, ‘Ngày kết thúc’, ‘Tên </a:t>
            </a:r>
            <a:r>
              <a:rPr lang="en-US" altLang="zh-CN" sz="1200" dirty="0" smtClean="0">
                <a:latin typeface="Times New Roman" pitchFamily="18" charset="0"/>
                <a:cs typeface="Times New Roman" pitchFamily="18" charset="0"/>
              </a:rPr>
              <a:t>đào tạo</a:t>
            </a:r>
            <a:r>
              <a:rPr lang="vi-VN" altLang="zh-CN" sz="1200" dirty="0" smtClean="0">
                <a:latin typeface="Times New Roman" pitchFamily="18" charset="0"/>
                <a:cs typeface="Times New Roman" pitchFamily="18" charset="0"/>
              </a:rPr>
              <a:t>’, ‘Trạng thái’ để tìm kiếm</a:t>
            </a:r>
            <a:endParaRPr lang="zh-CN" altLang="en-US" sz="1200" dirty="0" smtClean="0">
              <a:latin typeface="Times New Roman" pitchFamily="18" charset="0"/>
              <a:cs typeface="Times New Roman" pitchFamily="18" charset="0"/>
            </a:endParaRPr>
          </a:p>
          <a:p>
            <a:pPr algn="l">
              <a:spcBef>
                <a:spcPct val="50000"/>
              </a:spcBef>
              <a:defRPr/>
            </a:pPr>
            <a:r>
              <a:rPr lang="en-US" altLang="zh-CN" sz="1200" dirty="0" smtClean="0">
                <a:latin typeface="Times New Roman" pitchFamily="18" charset="0"/>
                <a:cs typeface="Times New Roman" pitchFamily="18" charset="0"/>
              </a:rPr>
              <a:t>3</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Chức năng</a:t>
            </a:r>
            <a:r>
              <a:rPr lang="zh-CN" altLang="en-US" sz="1200" dirty="0" smtClean="0">
                <a:latin typeface="Times New Roman" pitchFamily="18" charset="0"/>
                <a:cs typeface="Times New Roman" pitchFamily="18" charset="0"/>
              </a:rPr>
              <a:t>：</a:t>
            </a:r>
            <a:r>
              <a:rPr lang="vi-VN" altLang="zh-CN" sz="1200" dirty="0" smtClean="0">
                <a:solidFill>
                  <a:srgbClr val="FF0000"/>
                </a:solidFill>
                <a:latin typeface="Times New Roman" pitchFamily="18" charset="0"/>
                <a:cs typeface="Times New Roman" pitchFamily="18" charset="0"/>
              </a:rPr>
              <a:t>tra cứu, thêm/sửa, xóa những xin phép khi chưa được phê duyệt. Sau khi đã được phê duyệt chỉ có thể từ chối, không thể xóa</a:t>
            </a:r>
            <a:r>
              <a:rPr lang="vi-VN" altLang="zh-CN" sz="1200" dirty="0">
                <a:solidFill>
                  <a:srgbClr val="FF0000"/>
                </a:solidFill>
                <a:latin typeface="Times New Roman" pitchFamily="18" charset="0"/>
                <a:cs typeface="Times New Roman" pitchFamily="18" charset="0"/>
              </a:rPr>
              <a:t>. </a:t>
            </a:r>
            <a:r>
              <a:rPr lang="vi-VN" altLang="zh-CN" sz="1200" dirty="0" smtClean="0">
                <a:solidFill>
                  <a:srgbClr val="FF0000"/>
                </a:solidFill>
                <a:latin typeface="Times New Roman" pitchFamily="18" charset="0"/>
                <a:cs typeface="Times New Roman" pitchFamily="18" charset="0"/>
              </a:rPr>
              <a:t>Người </a:t>
            </a:r>
            <a:r>
              <a:rPr lang="vi-VN" altLang="zh-CN" sz="1200" dirty="0">
                <a:solidFill>
                  <a:srgbClr val="FF0000"/>
                </a:solidFill>
                <a:latin typeface="Times New Roman" pitchFamily="18" charset="0"/>
                <a:cs typeface="Times New Roman" pitchFamily="18" charset="0"/>
              </a:rPr>
              <a:t>phụ trách đào tạo nhân sự và người xin phép đều không thể thực hiện xóa. </a:t>
            </a:r>
            <a:endParaRPr lang="zh-CN" altLang="en-US" sz="1200" dirty="0" smtClean="0">
              <a:solidFill>
                <a:srgbClr val="FF0000"/>
              </a:solidFill>
              <a:latin typeface="Times New Roman" pitchFamily="18" charset="0"/>
              <a:cs typeface="Times New Roman" pitchFamily="18" charset="0"/>
            </a:endParaRPr>
          </a:p>
          <a:p>
            <a:pPr algn="l">
              <a:spcBef>
                <a:spcPct val="50000"/>
              </a:spcBef>
              <a:defRPr/>
            </a:pPr>
            <a:r>
              <a:rPr lang="en-US" altLang="zh-CN" sz="1200" dirty="0" smtClean="0">
                <a:latin typeface="Times New Roman" pitchFamily="18" charset="0"/>
                <a:cs typeface="Times New Roman" pitchFamily="18" charset="0"/>
              </a:rPr>
              <a:t>4</a:t>
            </a:r>
            <a:r>
              <a:rPr lang="zh-CN" altLang="en-US" sz="1200" dirty="0" smtClean="0">
                <a:latin typeface="Times New Roman" pitchFamily="18" charset="0"/>
                <a:cs typeface="Times New Roman" pitchFamily="18" charset="0"/>
              </a:rPr>
              <a:t>、</a:t>
            </a:r>
            <a:r>
              <a:rPr lang="vi-VN" altLang="zh-CN" sz="1200" dirty="0" smtClean="0">
                <a:latin typeface="Times New Roman" pitchFamily="18" charset="0"/>
                <a:cs typeface="Times New Roman" pitchFamily="18" charset="0"/>
              </a:rPr>
              <a:t>Quyền hạn: người xin phép, phụ trách nhân sự.</a:t>
            </a:r>
            <a:endParaRPr lang="zh-CN" altLang="en-US" sz="1200" dirty="0">
              <a:latin typeface="Times New Roman" pitchFamily="18" charset="0"/>
              <a:cs typeface="Times New Roman" pitchFamily="18" charset="0"/>
            </a:endParaRPr>
          </a:p>
        </p:txBody>
      </p:sp>
      <p:graphicFrame>
        <p:nvGraphicFramePr>
          <p:cNvPr id="741379" name="Group 3"/>
          <p:cNvGraphicFramePr>
            <a:graphicFrameLocks noGrp="1"/>
          </p:cNvGraphicFramePr>
          <p:nvPr>
            <p:extLst>
              <p:ext uri="{D42A27DB-BD31-4B8C-83A1-F6EECF244321}">
                <p14:modId xmlns:p14="http://schemas.microsoft.com/office/powerpoint/2010/main" val="3089463838"/>
              </p:ext>
            </p:extLst>
          </p:nvPr>
        </p:nvGraphicFramePr>
        <p:xfrm>
          <a:off x="1432620" y="38904"/>
          <a:ext cx="2707332" cy="365760"/>
        </p:xfrm>
        <a:graphic>
          <a:graphicData uri="http://schemas.openxmlformats.org/drawingml/2006/table">
            <a:tbl>
              <a:tblPr/>
              <a:tblGrid>
                <a:gridCol w="2707332"/>
              </a:tblGrid>
              <a:tr h="360363">
                <a:tc>
                  <a:txBody>
                    <a:bodyPr/>
                    <a:lstStyle/>
                    <a:p>
                      <a:pPr marL="0" indent="0" algn="l" eaLnBrk="0" hangingPunct="0">
                        <a:lnSpc>
                          <a:spcPct val="150000"/>
                        </a:lnSpc>
                        <a:buFont typeface="+mj-lt"/>
                        <a:buNone/>
                      </a:pPr>
                      <a:r>
                        <a:rPr lang="en-US" altLang="zh-CN" sz="1200" dirty="0" smtClean="0">
                          <a:latin typeface="Times New Roman" pitchFamily="18" charset="0"/>
                          <a:ea typeface="微软雅黑" pitchFamily="34" charset="-122"/>
                          <a:cs typeface="Times New Roman" pitchFamily="18" charset="0"/>
                        </a:rPr>
                        <a:t>Đào</a:t>
                      </a:r>
                      <a:r>
                        <a:rPr lang="en-US" altLang="zh-CN" sz="1200" baseline="0" dirty="0" smtClean="0">
                          <a:latin typeface="Times New Roman" pitchFamily="18" charset="0"/>
                          <a:ea typeface="微软雅黑" pitchFamily="34" charset="-122"/>
                          <a:cs typeface="Times New Roman" pitchFamily="18" charset="0"/>
                        </a:rPr>
                        <a:t> tạo – Tình trạng khóa học</a:t>
                      </a:r>
                      <a:endParaRPr lang="en-US" altLang="zh-CN" sz="1200" dirty="0" smtClean="0">
                        <a:latin typeface="Times New Roman" pitchFamily="18" charset="0"/>
                        <a:ea typeface="微软雅黑" pitchFamily="34" charset="-122"/>
                        <a:cs typeface="Times New Roman" pitchFamily="18" charset="0"/>
                      </a:endParaRPr>
                    </a:p>
                  </a:txBody>
                  <a:tcPr anchor="ctr" horzOverflow="overflow">
                    <a:lnL>
                      <a:noFill/>
                    </a:lnL>
                    <a:lnR>
                      <a:noFill/>
                    </a:lnR>
                    <a:lnT>
                      <a:noFill/>
                    </a:lnT>
                    <a:lnB>
                      <a:noFill/>
                    </a:lnB>
                    <a:lnTlToBr>
                      <a:noFill/>
                    </a:lnTlToBr>
                    <a:lnBlToTr>
                      <a:noFill/>
                    </a:lnBlToTr>
                    <a:noFill/>
                  </a:tcPr>
                </a:tc>
              </a:tr>
            </a:tbl>
          </a:graphicData>
        </a:graphic>
      </p:graphicFrame>
      <p:pic>
        <p:nvPicPr>
          <p:cNvPr id="2" name="Picture 1"/>
          <p:cNvPicPr>
            <a:picLocks noChangeAspect="1"/>
          </p:cNvPicPr>
          <p:nvPr/>
        </p:nvPicPr>
        <p:blipFill>
          <a:blip r:embed="rId2"/>
          <a:stretch>
            <a:fillRect/>
          </a:stretch>
        </p:blipFill>
        <p:spPr>
          <a:xfrm>
            <a:off x="827584" y="2890580"/>
            <a:ext cx="7128792" cy="3657623"/>
          </a:xfrm>
          <a:prstGeom prst="rect">
            <a:avLst/>
          </a:prstGeom>
        </p:spPr>
      </p:pic>
    </p:spTree>
    <p:extLst>
      <p:ext uri="{BB962C8B-B14F-4D97-AF65-F5344CB8AC3E}">
        <p14:creationId xmlns:p14="http://schemas.microsoft.com/office/powerpoint/2010/main" val="7334404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3"/>
          <p:cNvGraphicFramePr>
            <a:graphicFrameLocks noGrp="1"/>
          </p:cNvGraphicFramePr>
          <p:nvPr>
            <p:extLst>
              <p:ext uri="{D42A27DB-BD31-4B8C-83A1-F6EECF244321}">
                <p14:modId xmlns:p14="http://schemas.microsoft.com/office/powerpoint/2010/main" val="3988012720"/>
              </p:ext>
            </p:extLst>
          </p:nvPr>
        </p:nvGraphicFramePr>
        <p:xfrm>
          <a:off x="1432620" y="38904"/>
          <a:ext cx="2707332" cy="365760"/>
        </p:xfrm>
        <a:graphic>
          <a:graphicData uri="http://schemas.openxmlformats.org/drawingml/2006/table">
            <a:tbl>
              <a:tblPr/>
              <a:tblGrid>
                <a:gridCol w="2707332"/>
              </a:tblGrid>
              <a:tr h="360363">
                <a:tc>
                  <a:txBody>
                    <a:bodyPr/>
                    <a:lstStyle/>
                    <a:p>
                      <a:pPr marL="0" indent="0" algn="l" eaLnBrk="0" hangingPunct="0">
                        <a:lnSpc>
                          <a:spcPct val="150000"/>
                        </a:lnSpc>
                        <a:buFont typeface="+mj-lt"/>
                        <a:buNone/>
                      </a:pPr>
                      <a:r>
                        <a:rPr lang="en-US" altLang="zh-CN" sz="1200" dirty="0" smtClean="0">
                          <a:latin typeface="Times New Roman" pitchFamily="18" charset="0"/>
                          <a:ea typeface="微软雅黑" pitchFamily="34" charset="-122"/>
                          <a:cs typeface="Times New Roman" pitchFamily="18" charset="0"/>
                        </a:rPr>
                        <a:t>Đào</a:t>
                      </a:r>
                      <a:r>
                        <a:rPr lang="en-US" altLang="zh-CN" sz="1200" baseline="0" dirty="0" smtClean="0">
                          <a:latin typeface="Times New Roman" pitchFamily="18" charset="0"/>
                          <a:ea typeface="微软雅黑" pitchFamily="34" charset="-122"/>
                          <a:cs typeface="Times New Roman" pitchFamily="18" charset="0"/>
                        </a:rPr>
                        <a:t> tạo – Lịch đào tạo cá nhân</a:t>
                      </a:r>
                      <a:endParaRPr lang="en-US" altLang="zh-CN" sz="1200" dirty="0" smtClean="0">
                        <a:latin typeface="Times New Roman" pitchFamily="18" charset="0"/>
                        <a:ea typeface="微软雅黑" pitchFamily="34" charset="-122"/>
                        <a:cs typeface="Times New Roman" pitchFamily="18" charset="0"/>
                      </a:endParaRPr>
                    </a:p>
                  </a:txBody>
                  <a:tcPr anchor="ctr" horzOverflow="overflow">
                    <a:lnL>
                      <a:noFill/>
                    </a:lnL>
                    <a:lnR>
                      <a:noFill/>
                    </a:lnR>
                    <a:lnT>
                      <a:noFill/>
                    </a:lnT>
                    <a:lnB>
                      <a:noFill/>
                    </a:lnB>
                    <a:lnTlToBr>
                      <a:noFill/>
                    </a:lnTlToBr>
                    <a:lnBlToTr>
                      <a:noFill/>
                    </a:lnBlToTr>
                    <a:noFill/>
                  </a:tcPr>
                </a:tc>
              </a:tr>
            </a:tbl>
          </a:graphicData>
        </a:graphic>
      </p:graphicFrame>
      <p:sp>
        <p:nvSpPr>
          <p:cNvPr id="4" name="TextBox 3"/>
          <p:cNvSpPr txBox="1"/>
          <p:nvPr/>
        </p:nvSpPr>
        <p:spPr>
          <a:xfrm>
            <a:off x="6948264" y="1239143"/>
            <a:ext cx="2016224" cy="1200329"/>
          </a:xfrm>
          <a:prstGeom prst="rect">
            <a:avLst/>
          </a:prstGeom>
          <a:noFill/>
        </p:spPr>
        <p:txBody>
          <a:bodyPr wrap="square" rtlCol="0">
            <a:spAutoFit/>
          </a:bodyPr>
          <a:lstStyle/>
          <a:p>
            <a:pPr algn="l"/>
            <a:r>
              <a:rPr lang="en-US" sz="1200" dirty="0" smtClean="0">
                <a:latin typeface="Times New Roman" panose="02020603050405020304" pitchFamily="18" charset="0"/>
                <a:cs typeface="Times New Roman" panose="02020603050405020304" pitchFamily="18" charset="0"/>
              </a:rPr>
              <a:t>--Xem lịch đào tạo của cá nhân khi tham gia khóa học nào đó</a:t>
            </a:r>
          </a:p>
          <a:p>
            <a:pPr algn="l"/>
            <a:r>
              <a:rPr lang="en-US" sz="1200" dirty="0" smtClean="0">
                <a:latin typeface="Times New Roman" panose="02020603050405020304" pitchFamily="18" charset="0"/>
                <a:cs typeface="Times New Roman" panose="02020603050405020304" pitchFamily="18" charset="0"/>
              </a:rPr>
              <a:t>--Chọn Tên khóa học màu xanh để xem chi tiết nội dung khóa học này</a:t>
            </a:r>
            <a:endParaRPr lang="en-US" sz="12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0" y="908720"/>
            <a:ext cx="6948264" cy="3820277"/>
          </a:xfrm>
          <a:prstGeom prst="rect">
            <a:avLst/>
          </a:prstGeom>
        </p:spPr>
      </p:pic>
      <p:pic>
        <p:nvPicPr>
          <p:cNvPr id="6" name="Picture 5"/>
          <p:cNvPicPr>
            <a:picLocks noChangeAspect="1"/>
          </p:cNvPicPr>
          <p:nvPr/>
        </p:nvPicPr>
        <p:blipFill>
          <a:blip r:embed="rId3"/>
          <a:stretch>
            <a:fillRect/>
          </a:stretch>
        </p:blipFill>
        <p:spPr>
          <a:xfrm>
            <a:off x="1259632" y="3068960"/>
            <a:ext cx="4784216" cy="1742151"/>
          </a:xfrm>
          <a:prstGeom prst="rect">
            <a:avLst/>
          </a:prstGeom>
        </p:spPr>
      </p:pic>
      <p:sp>
        <p:nvSpPr>
          <p:cNvPr id="7" name="Flowchart: Process 6"/>
          <p:cNvSpPr/>
          <p:nvPr/>
        </p:nvSpPr>
        <p:spPr>
          <a:xfrm>
            <a:off x="2411760" y="1839307"/>
            <a:ext cx="720080" cy="221541"/>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9" name="Elbow Connector 8"/>
          <p:cNvCxnSpPr>
            <a:stCxn id="7" idx="2"/>
            <a:endCxn id="6" idx="0"/>
          </p:cNvCxnSpPr>
          <p:nvPr/>
        </p:nvCxnSpPr>
        <p:spPr>
          <a:xfrm rot="16200000" flipH="1">
            <a:off x="2707714" y="2124934"/>
            <a:ext cx="1008112" cy="879940"/>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34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47664" y="28306"/>
            <a:ext cx="295232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anose="02020603050405020304" pitchFamily="18" charset="0"/>
                <a:ea typeface="微软雅黑" pitchFamily="34" charset="-122"/>
                <a:cs typeface="Times New Roman" panose="02020603050405020304" pitchFamily="18" charset="0"/>
              </a:rPr>
              <a:t>Đánh giá thành tích – Đánh giá bản thân</a:t>
            </a:r>
            <a:endParaRPr lang="en-US" altLang="zh-CN" sz="1200" dirty="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357422" cy="4408899"/>
          </a:xfrm>
          <a:prstGeom prst="rect">
            <a:avLst/>
          </a:prstGeom>
          <a:noFill/>
        </p:spPr>
        <p:txBody>
          <a:bodyPr wrap="square" rtlCol="0">
            <a:spAutoFit/>
          </a:bodyPr>
          <a:lstStyle/>
          <a:p>
            <a:pPr algn="l">
              <a:spcBef>
                <a:spcPct val="50000"/>
              </a:spcBef>
            </a:pPr>
            <a:r>
              <a:rPr lang="en-US" altLang="zh-CN" sz="1100" b="1" dirty="0" smtClean="0">
                <a:latin typeface="Times New Roman" pitchFamily="18" charset="0"/>
                <a:ea typeface="微软雅黑" pitchFamily="34" charset="-122"/>
                <a:cs typeface="Times New Roman" pitchFamily="18" charset="0"/>
              </a:rPr>
              <a:t>Công ty thực hiện đánh giá, nếu nhân viên tham giá đánh giá có thể đến trang này đánh giá bản thân</a:t>
            </a:r>
          </a:p>
          <a:p>
            <a:pPr algn="l">
              <a:spcBef>
                <a:spcPct val="50000"/>
              </a:spcBef>
            </a:pPr>
            <a:r>
              <a:rPr lang="vi-VN" altLang="zh-CN" sz="1100" b="1" dirty="0" smtClean="0">
                <a:latin typeface="Times New Roman" pitchFamily="18" charset="0"/>
                <a:ea typeface="微软雅黑" pitchFamily="34" charset="-122"/>
                <a:cs typeface="Times New Roman" pitchFamily="18" charset="0"/>
              </a:rPr>
              <a:t>Chức năng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smtClean="0">
                <a:latin typeface="Times New Roman" pitchFamily="18" charset="0"/>
                <a:ea typeface="微软雅黑" pitchFamily="34" charset="-122"/>
                <a:cs typeface="Times New Roman" pitchFamily="18" charset="0"/>
              </a:rPr>
              <a:t>Thiết lập chỉ tiêu: có thể thêm 2 hay nhiều chỉ tiêu, ghi tỷ lệ làm sao cho tổng bằng 100</a:t>
            </a:r>
          </a:p>
          <a:p>
            <a:pPr marL="228600" indent="-228600" algn="l">
              <a:spcBef>
                <a:spcPct val="50000"/>
              </a:spcBef>
              <a:buAutoNum type="arabicPeriod"/>
            </a:pPr>
            <a:r>
              <a:rPr lang="en-US" altLang="zh-CN" sz="1100" dirty="0" smtClean="0">
                <a:latin typeface="Times New Roman" pitchFamily="18" charset="0"/>
                <a:ea typeface="微软雅黑" pitchFamily="34" charset="-122"/>
                <a:cs typeface="Times New Roman" pitchFamily="18" charset="0"/>
              </a:rPr>
              <a:t>Đánh giá bản thân: Tự cho điểm các chỉ tiêu từ 0~100, hệ thống tự động tính ra tỷ lệ so với tổng điểm</a:t>
            </a:r>
          </a:p>
          <a:p>
            <a:pPr marL="228600" indent="-228600" algn="l">
              <a:spcBef>
                <a:spcPct val="50000"/>
              </a:spcBef>
              <a:buAutoNum type="arabicPeriod"/>
            </a:pPr>
            <a:r>
              <a:rPr lang="en-US" altLang="zh-CN" sz="1100" b="1" dirty="0" smtClean="0">
                <a:latin typeface="Times New Roman" pitchFamily="18" charset="0"/>
                <a:ea typeface="微软雅黑" pitchFamily="34" charset="-122"/>
                <a:cs typeface="Times New Roman" pitchFamily="18" charset="0"/>
              </a:rPr>
              <a:t>Lưu tạm thời: chưa đánh giá xong có thể lưu tạm thời.Lưu tạm thời sau đó có thể sửa thông tin</a:t>
            </a:r>
          </a:p>
          <a:p>
            <a:pPr marL="228600" indent="-228600" algn="l">
              <a:spcBef>
                <a:spcPct val="50000"/>
              </a:spcBef>
            </a:pPr>
            <a:r>
              <a:rPr lang="en-US" altLang="zh-CN" sz="1100" b="1" dirty="0" smtClean="0">
                <a:latin typeface="Times New Roman" pitchFamily="18" charset="0"/>
                <a:ea typeface="微软雅黑" pitchFamily="34" charset="-122"/>
                <a:cs typeface="Times New Roman" pitchFamily="18" charset="0"/>
              </a:rPr>
              <a:t>4.	Thực hiện: Sau khi xác nhận thành tích đánh giá bản thân, click “Thực hiện”, chuyển kết quả đến người đánh giá lần 1.</a:t>
            </a: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0" y="1340768"/>
            <a:ext cx="6833334" cy="3397082"/>
          </a:xfrm>
          <a:prstGeom prst="rect">
            <a:avLst/>
          </a:prstGeom>
        </p:spPr>
      </p:pic>
    </p:spTree>
    <p:extLst>
      <p:ext uri="{BB962C8B-B14F-4D97-AF65-F5344CB8AC3E}">
        <p14:creationId xmlns:p14="http://schemas.microsoft.com/office/powerpoint/2010/main" val="29965594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47664" y="44624"/>
            <a:ext cx="2592288" cy="336695"/>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Đánh giá thành tích – Đánh giá lần 1</a:t>
            </a:r>
          </a:p>
        </p:txBody>
      </p:sp>
      <p:sp>
        <p:nvSpPr>
          <p:cNvPr id="11" name="TextBox 10"/>
          <p:cNvSpPr txBox="1"/>
          <p:nvPr/>
        </p:nvSpPr>
        <p:spPr>
          <a:xfrm>
            <a:off x="6786578" y="1571612"/>
            <a:ext cx="2071702" cy="5678478"/>
          </a:xfrm>
          <a:prstGeom prst="rect">
            <a:avLst/>
          </a:prstGeom>
          <a:noFill/>
        </p:spPr>
        <p:txBody>
          <a:bodyPr wrap="square" rtlCol="0">
            <a:spAutoFit/>
          </a:bodyPr>
          <a:lstStyle/>
          <a:p>
            <a:pPr algn="l">
              <a:spcBef>
                <a:spcPct val="50000"/>
              </a:spcBef>
            </a:pP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dùng</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chỉ</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sử</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dụng</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chức</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năng</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này</a:t>
            </a:r>
            <a:r>
              <a:rPr lang="en-US" altLang="zh-CN" sz="1100" b="1" dirty="0">
                <a:latin typeface="Times New Roman" pitchFamily="18" charset="0"/>
                <a:ea typeface="微软雅黑" pitchFamily="34" charset="-122"/>
                <a:cs typeface="Times New Roman" pitchFamily="18" charset="0"/>
              </a:rPr>
              <a:t> </a:t>
            </a:r>
            <a:r>
              <a:rPr lang="en-US" altLang="zh-CN" sz="1100" b="1" dirty="0" err="1">
                <a:latin typeface="Times New Roman" pitchFamily="18" charset="0"/>
                <a:ea typeface="微软雅黑" pitchFamily="34" charset="-122"/>
                <a:cs typeface="Times New Roman" pitchFamily="18" charset="0"/>
              </a:rPr>
              <a:t>thông</a:t>
            </a:r>
            <a:r>
              <a:rPr lang="en-US" altLang="zh-CN" sz="1100" b="1" dirty="0">
                <a:latin typeface="Times New Roman" pitchFamily="18" charset="0"/>
                <a:ea typeface="微软雅黑" pitchFamily="34" charset="-122"/>
                <a:cs typeface="Times New Roman" pitchFamily="18" charset="0"/>
              </a:rPr>
              <a:t> qua </a:t>
            </a:r>
            <a:r>
              <a:rPr lang="en-US" altLang="zh-CN" sz="1100" b="1" dirty="0" smtClean="0">
                <a:latin typeface="Times New Roman" pitchFamily="18" charset="0"/>
                <a:ea typeface="微软雅黑" pitchFamily="34" charset="-122"/>
                <a:cs typeface="Times New Roman" pitchFamily="18" charset="0"/>
              </a:rPr>
              <a:t>ESS, </a:t>
            </a:r>
            <a:r>
              <a:rPr lang="en-US" altLang="zh-CN" sz="1100" b="1" dirty="0" err="1" smtClean="0">
                <a:latin typeface="Times New Roman" pitchFamily="18" charset="0"/>
                <a:ea typeface="微软雅黑" pitchFamily="34" charset="-122"/>
                <a:cs typeface="Times New Roman" pitchFamily="18" charset="0"/>
              </a:rPr>
              <a:t>thực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hiện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lần</a:t>
            </a:r>
            <a:r>
              <a:rPr lang="en-US" altLang="zh-CN" sz="1100" b="1" dirty="0" smtClean="0">
                <a:latin typeface="Times New Roman" pitchFamily="18" charset="0"/>
                <a:ea typeface="微软雅黑" pitchFamily="34" charset="-122"/>
                <a:cs typeface="Times New Roman" pitchFamily="18" charset="0"/>
              </a:rPr>
              <a:t> 1. </a:t>
            </a:r>
            <a:r>
              <a:rPr lang="en-US" altLang="zh-CN" sz="1100" b="1" dirty="0" err="1" smtClean="0">
                <a:latin typeface="Times New Roman" pitchFamily="18" charset="0"/>
                <a:ea typeface="微软雅黑" pitchFamily="34" charset="-122"/>
                <a:cs typeface="Times New Roman" pitchFamily="18" charset="0"/>
              </a:rPr>
              <a:t>Sau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khi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điền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xong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chuyển</a:t>
            </a:r>
            <a:r>
              <a:rPr lang="en-US" altLang="zh-CN" sz="1100" b="1" dirty="0" smtClean="0">
                <a:latin typeface="Times New Roman" pitchFamily="18" charset="0"/>
                <a:ea typeface="微软雅黑" pitchFamily="34" charset="-122"/>
                <a:cs typeface="Times New Roman" pitchFamily="18" charset="0"/>
              </a:rPr>
              <a:t> sang </a:t>
            </a:r>
            <a:r>
              <a:rPr lang="en-US" altLang="zh-CN" sz="1100" b="1" dirty="0" err="1" smtClean="0">
                <a:latin typeface="Times New Roman" pitchFamily="18" charset="0"/>
                <a:ea typeface="微软雅黑" pitchFamily="34" charset="-122"/>
                <a:cs typeface="Times New Roman" pitchFamily="18" charset="0"/>
              </a:rPr>
              <a:t>giai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đoạn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tiếp</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theo.</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thao</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tác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là</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Chọn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Họ</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tên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vào</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trang</a:t>
            </a:r>
            <a:r>
              <a:rPr lang="en-US" altLang="zh-CN" sz="1100" b="1" dirty="0" smtClean="0">
                <a:latin typeface="Times New Roman" pitchFamily="18" charset="0"/>
                <a:ea typeface="微软雅黑" pitchFamily="34" charset="-122"/>
                <a:cs typeface="Times New Roman" pitchFamily="18" charset="0"/>
              </a:rPr>
              <a:t> chi </a:t>
            </a:r>
            <a:r>
              <a:rPr lang="en-US" altLang="zh-CN" sz="1100" b="1" dirty="0" err="1" smtClean="0">
                <a:latin typeface="Times New Roman" pitchFamily="18" charset="0"/>
                <a:ea typeface="微软雅黑" pitchFamily="34" charset="-122"/>
                <a:cs typeface="Times New Roman" pitchFamily="18" charset="0"/>
              </a:rPr>
              <a:t>tiết</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endParaRPr lang="en-US" altLang="zh-CN" sz="1100" b="1" dirty="0" smtClean="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Times New Roman" pitchFamily="18" charset="0"/>
                <a:ea typeface="微软雅黑" pitchFamily="34" charset="-122"/>
                <a:cs typeface="Times New Roman" pitchFamily="18" charset="0"/>
              </a:rPr>
              <a:t>Chức năng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b="1" dirty="0" smtClean="0">
                <a:latin typeface="Times New Roman" pitchFamily="18" charset="0"/>
                <a:ea typeface="微软雅黑" pitchFamily="34" charset="-122"/>
                <a:cs typeface="Times New Roman" pitchFamily="18" charset="0"/>
              </a:rPr>
              <a:t>Hệ thống hiển thị các nhân viên cần đánh giá lần 1</a:t>
            </a:r>
          </a:p>
          <a:p>
            <a:pPr marL="228600" indent="-228600" algn="l">
              <a:spcBef>
                <a:spcPct val="50000"/>
              </a:spcBef>
              <a:buAutoNum type="arabicPeriod"/>
            </a:pPr>
            <a:r>
              <a:rPr lang="en-US" altLang="zh-CN" sz="1100" b="1" dirty="0">
                <a:latin typeface="Times New Roman" pitchFamily="18" charset="0"/>
                <a:ea typeface="微软雅黑" pitchFamily="34" charset="-122"/>
                <a:cs typeface="Times New Roman" pitchFamily="18" charset="0"/>
              </a:rPr>
              <a:t>C</a:t>
            </a:r>
            <a:r>
              <a:rPr lang="en-US" altLang="zh-CN" sz="1100" b="1" dirty="0" smtClean="0">
                <a:latin typeface="Times New Roman" pitchFamily="18" charset="0"/>
                <a:ea typeface="微软雅黑" pitchFamily="34" charset="-122"/>
                <a:cs typeface="Times New Roman" pitchFamily="18" charset="0"/>
              </a:rPr>
              <a:t>họn Họ tên, vào trang đánh giá chi tiết</a:t>
            </a:r>
          </a:p>
          <a:p>
            <a:pPr marL="228600" indent="-228600" algn="l">
              <a:spcBef>
                <a:spcPct val="50000"/>
              </a:spcBef>
              <a:buAutoNum type="arabicPeriod"/>
            </a:pPr>
            <a:r>
              <a:rPr lang="en-US" altLang="zh-CN" sz="1100" b="1" dirty="0">
                <a:latin typeface="Times New Roman" pitchFamily="18" charset="0"/>
                <a:ea typeface="微软雅黑" pitchFamily="34" charset="-122"/>
                <a:cs typeface="Times New Roman" pitchFamily="18" charset="0"/>
              </a:rPr>
              <a:t>Lưu tạm thời: </a:t>
            </a:r>
            <a:r>
              <a:rPr lang="en-US" altLang="zh-CN" sz="1100" b="1" dirty="0" smtClean="0">
                <a:latin typeface="Times New Roman" pitchFamily="18" charset="0"/>
                <a:ea typeface="微软雅黑" pitchFamily="34" charset="-122"/>
                <a:cs typeface="Times New Roman" pitchFamily="18" charset="0"/>
              </a:rPr>
              <a:t>chưa hoàn thành đánh giá có thể lưu lại tạm thời để hôm sau có thể tiếp tục thực hiện</a:t>
            </a:r>
            <a:endParaRPr lang="en-US" altLang="zh-CN" sz="1100" b="1" dirty="0">
              <a:latin typeface="Times New Roman" pitchFamily="18" charset="0"/>
              <a:ea typeface="微软雅黑" pitchFamily="34" charset="-122"/>
              <a:cs typeface="Times New Roman" pitchFamily="18" charset="0"/>
            </a:endParaRPr>
          </a:p>
          <a:p>
            <a:pPr marL="228600" indent="-228600" algn="l">
              <a:spcBef>
                <a:spcPct val="50000"/>
              </a:spcBef>
            </a:pPr>
            <a:r>
              <a:rPr lang="en-US" altLang="zh-CN" sz="1100" b="1" dirty="0">
                <a:latin typeface="Times New Roman" pitchFamily="18" charset="0"/>
                <a:ea typeface="微软雅黑" pitchFamily="34" charset="-122"/>
                <a:cs typeface="Times New Roman" pitchFamily="18" charset="0"/>
              </a:rPr>
              <a:t>4.	Thực hiện: Sau khi xác nhận thành tích đánh giá bản thân, click “Thực hiện”, chuyển kết quả đến người đánh </a:t>
            </a:r>
            <a:r>
              <a:rPr lang="en-US" altLang="zh-CN" sz="1100" b="1" dirty="0" smtClean="0">
                <a:latin typeface="Times New Roman" pitchFamily="18" charset="0"/>
                <a:ea typeface="微软雅黑" pitchFamily="34" charset="-122"/>
                <a:cs typeface="Times New Roman" pitchFamily="18" charset="0"/>
              </a:rPr>
              <a:t>giá</a:t>
            </a:r>
            <a:r>
              <a:rPr lang="en-US" altLang="zh-CN" sz="1100" b="1" dirty="0">
                <a:latin typeface="Times New Roman" pitchFamily="18" charset="0"/>
                <a:ea typeface="微软雅黑" pitchFamily="34" charset="-122"/>
                <a:cs typeface="Times New Roman" pitchFamily="18" charset="0"/>
              </a:rPr>
              <a:t> </a:t>
            </a:r>
            <a:r>
              <a:rPr lang="en-US" altLang="zh-CN" sz="1100" b="1" dirty="0" smtClean="0">
                <a:latin typeface="Times New Roman" pitchFamily="18" charset="0"/>
                <a:ea typeface="微软雅黑" pitchFamily="34" charset="-122"/>
                <a:cs typeface="Times New Roman" pitchFamily="18" charset="0"/>
              </a:rPr>
              <a:t>tiếp theo</a:t>
            </a:r>
            <a:endParaRPr lang="en-US" altLang="zh-CN" sz="1100" b="1" dirty="0">
              <a:latin typeface="Times New Roman" pitchFamily="18" charset="0"/>
              <a:ea typeface="微软雅黑" pitchFamily="34" charset="-122"/>
              <a:cs typeface="Times New Roman" pitchFamily="18" charset="0"/>
            </a:endParaRPr>
          </a:p>
          <a:p>
            <a:pPr marL="228600" indent="-228600" algn="l">
              <a:spcBef>
                <a:spcPct val="50000"/>
              </a:spcBef>
              <a:buAutoNum type="arabicPeriod"/>
            </a:pPr>
            <a:endParaRPr lang="en-US" altLang="zh-CN" sz="1100" b="1" dirty="0" smtClean="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4" name="Picture 3"/>
          <p:cNvPicPr>
            <a:picLocks noChangeAspect="1"/>
          </p:cNvPicPr>
          <p:nvPr/>
        </p:nvPicPr>
        <p:blipFill>
          <a:blip r:embed="rId3"/>
          <a:stretch>
            <a:fillRect/>
          </a:stretch>
        </p:blipFill>
        <p:spPr>
          <a:xfrm>
            <a:off x="17462" y="1268760"/>
            <a:ext cx="6769116" cy="3532941"/>
          </a:xfrm>
          <a:prstGeom prst="rect">
            <a:avLst/>
          </a:prstGeom>
        </p:spPr>
      </p:pic>
      <p:pic>
        <p:nvPicPr>
          <p:cNvPr id="5" name="Picture 4"/>
          <p:cNvPicPr>
            <a:picLocks noChangeAspect="1"/>
          </p:cNvPicPr>
          <p:nvPr/>
        </p:nvPicPr>
        <p:blipFill>
          <a:blip r:embed="rId4"/>
          <a:stretch>
            <a:fillRect/>
          </a:stretch>
        </p:blipFill>
        <p:spPr>
          <a:xfrm>
            <a:off x="749111" y="3069323"/>
            <a:ext cx="5333511" cy="3174325"/>
          </a:xfrm>
          <a:prstGeom prst="rect">
            <a:avLst/>
          </a:prstGeom>
        </p:spPr>
      </p:pic>
      <p:sp>
        <p:nvSpPr>
          <p:cNvPr id="6" name="Rectangle 5"/>
          <p:cNvSpPr/>
          <p:nvPr/>
        </p:nvSpPr>
        <p:spPr>
          <a:xfrm>
            <a:off x="827584" y="2492896"/>
            <a:ext cx="50405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9" name="Elbow Connector 8"/>
          <p:cNvCxnSpPr>
            <a:endCxn id="5" idx="0"/>
          </p:cNvCxnSpPr>
          <p:nvPr/>
        </p:nvCxnSpPr>
        <p:spPr>
          <a:xfrm>
            <a:off x="1129463" y="2421251"/>
            <a:ext cx="2286404" cy="648072"/>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1569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28306"/>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mj-lt"/>
                <a:ea typeface="微软雅黑" pitchFamily="34" charset="-122"/>
              </a:rPr>
              <a:t>Đánh giá thành tích - </a:t>
            </a:r>
            <a:r>
              <a:rPr lang="vi-VN" altLang="zh-CN" sz="1200" dirty="0" smtClean="0">
                <a:latin typeface="+mj-lt"/>
                <a:ea typeface="微软雅黑" pitchFamily="34" charset="-122"/>
              </a:rPr>
              <a:t>Đánh giá lần 2</a:t>
            </a:r>
            <a:endParaRPr lang="en-US" altLang="zh-CN" sz="1200" dirty="0" smtClean="0">
              <a:latin typeface="+mj-lt"/>
              <a:ea typeface="微软雅黑" pitchFamily="34" charset="-122"/>
            </a:endParaRPr>
          </a:p>
        </p:txBody>
      </p:sp>
      <p:sp>
        <p:nvSpPr>
          <p:cNvPr id="11" name="TextBox 10"/>
          <p:cNvSpPr txBox="1"/>
          <p:nvPr/>
        </p:nvSpPr>
        <p:spPr>
          <a:xfrm>
            <a:off x="6786578" y="1571612"/>
            <a:ext cx="2071702" cy="5424562"/>
          </a:xfrm>
          <a:prstGeom prst="rect">
            <a:avLst/>
          </a:prstGeom>
          <a:noFill/>
        </p:spPr>
        <p:txBody>
          <a:bodyPr wrap="square" rtlCol="0">
            <a:spAutoFit/>
          </a:bodyPr>
          <a:lstStyle/>
          <a:p>
            <a:pPr algn="l">
              <a:spcBef>
                <a:spcPct val="50000"/>
              </a:spcBef>
            </a:pPr>
            <a:r>
              <a:rPr lang="en-US" altLang="zh-CN" sz="1100" b="1" dirty="0">
                <a:latin typeface="Times New Roman" pitchFamily="18" charset="0"/>
                <a:ea typeface="微软雅黑" pitchFamily="34" charset="-122"/>
                <a:cs typeface="Times New Roman" pitchFamily="18" charset="0"/>
              </a:rPr>
              <a:t>Người dùng chỉ sử dụng chức năng này thông qua ESS, thực hiện đánh giá lần </a:t>
            </a:r>
            <a:r>
              <a:rPr lang="en-US" altLang="zh-CN" sz="1100" b="1" dirty="0" smtClean="0">
                <a:latin typeface="Times New Roman" pitchFamily="18" charset="0"/>
                <a:ea typeface="微软雅黑" pitchFamily="34" charset="-122"/>
                <a:cs typeface="Times New Roman" pitchFamily="18" charset="0"/>
              </a:rPr>
              <a:t>2. </a:t>
            </a:r>
            <a:r>
              <a:rPr lang="en-US" altLang="zh-CN" sz="1100" b="1" dirty="0">
                <a:latin typeface="Times New Roman" pitchFamily="18" charset="0"/>
                <a:ea typeface="微软雅黑" pitchFamily="34" charset="-122"/>
                <a:cs typeface="Times New Roman" pitchFamily="18" charset="0"/>
              </a:rPr>
              <a:t>Sau khi điền xong chuyển sang giai đoạn tiếp theo. Người thao tác là người đánh giá. Chọn Họ tên, vào trang chi tiết đánh giá</a:t>
            </a:r>
          </a:p>
          <a:p>
            <a:pPr algn="l">
              <a:spcBef>
                <a:spcPct val="50000"/>
              </a:spcBef>
            </a:pPr>
            <a:r>
              <a:rPr lang="vi-VN" altLang="zh-CN" sz="1100" b="1" dirty="0">
                <a:latin typeface="Times New Roman" pitchFamily="18" charset="0"/>
                <a:ea typeface="微软雅黑" pitchFamily="34" charset="-122"/>
                <a:cs typeface="Times New Roman" pitchFamily="18" charset="0"/>
              </a:rPr>
              <a:t>Chức năng</a:t>
            </a:r>
            <a:r>
              <a:rPr lang="zh-CN" altLang="en-US" sz="1100" b="1" dirty="0">
                <a:latin typeface="Times New Roman" pitchFamily="18" charset="0"/>
                <a:ea typeface="微软雅黑" pitchFamily="34" charset="-122"/>
                <a:cs typeface="Times New Roman" pitchFamily="18" charset="0"/>
              </a:rPr>
              <a:t>：</a:t>
            </a:r>
            <a:endParaRPr lang="en-US" altLang="zh-CN" sz="1100" b="1" dirty="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b="1" dirty="0">
                <a:latin typeface="Times New Roman" pitchFamily="18" charset="0"/>
                <a:ea typeface="微软雅黑" pitchFamily="34" charset="-122"/>
                <a:cs typeface="Times New Roman" pitchFamily="18" charset="0"/>
              </a:rPr>
              <a:t>Hệ thống hiển thị các nhân viên cần đánh giá lần </a:t>
            </a:r>
            <a:r>
              <a:rPr lang="en-US" altLang="zh-CN" sz="1100" b="1" dirty="0" smtClean="0">
                <a:latin typeface="Times New Roman" pitchFamily="18" charset="0"/>
                <a:ea typeface="微软雅黑" pitchFamily="34" charset="-122"/>
                <a:cs typeface="Times New Roman" pitchFamily="18" charset="0"/>
              </a:rPr>
              <a:t>2</a:t>
            </a:r>
            <a:endParaRPr lang="en-US" altLang="zh-CN" sz="1100" b="1" dirty="0">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b="1" dirty="0">
                <a:latin typeface="Times New Roman" pitchFamily="18" charset="0"/>
                <a:ea typeface="微软雅黑" pitchFamily="34" charset="-122"/>
                <a:cs typeface="Times New Roman" pitchFamily="18" charset="0"/>
              </a:rPr>
              <a:t>Chọn Họ tên, vào trang đánh giá chi tiết</a:t>
            </a:r>
          </a:p>
          <a:p>
            <a:pPr marL="228600" indent="-228600" algn="l">
              <a:spcBef>
                <a:spcPct val="50000"/>
              </a:spcBef>
              <a:buAutoNum type="arabicPeriod"/>
            </a:pPr>
            <a:r>
              <a:rPr lang="en-US" altLang="zh-CN" sz="1100" b="1" dirty="0">
                <a:latin typeface="Times New Roman" pitchFamily="18" charset="0"/>
                <a:ea typeface="微软雅黑" pitchFamily="34" charset="-122"/>
                <a:cs typeface="Times New Roman" pitchFamily="18" charset="0"/>
              </a:rPr>
              <a:t>Lưu tạm thời: chưa hoàn thành đánh giá có thể lưu lại tạm thời để hôm sau có thể tiếp tục thực hiện</a:t>
            </a:r>
          </a:p>
          <a:p>
            <a:pPr marL="228600" indent="-228600" algn="l">
              <a:spcBef>
                <a:spcPct val="50000"/>
              </a:spcBef>
            </a:pPr>
            <a:r>
              <a:rPr lang="en-US" altLang="zh-CN" sz="1100" b="1" dirty="0">
                <a:latin typeface="Times New Roman" pitchFamily="18" charset="0"/>
                <a:ea typeface="微软雅黑" pitchFamily="34" charset="-122"/>
                <a:cs typeface="Times New Roman" pitchFamily="18" charset="0"/>
              </a:rPr>
              <a:t>4.	Thực hiện: Sau khi xác nhận thành tích đánh giá bản thân, click “Thực hiện”, chuyển kết quả đến người đánh giá tiếp theo</a:t>
            </a:r>
          </a:p>
          <a:p>
            <a:pPr marL="228600" indent="-228600" algn="l">
              <a:spcBef>
                <a:spcPct val="50000"/>
              </a:spcBef>
            </a:pP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0" y="1268760"/>
            <a:ext cx="6804248" cy="3522490"/>
          </a:xfrm>
          <a:prstGeom prst="rect">
            <a:avLst/>
          </a:prstGeom>
        </p:spPr>
      </p:pic>
    </p:spTree>
    <p:extLst>
      <p:ext uri="{BB962C8B-B14F-4D97-AF65-F5344CB8AC3E}">
        <p14:creationId xmlns:p14="http://schemas.microsoft.com/office/powerpoint/2010/main" val="21699471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28305"/>
            <a:ext cx="3024336"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Đánh giá năng lực – Đánh giá bản thân 1</a:t>
            </a:r>
          </a:p>
        </p:txBody>
      </p:sp>
      <p:sp>
        <p:nvSpPr>
          <p:cNvPr id="11" name="TextBox 10"/>
          <p:cNvSpPr txBox="1"/>
          <p:nvPr/>
        </p:nvSpPr>
        <p:spPr>
          <a:xfrm>
            <a:off x="6634767" y="1628800"/>
            <a:ext cx="2357422" cy="4324261"/>
          </a:xfrm>
          <a:prstGeom prst="rect">
            <a:avLst/>
          </a:prstGeom>
          <a:noFill/>
        </p:spPr>
        <p:txBody>
          <a:bodyPr wrap="square" rtlCol="0">
            <a:spAutoFit/>
          </a:bodyPr>
          <a:lstStyle/>
          <a:p>
            <a:pPr algn="l">
              <a:spcBef>
                <a:spcPct val="50000"/>
              </a:spcBef>
            </a:pP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dùng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chỉ</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sử</a:t>
            </a:r>
            <a:r>
              <a:rPr lang="en-US" altLang="zh-CN" sz="1100" b="1" dirty="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dụng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chức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năng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này</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thông</a:t>
            </a:r>
            <a:r>
              <a:rPr lang="en-US" altLang="zh-CN" sz="1100" b="1" dirty="0" smtClean="0">
                <a:latin typeface="Times New Roman" pitchFamily="18" charset="0"/>
                <a:ea typeface="微软雅黑" pitchFamily="34" charset="-122"/>
                <a:cs typeface="Times New Roman" pitchFamily="18" charset="0"/>
              </a:rPr>
              <a:t> qua ESS, </a:t>
            </a:r>
            <a:r>
              <a:rPr lang="en-US" altLang="zh-CN" sz="1100" b="1" dirty="0" err="1" smtClean="0">
                <a:latin typeface="Times New Roman" pitchFamily="18" charset="0"/>
                <a:ea typeface="微软雅黑" pitchFamily="34" charset="-122"/>
                <a:cs typeface="Times New Roman" pitchFamily="18" charset="0"/>
              </a:rPr>
              <a:t>thực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hiện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bản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thân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Sau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khi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điển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xong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chuyển</a:t>
            </a:r>
            <a:r>
              <a:rPr lang="en-US" altLang="zh-CN" sz="1100" b="1" dirty="0" smtClean="0">
                <a:latin typeface="Times New Roman" pitchFamily="18" charset="0"/>
                <a:ea typeface="微软雅黑" pitchFamily="34" charset="-122"/>
                <a:cs typeface="Times New Roman" pitchFamily="18" charset="0"/>
              </a:rPr>
              <a:t> sang </a:t>
            </a:r>
            <a:r>
              <a:rPr lang="en-US" altLang="zh-CN" sz="1100" b="1" dirty="0" err="1" smtClean="0">
                <a:latin typeface="Times New Roman" pitchFamily="18" charset="0"/>
                <a:ea typeface="微软雅黑" pitchFamily="34" charset="-122"/>
                <a:cs typeface="Times New Roman" pitchFamily="18" charset="0"/>
              </a:rPr>
              <a:t>trang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lần</a:t>
            </a:r>
            <a:r>
              <a:rPr lang="en-US" altLang="zh-CN" sz="1100" b="1" dirty="0" smtClean="0">
                <a:latin typeface="Times New Roman" pitchFamily="18" charset="0"/>
                <a:ea typeface="微软雅黑" pitchFamily="34" charset="-122"/>
                <a:cs typeface="Times New Roman" pitchFamily="18" charset="0"/>
              </a:rPr>
              <a:t> 1. </a:t>
            </a: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thao</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tác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là</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đối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tượng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endParaRPr lang="en-US" altLang="zh-CN" sz="1100" b="1" dirty="0" smtClean="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Times New Roman" pitchFamily="18" charset="0"/>
                <a:ea typeface="微软雅黑" pitchFamily="34" charset="-122"/>
                <a:cs typeface="Times New Roman" pitchFamily="18" charset="0"/>
              </a:rPr>
              <a:t>Chức năng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b="1" dirty="0" smtClean="0">
                <a:latin typeface="Times New Roman" pitchFamily="18" charset="0"/>
                <a:ea typeface="微软雅黑" pitchFamily="34" charset="-122"/>
                <a:cs typeface="Times New Roman" pitchFamily="18" charset="0"/>
              </a:rPr>
              <a:t>Tự đánh giá bản thân bằng cách cho bậc đánh giá, hệ thống tự động tính ra số điểm</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b="1" dirty="0" err="1" smtClean="0">
                <a:latin typeface="Times New Roman" pitchFamily="18" charset="0"/>
                <a:ea typeface="微软雅黑" pitchFamily="34" charset="-122"/>
                <a:cs typeface="Times New Roman" pitchFamily="18" charset="0"/>
              </a:rPr>
              <a:t>Lưu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tạm</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có</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thể</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sử</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dụng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những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phần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chưa</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điền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xong</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Lưu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tạm</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sau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này</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có</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thể</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điền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được</a:t>
            </a:r>
            <a:endParaRPr lang="en-US" altLang="zh-CN" sz="1100" b="1" dirty="0" smtClean="0">
              <a:latin typeface="Times New Roman" pitchFamily="18" charset="0"/>
              <a:ea typeface="微软雅黑" pitchFamily="34" charset="-122"/>
              <a:cs typeface="Times New Roman" pitchFamily="18" charset="0"/>
            </a:endParaRPr>
          </a:p>
          <a:p>
            <a:pPr marL="228600" indent="-228600" algn="l">
              <a:spcBef>
                <a:spcPct val="50000"/>
              </a:spcBef>
            </a:pPr>
            <a:r>
              <a:rPr lang="en-US" altLang="zh-CN" sz="1100" b="1" dirty="0" smtClean="0">
                <a:latin typeface="Times New Roman" pitchFamily="18" charset="0"/>
                <a:ea typeface="微软雅黑" pitchFamily="34" charset="-122"/>
                <a:cs typeface="Times New Roman" pitchFamily="18" charset="0"/>
              </a:rPr>
              <a:t>4.	</a:t>
            </a:r>
            <a:r>
              <a:rPr lang="en-US" altLang="zh-CN" sz="1100" b="1" dirty="0" err="1" smtClean="0">
                <a:latin typeface="Times New Roman" pitchFamily="18" charset="0"/>
                <a:ea typeface="微软雅黑" pitchFamily="34" charset="-122"/>
                <a:cs typeface="Times New Roman" pitchFamily="18" charset="0"/>
              </a:rPr>
              <a:t>Thực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hiện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Sau</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khi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xác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nhận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thành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tích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bản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thân</a:t>
            </a:r>
            <a:r>
              <a:rPr lang="en-US" altLang="zh-CN" sz="1100" b="1" dirty="0" smtClean="0">
                <a:latin typeface="Times New Roman" pitchFamily="18" charset="0"/>
                <a:ea typeface="微软雅黑" pitchFamily="34" charset="-122"/>
                <a:cs typeface="Times New Roman" pitchFamily="18" charset="0"/>
              </a:rPr>
              <a:t>, click “</a:t>
            </a:r>
            <a:r>
              <a:rPr lang="en-US" altLang="zh-CN" sz="1100" b="1" dirty="0" err="1" smtClean="0">
                <a:latin typeface="Times New Roman" pitchFamily="18" charset="0"/>
                <a:ea typeface="微软雅黑" pitchFamily="34" charset="-122"/>
                <a:cs typeface="Times New Roman" pitchFamily="18" charset="0"/>
              </a:rPr>
              <a:t>Thực</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hiện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chuyển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kết</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quả</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đến</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người</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đánh</a:t>
            </a:r>
            <a:r>
              <a:rPr lang="en-US" altLang="zh-CN" sz="1100" b="1" dirty="0" smtClean="0">
                <a:latin typeface="Times New Roman" pitchFamily="18" charset="0"/>
                <a:ea typeface="微软雅黑" pitchFamily="34" charset="-122"/>
                <a:cs typeface="Times New Roman" pitchFamily="18" charset="0"/>
              </a:rPr>
              <a:t> </a:t>
            </a:r>
            <a:r>
              <a:rPr lang="en-US" altLang="zh-CN" sz="1100" b="1" dirty="0" err="1" smtClean="0">
                <a:latin typeface="Times New Roman" pitchFamily="18" charset="0"/>
                <a:ea typeface="微软雅黑" pitchFamily="34" charset="-122"/>
                <a:cs typeface="Times New Roman" pitchFamily="18" charset="0"/>
              </a:rPr>
              <a:t>giá</a:t>
            </a:r>
            <a:r>
              <a:rPr lang="en-US" altLang="zh-CN" sz="1100" b="1" dirty="0" smtClean="0">
                <a:latin typeface="Times New Roman" pitchFamily="18" charset="0"/>
                <a:ea typeface="微软雅黑" pitchFamily="34" charset="-122"/>
                <a:cs typeface="Times New Roman" pitchFamily="18" charset="0"/>
              </a:rPr>
              <a:t>.</a:t>
            </a: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28050" y="1412776"/>
            <a:ext cx="6617605" cy="2827207"/>
          </a:xfrm>
          <a:prstGeom prst="rect">
            <a:avLst/>
          </a:prstGeom>
        </p:spPr>
      </p:pic>
      <p:sp>
        <p:nvSpPr>
          <p:cNvPr id="3" name="Rectangle 2"/>
          <p:cNvSpPr/>
          <p:nvPr/>
        </p:nvSpPr>
        <p:spPr>
          <a:xfrm>
            <a:off x="6084168" y="2420888"/>
            <a:ext cx="561487"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spTree>
    <p:extLst>
      <p:ext uri="{BB962C8B-B14F-4D97-AF65-F5344CB8AC3E}">
        <p14:creationId xmlns:p14="http://schemas.microsoft.com/office/powerpoint/2010/main" val="26755816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35332"/>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Đánh giá năng lực - Đánh giá lần 1</a:t>
            </a:r>
          </a:p>
        </p:txBody>
      </p:sp>
      <p:sp>
        <p:nvSpPr>
          <p:cNvPr id="11" name="TextBox 10"/>
          <p:cNvSpPr txBox="1"/>
          <p:nvPr/>
        </p:nvSpPr>
        <p:spPr>
          <a:xfrm>
            <a:off x="6786578" y="1571612"/>
            <a:ext cx="2071702" cy="6524863"/>
          </a:xfrm>
          <a:prstGeom prst="rect">
            <a:avLst/>
          </a:prstGeom>
          <a:noFill/>
        </p:spPr>
        <p:txBody>
          <a:bodyPr wrap="square" rtlCol="0">
            <a:spAutoFit/>
          </a:bodyPr>
          <a:lstStyle/>
          <a:p>
            <a:pPr algn="l">
              <a:spcBef>
                <a:spcPct val="50000"/>
              </a:spcBef>
            </a:pPr>
            <a:r>
              <a:rPr lang="en-US" altLang="zh-CN" sz="1100" b="1" dirty="0" smtClean="0">
                <a:latin typeface="Times New Roman" pitchFamily="18" charset="0"/>
                <a:ea typeface="微软雅黑" pitchFamily="34" charset="-122"/>
                <a:cs typeface="Times New Roman" pitchFamily="18" charset="0"/>
              </a:rPr>
              <a:t>Sau khi đánh giá bản thân, dữ liệu sẽ chuyển đến trang của người đánh giá lần 1. Hệ thống hiển thị nhân viên được đánh giá, và có thể xem được trạng thái đánh giá đang là giai đoạn nào</a:t>
            </a:r>
          </a:p>
          <a:p>
            <a:pPr algn="l">
              <a:spcBef>
                <a:spcPct val="50000"/>
              </a:spcBef>
            </a:pPr>
            <a:r>
              <a:rPr lang="vi-VN" altLang="zh-CN" sz="1100" b="1" dirty="0" smtClean="0">
                <a:latin typeface="Times New Roman" pitchFamily="18" charset="0"/>
                <a:ea typeface="微软雅黑" pitchFamily="34" charset="-122"/>
                <a:cs typeface="Times New Roman" pitchFamily="18" charset="0"/>
              </a:rPr>
              <a:t>Chức năng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smtClean="0">
                <a:latin typeface="Times New Roman" pitchFamily="18" charset="0"/>
                <a:ea typeface="微软雅黑" pitchFamily="34" charset="-122"/>
                <a:cs typeface="Times New Roman" pitchFamily="18" charset="0"/>
              </a:rPr>
              <a:t>Có thể xem dữ liệu phân bố tỷ lệ đánh giá</a:t>
            </a:r>
          </a:p>
          <a:p>
            <a:pPr marL="228600" indent="-228600" algn="l">
              <a:spcBef>
                <a:spcPct val="50000"/>
              </a:spcBef>
              <a:buAutoNum type="arabicPeriod"/>
            </a:pPr>
            <a:r>
              <a:rPr lang="en-US" altLang="zh-CN" sz="1100" dirty="0" err="1" smtClean="0">
                <a:latin typeface="Times New Roman" pitchFamily="18" charset="0"/>
                <a:ea typeface="微软雅黑" pitchFamily="34" charset="-122"/>
                <a:cs typeface="Times New Roman" pitchFamily="18" charset="0"/>
              </a:rPr>
              <a:t>Bên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dưới</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có</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thể</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xem</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được</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có</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bao</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nhiêu</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người</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cần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thực</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hiện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đánh</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giá</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lần</a:t>
            </a:r>
            <a:r>
              <a:rPr lang="en-US" altLang="zh-CN" sz="1100" dirty="0" smtClean="0">
                <a:latin typeface="Times New Roman" pitchFamily="18" charset="0"/>
                <a:ea typeface="微软雅黑" pitchFamily="34" charset="-122"/>
                <a:cs typeface="Times New Roman" pitchFamily="18" charset="0"/>
              </a:rPr>
              <a:t> 1. </a:t>
            </a:r>
            <a:r>
              <a:rPr lang="en-US" altLang="zh-CN" sz="1100" dirty="0" err="1" smtClean="0">
                <a:latin typeface="Times New Roman" pitchFamily="18" charset="0"/>
                <a:ea typeface="微软雅黑" pitchFamily="34" charset="-122"/>
                <a:cs typeface="Times New Roman" pitchFamily="18" charset="0"/>
              </a:rPr>
              <a:t>chọn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Họ</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tên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vào</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trang</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đánh</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giá</a:t>
            </a:r>
            <a:r>
              <a:rPr lang="en-US" altLang="zh-CN" sz="1100" dirty="0" smtClean="0">
                <a:latin typeface="Times New Roman" pitchFamily="18" charset="0"/>
                <a:ea typeface="微软雅黑" pitchFamily="34" charset="-122"/>
                <a:cs typeface="Times New Roman" pitchFamily="18" charset="0"/>
              </a:rPr>
              <a:t> chi </a:t>
            </a:r>
            <a:r>
              <a:rPr lang="en-US" altLang="zh-CN" sz="1100" dirty="0" err="1" smtClean="0">
                <a:latin typeface="Times New Roman" pitchFamily="18" charset="0"/>
                <a:ea typeface="微软雅黑" pitchFamily="34" charset="-122"/>
                <a:cs typeface="Times New Roman" pitchFamily="18" charset="0"/>
              </a:rPr>
              <a:t>tiết</a:t>
            </a: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smtClean="0">
                <a:latin typeface="Times New Roman" pitchFamily="18" charset="0"/>
                <a:ea typeface="微软雅黑" pitchFamily="34" charset="-122"/>
                <a:cs typeface="Times New Roman" pitchFamily="18" charset="0"/>
              </a:rPr>
              <a:t>Chọn nhân viên cần đánh giá, hiển thị khung thông tin bên dưới</a:t>
            </a:r>
            <a:endParaRPr lang="en-US" altLang="zh-CN" sz="1100" dirty="0">
              <a:latin typeface="Times New Roman" pitchFamily="18" charset="0"/>
              <a:ea typeface="微软雅黑" pitchFamily="34" charset="-122"/>
              <a:cs typeface="Times New Roman" pitchFamily="18" charset="0"/>
            </a:endParaRPr>
          </a:p>
          <a:p>
            <a:pPr marL="228600" indent="-228600" algn="l">
              <a:spcBef>
                <a:spcPct val="50000"/>
              </a:spcBef>
            </a:pPr>
            <a:r>
              <a:rPr lang="en-US" altLang="zh-CN" sz="1100" dirty="0">
                <a:latin typeface="Times New Roman" pitchFamily="18" charset="0"/>
                <a:ea typeface="微软雅黑" pitchFamily="34" charset="-122"/>
                <a:cs typeface="Times New Roman" pitchFamily="18" charset="0"/>
              </a:rPr>
              <a:t>4.	</a:t>
            </a:r>
            <a:r>
              <a:rPr lang="en-US" altLang="zh-CN" sz="1100" dirty="0" smtClean="0">
                <a:latin typeface="Times New Roman" pitchFamily="18" charset="0"/>
                <a:ea typeface="微软雅黑" pitchFamily="34" charset="-122"/>
                <a:cs typeface="Times New Roman" pitchFamily="18" charset="0"/>
              </a:rPr>
              <a:t>Khung hiện lên có thể xem kết quả đánh giá bản thân, sau đó, người đánh giá cho điểm bên cạnh. “Lưu tạm thời” nếu chưa hoàn thành đánh giá để sau tiếp tục thực hiện; “Xác nhận” để hoàn thành đánh giá</a:t>
            </a:r>
            <a:endParaRPr lang="en-US" altLang="zh-CN" sz="1100" dirty="0">
              <a:latin typeface="Times New Roman" pitchFamily="18" charset="0"/>
              <a:ea typeface="微软雅黑" pitchFamily="34" charset="-122"/>
              <a:cs typeface="Times New Roman" pitchFamily="18" charset="0"/>
            </a:endParaRPr>
          </a:p>
          <a:p>
            <a:pPr marL="228600" indent="-228600" algn="l">
              <a:spcBef>
                <a:spcPct val="50000"/>
              </a:spcBef>
              <a:buAutoNum type="arabicPeriod"/>
            </a:pPr>
            <a:endParaRPr lang="en-US" altLang="zh-CN" sz="1100" b="1" dirty="0" smtClean="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16517" y="1412776"/>
            <a:ext cx="6770061" cy="3125736"/>
          </a:xfrm>
          <a:prstGeom prst="rect">
            <a:avLst/>
          </a:prstGeom>
        </p:spPr>
      </p:pic>
    </p:spTree>
    <p:extLst>
      <p:ext uri="{BB962C8B-B14F-4D97-AF65-F5344CB8AC3E}">
        <p14:creationId xmlns:p14="http://schemas.microsoft.com/office/powerpoint/2010/main" val="28204067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35332"/>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Đánh giá năng lực - Đánh giá lần 2</a:t>
            </a:r>
          </a:p>
        </p:txBody>
      </p:sp>
      <p:sp>
        <p:nvSpPr>
          <p:cNvPr id="11" name="TextBox 10"/>
          <p:cNvSpPr txBox="1"/>
          <p:nvPr/>
        </p:nvSpPr>
        <p:spPr>
          <a:xfrm>
            <a:off x="6786578" y="1571612"/>
            <a:ext cx="2071702" cy="4747453"/>
          </a:xfrm>
          <a:prstGeom prst="rect">
            <a:avLst/>
          </a:prstGeom>
          <a:noFill/>
        </p:spPr>
        <p:txBody>
          <a:bodyPr wrap="square" rtlCol="0">
            <a:spAutoFit/>
          </a:bodyPr>
          <a:lstStyle/>
          <a:p>
            <a:pPr algn="l">
              <a:spcBef>
                <a:spcPct val="50000"/>
              </a:spcBef>
            </a:pPr>
            <a:r>
              <a:rPr lang="en-US" altLang="zh-CN" sz="1100" b="1" dirty="0" smtClean="0">
                <a:latin typeface="Times New Roman" pitchFamily="18" charset="0"/>
                <a:ea typeface="微软雅黑" pitchFamily="34" charset="-122"/>
                <a:cs typeface="Times New Roman" pitchFamily="18" charset="0"/>
              </a:rPr>
              <a:t>Người đánh giá lần 2 vào ESS để đánh giá nhân viên</a:t>
            </a:r>
            <a:endParaRPr lang="en-US" altLang="zh-CN" sz="1100" b="1" dirty="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Times New Roman" pitchFamily="18" charset="0"/>
                <a:ea typeface="微软雅黑" pitchFamily="34" charset="-122"/>
                <a:cs typeface="Times New Roman" pitchFamily="18" charset="0"/>
              </a:rPr>
              <a:t>Chức năng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err="1" smtClean="0">
                <a:latin typeface="Times New Roman" pitchFamily="18" charset="0"/>
                <a:ea typeface="微软雅黑" pitchFamily="34" charset="-122"/>
                <a:cs typeface="Times New Roman" pitchFamily="18" charset="0"/>
              </a:rPr>
              <a:t>Có</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thể</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xem</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dữ</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liệu</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phân</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bố</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cấp</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đánh</a:t>
            </a:r>
            <a:r>
              <a:rPr lang="en-US" altLang="zh-CN" sz="1100" dirty="0" smtClean="0">
                <a:latin typeface="Times New Roman" pitchFamily="18" charset="0"/>
                <a:ea typeface="微软雅黑" pitchFamily="34" charset="-122"/>
                <a:cs typeface="Times New Roman" pitchFamily="18" charset="0"/>
              </a:rPr>
              <a:t> </a:t>
            </a:r>
            <a:r>
              <a:rPr lang="en-US" altLang="zh-CN" sz="1100" dirty="0" err="1" smtClean="0">
                <a:latin typeface="Times New Roman" pitchFamily="18" charset="0"/>
                <a:ea typeface="微软雅黑" pitchFamily="34" charset="-122"/>
                <a:cs typeface="Times New Roman" pitchFamily="18" charset="0"/>
              </a:rPr>
              <a:t>giá</a:t>
            </a: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smtClean="0">
                <a:latin typeface="Times New Roman" pitchFamily="18" charset="0"/>
                <a:ea typeface="微软雅黑" pitchFamily="34" charset="-122"/>
                <a:cs typeface="Times New Roman" pitchFamily="18" charset="0"/>
              </a:rPr>
              <a:t>Hiển thị số nhân viên cần đánh giá lần 2 và trạng thái đánh giá của họ đang ở giai đoạn nào</a:t>
            </a:r>
          </a:p>
          <a:p>
            <a:pPr marL="228600" indent="-228600" algn="l">
              <a:spcBef>
                <a:spcPct val="50000"/>
              </a:spcBef>
              <a:buAutoNum type="arabicPeriod"/>
            </a:pPr>
            <a:r>
              <a:rPr lang="en-US" altLang="zh-CN" sz="1100" dirty="0" smtClean="0">
                <a:solidFill>
                  <a:srgbClr val="FF0000"/>
                </a:solidFill>
                <a:latin typeface="Times New Roman" pitchFamily="18" charset="0"/>
                <a:ea typeface="微软雅黑" pitchFamily="34" charset="-122"/>
                <a:cs typeface="Times New Roman" pitchFamily="18" charset="0"/>
              </a:rPr>
              <a:t>Chọn nhân viên đã đánh giá lần 1, hiển thị khung đánh giá, cho điểm nhân viên đó, “Lưu tạm thời” có thể để khi khác thực hiện tiếp; “Xác nhận” để hoàn thành đánh giá</a:t>
            </a:r>
          </a:p>
          <a:p>
            <a:pPr marL="228600" indent="-228600" algn="l">
              <a:spcBef>
                <a:spcPct val="50000"/>
              </a:spcBef>
            </a:pPr>
            <a:endParaRPr lang="en-US" altLang="zh-CN" sz="1100" b="1" dirty="0" smtClean="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1100" b="1" dirty="0" smtClean="0">
              <a:solidFill>
                <a:srgbClr val="FF0000"/>
              </a:solidFill>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en-US" altLang="zh-CN" sz="1100" dirty="0" smtClean="0">
              <a:latin typeface="Times New Roman" pitchFamily="18" charset="0"/>
              <a:ea typeface="微软雅黑" pitchFamily="34" charset="-122"/>
              <a:cs typeface="Times New Roman" pitchFamily="18" charset="0"/>
            </a:endParaRPr>
          </a:p>
          <a:p>
            <a:pPr algn="l"/>
            <a:endParaRPr lang="zh-CN" altLang="en-US" sz="11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3"/>
          <a:stretch>
            <a:fillRect/>
          </a:stretch>
        </p:blipFill>
        <p:spPr>
          <a:xfrm>
            <a:off x="35496" y="1196752"/>
            <a:ext cx="6737569" cy="3470976"/>
          </a:xfrm>
          <a:prstGeom prst="rect">
            <a:avLst/>
          </a:prstGeom>
        </p:spPr>
      </p:pic>
      <p:pic>
        <p:nvPicPr>
          <p:cNvPr id="3" name="Picture 2"/>
          <p:cNvPicPr>
            <a:picLocks noChangeAspect="1"/>
          </p:cNvPicPr>
          <p:nvPr/>
        </p:nvPicPr>
        <p:blipFill>
          <a:blip r:embed="rId4"/>
          <a:stretch>
            <a:fillRect/>
          </a:stretch>
        </p:blipFill>
        <p:spPr>
          <a:xfrm>
            <a:off x="568334" y="2932240"/>
            <a:ext cx="5789644" cy="3453883"/>
          </a:xfrm>
          <a:prstGeom prst="rect">
            <a:avLst/>
          </a:prstGeom>
        </p:spPr>
      </p:pic>
      <p:sp>
        <p:nvSpPr>
          <p:cNvPr id="4" name="Rectangle 3"/>
          <p:cNvSpPr/>
          <p:nvPr/>
        </p:nvSpPr>
        <p:spPr>
          <a:xfrm>
            <a:off x="899592" y="2420888"/>
            <a:ext cx="432048"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endCxn id="3" idx="0"/>
          </p:cNvCxnSpPr>
          <p:nvPr/>
        </p:nvCxnSpPr>
        <p:spPr>
          <a:xfrm>
            <a:off x="1043608" y="2636912"/>
            <a:ext cx="2419548" cy="29532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29483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47664" y="35332"/>
            <a:ext cx="2592288"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marL="342900" indent="-342900" algn="l" eaLnBrk="0" hangingPunct="0">
              <a:lnSpc>
                <a:spcPct val="150000"/>
              </a:lnSpc>
            </a:pPr>
            <a:r>
              <a:rPr lang="en-US" altLang="zh-CN" sz="1200" dirty="0">
                <a:latin typeface="Times New Roman" pitchFamily="18" charset="0"/>
                <a:ea typeface="微软雅黑" pitchFamily="34" charset="-122"/>
                <a:cs typeface="Times New Roman" pitchFamily="18" charset="0"/>
              </a:rPr>
              <a:t>K</a:t>
            </a:r>
            <a:r>
              <a:rPr lang="en-US" altLang="zh-CN" sz="1200" dirty="0" smtClean="0">
                <a:latin typeface="Times New Roman" pitchFamily="18" charset="0"/>
                <a:ea typeface="微软雅黑" pitchFamily="34" charset="-122"/>
                <a:cs typeface="Times New Roman" pitchFamily="18" charset="0"/>
              </a:rPr>
              <a:t>ết quả đánh giá</a:t>
            </a:r>
          </a:p>
        </p:txBody>
      </p:sp>
      <p:sp>
        <p:nvSpPr>
          <p:cNvPr id="11" name="TextBox 10"/>
          <p:cNvSpPr txBox="1"/>
          <p:nvPr/>
        </p:nvSpPr>
        <p:spPr>
          <a:xfrm>
            <a:off x="6786578" y="1571612"/>
            <a:ext cx="2071702" cy="2208297"/>
          </a:xfrm>
          <a:prstGeom prst="rect">
            <a:avLst/>
          </a:prstGeom>
          <a:noFill/>
        </p:spPr>
        <p:txBody>
          <a:bodyPr wrap="square" rtlCol="0">
            <a:spAutoFit/>
          </a:bodyPr>
          <a:lstStyle/>
          <a:p>
            <a:pPr algn="l">
              <a:spcBef>
                <a:spcPct val="50000"/>
              </a:spcBef>
            </a:pPr>
            <a:r>
              <a:rPr lang="en-US" altLang="zh-CN" sz="1100" b="1" dirty="0" smtClean="0">
                <a:latin typeface="Times New Roman" pitchFamily="18" charset="0"/>
                <a:ea typeface="微软雅黑" pitchFamily="34" charset="-122"/>
                <a:cs typeface="Times New Roman" pitchFamily="18" charset="0"/>
              </a:rPr>
              <a:t>Xem kết quả các lần tham gia đánh giá</a:t>
            </a:r>
            <a:endParaRPr lang="en-US" altLang="zh-CN" sz="1100" b="1" dirty="0">
              <a:latin typeface="Times New Roman" pitchFamily="18" charset="0"/>
              <a:ea typeface="微软雅黑" pitchFamily="34" charset="-122"/>
              <a:cs typeface="Times New Roman" pitchFamily="18" charset="0"/>
            </a:endParaRPr>
          </a:p>
          <a:p>
            <a:pPr algn="l">
              <a:spcBef>
                <a:spcPct val="50000"/>
              </a:spcBef>
            </a:pPr>
            <a:r>
              <a:rPr lang="vi-VN" altLang="zh-CN" sz="1100" b="1" dirty="0">
                <a:latin typeface="Times New Roman" pitchFamily="18" charset="0"/>
                <a:ea typeface="微软雅黑" pitchFamily="34" charset="-122"/>
                <a:cs typeface="Times New Roman" pitchFamily="18" charset="0"/>
              </a:rPr>
              <a:t>Chức năng</a:t>
            </a:r>
            <a:r>
              <a:rPr lang="zh-CN" altLang="en-US" sz="1100" b="1" dirty="0">
                <a:latin typeface="Times New Roman" pitchFamily="18" charset="0"/>
                <a:ea typeface="微软雅黑" pitchFamily="34" charset="-122"/>
                <a:cs typeface="Times New Roman" pitchFamily="18" charset="0"/>
              </a:rPr>
              <a:t>：</a:t>
            </a:r>
            <a:endParaRPr lang="en-US" altLang="zh-CN" sz="1100" b="1" dirty="0">
              <a:solidFill>
                <a:srgbClr val="FF0000"/>
              </a:solidFill>
              <a:latin typeface="Times New Roman" pitchFamily="18" charset="0"/>
              <a:ea typeface="微软雅黑" pitchFamily="34" charset="-122"/>
              <a:cs typeface="Times New Roman" pitchFamily="18" charset="0"/>
            </a:endParaRPr>
          </a:p>
          <a:p>
            <a:pPr marL="228600" indent="-228600" algn="l">
              <a:spcBef>
                <a:spcPct val="50000"/>
              </a:spcBef>
              <a:buAutoNum type="arabicPeriod"/>
            </a:pPr>
            <a:r>
              <a:rPr lang="en-US" altLang="zh-CN" sz="1100" dirty="0" err="1">
                <a:latin typeface="Times New Roman" pitchFamily="18" charset="0"/>
                <a:ea typeface="微软雅黑" pitchFamily="34" charset="-122"/>
                <a:cs typeface="Times New Roman" pitchFamily="18" charset="0"/>
              </a:rPr>
              <a:t>Có</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thể</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xem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lịch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sử</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kết</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quả</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đánh</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giá</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theo</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năm</a:t>
            </a:r>
            <a:r>
              <a:rPr lang="en-US" altLang="zh-CN" sz="1100" dirty="0">
                <a:latin typeface="Times New Roman" pitchFamily="18" charset="0"/>
                <a:ea typeface="微软雅黑" pitchFamily="34" charset="-122"/>
                <a:cs typeface="Times New Roman" pitchFamily="18" charset="0"/>
              </a:rPr>
              <a:t>, </a:t>
            </a:r>
            <a:r>
              <a:rPr lang="en-US" altLang="zh-CN" sz="1100" dirty="0" err="1">
                <a:latin typeface="Times New Roman" pitchFamily="18" charset="0"/>
                <a:ea typeface="微软雅黑" pitchFamily="34" charset="-122"/>
                <a:cs typeface="Times New Roman" pitchFamily="18" charset="0"/>
              </a:rPr>
              <a:t>tháng</a:t>
            </a:r>
            <a:endParaRPr lang="en-US" altLang="zh-CN" sz="1100" dirty="0">
              <a:solidFill>
                <a:srgbClr val="FF0000"/>
              </a:solidFill>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2" name="Picture 1"/>
          <p:cNvPicPr>
            <a:picLocks noChangeAspect="1"/>
          </p:cNvPicPr>
          <p:nvPr/>
        </p:nvPicPr>
        <p:blipFill>
          <a:blip r:embed="rId3"/>
          <a:stretch>
            <a:fillRect/>
          </a:stretch>
        </p:blipFill>
        <p:spPr>
          <a:xfrm>
            <a:off x="0" y="1522543"/>
            <a:ext cx="6786578" cy="3290677"/>
          </a:xfrm>
          <a:prstGeom prst="rect">
            <a:avLst/>
          </a:prstGeom>
        </p:spPr>
      </p:pic>
    </p:spTree>
    <p:extLst>
      <p:ext uri="{BB962C8B-B14F-4D97-AF65-F5344CB8AC3E}">
        <p14:creationId xmlns:p14="http://schemas.microsoft.com/office/powerpoint/2010/main" val="2039090015"/>
      </p:ext>
    </p:extLst>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l">
          <a:defRPr sz="800" dirty="0" smtClean="0">
            <a:solidFill>
              <a:schemeClr val="tx1"/>
            </a:solidFill>
            <a:ea typeface="微软雅黑"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25173</TotalTime>
  <Words>2907</Words>
  <Application>Microsoft Office PowerPoint</Application>
  <PresentationFormat>On-screen Show (4:3)</PresentationFormat>
  <Paragraphs>459</Paragraphs>
  <Slides>39</Slides>
  <Notes>8</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39</vt:i4>
      </vt:variant>
    </vt:vector>
  </HeadingPairs>
  <TitlesOfParts>
    <vt:vector size="54" baseType="lpstr">
      <vt:lpstr>Arial Unicode MS</vt:lpstr>
      <vt:lpstr>微软雅黑</vt:lpstr>
      <vt:lpstr>宋体</vt:lpstr>
      <vt:lpstr>Arial</vt:lpstr>
      <vt:lpstr>Calibri</vt:lpstr>
      <vt:lpstr>Tahoma</vt:lpstr>
      <vt:lpstr>Times New Roman</vt:lpstr>
      <vt:lpstr>2_自定义设计方案</vt:lpstr>
      <vt:lpstr>4_默认设计模板</vt:lpstr>
      <vt:lpstr>3_默认设计模板</vt:lpstr>
      <vt:lpstr>2_默认设计模板</vt:lpstr>
      <vt:lpstr>1_默认设计模板</vt:lpstr>
      <vt:lpstr>默认设计模板</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2100</cp:revision>
  <dcterms:created xsi:type="dcterms:W3CDTF">2010-07-06T05:38:31Z</dcterms:created>
  <dcterms:modified xsi:type="dcterms:W3CDTF">2018-01-26T10:43:56Z</dcterms:modified>
</cp:coreProperties>
</file>