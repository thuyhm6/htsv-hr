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7.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 id="2147483903" r:id="rId2"/>
    <p:sldMasterId id="2147483891" r:id="rId3"/>
    <p:sldMasterId id="2147483879" r:id="rId4"/>
    <p:sldMasterId id="2147483867" r:id="rId5"/>
    <p:sldMasterId id="2147483855" r:id="rId6"/>
    <p:sldMasterId id="2147483842" r:id="rId7"/>
    <p:sldMasterId id="2147483830" r:id="rId8"/>
  </p:sldMasterIdLst>
  <p:notesMasterIdLst>
    <p:notesMasterId r:id="rId32"/>
  </p:notesMasterIdLst>
  <p:handoutMasterIdLst>
    <p:handoutMasterId r:id="rId33"/>
  </p:handoutMasterIdLst>
  <p:sldIdLst>
    <p:sldId id="256" r:id="rId9"/>
    <p:sldId id="786" r:id="rId10"/>
    <p:sldId id="731" r:id="rId11"/>
    <p:sldId id="711" r:id="rId12"/>
    <p:sldId id="713" r:id="rId13"/>
    <p:sldId id="740" r:id="rId14"/>
    <p:sldId id="709" r:id="rId15"/>
    <p:sldId id="715" r:id="rId16"/>
    <p:sldId id="718" r:id="rId17"/>
    <p:sldId id="719" r:id="rId18"/>
    <p:sldId id="765" r:id="rId19"/>
    <p:sldId id="721" r:id="rId20"/>
    <p:sldId id="722" r:id="rId21"/>
    <p:sldId id="724" r:id="rId22"/>
    <p:sldId id="725" r:id="rId23"/>
    <p:sldId id="726" r:id="rId24"/>
    <p:sldId id="727" r:id="rId25"/>
    <p:sldId id="767" r:id="rId26"/>
    <p:sldId id="768" r:id="rId27"/>
    <p:sldId id="769" r:id="rId28"/>
    <p:sldId id="789" r:id="rId29"/>
    <p:sldId id="729" r:id="rId30"/>
    <p:sldId id="730" r:id="rId31"/>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itchFamily="34" charset="0"/>
        <a:ea typeface="宋体" pitchFamily="2" charset="-122"/>
        <a:cs typeface="+mn-cs"/>
      </a:defRPr>
    </a:lvl1pPr>
    <a:lvl2pPr marL="457200" algn="ctr" rtl="0" fontAlgn="base">
      <a:spcBef>
        <a:spcPct val="0"/>
      </a:spcBef>
      <a:spcAft>
        <a:spcPct val="0"/>
      </a:spcAft>
      <a:defRPr kern="1200">
        <a:solidFill>
          <a:schemeClr val="tx1"/>
        </a:solidFill>
        <a:latin typeface="Arial" pitchFamily="34" charset="0"/>
        <a:ea typeface="宋体" pitchFamily="2" charset="-122"/>
        <a:cs typeface="+mn-cs"/>
      </a:defRPr>
    </a:lvl2pPr>
    <a:lvl3pPr marL="914400" algn="ctr"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ctr"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ctr"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888">
          <p15:clr>
            <a:srgbClr val="A4A3A4"/>
          </p15:clr>
        </p15:guide>
        <p15:guide id="2" pos="215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CCFF"/>
    <a:srgbClr val="FF6600"/>
    <a:srgbClr val="FF9933"/>
    <a:srgbClr val="000099"/>
    <a:srgbClr val="33CCCC"/>
    <a:srgbClr val="3399FF"/>
    <a:srgbClr val="9999FF"/>
    <a:srgbClr val="99CC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26" autoAdjust="0"/>
    <p:restoredTop sz="99282" autoAdjust="0"/>
  </p:normalViewPr>
  <p:slideViewPr>
    <p:cSldViewPr>
      <p:cViewPr varScale="1">
        <p:scale>
          <a:sx n="80" d="100"/>
          <a:sy n="80" d="100"/>
        </p:scale>
        <p:origin x="1446" y="78"/>
      </p:cViewPr>
      <p:guideLst>
        <p:guide orient="horz" pos="1888"/>
        <p:guide pos="2154"/>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vl1pPr>
          </a:lstStyle>
          <a:p>
            <a:endParaRPr lang="zh-CN" altLang="en-US" dirty="0">
              <a:ea typeface="微软雅黑" pitchFamily="34" charset="-122"/>
            </a:endParaRPr>
          </a:p>
        </p:txBody>
      </p:sp>
      <p:sp>
        <p:nvSpPr>
          <p:cNvPr id="13209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2F809E35-B4AC-482C-BF96-601431D08808}" type="datetimeFigureOut">
              <a:rPr lang="zh-CN" altLang="en-US">
                <a:ea typeface="微软雅黑" pitchFamily="34" charset="-122"/>
              </a:rPr>
              <a:pPr/>
              <a:t>2018/1/26</a:t>
            </a:fld>
            <a:endParaRPr lang="en-US" altLang="zh-CN" dirty="0">
              <a:ea typeface="微软雅黑" pitchFamily="34" charset="-122"/>
            </a:endParaRPr>
          </a:p>
        </p:txBody>
      </p:sp>
      <p:sp>
        <p:nvSpPr>
          <p:cNvPr id="13210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vl1pPr>
          </a:lstStyle>
          <a:p>
            <a:endParaRPr lang="en-US" altLang="zh-CN" dirty="0">
              <a:ea typeface="微软雅黑" pitchFamily="34" charset="-122"/>
            </a:endParaRPr>
          </a:p>
        </p:txBody>
      </p:sp>
      <p:sp>
        <p:nvSpPr>
          <p:cNvPr id="13210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AC84FA5D-D624-4E8D-8EB8-90950245F5C5}" type="slidenum">
              <a:rPr lang="zh-CN" altLang="en-US">
                <a:ea typeface="微软雅黑" pitchFamily="34" charset="-122"/>
              </a:rPr>
              <a:pPr/>
              <a:t>‹#›</a:t>
            </a:fld>
            <a:endParaRPr lang="en-US" altLang="zh-CN" dirty="0">
              <a:ea typeface="微软雅黑" pitchFamily="34" charset="-122"/>
            </a:endParaRPr>
          </a:p>
        </p:txBody>
      </p:sp>
    </p:spTree>
    <p:extLst>
      <p:ext uri="{BB962C8B-B14F-4D97-AF65-F5344CB8AC3E}">
        <p14:creationId xmlns:p14="http://schemas.microsoft.com/office/powerpoint/2010/main" val="3639987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2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微软雅黑" pitchFamily="34" charset="-122"/>
              </a:defRPr>
            </a:lvl1pPr>
          </a:lstStyle>
          <a:p>
            <a:pPr>
              <a:defRPr/>
            </a:pPr>
            <a:endParaRPr lang="en-US" altLang="zh-CN" dirty="0"/>
          </a:p>
        </p:txBody>
      </p:sp>
      <p:sp>
        <p:nvSpPr>
          <p:cNvPr id="389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53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553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3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微软雅黑" pitchFamily="34" charset="-122"/>
              </a:defRPr>
            </a:lvl1pPr>
          </a:lstStyle>
          <a:p>
            <a:pPr>
              <a:defRPr/>
            </a:pPr>
            <a:fld id="{7FD85DB2-E819-49CE-B234-25B8201BF18D}" type="slidenum">
              <a:rPr lang="en-US" altLang="zh-CN" smtClean="0"/>
              <a:pPr>
                <a:defRPr/>
              </a:pPr>
              <a:t>‹#›</a:t>
            </a:fld>
            <a:endParaRPr lang="en-US" altLang="zh-CN" dirty="0"/>
          </a:p>
        </p:txBody>
      </p:sp>
    </p:spTree>
    <p:extLst>
      <p:ext uri="{BB962C8B-B14F-4D97-AF65-F5344CB8AC3E}">
        <p14:creationId xmlns:p14="http://schemas.microsoft.com/office/powerpoint/2010/main" val="153901924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微软雅黑" pitchFamily="34" charset="-122"/>
        <a:cs typeface="+mn-cs"/>
      </a:defRPr>
    </a:lvl1pPr>
    <a:lvl2pPr marL="457200" algn="l" rtl="0" fontAlgn="base">
      <a:spcBef>
        <a:spcPct val="30000"/>
      </a:spcBef>
      <a:spcAft>
        <a:spcPct val="0"/>
      </a:spcAft>
      <a:defRPr sz="1200" kern="1200">
        <a:solidFill>
          <a:schemeClr val="tx1"/>
        </a:solidFill>
        <a:latin typeface="Arial" charset="0"/>
        <a:ea typeface="微软雅黑" pitchFamily="34" charset="-122"/>
        <a:cs typeface="+mn-cs"/>
      </a:defRPr>
    </a:lvl2pPr>
    <a:lvl3pPr marL="914400" algn="l" rtl="0" fontAlgn="base">
      <a:spcBef>
        <a:spcPct val="30000"/>
      </a:spcBef>
      <a:spcAft>
        <a:spcPct val="0"/>
      </a:spcAft>
      <a:defRPr sz="1200" kern="1200">
        <a:solidFill>
          <a:schemeClr val="tx1"/>
        </a:solidFill>
        <a:latin typeface="Arial" charset="0"/>
        <a:ea typeface="微软雅黑" pitchFamily="34" charset="-122"/>
        <a:cs typeface="+mn-cs"/>
      </a:defRPr>
    </a:lvl3pPr>
    <a:lvl4pPr marL="1371600" algn="l" rtl="0" fontAlgn="base">
      <a:spcBef>
        <a:spcPct val="30000"/>
      </a:spcBef>
      <a:spcAft>
        <a:spcPct val="0"/>
      </a:spcAft>
      <a:defRPr sz="1200" kern="1200">
        <a:solidFill>
          <a:schemeClr val="tx1"/>
        </a:solidFill>
        <a:latin typeface="Arial" charset="0"/>
        <a:ea typeface="微软雅黑" pitchFamily="34" charset="-122"/>
        <a:cs typeface="+mn-cs"/>
      </a:defRPr>
    </a:lvl4pPr>
    <a:lvl5pPr marL="1828800" algn="l" rtl="0" fontAlgn="base">
      <a:spcBef>
        <a:spcPct val="30000"/>
      </a:spcBef>
      <a:spcAft>
        <a:spcPct val="0"/>
      </a:spcAft>
      <a:defRPr sz="1200" kern="1200">
        <a:solidFill>
          <a:schemeClr val="tx1"/>
        </a:solidFill>
        <a:latin typeface="Arial" charset="0"/>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10"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1"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3"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59008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950883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6334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4090048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7380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52518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362129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022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832177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148498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77386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1706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277192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116921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33814262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48256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40834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0297653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870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1546223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18232360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583806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695961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9211480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51112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20356586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342495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30773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0747435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997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0188679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2793968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300909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771749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7828563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807551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24453343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489345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209447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4569979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72272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5875178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8509763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55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281448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0928670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856440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42066323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685465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4844345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1353354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92465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7017181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5101894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15608101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2499358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732246874"/>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955167032"/>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105818509"/>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3003280282"/>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2BABB5AB-D532-46D5-BA74-E02996469450}" type="datetimeFigureOut">
              <a:rPr lang="vi-VN" smtClean="0"/>
              <a:t>26/01/2018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813710815"/>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2BABB5AB-D532-46D5-BA74-E02996469450}" type="datetimeFigureOut">
              <a:rPr lang="vi-VN" smtClean="0"/>
              <a:t>26/01/2018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80910304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ABB5AB-D532-46D5-BA74-E02996469450}" type="datetimeFigureOut">
              <a:rPr lang="vi-VN" smtClean="0"/>
              <a:t>26/01/2018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4478584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7526918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4913374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36085411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42334176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2470652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2146353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299232362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6260825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A8DA3FFE-7133-4E99-9728-9EF3358A8F91}" type="datetimeFigureOut">
              <a:rPr lang="vi-VN" smtClean="0"/>
              <a:t>26/01/2018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18932699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A8DA3FFE-7133-4E99-9728-9EF3358A8F91}" type="datetimeFigureOut">
              <a:rPr lang="vi-VN" smtClean="0"/>
              <a:t>26/01/2018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243056236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3FFE-7133-4E99-9728-9EF3358A8F91}" type="datetimeFigureOut">
              <a:rPr lang="vi-VN" smtClean="0"/>
              <a:t>26/01/2018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319150596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0832391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7513195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2706193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288421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6.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7.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theme" Target="../theme/theme8.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graphicFrame>
        <p:nvGraphicFramePr>
          <p:cNvPr id="4" name="Group 165"/>
          <p:cNvGraphicFramePr>
            <a:graphicFrameLocks noGrp="1"/>
          </p:cNvGraphicFramePr>
          <p:nvPr userDrawn="1">
            <p:extLst>
              <p:ext uri="{D42A27DB-BD31-4B8C-83A1-F6EECF244321}">
                <p14:modId xmlns:p14="http://schemas.microsoft.com/office/powerpoint/2010/main" val="3074143612"/>
              </p:ext>
            </p:extLst>
          </p:nvPr>
        </p:nvGraphicFramePr>
        <p:xfrm>
          <a:off x="0" y="116632"/>
          <a:ext cx="9144001" cy="274638"/>
        </p:xfrm>
        <a:graphic>
          <a:graphicData uri="http://schemas.openxmlformats.org/drawingml/2006/table">
            <a:tbl>
              <a:tblPr/>
              <a:tblGrid>
                <a:gridCol w="1400904"/>
                <a:gridCol w="3164085"/>
                <a:gridCol w="755191"/>
                <a:gridCol w="1098460"/>
                <a:gridCol w="961152"/>
                <a:gridCol w="1764209"/>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6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26.1.2018</a:t>
                      </a:r>
                    </a:p>
                  </a:txBody>
                  <a:tcPr marL="36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854" r:id="rId5"/>
    <p:sldLayoutId id="2147483794" r:id="rId6"/>
    <p:sldLayoutId id="2147483822" r:id="rId7"/>
    <p:sldLayoutId id="2147483795" r:id="rId8"/>
    <p:sldLayoutId id="2147483796" r:id="rId9"/>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3339551099"/>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2748116667"/>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4144804293"/>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266380625"/>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425072077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vi-V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vi-V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ABB5AB-D532-46D5-BA74-E02996469450}" type="datetimeFigureOut">
              <a:rPr lang="vi-VN" smtClean="0"/>
              <a:t>26/01/2018</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9D50C0-9690-42CA-97FD-377AAF3B3EEC}" type="slidenum">
              <a:rPr lang="vi-VN" smtClean="0"/>
              <a:t>‹#›</a:t>
            </a:fld>
            <a:endParaRPr lang="vi-VN"/>
          </a:p>
        </p:txBody>
      </p:sp>
    </p:spTree>
    <p:extLst>
      <p:ext uri="{BB962C8B-B14F-4D97-AF65-F5344CB8AC3E}">
        <p14:creationId xmlns:p14="http://schemas.microsoft.com/office/powerpoint/2010/main" val="3825378660"/>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vi-V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vi-V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A3FFE-7133-4E99-9728-9EF3358A8F91}" type="datetimeFigureOut">
              <a:rPr lang="vi-VN" smtClean="0"/>
              <a:t>26/01/2018</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96B1-0DD7-4619-BA63-FA810AEC1F27}" type="slidenum">
              <a:rPr lang="vi-VN" smtClean="0"/>
              <a:t>‹#›</a:t>
            </a:fld>
            <a:endParaRPr lang="vi-VN"/>
          </a:p>
        </p:txBody>
      </p:sp>
    </p:spTree>
    <p:extLst>
      <p:ext uri="{BB962C8B-B14F-4D97-AF65-F5344CB8AC3E}">
        <p14:creationId xmlns:p14="http://schemas.microsoft.com/office/powerpoint/2010/main" val="1052989851"/>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467544" y="3406498"/>
            <a:ext cx="7399610" cy="477054"/>
          </a:xfrm>
          <a:prstGeom prst="rect">
            <a:avLst/>
          </a:prstGeom>
          <a:noFill/>
          <a:ln w="9525">
            <a:noFill/>
            <a:miter lim="800000"/>
            <a:headEnd/>
            <a:tailEnd/>
          </a:ln>
          <a:effectLst/>
        </p:spPr>
        <p:txBody>
          <a:bodyPr wrap="square">
            <a:spAutoFit/>
          </a:bodyPr>
          <a:lstStyle/>
          <a:p>
            <a:r>
              <a:rPr lang="en-US" altLang="zh-CN" sz="2500" b="1" dirty="0" smtClean="0">
                <a:latin typeface="Times New Roman" pitchFamily="18" charset="0"/>
                <a:ea typeface="微软雅黑" pitchFamily="34" charset="-122"/>
                <a:cs typeface="Times New Roman" pitchFamily="18" charset="0"/>
              </a:rPr>
              <a:t> </a:t>
            </a:r>
            <a:r>
              <a:rPr lang="en-US" altLang="zh-CN" sz="2500" b="1" dirty="0" smtClean="0">
                <a:latin typeface="Times New Roman" pitchFamily="18" charset="0"/>
                <a:ea typeface="微软雅黑" pitchFamily="34" charset="-122"/>
                <a:cs typeface="Times New Roman" pitchFamily="18" charset="0"/>
              </a:rPr>
              <a:t>Module ESS </a:t>
            </a:r>
            <a:r>
              <a:rPr lang="en-US" altLang="zh-CN" sz="2500" b="1" dirty="0" smtClean="0">
                <a:latin typeface="Times New Roman" pitchFamily="18" charset="0"/>
                <a:ea typeface="微软雅黑" pitchFamily="34" charset="-122"/>
                <a:cs typeface="Times New Roman" pitchFamily="18" charset="0"/>
              </a:rPr>
              <a:t>- Management</a:t>
            </a:r>
            <a:endParaRPr lang="en-US" altLang="zh-CN" sz="2500" b="1" dirty="0">
              <a:latin typeface="Times New Roman" pitchFamily="18" charset="0"/>
              <a:ea typeface="微软雅黑" pitchFamily="34" charset="-122"/>
              <a:cs typeface="Times New Roman" pitchFamily="18" charset="0"/>
            </a:endParaRPr>
          </a:p>
        </p:txBody>
      </p:sp>
      <p:sp>
        <p:nvSpPr>
          <p:cNvPr id="11" name="TextBox 10"/>
          <p:cNvSpPr txBox="1"/>
          <p:nvPr/>
        </p:nvSpPr>
        <p:spPr>
          <a:xfrm>
            <a:off x="611560" y="2492896"/>
            <a:ext cx="7383764" cy="584775"/>
          </a:xfrm>
          <a:prstGeom prst="rect">
            <a:avLst/>
          </a:prstGeom>
          <a:noFill/>
        </p:spPr>
        <p:txBody>
          <a:bodyPr wrap="square" rtlCol="0">
            <a:spAutoFit/>
          </a:bodyPr>
          <a:lstStyle/>
          <a:p>
            <a:r>
              <a:rPr lang="en-US" altLang="zh-CN" sz="3200" dirty="0" smtClean="0">
                <a:latin typeface="Times New Roman" pitchFamily="18" charset="0"/>
                <a:ea typeface="Arial Unicode MS" pitchFamily="34" charset="-122"/>
                <a:cs typeface="Times New Roman" pitchFamily="18" charset="0"/>
              </a:rPr>
              <a:t>HƯỚNG DẪN SỬ DỤNG</a:t>
            </a:r>
            <a:endParaRPr lang="zh-CN" altLang="en-US" sz="3200" dirty="0">
              <a:latin typeface="Times New Roman" pitchFamily="18" charset="0"/>
              <a:ea typeface="Arial Unicode MS" pitchFamily="34" charset="-122"/>
              <a:cs typeface="Times New Roman" pitchFamily="18" charset="0"/>
            </a:endParaRPr>
          </a:p>
        </p:txBody>
      </p:sp>
      <p:cxnSp>
        <p:nvCxnSpPr>
          <p:cNvPr id="3" name="Straight Connector 2"/>
          <p:cNvCxnSpPr/>
          <p:nvPr/>
        </p:nvCxnSpPr>
        <p:spPr>
          <a:xfrm>
            <a:off x="1763688" y="3068960"/>
            <a:ext cx="5040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竖排文字占位符 1"/>
          <p:cNvSpPr txBox="1">
            <a:spLocks noChangeArrowheads="1"/>
          </p:cNvSpPr>
          <p:nvPr/>
        </p:nvSpPr>
        <p:spPr bwMode="auto">
          <a:xfrm>
            <a:off x="1403648" y="116632"/>
            <a:ext cx="4852231" cy="2658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16531" indent="-316531" algn="l" defTabSz="844083" eaLnBrk="0" latinLnBrk="1" hangingPunct="0">
              <a:spcBef>
                <a:spcPct val="20000"/>
              </a:spcBef>
              <a:defRPr/>
            </a:pPr>
            <a:r>
              <a:rPr lang="en-US" altLang="zh-CN" sz="1200" kern="0" dirty="0" smtClean="0">
                <a:latin typeface="Times New Roman" panose="02020603050405020304" pitchFamily="18" charset="0"/>
                <a:ea typeface="微软雅黑" pitchFamily="34" charset="-122"/>
                <a:cs typeface="Times New Roman" panose="02020603050405020304" pitchFamily="18" charset="0"/>
              </a:rPr>
              <a:t>Hệ thống nhân sự</a:t>
            </a:r>
            <a:r>
              <a:rPr lang="zh-CN" altLang="en-US" sz="1200" b="0" kern="0" dirty="0" smtClean="0">
                <a:latin typeface="Times New Roman" panose="02020603050405020304" pitchFamily="18" charset="0"/>
                <a:ea typeface="微软雅黑" pitchFamily="34" charset="-122"/>
                <a:cs typeface="Times New Roman" panose="02020603050405020304" pitchFamily="18" charset="0"/>
              </a:rPr>
              <a:t> </a:t>
            </a:r>
            <a:r>
              <a:rPr lang="en-US" altLang="zh-CN" sz="1200" b="0" kern="0" dirty="0" smtClean="0">
                <a:latin typeface="Times New Roman" panose="02020603050405020304" pitchFamily="18" charset="0"/>
                <a:ea typeface="微软雅黑" pitchFamily="34" charset="-122"/>
                <a:cs typeface="Times New Roman" panose="02020603050405020304" pitchFamily="18" charset="0"/>
              </a:rPr>
              <a:t>&gt; </a:t>
            </a:r>
            <a:r>
              <a:rPr lang="en-US" altLang="zh-CN" sz="1200" kern="0" dirty="0" smtClean="0">
                <a:latin typeface="Times New Roman" panose="02020603050405020304" pitchFamily="18" charset="0"/>
                <a:ea typeface="微软雅黑" pitchFamily="34" charset="-122"/>
                <a:cs typeface="Times New Roman" panose="02020603050405020304" pitchFamily="18" charset="0"/>
              </a:rPr>
              <a:t>Đăng nhập</a:t>
            </a:r>
            <a:endParaRPr lang="zh-CN" altLang="en-US" sz="1200" kern="0" dirty="0">
              <a:latin typeface="Times New Roman" panose="02020603050405020304" pitchFamily="18" charset="0"/>
              <a:ea typeface="微软雅黑" pitchFamily="34" charset="-122"/>
              <a:cs typeface="Times New Roman" panose="02020603050405020304" pitchFamily="18" charset="0"/>
            </a:endParaRPr>
          </a:p>
        </p:txBody>
      </p:sp>
      <p:sp>
        <p:nvSpPr>
          <p:cNvPr id="39" name="Text Box 8"/>
          <p:cNvSpPr txBox="1">
            <a:spLocks noChangeArrowheads="1"/>
          </p:cNvSpPr>
          <p:nvPr/>
        </p:nvSpPr>
        <p:spPr bwMode="auto">
          <a:xfrm>
            <a:off x="52113" y="903181"/>
            <a:ext cx="4586356" cy="433324"/>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477" dirty="0" smtClean="0">
                <a:solidFill>
                  <a:srgbClr val="000000"/>
                </a:solidFill>
                <a:latin typeface="Times New Roman" panose="02020603050405020304" pitchFamily="18" charset="0"/>
                <a:ea typeface="微软雅黑" pitchFamily="34" charset="-122"/>
                <a:cs typeface="Times New Roman" panose="02020603050405020304" pitchFamily="18" charset="0"/>
              </a:rPr>
              <a:t>Địa chỉ đăng nhập</a:t>
            </a:r>
            <a:r>
              <a:rPr lang="en-US" altLang="zh-CN" sz="1477" dirty="0" smtClean="0">
                <a:solidFill>
                  <a:srgbClr val="000000"/>
                </a:solidFill>
                <a:latin typeface="微软雅黑" pitchFamily="34" charset="-122"/>
                <a:ea typeface="微软雅黑" pitchFamily="34" charset="-122"/>
              </a:rPr>
              <a:t>: </a:t>
            </a:r>
            <a:r>
              <a:rPr lang="en-US" altLang="zh-CN" sz="1477" dirty="0">
                <a:solidFill>
                  <a:srgbClr val="FF0000"/>
                </a:solidFill>
                <a:latin typeface="微软雅黑" pitchFamily="34" charset="-122"/>
                <a:ea typeface="微软雅黑" pitchFamily="34" charset="-122"/>
              </a:rPr>
              <a:t>http://10.42.200.56:9100</a:t>
            </a:r>
            <a:endParaRPr lang="zh-CN" altLang="en-US" sz="1477" u="sng" dirty="0">
              <a:solidFill>
                <a:srgbClr val="FF0000"/>
              </a:solidFill>
              <a:latin typeface="微软雅黑" pitchFamily="34" charset="-122"/>
              <a:ea typeface="微软雅黑" pitchFamily="34" charset="-122"/>
            </a:endParaRPr>
          </a:p>
        </p:txBody>
      </p:sp>
      <p:sp>
        <p:nvSpPr>
          <p:cNvPr id="40" name="Text Box 8"/>
          <p:cNvSpPr txBox="1">
            <a:spLocks noChangeArrowheads="1"/>
          </p:cNvSpPr>
          <p:nvPr/>
        </p:nvSpPr>
        <p:spPr bwMode="auto">
          <a:xfrm>
            <a:off x="2644401" y="5178111"/>
            <a:ext cx="4586356" cy="987193"/>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USER ID</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Mã nhân viên</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       </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PASSWORD: </a:t>
            </a: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Hệ thống</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ESS</a:t>
            </a:r>
            <a:endParaRPr lang="zh-CN" altLang="en-US"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5576" y="1352735"/>
            <a:ext cx="7538680" cy="3840311"/>
          </a:xfrm>
          <a:prstGeom prst="rect">
            <a:avLst/>
          </a:prstGeom>
        </p:spPr>
      </p:pic>
    </p:spTree>
    <p:extLst>
      <p:ext uri="{BB962C8B-B14F-4D97-AF65-F5344CB8AC3E}">
        <p14:creationId xmlns:p14="http://schemas.microsoft.com/office/powerpoint/2010/main" val="40088862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Trang chủ Management</a:t>
            </a:r>
            <a:endParaRPr lang="zh-CN" altLang="en-US" sz="1200" dirty="0" smtClean="0">
              <a:latin typeface="Times New Roman" pitchFamily="18" charset="0"/>
              <a:ea typeface="微软雅黑" pitchFamily="34" charset="-122"/>
              <a:cs typeface="Times New Roman" pitchFamily="18" charset="0"/>
            </a:endParaRPr>
          </a:p>
        </p:txBody>
      </p:sp>
      <p:sp>
        <p:nvSpPr>
          <p:cNvPr id="16" name="TextBox 15"/>
          <p:cNvSpPr txBox="1"/>
          <p:nvPr/>
        </p:nvSpPr>
        <p:spPr>
          <a:xfrm>
            <a:off x="6715140" y="1571612"/>
            <a:ext cx="2071702" cy="3139321"/>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Trang phân quyền sử dụng cho các trưởng phòng</a:t>
            </a:r>
            <a:r>
              <a:rPr lang="vi-VN" altLang="zh-CN" sz="1100" dirty="0" smtClean="0">
                <a:latin typeface="Times New Roman" panose="02020603050405020304" pitchFamily="18" charset="0"/>
                <a:ea typeface="微软雅黑" pitchFamily="34" charset="-122"/>
                <a:cs typeface="Times New Roman" panose="02020603050405020304" pitchFamily="18" charset="0"/>
              </a:rPr>
              <a:t>.</a:t>
            </a:r>
            <a:endParaRPr lang="en-US" altLang="zh-CN" sz="1100" dirty="0" smtClean="0">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Ngoài trang cá nhân, các trưởng phòng có thể vào Management để quản lý nhân viên cấp dưới</a:t>
            </a:r>
            <a:endParaRPr lang="en-US" altLang="zh-CN" sz="1100" dirty="0" smtClean="0">
              <a:latin typeface="Times New Roman" panose="02020603050405020304" pitchFamily="18" charset="0"/>
              <a:ea typeface="微软雅黑" pitchFamily="34" charset="-122"/>
              <a:cs typeface="Times New Roman" panose="02020603050405020304" pitchFamily="18" charset="0"/>
            </a:endParaRPr>
          </a:p>
          <a:p>
            <a:pPr algn="l">
              <a:spcBef>
                <a:spcPct val="50000"/>
              </a:spcBef>
            </a:pPr>
            <a:endParaRPr lang="en-US" altLang="zh-CN" sz="1100" dirty="0" smtClean="0">
              <a:latin typeface="+mj-lt"/>
              <a:ea typeface="微软雅黑" pitchFamily="34" charset="-122"/>
            </a:endParaRPr>
          </a:p>
          <a:p>
            <a:pPr marL="228600" indent="-228600" algn="l">
              <a:spcBef>
                <a:spcPct val="50000"/>
              </a:spcBef>
            </a:pPr>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en-US" altLang="zh-CN" sz="1100" dirty="0" smtClean="0">
              <a:latin typeface="+mj-lt"/>
              <a:ea typeface="微软雅黑" pitchFamily="34" charset="-122"/>
            </a:endParaRPr>
          </a:p>
          <a:p>
            <a:pPr algn="l"/>
            <a:endParaRPr lang="zh-CN" altLang="en-US" sz="1100" dirty="0">
              <a:latin typeface="+mj-lt"/>
              <a:ea typeface="微软雅黑" pitchFamily="34" charset="-122"/>
            </a:endParaRPr>
          </a:p>
        </p:txBody>
      </p:sp>
      <p:pic>
        <p:nvPicPr>
          <p:cNvPr id="2" name="Picture 1"/>
          <p:cNvPicPr>
            <a:picLocks noChangeAspect="1"/>
          </p:cNvPicPr>
          <p:nvPr/>
        </p:nvPicPr>
        <p:blipFill>
          <a:blip r:embed="rId2"/>
          <a:stretch>
            <a:fillRect/>
          </a:stretch>
        </p:blipFill>
        <p:spPr>
          <a:xfrm>
            <a:off x="-77479" y="1539112"/>
            <a:ext cx="6792619" cy="380499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61912" y="80167"/>
            <a:ext cx="3138080"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Thông tin nhân viên-Danh sách</a:t>
            </a:r>
            <a:r>
              <a:rPr lang="vi-VN" altLang="zh-CN" sz="1200" dirty="0" smtClean="0">
                <a:latin typeface="Times New Roman" panose="02020603050405020304" pitchFamily="18" charset="0"/>
                <a:ea typeface="微软雅黑" pitchFamily="34" charset="-122"/>
                <a:cs typeface="Times New Roman" panose="02020603050405020304" pitchFamily="18" charset="0"/>
              </a:rPr>
              <a:t> </a:t>
            </a:r>
            <a:r>
              <a:rPr lang="vi-VN" altLang="zh-CN" sz="1200" dirty="0" smtClean="0">
                <a:latin typeface="+mj-lt"/>
                <a:ea typeface="微软雅黑" pitchFamily="34" charset="-122"/>
              </a:rPr>
              <a:t>nhân viên </a:t>
            </a:r>
            <a:endParaRPr lang="zh-CN" altLang="en-US" sz="1200" dirty="0">
              <a:latin typeface="+mj-lt"/>
              <a:ea typeface="微软雅黑" pitchFamily="34" charset="-122"/>
            </a:endParaRPr>
          </a:p>
        </p:txBody>
      </p:sp>
      <p:sp>
        <p:nvSpPr>
          <p:cNvPr id="11" name="TextBox 10"/>
          <p:cNvSpPr txBox="1"/>
          <p:nvPr/>
        </p:nvSpPr>
        <p:spPr>
          <a:xfrm>
            <a:off x="6786578" y="1571612"/>
            <a:ext cx="2214578" cy="3708708"/>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vi-VN" altLang="zh-CN" sz="1000" dirty="0" smtClean="0">
                <a:latin typeface="+mj-lt"/>
                <a:ea typeface="微软雅黑" pitchFamily="34" charset="-122"/>
              </a:rPr>
              <a:t>Tra cứu </a:t>
            </a:r>
            <a:r>
              <a:rPr lang="en-US" altLang="zh-CN" sz="1000" dirty="0" smtClean="0">
                <a:latin typeface="Times New Roman" panose="02020603050405020304" pitchFamily="18" charset="0"/>
                <a:ea typeface="微软雅黑" pitchFamily="34" charset="-122"/>
                <a:cs typeface="Times New Roman" panose="02020603050405020304" pitchFamily="18" charset="0"/>
              </a:rPr>
              <a:t>danh sách nhân viên của phòng ban</a:t>
            </a:r>
            <a:endParaRPr lang="en-US" altLang="zh-CN" sz="1000" b="1" dirty="0" smtClean="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Chỉ hiển thị danh sách NV phòng ban người dùng phụ trách quản lý</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Chọn điều kiện tìm kiếm bên trên, click “Tra cứu”, hệ thống hiển thị nhân viên tương ứng</a:t>
            </a:r>
          </a:p>
          <a:p>
            <a:pPr marL="228600" indent="-228600" algn="l">
              <a:spcBef>
                <a:spcPct val="50000"/>
              </a:spcBef>
              <a:buFont typeface="+mj-lt"/>
              <a:buAutoNum type="arabicPeriod"/>
            </a:pPr>
            <a:r>
              <a:rPr lang="vi-VN" altLang="zh-CN" sz="1000" dirty="0" smtClean="0">
                <a:latin typeface="+mj-lt"/>
                <a:ea typeface="微软雅黑" pitchFamily="34" charset="-122"/>
              </a:rPr>
              <a:t>Click vào tên của nhân viên xem thông tin chi tiết </a:t>
            </a:r>
            <a:r>
              <a:rPr lang="en-US" altLang="zh-CN" sz="1000" dirty="0" smtClean="0">
                <a:latin typeface="+mj-lt"/>
                <a:ea typeface="微软雅黑" pitchFamily="34" charset="-122"/>
              </a:rPr>
              <a:t>hơn</a:t>
            </a:r>
            <a:endParaRPr lang="en-US" altLang="zh-CN" sz="1000" dirty="0">
              <a:latin typeface="+mj-lt"/>
              <a:ea typeface="微软雅黑" pitchFamily="34" charset="-122"/>
            </a:endParaRPr>
          </a:p>
          <a:p>
            <a:pPr marL="228600" indent="-228600" algn="l">
              <a:spcBef>
                <a:spcPct val="50000"/>
              </a:spcBef>
              <a:buFont typeface="+mj-lt"/>
              <a:buAutoNum type="arabicPeriod" startAt="3"/>
            </a:pPr>
            <a:endParaRPr lang="en-US" altLang="zh-CN" sz="1000" dirty="0" smtClean="0">
              <a:latin typeface="微软雅黑" pitchFamily="34" charset="-122"/>
              <a:ea typeface="微软雅黑" pitchFamily="34" charset="-122"/>
            </a:endParaRPr>
          </a:p>
          <a:p>
            <a:pPr marL="228600" indent="-228600" algn="l">
              <a:spcBef>
                <a:spcPct val="50000"/>
              </a:spcBef>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17411" name="Picture 3"/>
          <p:cNvPicPr>
            <a:picLocks noChangeAspect="1" noChangeArrowheads="1"/>
          </p:cNvPicPr>
          <p:nvPr/>
        </p:nvPicPr>
        <p:blipFill>
          <a:blip r:embed="rId2"/>
          <a:srcRect/>
          <a:stretch>
            <a:fillRect/>
          </a:stretch>
        </p:blipFill>
        <p:spPr bwMode="auto">
          <a:xfrm>
            <a:off x="500034" y="1824028"/>
            <a:ext cx="828675" cy="247650"/>
          </a:xfrm>
          <a:prstGeom prst="rect">
            <a:avLst/>
          </a:prstGeom>
          <a:noFill/>
          <a:ln w="9525">
            <a:noFill/>
            <a:miter lim="800000"/>
            <a:headEnd/>
            <a:tailEnd/>
          </a:ln>
          <a:effectLst/>
        </p:spPr>
      </p:pic>
      <p:pic>
        <p:nvPicPr>
          <p:cNvPr id="3" name="Picture 2"/>
          <p:cNvPicPr>
            <a:picLocks noChangeAspect="1"/>
          </p:cNvPicPr>
          <p:nvPr/>
        </p:nvPicPr>
        <p:blipFill>
          <a:blip r:embed="rId3"/>
          <a:stretch>
            <a:fillRect/>
          </a:stretch>
        </p:blipFill>
        <p:spPr>
          <a:xfrm>
            <a:off x="-11834" y="980728"/>
            <a:ext cx="6798412" cy="3744828"/>
          </a:xfrm>
          <a:prstGeom prst="rect">
            <a:avLst/>
          </a:prstGeom>
        </p:spPr>
      </p:pic>
      <p:pic>
        <p:nvPicPr>
          <p:cNvPr id="4" name="Picture 3"/>
          <p:cNvPicPr>
            <a:picLocks noChangeAspect="1"/>
          </p:cNvPicPr>
          <p:nvPr/>
        </p:nvPicPr>
        <p:blipFill>
          <a:blip r:embed="rId4"/>
          <a:stretch>
            <a:fillRect/>
          </a:stretch>
        </p:blipFill>
        <p:spPr>
          <a:xfrm>
            <a:off x="723076" y="3140968"/>
            <a:ext cx="5328592" cy="1811123"/>
          </a:xfrm>
          <a:prstGeom prst="rect">
            <a:avLst/>
          </a:prstGeom>
        </p:spPr>
      </p:pic>
      <p:sp>
        <p:nvSpPr>
          <p:cNvPr id="5" name="Rectangle 4"/>
          <p:cNvSpPr/>
          <p:nvPr/>
        </p:nvSpPr>
        <p:spPr>
          <a:xfrm>
            <a:off x="914371" y="1824028"/>
            <a:ext cx="414338" cy="1238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0" name="Elbow Connector 9"/>
          <p:cNvCxnSpPr>
            <a:stCxn id="5" idx="2"/>
            <a:endCxn id="4" idx="0"/>
          </p:cNvCxnSpPr>
          <p:nvPr/>
        </p:nvCxnSpPr>
        <p:spPr>
          <a:xfrm rot="16200000" flipH="1">
            <a:off x="1657899" y="1411494"/>
            <a:ext cx="1193115" cy="2265832"/>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89763"/>
            <a:ext cx="3024336"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Thông tin nhân viên-</a:t>
            </a:r>
            <a:r>
              <a:rPr lang="vi-VN" altLang="zh-CN" sz="1200" dirty="0" smtClean="0">
                <a:latin typeface="+mj-lt"/>
                <a:ea typeface="微软雅黑" pitchFamily="34" charset="-122"/>
              </a:rPr>
              <a:t>Nội dung đánh giá</a:t>
            </a:r>
            <a:endParaRPr lang="zh-CN" altLang="en-US" sz="1200" dirty="0" smtClean="0">
              <a:latin typeface="+mj-lt"/>
              <a:ea typeface="微软雅黑" pitchFamily="34" charset="-122"/>
            </a:endParaRPr>
          </a:p>
        </p:txBody>
      </p:sp>
      <p:sp>
        <p:nvSpPr>
          <p:cNvPr id="11" name="TextBox 10"/>
          <p:cNvSpPr txBox="1"/>
          <p:nvPr/>
        </p:nvSpPr>
        <p:spPr>
          <a:xfrm>
            <a:off x="6786578" y="1571612"/>
            <a:ext cx="2214578" cy="3400931"/>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vi-VN" altLang="zh-CN" sz="1000" dirty="0">
                <a:latin typeface="+mj-lt"/>
                <a:ea typeface="微软雅黑" pitchFamily="34" charset="-122"/>
              </a:rPr>
              <a:t>Tra cứu </a:t>
            </a:r>
            <a:r>
              <a:rPr lang="vi-VN" altLang="zh-CN" sz="1000" dirty="0" smtClean="0">
                <a:latin typeface="+mj-lt"/>
                <a:ea typeface="微软雅黑" pitchFamily="34" charset="-122"/>
              </a:rPr>
              <a:t>thông tin đánh giá </a:t>
            </a:r>
            <a:r>
              <a:rPr lang="vi-VN" altLang="zh-CN" sz="1000" dirty="0">
                <a:latin typeface="+mj-lt"/>
                <a:ea typeface="微软雅黑" pitchFamily="34" charset="-122"/>
              </a:rPr>
              <a:t>nhân viên thuộc phòng ban mà người dùng quản lý. </a:t>
            </a:r>
            <a:endParaRPr lang="en-US" altLang="zh-CN" sz="1000" dirty="0" smtClean="0">
              <a:latin typeface="+mj-lt"/>
              <a:ea typeface="微软雅黑" pitchFamily="34" charset="-122"/>
            </a:endParaRP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vi-VN" altLang="zh-CN" sz="1000" dirty="0" smtClean="0">
                <a:latin typeface="+mj-lt"/>
                <a:ea typeface="微软雅黑" pitchFamily="34" charset="-122"/>
              </a:rPr>
              <a:t>Chỉ hiển thị phòng ban phụ trách quản lý</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Chọn điều kiện tìm kiếm, chọn “Tra cứu”, hệ thống hiển thị các nhân viên tương ứng</a:t>
            </a:r>
            <a:endParaRPr lang="en-US" altLang="zh-CN" sz="1000" dirty="0">
              <a:latin typeface="Times New Roman" panose="02020603050405020304" pitchFamily="18" charset="0"/>
              <a:ea typeface="微软雅黑" pitchFamily="34" charset="-122"/>
              <a:cs typeface="Times New Roman" panose="02020603050405020304" pitchFamily="18" charset="0"/>
            </a:endParaRP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Xuất Excel: kết xuất thông tin vừa tìm kiếm</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sp>
        <p:nvSpPr>
          <p:cNvPr id="16" name="AutoShape 23"/>
          <p:cNvSpPr>
            <a:spLocks noChangeArrowheads="1"/>
          </p:cNvSpPr>
          <p:nvPr/>
        </p:nvSpPr>
        <p:spPr bwMode="auto">
          <a:xfrm>
            <a:off x="5715008" y="2071678"/>
            <a:ext cx="285752"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7" name="椭圆 40"/>
          <p:cNvSpPr/>
          <p:nvPr/>
        </p:nvSpPr>
        <p:spPr>
          <a:xfrm>
            <a:off x="5500694" y="2071678"/>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
        <p:nvSpPr>
          <p:cNvPr id="18" name="AutoShape 23"/>
          <p:cNvSpPr>
            <a:spLocks noChangeArrowheads="1"/>
          </p:cNvSpPr>
          <p:nvPr/>
        </p:nvSpPr>
        <p:spPr bwMode="auto">
          <a:xfrm>
            <a:off x="6000760" y="2071678"/>
            <a:ext cx="357190"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20" name="椭圆 29"/>
          <p:cNvSpPr/>
          <p:nvPr/>
        </p:nvSpPr>
        <p:spPr>
          <a:xfrm>
            <a:off x="6357950" y="2071678"/>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3</a:t>
            </a:r>
            <a:endParaRPr lang="zh-CN" altLang="en-US" sz="1000" dirty="0">
              <a:solidFill>
                <a:schemeClr val="tx1"/>
              </a:solidFill>
              <a:latin typeface="微软雅黑" pitchFamily="34" charset="-122"/>
              <a:ea typeface="微软雅黑" pitchFamily="34" charset="-122"/>
            </a:endParaRPr>
          </a:p>
        </p:txBody>
      </p:sp>
      <p:sp>
        <p:nvSpPr>
          <p:cNvPr id="21" name="AutoShape 23"/>
          <p:cNvSpPr>
            <a:spLocks noChangeArrowheads="1"/>
          </p:cNvSpPr>
          <p:nvPr/>
        </p:nvSpPr>
        <p:spPr bwMode="auto">
          <a:xfrm>
            <a:off x="1071538" y="2071678"/>
            <a:ext cx="1143008"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22" name="椭圆 13"/>
          <p:cNvSpPr/>
          <p:nvPr/>
        </p:nvSpPr>
        <p:spPr>
          <a:xfrm>
            <a:off x="857224" y="200024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24" name="AutoShape 23"/>
          <p:cNvSpPr>
            <a:spLocks noChangeArrowheads="1"/>
          </p:cNvSpPr>
          <p:nvPr/>
        </p:nvSpPr>
        <p:spPr bwMode="auto">
          <a:xfrm>
            <a:off x="1714480" y="2500306"/>
            <a:ext cx="357190" cy="142876"/>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cxnSp>
        <p:nvCxnSpPr>
          <p:cNvPr id="25" name="直接箭头连接符 16"/>
          <p:cNvCxnSpPr>
            <a:stCxn id="24" idx="2"/>
          </p:cNvCxnSpPr>
          <p:nvPr/>
        </p:nvCxnSpPr>
        <p:spPr>
          <a:xfrm rot="16200000" flipH="1">
            <a:off x="2411000" y="2125256"/>
            <a:ext cx="714380" cy="1750231"/>
          </a:xfrm>
          <a:prstGeom prst="bentConnector3">
            <a:avLst>
              <a:gd name="adj1" fmla="val 50000"/>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0" y="1537867"/>
            <a:ext cx="6786578" cy="380161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57290" y="99217"/>
            <a:ext cx="3214710"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微软雅黑" pitchFamily="34" charset="-122"/>
                <a:ea typeface="微软雅黑" pitchFamily="34" charset="-122"/>
              </a:rPr>
              <a:t> </a:t>
            </a:r>
            <a:r>
              <a:rPr lang="en-US" altLang="zh-CN" sz="1200" dirty="0" smtClean="0">
                <a:latin typeface="Times New Roman" panose="02020603050405020304" pitchFamily="18" charset="0"/>
                <a:ea typeface="微软雅黑" pitchFamily="34" charset="-122"/>
                <a:cs typeface="Times New Roman" panose="02020603050405020304" pitchFamily="18" charset="0"/>
              </a:rPr>
              <a:t>Thông tin nhân viên-</a:t>
            </a:r>
            <a:r>
              <a:rPr lang="vi-VN" altLang="zh-CN" sz="1200" dirty="0" smtClean="0">
                <a:latin typeface="+mj-lt"/>
                <a:ea typeface="微软雅黑" pitchFamily="34" charset="-122"/>
              </a:rPr>
              <a:t>Thông tin nhân sự</a:t>
            </a:r>
            <a:endParaRPr lang="zh-CN" altLang="en-US" sz="1200" dirty="0" smtClean="0">
              <a:latin typeface="+mj-lt"/>
              <a:ea typeface="微软雅黑" pitchFamily="34" charset="-122"/>
            </a:endParaRPr>
          </a:p>
        </p:txBody>
      </p:sp>
      <p:sp>
        <p:nvSpPr>
          <p:cNvPr id="11" name="TextBox 10"/>
          <p:cNvSpPr txBox="1"/>
          <p:nvPr/>
        </p:nvSpPr>
        <p:spPr>
          <a:xfrm>
            <a:off x="6786578" y="1571612"/>
            <a:ext cx="2214578" cy="3877985"/>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Tra cứu thông tin nhân sự của phòng ban đang quản lý</a:t>
            </a:r>
          </a:p>
          <a:p>
            <a:pPr marL="228600" indent="-228600" algn="l">
              <a:spcBef>
                <a:spcPct val="50000"/>
              </a:spcBef>
              <a:buFont typeface="+mj-lt"/>
              <a:buAutoNum type="arabicPeriod"/>
            </a:pPr>
            <a:r>
              <a:rPr lang="vi-VN" altLang="zh-CN" sz="1200" dirty="0">
                <a:latin typeface="+mj-lt"/>
                <a:ea typeface="微软雅黑" pitchFamily="34" charset="-122"/>
              </a:rPr>
              <a:t>Chỉ hiển thị phòng ban phụ trách quản lý </a:t>
            </a:r>
            <a:endParaRPr lang="en-US" altLang="zh-CN" sz="1200" dirty="0" smtClean="0">
              <a:latin typeface="+mj-lt"/>
              <a:ea typeface="微软雅黑" pitchFamily="34" charset="-122"/>
            </a:endParaRPr>
          </a:p>
          <a:p>
            <a:pPr marL="228600" indent="-228600"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Nhập điều kiện tìm kiếm bên trên, sau đó “Tra cứu”, hệ thống hiển thị các nhân viên tương ứng</a:t>
            </a:r>
          </a:p>
          <a:p>
            <a:pPr algn="l"/>
            <a:r>
              <a:rPr lang="en-US" altLang="zh-CN" sz="1200" dirty="0" smtClean="0">
                <a:latin typeface="Times New Roman" panose="02020603050405020304" pitchFamily="18" charset="0"/>
                <a:ea typeface="微软雅黑" pitchFamily="34" charset="-122"/>
                <a:cs typeface="Times New Roman" panose="02020603050405020304" pitchFamily="18" charset="0"/>
              </a:rPr>
              <a:t>Xuất Excel: kết xuất thông tin vừa tìm kiếm </a:t>
            </a:r>
          </a:p>
          <a:p>
            <a:pPr algn="l"/>
            <a:r>
              <a:rPr lang="en-US" altLang="zh-CN" sz="1200" dirty="0" smtClean="0">
                <a:latin typeface="Times New Roman" panose="02020603050405020304" pitchFamily="18" charset="0"/>
                <a:ea typeface="微软雅黑" pitchFamily="34" charset="-122"/>
                <a:cs typeface="Times New Roman" panose="02020603050405020304" pitchFamily="18" charset="0"/>
              </a:rPr>
              <a:t>-Chọn tên nhân viên màu xanh, hiển thị khung thông tin mới</a:t>
            </a:r>
          </a:p>
          <a:p>
            <a:pPr algn="l"/>
            <a:endParaRPr lang="en-US" altLang="zh-CN" sz="1200" dirty="0" smtClean="0">
              <a:latin typeface="微软雅黑" pitchFamily="34" charset="-122"/>
              <a:ea typeface="微软雅黑" pitchFamily="34" charset="-122"/>
            </a:endParaRPr>
          </a:p>
          <a:p>
            <a:pPr algn="l"/>
            <a:endParaRPr lang="en-US" altLang="zh-CN" sz="1200" dirty="0" smtClean="0">
              <a:latin typeface="微软雅黑" pitchFamily="34" charset="-122"/>
              <a:ea typeface="微软雅黑" pitchFamily="34" charset="-122"/>
            </a:endParaRPr>
          </a:p>
          <a:p>
            <a:pPr algn="l"/>
            <a:endParaRPr lang="en-US" altLang="zh-CN" sz="1200" dirty="0" smtClean="0">
              <a:latin typeface="微软雅黑" pitchFamily="34" charset="-122"/>
              <a:ea typeface="微软雅黑" pitchFamily="34" charset="-122"/>
            </a:endParaRPr>
          </a:p>
          <a:p>
            <a:pPr algn="l"/>
            <a:endParaRPr lang="en-US" altLang="zh-CN" sz="1200" dirty="0" smtClean="0">
              <a:latin typeface="微软雅黑" pitchFamily="34" charset="-122"/>
              <a:ea typeface="微软雅黑" pitchFamily="34" charset="-122"/>
            </a:endParaRPr>
          </a:p>
          <a:p>
            <a:pPr algn="l"/>
            <a:endParaRPr lang="en-US" altLang="zh-CN" sz="1200" dirty="0" smtClean="0">
              <a:latin typeface="微软雅黑" pitchFamily="34" charset="-122"/>
              <a:ea typeface="微软雅黑" pitchFamily="34" charset="-122"/>
            </a:endParaRPr>
          </a:p>
          <a:p>
            <a:pPr algn="l"/>
            <a:endParaRPr lang="zh-CN" altLang="en-US" sz="1200" dirty="0">
              <a:latin typeface="微软雅黑" pitchFamily="34" charset="-122"/>
              <a:ea typeface="微软雅黑" pitchFamily="34" charset="-122"/>
            </a:endParaRPr>
          </a:p>
        </p:txBody>
      </p:sp>
      <p:pic>
        <p:nvPicPr>
          <p:cNvPr id="3079" name="Picture 7"/>
          <p:cNvPicPr>
            <a:picLocks noChangeAspect="1" noChangeArrowheads="1"/>
          </p:cNvPicPr>
          <p:nvPr/>
        </p:nvPicPr>
        <p:blipFill>
          <a:blip r:embed="rId2"/>
          <a:srcRect/>
          <a:stretch>
            <a:fillRect/>
          </a:stretch>
        </p:blipFill>
        <p:spPr bwMode="auto">
          <a:xfrm>
            <a:off x="500034" y="1733540"/>
            <a:ext cx="857256" cy="195262"/>
          </a:xfrm>
          <a:prstGeom prst="rect">
            <a:avLst/>
          </a:prstGeom>
          <a:noFill/>
          <a:ln w="9525">
            <a:noFill/>
            <a:miter lim="800000"/>
            <a:headEnd/>
            <a:tailEnd/>
          </a:ln>
          <a:effectLst/>
        </p:spPr>
      </p:pic>
      <p:sp>
        <p:nvSpPr>
          <p:cNvPr id="22" name="椭圆 21"/>
          <p:cNvSpPr/>
          <p:nvPr/>
        </p:nvSpPr>
        <p:spPr>
          <a:xfrm>
            <a:off x="714348" y="200024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23" name="AutoShape 23"/>
          <p:cNvSpPr>
            <a:spLocks noChangeArrowheads="1"/>
          </p:cNvSpPr>
          <p:nvPr/>
        </p:nvSpPr>
        <p:spPr bwMode="auto">
          <a:xfrm>
            <a:off x="1000100" y="2000240"/>
            <a:ext cx="1285884"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24" name="AutoShape 23"/>
          <p:cNvSpPr>
            <a:spLocks noChangeArrowheads="1"/>
          </p:cNvSpPr>
          <p:nvPr/>
        </p:nvSpPr>
        <p:spPr bwMode="auto">
          <a:xfrm>
            <a:off x="6000760" y="1928802"/>
            <a:ext cx="357190"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25" name="椭圆 24"/>
          <p:cNvSpPr/>
          <p:nvPr/>
        </p:nvSpPr>
        <p:spPr>
          <a:xfrm>
            <a:off x="2786050" y="2143116"/>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3</a:t>
            </a:r>
            <a:endParaRPr lang="zh-CN" altLang="en-US" sz="1000" dirty="0">
              <a:solidFill>
                <a:schemeClr val="tx1"/>
              </a:solidFill>
              <a:latin typeface="微软雅黑" pitchFamily="34" charset="-122"/>
              <a:ea typeface="微软雅黑" pitchFamily="34" charset="-122"/>
            </a:endParaRPr>
          </a:p>
        </p:txBody>
      </p:sp>
      <p:sp>
        <p:nvSpPr>
          <p:cNvPr id="26" name="AutoShape 23"/>
          <p:cNvSpPr>
            <a:spLocks noChangeArrowheads="1"/>
          </p:cNvSpPr>
          <p:nvPr/>
        </p:nvSpPr>
        <p:spPr bwMode="auto">
          <a:xfrm>
            <a:off x="2285984" y="2143116"/>
            <a:ext cx="428628"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28" name="椭圆 29"/>
          <p:cNvSpPr/>
          <p:nvPr/>
        </p:nvSpPr>
        <p:spPr>
          <a:xfrm>
            <a:off x="5715008" y="1928802"/>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cxnSp>
        <p:nvCxnSpPr>
          <p:cNvPr id="29" name="直接箭头连接符 26"/>
          <p:cNvCxnSpPr>
            <a:stCxn id="26" idx="2"/>
          </p:cNvCxnSpPr>
          <p:nvPr/>
        </p:nvCxnSpPr>
        <p:spPr>
          <a:xfrm rot="16200000" flipH="1">
            <a:off x="2428860" y="2428868"/>
            <a:ext cx="1357324" cy="1214448"/>
          </a:xfrm>
          <a:prstGeom prst="bentConnector3">
            <a:avLst>
              <a:gd name="adj1" fmla="val 50000"/>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stretch>
            <a:fillRect/>
          </a:stretch>
        </p:blipFill>
        <p:spPr>
          <a:xfrm>
            <a:off x="67307" y="1268760"/>
            <a:ext cx="6719271" cy="3772591"/>
          </a:xfrm>
          <a:prstGeom prst="rect">
            <a:avLst/>
          </a:prstGeom>
        </p:spPr>
      </p:pic>
      <p:pic>
        <p:nvPicPr>
          <p:cNvPr id="3" name="Picture 2"/>
          <p:cNvPicPr>
            <a:picLocks noChangeAspect="1"/>
          </p:cNvPicPr>
          <p:nvPr/>
        </p:nvPicPr>
        <p:blipFill>
          <a:blip r:embed="rId4"/>
          <a:stretch>
            <a:fillRect/>
          </a:stretch>
        </p:blipFill>
        <p:spPr>
          <a:xfrm>
            <a:off x="807306" y="3702655"/>
            <a:ext cx="5039707" cy="2305157"/>
          </a:xfrm>
          <a:prstGeom prst="rect">
            <a:avLst/>
          </a:prstGeom>
        </p:spPr>
      </p:pic>
      <p:sp>
        <p:nvSpPr>
          <p:cNvPr id="4" name="Rectangle 3"/>
          <p:cNvSpPr/>
          <p:nvPr/>
        </p:nvSpPr>
        <p:spPr>
          <a:xfrm>
            <a:off x="2893207" y="2660282"/>
            <a:ext cx="454657" cy="1428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p:nvPr/>
        </p:nvCxnSpPr>
        <p:spPr>
          <a:xfrm rot="16200000" flipH="1">
            <a:off x="2861570" y="3097400"/>
            <a:ext cx="811325" cy="319420"/>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48000" y="116632"/>
            <a:ext cx="3099275" cy="307777"/>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4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 Tra cứu chấm công</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762568"/>
          </a:xfrm>
          <a:prstGeom prst="rect">
            <a:avLst/>
          </a:prstGeom>
          <a:noFill/>
        </p:spPr>
        <p:txBody>
          <a:bodyPr wrap="square" rtlCol="0">
            <a:spAutoFit/>
          </a:bodyPr>
          <a:lstStyle/>
          <a:p>
            <a:pPr algn="l">
              <a:spcBef>
                <a:spcPct val="50000"/>
              </a:spcBef>
            </a:pPr>
            <a:r>
              <a:rPr lang="vi-VN" altLang="zh-CN" sz="1100" b="1" dirty="0" smtClean="0">
                <a:latin typeface="Times New Roman" pitchFamily="18" charset="0"/>
                <a:ea typeface="微软雅黑" pitchFamily="34" charset="-122"/>
                <a:cs typeface="Times New Roman" pitchFamily="18" charset="0"/>
              </a:rPr>
              <a:t>Công dụng</a:t>
            </a:r>
            <a:r>
              <a:rPr lang="zh-CN" altLang="en-US" sz="1100" b="1" dirty="0" smtClean="0">
                <a:latin typeface="Times New Roman" pitchFamily="18" charset="0"/>
                <a:ea typeface="微软雅黑" pitchFamily="34" charset="-122"/>
                <a:cs typeface="Times New Roman" pitchFamily="18" charset="0"/>
              </a:rPr>
              <a:t>：</a:t>
            </a:r>
            <a:endParaRPr lang="en-US" altLang="zh-CN" sz="1100" b="1" dirty="0" smtClean="0">
              <a:latin typeface="Times New Roman" pitchFamily="18" charset="0"/>
              <a:ea typeface="微软雅黑" pitchFamily="34" charset="-122"/>
              <a:cs typeface="Times New Roman" pitchFamily="18" charset="0"/>
            </a:endParaRPr>
          </a:p>
          <a:p>
            <a:pPr algn="l">
              <a:spcBef>
                <a:spcPct val="50000"/>
              </a:spcBef>
            </a:pPr>
            <a:r>
              <a:rPr lang="vi-VN" altLang="zh-CN" sz="1100" dirty="0" smtClean="0">
                <a:latin typeface="Times New Roman" pitchFamily="18" charset="0"/>
                <a:ea typeface="微软雅黑" pitchFamily="34" charset="-122"/>
                <a:cs typeface="Times New Roman" pitchFamily="18" charset="0"/>
              </a:rPr>
              <a:t>Trang tra cứu chấm công của nhân viên thuộc phòng ban mình quản lý </a:t>
            </a:r>
            <a:endParaRPr lang="en-US" altLang="zh-CN" sz="1100" dirty="0" smtClean="0">
              <a:latin typeface="Times New Roman" pitchFamily="18" charset="0"/>
              <a:ea typeface="微软雅黑" pitchFamily="34" charset="-122"/>
              <a:cs typeface="Times New Roman" pitchFamily="18" charset="0"/>
            </a:endParaRPr>
          </a:p>
          <a:p>
            <a:pPr algn="l">
              <a:spcBef>
                <a:spcPct val="50000"/>
              </a:spcBef>
            </a:pPr>
            <a:r>
              <a:rPr lang="vi-VN" altLang="zh-CN" sz="1100" b="1" dirty="0" smtClean="0">
                <a:latin typeface="Times New Roman" pitchFamily="18" charset="0"/>
                <a:ea typeface="微软雅黑" pitchFamily="34" charset="-122"/>
                <a:cs typeface="Times New Roman" pitchFamily="18" charset="0"/>
              </a:rPr>
              <a:t>Giải thích chi tiết</a:t>
            </a:r>
            <a:r>
              <a:rPr lang="zh-CN" altLang="en-US" sz="1100" dirty="0" smtClean="0">
                <a:latin typeface="Times New Roman" pitchFamily="18" charset="0"/>
                <a:ea typeface="微软雅黑" pitchFamily="34" charset="-122"/>
                <a:cs typeface="Times New Roman" pitchFamily="18" charset="0"/>
              </a:rPr>
              <a:t>：</a:t>
            </a: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100" dirty="0" smtClean="0">
                <a:latin typeface="Times New Roman" pitchFamily="18" charset="0"/>
                <a:ea typeface="微软雅黑" pitchFamily="34" charset="-122"/>
                <a:cs typeface="Times New Roman" pitchFamily="18" charset="0"/>
              </a:rPr>
              <a:t>Chỉ hiển thị phòng ban mà người dùng đó có quyền hạn quản lý</a:t>
            </a:r>
            <a:endParaRPr lang="en-US" altLang="zh-CN" sz="1100" dirty="0" smtClean="0">
              <a:latin typeface="Times New Roman" pitchFamily="18" charset="0"/>
              <a:ea typeface="微软雅黑" pitchFamily="34" charset="-122"/>
              <a:cs typeface="Times New Roman" pitchFamily="18" charset="0"/>
            </a:endParaRPr>
          </a:p>
          <a:p>
            <a:pPr algn="l">
              <a:spcBef>
                <a:spcPct val="50000"/>
              </a:spcBef>
            </a:pPr>
            <a:r>
              <a:rPr lang="en-US" altLang="zh-CN" sz="1000" dirty="0" smtClean="0">
                <a:latin typeface="Times New Roman" pitchFamily="18" charset="0"/>
                <a:ea typeface="微软雅黑" pitchFamily="34" charset="-122"/>
                <a:cs typeface="Times New Roman" pitchFamily="18" charset="0"/>
              </a:rPr>
              <a:t>Nhập điều kiện tìm kiếm sau đó “Tra cứu”, hệ thống hiển thị các dữ liệu tương ứng</a:t>
            </a:r>
          </a:p>
          <a:p>
            <a:pPr algn="l">
              <a:spcBef>
                <a:spcPct val="50000"/>
              </a:spcBef>
            </a:pPr>
            <a:r>
              <a:rPr lang="en-US" altLang="zh-CN" sz="1000" dirty="0" smtClean="0">
                <a:latin typeface="Times New Roman" pitchFamily="18" charset="0"/>
                <a:ea typeface="微软雅黑" pitchFamily="34" charset="-122"/>
                <a:cs typeface="Times New Roman" pitchFamily="18" charset="0"/>
              </a:rPr>
              <a:t>Xuất Excel : kết xuất dữ liệu vừa tìm kiếm</a:t>
            </a:r>
          </a:p>
          <a:p>
            <a:pPr marL="228600" indent="-228600" algn="l">
              <a:spcBef>
                <a:spcPct val="50000"/>
              </a:spcBef>
            </a:pPr>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pic>
        <p:nvPicPr>
          <p:cNvPr id="30724" name="Picture 4"/>
          <p:cNvPicPr>
            <a:picLocks noChangeAspect="1" noChangeArrowheads="1"/>
          </p:cNvPicPr>
          <p:nvPr/>
        </p:nvPicPr>
        <p:blipFill>
          <a:blip r:embed="rId2"/>
          <a:srcRect/>
          <a:stretch>
            <a:fillRect/>
          </a:stretch>
        </p:blipFill>
        <p:spPr bwMode="auto">
          <a:xfrm>
            <a:off x="1424000" y="2928934"/>
            <a:ext cx="5219702" cy="1381125"/>
          </a:xfrm>
          <a:prstGeom prst="rect">
            <a:avLst/>
          </a:prstGeom>
          <a:noFill/>
          <a:ln w="9525">
            <a:noFill/>
            <a:miter lim="800000"/>
            <a:headEnd/>
            <a:tailEnd/>
          </a:ln>
          <a:effectLst/>
        </p:spPr>
      </p:pic>
      <p:pic>
        <p:nvPicPr>
          <p:cNvPr id="17" name="Picture 3"/>
          <p:cNvPicPr>
            <a:picLocks noChangeAspect="1" noChangeArrowheads="1"/>
          </p:cNvPicPr>
          <p:nvPr/>
        </p:nvPicPr>
        <p:blipFill>
          <a:blip r:embed="rId3"/>
          <a:srcRect/>
          <a:stretch>
            <a:fillRect/>
          </a:stretch>
        </p:blipFill>
        <p:spPr bwMode="auto">
          <a:xfrm>
            <a:off x="500034" y="1857364"/>
            <a:ext cx="828675" cy="247650"/>
          </a:xfrm>
          <a:prstGeom prst="rect">
            <a:avLst/>
          </a:prstGeom>
          <a:noFill/>
          <a:ln w="9525">
            <a:noFill/>
            <a:miter lim="800000"/>
            <a:headEnd/>
            <a:tailEnd/>
          </a:ln>
          <a:effectLst/>
        </p:spPr>
      </p:pic>
      <p:pic>
        <p:nvPicPr>
          <p:cNvPr id="2" name="Picture 1"/>
          <p:cNvPicPr>
            <a:picLocks noChangeAspect="1"/>
          </p:cNvPicPr>
          <p:nvPr/>
        </p:nvPicPr>
        <p:blipFill>
          <a:blip r:embed="rId4"/>
          <a:stretch>
            <a:fillRect/>
          </a:stretch>
        </p:blipFill>
        <p:spPr>
          <a:xfrm>
            <a:off x="43849" y="1542029"/>
            <a:ext cx="6742729" cy="378904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Chấm công nhân viên-</a:t>
            </a:r>
            <a:r>
              <a:rPr lang="vi-VN" altLang="zh-CN" sz="1200" dirty="0" smtClean="0">
                <a:latin typeface="Times New Roman" pitchFamily="18" charset="0"/>
                <a:ea typeface="微软雅黑" pitchFamily="34" charset="-122"/>
                <a:cs typeface="Times New Roman" pitchFamily="18" charset="0"/>
              </a:rPr>
              <a:t>Tra cứu tăng ca</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4424288"/>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a:latin typeface="Times New Roman" pitchFamily="18" charset="0"/>
                <a:ea typeface="微软雅黑" pitchFamily="34" charset="-122"/>
                <a:cs typeface="Times New Roman" pitchFamily="18" charset="0"/>
              </a:rPr>
              <a:t>Trang tra </a:t>
            </a:r>
            <a:r>
              <a:rPr lang="vi-VN" altLang="zh-CN" sz="1100" dirty="0" smtClean="0">
                <a:latin typeface="Times New Roman" pitchFamily="18" charset="0"/>
                <a:ea typeface="微软雅黑" pitchFamily="34" charset="-122"/>
                <a:cs typeface="Times New Roman" pitchFamily="18" charset="0"/>
              </a:rPr>
              <a:t>cứu</a:t>
            </a:r>
            <a:r>
              <a:rPr lang="en-US" altLang="zh-CN" sz="1100" dirty="0" smtClean="0">
                <a:latin typeface="Times New Roman" pitchFamily="18" charset="0"/>
                <a:ea typeface="微软雅黑" pitchFamily="34" charset="-122"/>
                <a:cs typeface="Times New Roman" pitchFamily="18" charset="0"/>
              </a:rPr>
              <a:t> tình hình</a:t>
            </a:r>
            <a:r>
              <a:rPr lang="vi-VN" altLang="zh-CN" sz="1100" dirty="0" smtClean="0">
                <a:latin typeface="Times New Roman" pitchFamily="18" charset="0"/>
                <a:ea typeface="微软雅黑" pitchFamily="34" charset="-122"/>
                <a:cs typeface="Times New Roman" pitchFamily="18" charset="0"/>
              </a:rPr>
              <a:t> tăng ca </a:t>
            </a:r>
            <a:r>
              <a:rPr lang="vi-VN" altLang="zh-CN" sz="1100" dirty="0">
                <a:latin typeface="Times New Roman" pitchFamily="18" charset="0"/>
                <a:ea typeface="微软雅黑" pitchFamily="34" charset="-122"/>
                <a:cs typeface="Times New Roman" pitchFamily="18" charset="0"/>
              </a:rPr>
              <a:t>của nhân viên thuộc phòng ban mình quản lý </a:t>
            </a:r>
            <a:endParaRPr lang="en-US" altLang="zh-CN" sz="1100" dirty="0">
              <a:latin typeface="Times New Roman" pitchFamily="18" charset="0"/>
              <a:ea typeface="微软雅黑" pitchFamily="34" charset="-122"/>
              <a:cs typeface="Times New Roman" pitchFamily="18" charset="0"/>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vi-VN" altLang="zh-CN" sz="1100" dirty="0" smtClean="0">
                <a:latin typeface="Times New Roman" pitchFamily="18" charset="0"/>
                <a:ea typeface="微软雅黑" pitchFamily="34" charset="-122"/>
                <a:cs typeface="Times New Roman" pitchFamily="18" charset="0"/>
              </a:rPr>
              <a:t>Chỉ hiển thị phòng ban mà người dùng đó có quyền hạn quản lý</a:t>
            </a: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en-US" altLang="zh-CN" sz="1100" dirty="0" smtClean="0">
                <a:latin typeface="Times New Roman" pitchFamily="18" charset="0"/>
                <a:ea typeface="微软雅黑" pitchFamily="34" charset="-122"/>
                <a:cs typeface="Times New Roman" pitchFamily="18" charset="0"/>
              </a:rPr>
              <a:t>Nhập điều kiện tìm kiếm, sau đó “Tra cứu”, hệ thống hiển thị các nhân viên và dữ liệu tăng ca tương ứng.</a:t>
            </a:r>
            <a:endParaRPr lang="en-US" altLang="zh-CN" sz="1100" dirty="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en-US" altLang="zh-CN" sz="1100" dirty="0" smtClean="0">
                <a:latin typeface="Times New Roman" pitchFamily="18" charset="0"/>
                <a:ea typeface="微软雅黑" pitchFamily="34" charset="-122"/>
                <a:cs typeface="Times New Roman" pitchFamily="18" charset="0"/>
              </a:rPr>
              <a:t>Xuất Excel</a:t>
            </a:r>
            <a:r>
              <a:rPr lang="en-US" altLang="zh-CN" sz="1100" dirty="0">
                <a:latin typeface="Times New Roman" pitchFamily="18" charset="0"/>
                <a:ea typeface="微软雅黑" pitchFamily="34" charset="-122"/>
                <a:cs typeface="Times New Roman" pitchFamily="18" charset="0"/>
              </a:rPr>
              <a:t> </a:t>
            </a:r>
            <a:r>
              <a:rPr lang="en-US" altLang="zh-CN" sz="1100" dirty="0" smtClean="0">
                <a:latin typeface="Times New Roman" pitchFamily="18" charset="0"/>
                <a:ea typeface="微软雅黑" pitchFamily="34" charset="-122"/>
                <a:cs typeface="Times New Roman" pitchFamily="18" charset="0"/>
              </a:rPr>
              <a:t>: kết xuất dữ liệu vừa tra cứu</a:t>
            </a:r>
          </a:p>
          <a:p>
            <a:pPr marL="228600" indent="-228600" algn="l">
              <a:spcBef>
                <a:spcPct val="50000"/>
              </a:spcBef>
              <a:buFont typeface="+mj-lt"/>
              <a:buAutoNum type="arabicPeriod" startAt="3"/>
            </a:pPr>
            <a:endParaRPr lang="en-US" altLang="zh-CN" sz="1000" dirty="0" smtClean="0">
              <a:latin typeface="+mj-lt"/>
              <a:ea typeface="微软雅黑" pitchFamily="34" charset="-122"/>
            </a:endParaRPr>
          </a:p>
          <a:p>
            <a:pPr marL="228600" indent="-228600" algn="l">
              <a:spcBef>
                <a:spcPct val="50000"/>
              </a:spcBef>
            </a:pPr>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zh-CN" altLang="en-US" sz="1000" dirty="0">
              <a:latin typeface="+mj-lt"/>
              <a:ea typeface="微软雅黑" pitchFamily="34" charset="-122"/>
            </a:endParaRPr>
          </a:p>
        </p:txBody>
      </p:sp>
      <p:pic>
        <p:nvPicPr>
          <p:cNvPr id="15" name="Picture 3"/>
          <p:cNvPicPr>
            <a:picLocks noChangeAspect="1" noChangeArrowheads="1"/>
          </p:cNvPicPr>
          <p:nvPr/>
        </p:nvPicPr>
        <p:blipFill>
          <a:blip r:embed="rId2"/>
          <a:srcRect/>
          <a:stretch>
            <a:fillRect/>
          </a:stretch>
        </p:blipFill>
        <p:spPr bwMode="auto">
          <a:xfrm>
            <a:off x="500034" y="1824028"/>
            <a:ext cx="828675" cy="247650"/>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8257" y="1412776"/>
            <a:ext cx="6768787" cy="375611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547664" y="116632"/>
            <a:ext cx="3024336"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a:t>
            </a:r>
            <a:r>
              <a:rPr lang="vi-VN" altLang="zh-CN" sz="1200" dirty="0" smtClean="0">
                <a:latin typeface="Times New Roman" pitchFamily="18" charset="0"/>
                <a:ea typeface="微软雅黑" pitchFamily="34" charset="-122"/>
                <a:cs typeface="Times New Roman" pitchFamily="18" charset="0"/>
              </a:rPr>
              <a:t>Tình hình </a:t>
            </a:r>
            <a:r>
              <a:rPr lang="en-US" altLang="zh-CN" sz="1200" dirty="0" smtClean="0">
                <a:latin typeface="Times New Roman" pitchFamily="18" charset="0"/>
                <a:ea typeface="微软雅黑" pitchFamily="34" charset="-122"/>
                <a:cs typeface="Times New Roman" pitchFamily="18" charset="0"/>
              </a:rPr>
              <a:t>nghỉ phép</a:t>
            </a:r>
            <a:endParaRPr lang="zh-CN" altLang="en-US" sz="1200" dirty="0" smtClean="0">
              <a:latin typeface="Times New Roman" pitchFamily="18" charset="0"/>
              <a:ea typeface="微软雅黑" pitchFamily="34" charset="-122"/>
              <a:cs typeface="Times New Roman" pitchFamily="18" charset="0"/>
            </a:endParaRPr>
          </a:p>
        </p:txBody>
      </p:sp>
      <p:sp>
        <p:nvSpPr>
          <p:cNvPr id="39" name="TextBox 38"/>
          <p:cNvSpPr txBox="1"/>
          <p:nvPr/>
        </p:nvSpPr>
        <p:spPr>
          <a:xfrm>
            <a:off x="6715140" y="1571612"/>
            <a:ext cx="2214578" cy="4308872"/>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Tổng hợp số lần nghỉ của nhân viên</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buFont typeface="+mj-lt"/>
              <a:buAutoNum type="arabicPeriod"/>
            </a:pPr>
            <a:r>
              <a:rPr lang="vi-VN" altLang="zh-CN" sz="1200" dirty="0" smtClean="0">
                <a:latin typeface="+mj-lt"/>
                <a:ea typeface="微软雅黑" pitchFamily="34" charset="-122"/>
              </a:rPr>
              <a:t>Chỉ hiển thị phòng ban phụ trách quản lý</a:t>
            </a:r>
            <a:endParaRPr lang="en-US" altLang="zh-CN" sz="1200" dirty="0" smtClean="0">
              <a:latin typeface="+mj-lt"/>
              <a:ea typeface="微软雅黑" pitchFamily="34" charset="-122"/>
            </a:endParaRP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Nhập điều kiện tìm kiếm, sau đó “Tra cứu”, hệ thống hiển thị tất cả nhân viên và thông tin nghỉ tương ứng</a:t>
            </a:r>
          </a:p>
          <a:p>
            <a:pPr marL="228600" indent="-228600" algn="l">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Xuất Excel: kết xuất dữ liệu vừa tìm kiếm</a:t>
            </a:r>
          </a:p>
          <a:p>
            <a:pPr marL="228600" indent="-228600" algn="l">
              <a:buFont typeface="+mj-lt"/>
              <a:buAutoNum type="arabicPeriod"/>
            </a:pPr>
            <a:r>
              <a:rPr lang="vi-VN" altLang="zh-CN" sz="1200" dirty="0" smtClean="0">
                <a:latin typeface="+mj-lt"/>
                <a:ea typeface="微软雅黑" pitchFamily="34" charset="-122"/>
              </a:rPr>
              <a:t>Các số </a:t>
            </a:r>
            <a:r>
              <a:rPr lang="en-US" altLang="zh-CN" sz="1200" dirty="0" smtClean="0">
                <a:latin typeface="Times New Roman" panose="02020603050405020304" pitchFamily="18" charset="0"/>
                <a:ea typeface="微软雅黑" pitchFamily="34" charset="-122"/>
                <a:cs typeface="Times New Roman" panose="02020603050405020304" pitchFamily="18" charset="0"/>
              </a:rPr>
              <a:t>hiển thị </a:t>
            </a:r>
            <a:r>
              <a:rPr lang="vi-VN" altLang="zh-CN" sz="1200" dirty="0" smtClean="0">
                <a:latin typeface="+mj-lt"/>
                <a:ea typeface="微软雅黑" pitchFamily="34" charset="-122"/>
              </a:rPr>
              <a:t>là số lần xin phép, có thể </a:t>
            </a:r>
            <a:r>
              <a:rPr lang="en-US" altLang="zh-CN" sz="1200" dirty="0" smtClean="0">
                <a:latin typeface="+mj-lt"/>
                <a:ea typeface="微软雅黑" pitchFamily="34" charset="-122"/>
              </a:rPr>
              <a:t>c</a:t>
            </a:r>
            <a:r>
              <a:rPr lang="vi-VN" altLang="zh-CN" sz="1200" dirty="0" smtClean="0">
                <a:latin typeface="+mj-lt"/>
                <a:ea typeface="微软雅黑" pitchFamily="34" charset="-122"/>
              </a:rPr>
              <a:t>lick vào các số đó, sẽ hiện bảng chi tiết </a:t>
            </a:r>
            <a:r>
              <a:rPr lang="en-US" altLang="zh-CN" sz="1200" dirty="0" smtClean="0">
                <a:latin typeface="Times New Roman" panose="02020603050405020304" pitchFamily="18" charset="0"/>
                <a:ea typeface="微软雅黑" pitchFamily="34" charset="-122"/>
                <a:cs typeface="Times New Roman" panose="02020603050405020304" pitchFamily="18" charset="0"/>
              </a:rPr>
              <a:t>nhân viên và thời gian xin nghỉ</a:t>
            </a:r>
          </a:p>
          <a:p>
            <a:pPr marL="228600" indent="-228600" algn="l">
              <a:buFont typeface="+mj-lt"/>
              <a:buAutoNum type="arabicPeriod"/>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1705" y="1274489"/>
            <a:ext cx="6717215" cy="3732958"/>
          </a:xfrm>
          <a:prstGeom prst="rect">
            <a:avLst/>
          </a:prstGeom>
        </p:spPr>
      </p:pic>
      <p:pic>
        <p:nvPicPr>
          <p:cNvPr id="4" name="Picture 3"/>
          <p:cNvPicPr>
            <a:picLocks noChangeAspect="1"/>
          </p:cNvPicPr>
          <p:nvPr/>
        </p:nvPicPr>
        <p:blipFill>
          <a:blip r:embed="rId3"/>
          <a:stretch>
            <a:fillRect/>
          </a:stretch>
        </p:blipFill>
        <p:spPr>
          <a:xfrm>
            <a:off x="1060081" y="3356992"/>
            <a:ext cx="5456135" cy="2679966"/>
          </a:xfrm>
          <a:prstGeom prst="rect">
            <a:avLst/>
          </a:prstGeom>
        </p:spPr>
      </p:pic>
      <p:sp>
        <p:nvSpPr>
          <p:cNvPr id="5" name="Flowchart: Process 4"/>
          <p:cNvSpPr/>
          <p:nvPr/>
        </p:nvSpPr>
        <p:spPr>
          <a:xfrm>
            <a:off x="6444208" y="2420888"/>
            <a:ext cx="270932"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0" name="Elbow Connector 9"/>
          <p:cNvCxnSpPr>
            <a:stCxn id="5" idx="2"/>
            <a:endCxn id="4" idx="0"/>
          </p:cNvCxnSpPr>
          <p:nvPr/>
        </p:nvCxnSpPr>
        <p:spPr>
          <a:xfrm rot="5400000">
            <a:off x="4787868" y="1565186"/>
            <a:ext cx="792088" cy="2791525"/>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535250" y="146052"/>
            <a:ext cx="2892734"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 -</a:t>
            </a:r>
            <a:r>
              <a:rPr lang="vi-VN" altLang="zh-CN" sz="1200" dirty="0" smtClean="0">
                <a:latin typeface="Times New Roman" pitchFamily="18" charset="0"/>
                <a:ea typeface="微软雅黑" pitchFamily="34" charset="-122"/>
                <a:cs typeface="Times New Roman" pitchFamily="18" charset="0"/>
              </a:rPr>
              <a:t>Tình </a:t>
            </a:r>
            <a:r>
              <a:rPr lang="en-US" altLang="zh-CN" sz="1200" dirty="0" smtClean="0">
                <a:latin typeface="Times New Roman" pitchFamily="18" charset="0"/>
                <a:ea typeface="微软雅黑" pitchFamily="34" charset="-122"/>
                <a:cs typeface="Times New Roman" pitchFamily="18" charset="0"/>
              </a:rPr>
              <a:t>hình </a:t>
            </a:r>
            <a:r>
              <a:rPr lang="vi-VN" altLang="zh-CN" sz="1200" dirty="0" smtClean="0">
                <a:latin typeface="Times New Roman" pitchFamily="18" charset="0"/>
                <a:ea typeface="微软雅黑" pitchFamily="34" charset="-122"/>
                <a:cs typeface="Times New Roman" pitchFamily="18" charset="0"/>
              </a:rPr>
              <a:t>tăng ca</a:t>
            </a:r>
            <a:endParaRPr lang="zh-CN" altLang="en-US" sz="1200" dirty="0" smtClean="0">
              <a:latin typeface="Times New Roman" pitchFamily="18" charset="0"/>
              <a:ea typeface="微软雅黑" pitchFamily="34" charset="-122"/>
              <a:cs typeface="Times New Roman" pitchFamily="18" charset="0"/>
            </a:endParaRPr>
          </a:p>
        </p:txBody>
      </p:sp>
      <p:sp>
        <p:nvSpPr>
          <p:cNvPr id="39" name="TextBox 38"/>
          <p:cNvSpPr txBox="1"/>
          <p:nvPr/>
        </p:nvSpPr>
        <p:spPr>
          <a:xfrm>
            <a:off x="6715140" y="1571612"/>
            <a:ext cx="2214578" cy="4078039"/>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Tổng hợp thời gian tăng ca của nhân viên</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Nhập điều kiện tra cứu, sau đó “Tra cứu”, hệ thống hiển thị nhân viên và số liệu tăng ca tương ứng</a:t>
            </a:r>
          </a:p>
          <a:p>
            <a:pPr marL="228600" indent="-228600" algn="l">
              <a:spcBef>
                <a:spcPct val="50000"/>
              </a:spcBef>
              <a:buFont typeface="+mj-lt"/>
              <a:buAutoNum type="arabicPeriod"/>
            </a:pPr>
            <a:r>
              <a:rPr lang="en-US" altLang="zh-CN" sz="1200" dirty="0" smtClean="0">
                <a:latin typeface="Times New Roman" panose="02020603050405020304" pitchFamily="18" charset="0"/>
                <a:ea typeface="微软雅黑" pitchFamily="34" charset="-122"/>
                <a:cs typeface="Times New Roman" panose="02020603050405020304" pitchFamily="18" charset="0"/>
              </a:rPr>
              <a:t>Xuất Excel</a:t>
            </a:r>
            <a:r>
              <a:rPr lang="en-US" altLang="zh-CN" sz="1200" dirty="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 kết xuất dữ liệu vừa tìm được</a:t>
            </a:r>
          </a:p>
          <a:p>
            <a:pPr marL="228600" indent="-228600" algn="l">
              <a:spcBef>
                <a:spcPct val="50000"/>
              </a:spcBef>
              <a:buFont typeface="+mj-lt"/>
              <a:buAutoNum type="arabicPeriod"/>
            </a:pPr>
            <a:r>
              <a:rPr lang="en-US" altLang="zh-CN" sz="1200" dirty="0" smtClean="0">
                <a:latin typeface="Times New Roman" pitchFamily="18" charset="0"/>
                <a:ea typeface="微软雅黑" pitchFamily="34" charset="-122"/>
                <a:cs typeface="Times New Roman" pitchFamily="18" charset="0"/>
              </a:rPr>
              <a:t>Click vào chữ số</a:t>
            </a:r>
            <a:r>
              <a:rPr lang="vi-VN" altLang="zh-CN" sz="1200" dirty="0" smtClean="0">
                <a:latin typeface="+mj-lt"/>
                <a:ea typeface="微软雅黑" pitchFamily="34" charset="-122"/>
              </a:rPr>
              <a:t>, hiện ra thông tin tăng ca chi tiết.</a:t>
            </a:r>
            <a:endParaRPr lang="en-US" altLang="zh-CN" sz="1000" dirty="0" smtClean="0">
              <a:latin typeface="+mj-lt"/>
              <a:ea typeface="微软雅黑" pitchFamily="34" charset="-122"/>
            </a:endParaRPr>
          </a:p>
          <a:p>
            <a:pPr marL="228600" indent="-228600" algn="l">
              <a:spcBef>
                <a:spcPct val="50000"/>
              </a:spcBef>
              <a:buFont typeface="+mj-lt"/>
              <a:buAutoNum type="arabicPeriod"/>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31817" y="1052736"/>
            <a:ext cx="6713703" cy="3649590"/>
          </a:xfrm>
          <a:prstGeom prst="rect">
            <a:avLst/>
          </a:prstGeom>
        </p:spPr>
      </p:pic>
      <p:pic>
        <p:nvPicPr>
          <p:cNvPr id="3" name="Picture 2"/>
          <p:cNvPicPr>
            <a:picLocks noChangeAspect="1"/>
          </p:cNvPicPr>
          <p:nvPr/>
        </p:nvPicPr>
        <p:blipFill>
          <a:blip r:embed="rId3"/>
          <a:stretch>
            <a:fillRect/>
          </a:stretch>
        </p:blipFill>
        <p:spPr>
          <a:xfrm>
            <a:off x="996856" y="3068960"/>
            <a:ext cx="5231328" cy="2605794"/>
          </a:xfrm>
          <a:prstGeom prst="rect">
            <a:avLst/>
          </a:prstGeom>
        </p:spPr>
      </p:pic>
      <p:sp>
        <p:nvSpPr>
          <p:cNvPr id="4" name="Rectangle 3"/>
          <p:cNvSpPr/>
          <p:nvPr/>
        </p:nvSpPr>
        <p:spPr>
          <a:xfrm>
            <a:off x="5364088" y="2492896"/>
            <a:ext cx="288032"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9" name="Elbow Connector 8"/>
          <p:cNvCxnSpPr>
            <a:stCxn id="4" idx="2"/>
            <a:endCxn id="3" idx="0"/>
          </p:cNvCxnSpPr>
          <p:nvPr/>
        </p:nvCxnSpPr>
        <p:spPr>
          <a:xfrm rot="5400000">
            <a:off x="4344288" y="1905144"/>
            <a:ext cx="432048" cy="1895584"/>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73" name="Text Box 17"/>
          <p:cNvSpPr txBox="1">
            <a:spLocks noChangeArrowheads="1"/>
          </p:cNvSpPr>
          <p:nvPr/>
        </p:nvSpPr>
        <p:spPr bwMode="auto">
          <a:xfrm>
            <a:off x="6643702" y="1571612"/>
            <a:ext cx="2500298" cy="1785104"/>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Tra cứu tính hình nghỉ hằng năm của nhân viên</a:t>
            </a:r>
            <a:endParaRPr lang="en-US" altLang="zh-CN" sz="11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buFont typeface="+mj-lt"/>
              <a:buAutoNum type="arabicPeriod"/>
            </a:pPr>
            <a:r>
              <a:rPr lang="vi-VN" altLang="zh-CN" sz="1100" dirty="0">
                <a:latin typeface="+mj-lt"/>
                <a:ea typeface="微软雅黑" pitchFamily="34" charset="-122"/>
              </a:rPr>
              <a:t>Chỉ hiển thị phòng ban phụ trách quản lý</a:t>
            </a:r>
            <a:endParaRPr lang="en-US" altLang="zh-CN" sz="1100" dirty="0">
              <a:latin typeface="+mj-lt"/>
              <a:ea typeface="微软雅黑" pitchFamily="34" charset="-122"/>
            </a:endParaRPr>
          </a:p>
          <a:p>
            <a:pPr marL="228600" indent="-228600" algn="l">
              <a:buFont typeface="+mj-lt"/>
              <a:buAutoNum type="arabicPeriod"/>
            </a:pPr>
            <a:r>
              <a:rPr lang="en-US" altLang="zh-CN" sz="1100" dirty="0" smtClean="0">
                <a:latin typeface="Times New Roman" pitchFamily="18" charset="0"/>
                <a:ea typeface="微软雅黑" pitchFamily="34" charset="-122"/>
                <a:cs typeface="Times New Roman" pitchFamily="18" charset="0"/>
              </a:rPr>
              <a:t>Xuất Excel</a:t>
            </a:r>
            <a:r>
              <a:rPr lang="en-US" altLang="zh-CN" sz="1100" dirty="0">
                <a:latin typeface="Times New Roman" pitchFamily="18" charset="0"/>
                <a:ea typeface="微软雅黑" pitchFamily="34" charset="-122"/>
                <a:cs typeface="Times New Roman" pitchFamily="18" charset="0"/>
              </a:rPr>
              <a:t> </a:t>
            </a:r>
            <a:r>
              <a:rPr lang="en-US" altLang="zh-CN" sz="1100" dirty="0" smtClean="0">
                <a:latin typeface="Times New Roman" pitchFamily="18" charset="0"/>
                <a:ea typeface="微软雅黑" pitchFamily="34" charset="-122"/>
                <a:cs typeface="Times New Roman" pitchFamily="18" charset="0"/>
              </a:rPr>
              <a:t>: kết xuất dữ liệu vừa tìm kiếm</a:t>
            </a:r>
            <a:endParaRPr lang="en-US" altLang="zh-CN" sz="1100" dirty="0">
              <a:latin typeface="Times New Roman" pitchFamily="18" charset="0"/>
              <a:ea typeface="微软雅黑" pitchFamily="34" charset="-122"/>
              <a:cs typeface="Times New Roman" pitchFamily="18" charset="0"/>
            </a:endParaRPr>
          </a:p>
          <a:p>
            <a:pPr marL="228600" indent="-228600" algn="l">
              <a:buFont typeface="+mj-lt"/>
              <a:buAutoNum type="arabicPeriod"/>
            </a:pPr>
            <a:endParaRPr lang="zh-CN" altLang="en-US" sz="1100" b="0" dirty="0">
              <a:latin typeface="Times New Roman" pitchFamily="18" charset="0"/>
              <a:ea typeface="微软雅黑" pitchFamily="34" charset="-122"/>
              <a:cs typeface="Times New Roman" pitchFamily="18" charset="0"/>
            </a:endParaRPr>
          </a:p>
        </p:txBody>
      </p:sp>
      <p:graphicFrame>
        <p:nvGraphicFramePr>
          <p:cNvPr id="9" name="Group 2"/>
          <p:cNvGraphicFramePr>
            <a:graphicFrameLocks noGrp="1"/>
          </p:cNvGraphicFramePr>
          <p:nvPr>
            <p:extLst>
              <p:ext uri="{D42A27DB-BD31-4B8C-83A1-F6EECF244321}">
                <p14:modId xmlns:p14="http://schemas.microsoft.com/office/powerpoint/2010/main" val="637029622"/>
              </p:ext>
            </p:extLst>
          </p:nvPr>
        </p:nvGraphicFramePr>
        <p:xfrm>
          <a:off x="1403648" y="116632"/>
          <a:ext cx="3312368" cy="340090"/>
        </p:xfrm>
        <a:graphic>
          <a:graphicData uri="http://schemas.openxmlformats.org/drawingml/2006/table">
            <a:tbl>
              <a:tblPr/>
              <a:tblGrid>
                <a:gridCol w="3312368"/>
              </a:tblGrid>
              <a:tr h="34009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1200" dirty="0" smtClean="0">
                          <a:latin typeface="Times New Roman" panose="02020603050405020304" pitchFamily="18" charset="0"/>
                          <a:ea typeface="微软雅黑" pitchFamily="34" charset="-122"/>
                          <a:cs typeface="Times New Roman" panose="02020603050405020304" pitchFamily="18" charset="0"/>
                        </a:rPr>
                        <a:t>Chấm</a:t>
                      </a:r>
                      <a:r>
                        <a:rPr lang="en-US" altLang="zh-CN" sz="1200" baseline="0" dirty="0" smtClean="0">
                          <a:latin typeface="Times New Roman" panose="02020603050405020304" pitchFamily="18" charset="0"/>
                          <a:ea typeface="微软雅黑" pitchFamily="34" charset="-122"/>
                          <a:cs typeface="Times New Roman" panose="02020603050405020304" pitchFamily="18" charset="0"/>
                        </a:rPr>
                        <a:t> công nhân viên –Nghỉ phép năm</a:t>
                      </a:r>
                      <a:endParaRPr kumimoji="0" lang="zh-CN" altLang="en-US" sz="1200" b="0" i="0" u="none" strike="noStrike" cap="none" normalizeH="0" baseline="0" dirty="0" smtClean="0">
                        <a:ln>
                          <a:noFill/>
                        </a:ln>
                        <a:solidFill>
                          <a:srgbClr val="000000"/>
                        </a:solidFill>
                        <a:effectLst/>
                        <a:latin typeface="Times New Roman" panose="02020603050405020304" pitchFamily="18" charset="0"/>
                        <a:ea typeface="微软雅黑" pitchFamily="34" charset="-122"/>
                        <a:cs typeface="Times New Roman" panose="02020603050405020304" pitchFamily="18" charset="0"/>
                      </a:endParaRPr>
                    </a:p>
                  </a:txBody>
                  <a:tcPr anchor="ctr" horzOverflow="overflow">
                    <a:lnL cap="flat">
                      <a:noFill/>
                    </a:lnL>
                    <a:lnR cap="flat">
                      <a:noFill/>
                    </a:lnR>
                    <a:lnT cap="flat">
                      <a:noFill/>
                    </a:lnT>
                    <a:lnB cap="flat">
                      <a:noFill/>
                    </a:lnB>
                    <a:lnTlToBr>
                      <a:noFill/>
                    </a:lnTlToBr>
                    <a:lnBlToTr>
                      <a:noFill/>
                    </a:lnBlToTr>
                    <a:noFill/>
                  </a:tcPr>
                </a:tc>
              </a:tr>
            </a:tbl>
          </a:graphicData>
        </a:graphic>
      </p:graphicFrame>
      <p:pic>
        <p:nvPicPr>
          <p:cNvPr id="2" name="Picture 1"/>
          <p:cNvPicPr>
            <a:picLocks noChangeAspect="1"/>
          </p:cNvPicPr>
          <p:nvPr/>
        </p:nvPicPr>
        <p:blipFill>
          <a:blip r:embed="rId2"/>
          <a:stretch>
            <a:fillRect/>
          </a:stretch>
        </p:blipFill>
        <p:spPr>
          <a:xfrm>
            <a:off x="47240" y="1340768"/>
            <a:ext cx="6596462" cy="3681185"/>
          </a:xfrm>
          <a:prstGeom prst="rect">
            <a:avLst/>
          </a:prstGeom>
        </p:spPr>
      </p:pic>
    </p:spTree>
    <p:extLst>
      <p:ext uri="{BB962C8B-B14F-4D97-AF65-F5344CB8AC3E}">
        <p14:creationId xmlns:p14="http://schemas.microsoft.com/office/powerpoint/2010/main" val="5570362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331236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Thống kê nhân sự- Thống kê nhân viên (Chức vụ)</a:t>
            </a:r>
            <a:endParaRPr lang="zh-CN" altLang="en-US" sz="1200" dirty="0" smtClean="0">
              <a:latin typeface="Times New Roman" pitchFamily="18" charset="0"/>
              <a:ea typeface="微软雅黑" pitchFamily="34" charset="-122"/>
              <a:cs typeface="Times New Roman" pitchFamily="18" charset="0"/>
            </a:endParaRPr>
          </a:p>
        </p:txBody>
      </p:sp>
      <p:sp>
        <p:nvSpPr>
          <p:cNvPr id="39" name="TextBox 38"/>
          <p:cNvSpPr txBox="1"/>
          <p:nvPr/>
        </p:nvSpPr>
        <p:spPr>
          <a:xfrm>
            <a:off x="6715140" y="1571612"/>
            <a:ext cx="2214578" cy="4278094"/>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smtClean="0">
                <a:latin typeface="+mj-lt"/>
                <a:ea typeface="微软雅黑" pitchFamily="34" charset="-122"/>
              </a:rPr>
              <a:t>Thống kê số lượng nhân sự theo chức vụ</a:t>
            </a:r>
            <a:r>
              <a:rPr lang="en-US" altLang="zh-CN" sz="1100" dirty="0" smtClean="0">
                <a:latin typeface="+mj-lt"/>
                <a:ea typeface="微软雅黑" pitchFamily="34" charset="-122"/>
              </a:rPr>
              <a:t> </a:t>
            </a:r>
            <a:r>
              <a:rPr lang="en-US" altLang="zh-CN" sz="1100" dirty="0" smtClean="0">
                <a:latin typeface="Times New Roman" panose="02020603050405020304" pitchFamily="18" charset="0"/>
                <a:ea typeface="微软雅黑" pitchFamily="34" charset="-122"/>
                <a:cs typeface="Times New Roman" panose="02020603050405020304" pitchFamily="18" charset="0"/>
              </a:rPr>
              <a:t>nhân viên</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1.Chọn Năm tháng, phòng ban cần thống kê</a:t>
            </a: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2.Chọn “Tra cứu” hệ thống hiển thị tất cả dữ liệu cần tìm</a:t>
            </a: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3.Chọn 1 chữ số để hiển thị các nhân viên chi tiết.Trong khung hiển thị, có thể kết xuất Excel </a:t>
            </a:r>
          </a:p>
          <a:p>
            <a:pPr algn="l">
              <a:spcBef>
                <a:spcPct val="50000"/>
              </a:spcBef>
            </a:pPr>
            <a:r>
              <a:rPr lang="en-US" altLang="zh-CN" sz="1100" dirty="0" smtClean="0">
                <a:latin typeface="+mj-lt"/>
                <a:ea typeface="微软雅黑" pitchFamily="34" charset="-122"/>
              </a:rPr>
              <a:t>=&gt;</a:t>
            </a:r>
            <a:r>
              <a:rPr lang="vi-VN" altLang="zh-CN" sz="1100" dirty="0" smtClean="0">
                <a:latin typeface="+mj-lt"/>
                <a:ea typeface="微软雅黑" pitchFamily="34" charset="-122"/>
              </a:rPr>
              <a:t>Con số thống kê là số nhân sự được thống kê tại thời điểm cuối tháng.</a:t>
            </a:r>
            <a:endParaRPr lang="en-US" altLang="zh-CN" sz="1100" dirty="0">
              <a:latin typeface="+mj-lt"/>
              <a:ea typeface="微软雅黑" pitchFamily="34" charset="-122"/>
            </a:endParaRPr>
          </a:p>
          <a:p>
            <a:pPr algn="l">
              <a:spcBef>
                <a:spcPct val="50000"/>
              </a:spcBef>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34" name="Picture 7"/>
          <p:cNvPicPr>
            <a:picLocks noChangeAspect="1" noChangeArrowheads="1"/>
          </p:cNvPicPr>
          <p:nvPr/>
        </p:nvPicPr>
        <p:blipFill>
          <a:blip r:embed="rId2"/>
          <a:srcRect/>
          <a:stretch>
            <a:fillRect/>
          </a:stretch>
        </p:blipFill>
        <p:spPr bwMode="auto">
          <a:xfrm>
            <a:off x="500034" y="1857364"/>
            <a:ext cx="857256" cy="195262"/>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0" y="1223999"/>
            <a:ext cx="6702634" cy="3672820"/>
          </a:xfrm>
          <a:prstGeom prst="rect">
            <a:avLst/>
          </a:prstGeom>
        </p:spPr>
      </p:pic>
      <p:pic>
        <p:nvPicPr>
          <p:cNvPr id="3" name="Picture 2"/>
          <p:cNvPicPr>
            <a:picLocks noChangeAspect="1"/>
          </p:cNvPicPr>
          <p:nvPr/>
        </p:nvPicPr>
        <p:blipFill>
          <a:blip r:embed="rId4"/>
          <a:stretch>
            <a:fillRect/>
          </a:stretch>
        </p:blipFill>
        <p:spPr>
          <a:xfrm>
            <a:off x="633293" y="3213238"/>
            <a:ext cx="5717174" cy="2844294"/>
          </a:xfrm>
          <a:prstGeom prst="rect">
            <a:avLst/>
          </a:prstGeom>
        </p:spPr>
      </p:pic>
      <p:sp>
        <p:nvSpPr>
          <p:cNvPr id="4" name="Flowchart: Process 3"/>
          <p:cNvSpPr/>
          <p:nvPr/>
        </p:nvSpPr>
        <p:spPr>
          <a:xfrm>
            <a:off x="3203848" y="2564904"/>
            <a:ext cx="216024"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stCxn id="4" idx="2"/>
          </p:cNvCxnSpPr>
          <p:nvPr/>
        </p:nvCxnSpPr>
        <p:spPr>
          <a:xfrm rot="16200000" flipH="1">
            <a:off x="3149842" y="2870938"/>
            <a:ext cx="504056" cy="180020"/>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57290" y="116632"/>
            <a:ext cx="328671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Thống kê nhân sự - Thống kê nhân viên (Học vấn)</a:t>
            </a:r>
            <a:endParaRPr lang="zh-CN" altLang="en-US" sz="1000" dirty="0" smtClean="0">
              <a:latin typeface="Times New Roman" pitchFamily="18" charset="0"/>
              <a:ea typeface="微软雅黑" pitchFamily="34" charset="-122"/>
              <a:cs typeface="Times New Roman" pitchFamily="18" charset="0"/>
            </a:endParaRPr>
          </a:p>
        </p:txBody>
      </p:sp>
      <p:sp>
        <p:nvSpPr>
          <p:cNvPr id="39" name="TextBox 38"/>
          <p:cNvSpPr txBox="1"/>
          <p:nvPr/>
        </p:nvSpPr>
        <p:spPr>
          <a:xfrm>
            <a:off x="6715140" y="1571612"/>
            <a:ext cx="2214578" cy="4355038"/>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vi-VN" altLang="zh-CN" sz="1200" dirty="0" smtClean="0">
                <a:latin typeface="+mj-lt"/>
                <a:ea typeface="微软雅黑" pitchFamily="34" charset="-122"/>
              </a:rPr>
              <a:t>Thống kê số lượng nhân viên </a:t>
            </a:r>
            <a:r>
              <a:rPr lang="en-US" altLang="zh-CN" sz="1200" dirty="0" smtClean="0">
                <a:latin typeface="Times New Roman" panose="02020603050405020304" pitchFamily="18" charset="0"/>
                <a:ea typeface="微软雅黑" pitchFamily="34" charset="-122"/>
                <a:cs typeface="Times New Roman" panose="02020603050405020304" pitchFamily="18" charset="0"/>
              </a:rPr>
              <a:t>từng phòng ban </a:t>
            </a:r>
            <a:r>
              <a:rPr lang="vi-VN" altLang="zh-CN" sz="1200" dirty="0" smtClean="0">
                <a:latin typeface="Times New Roman" panose="02020603050405020304" pitchFamily="18" charset="0"/>
                <a:ea typeface="微软雅黑" pitchFamily="34" charset="-122"/>
                <a:cs typeface="Times New Roman" panose="02020603050405020304" pitchFamily="18" charset="0"/>
              </a:rPr>
              <a:t>theo </a:t>
            </a:r>
            <a:r>
              <a:rPr lang="en-US" altLang="zh-CN" sz="1200" dirty="0" smtClean="0">
                <a:latin typeface="Times New Roman" panose="02020603050405020304" pitchFamily="18" charset="0"/>
                <a:ea typeface="微软雅黑" pitchFamily="34" charset="-122"/>
                <a:cs typeface="Times New Roman" panose="02020603050405020304" pitchFamily="18" charset="0"/>
              </a:rPr>
              <a:t>trình độ học vấn</a:t>
            </a:r>
          </a:p>
          <a:p>
            <a:pPr algn="l">
              <a:spcBef>
                <a:spcPct val="50000"/>
              </a:spcBef>
            </a:pPr>
            <a:endParaRPr lang="en-US" altLang="zh-CN" sz="1200" dirty="0" smtClean="0">
              <a:latin typeface="+mj-lt"/>
              <a:ea typeface="微软雅黑" pitchFamily="34" charset="-122"/>
            </a:endParaRP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1.Chọn Năm tháng, phòng ban cần thống kê</a:t>
            </a: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2.Chọn “Tra cứu” hệ thống hiển thị tất cả dữ liệu cần tìm</a:t>
            </a: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3.Chọn 1 chữ số để hiển thị các nhân viên chi tiết.Trong khung hiển thị, có thể kết xuất Excel </a:t>
            </a:r>
          </a:p>
          <a:p>
            <a:pPr marL="228600" indent="-228600" algn="l">
              <a:spcBef>
                <a:spcPct val="50000"/>
              </a:spcBef>
              <a:buFont typeface="+mj-lt"/>
              <a:buAutoNum type="arabicPeriod"/>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34" name="Picture 7"/>
          <p:cNvPicPr>
            <a:picLocks noChangeAspect="1" noChangeArrowheads="1"/>
          </p:cNvPicPr>
          <p:nvPr/>
        </p:nvPicPr>
        <p:blipFill>
          <a:blip r:embed="rId2"/>
          <a:srcRect/>
          <a:stretch>
            <a:fillRect/>
          </a:stretch>
        </p:blipFill>
        <p:spPr bwMode="auto">
          <a:xfrm>
            <a:off x="500034" y="1857364"/>
            <a:ext cx="857256" cy="195262"/>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37475" y="1640484"/>
            <a:ext cx="6677665" cy="3663296"/>
          </a:xfrm>
          <a:prstGeom prst="rect">
            <a:avLst/>
          </a:prstGeom>
        </p:spPr>
      </p:pic>
      <p:pic>
        <p:nvPicPr>
          <p:cNvPr id="3" name="Picture 2"/>
          <p:cNvPicPr>
            <a:picLocks noChangeAspect="1"/>
          </p:cNvPicPr>
          <p:nvPr/>
        </p:nvPicPr>
        <p:blipFill>
          <a:blip r:embed="rId4"/>
          <a:stretch>
            <a:fillRect/>
          </a:stretch>
        </p:blipFill>
        <p:spPr>
          <a:xfrm>
            <a:off x="755576" y="3501008"/>
            <a:ext cx="5556764" cy="2757648"/>
          </a:xfrm>
          <a:prstGeom prst="rect">
            <a:avLst/>
          </a:prstGeom>
        </p:spPr>
      </p:pic>
      <p:sp>
        <p:nvSpPr>
          <p:cNvPr id="4" name="Flowchart: Process 3"/>
          <p:cNvSpPr/>
          <p:nvPr/>
        </p:nvSpPr>
        <p:spPr>
          <a:xfrm>
            <a:off x="2843808" y="2780928"/>
            <a:ext cx="216024"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p:nvPr/>
        </p:nvCxnSpPr>
        <p:spPr>
          <a:xfrm rot="16200000" flipH="1">
            <a:off x="2915816" y="2996952"/>
            <a:ext cx="576064" cy="432048"/>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57290" y="135360"/>
            <a:ext cx="3502742"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200" dirty="0" smtClean="0">
                <a:latin typeface="Times New Roman" pitchFamily="18" charset="0"/>
                <a:ea typeface="微软雅黑" pitchFamily="34" charset="-122"/>
                <a:cs typeface="Times New Roman" pitchFamily="18" charset="0"/>
              </a:rPr>
              <a:t>Thống kê nhân sự</a:t>
            </a:r>
            <a:r>
              <a:rPr lang="en-US" altLang="zh-CN" sz="1200" dirty="0" smtClean="0">
                <a:latin typeface="Times New Roman" pitchFamily="18" charset="0"/>
                <a:ea typeface="微软雅黑" pitchFamily="34" charset="-122"/>
                <a:cs typeface="Times New Roman" pitchFamily="18" charset="0"/>
              </a:rPr>
              <a:t>-Thống kê nhân viên (Độ tuổi)</a:t>
            </a:r>
            <a:endParaRPr lang="zh-CN" altLang="en-US" sz="1200" dirty="0" smtClean="0">
              <a:latin typeface="Times New Roman" pitchFamily="18" charset="0"/>
              <a:ea typeface="微软雅黑" pitchFamily="34" charset="-122"/>
              <a:cs typeface="Times New Roman" pitchFamily="18" charset="0"/>
            </a:endParaRPr>
          </a:p>
        </p:txBody>
      </p:sp>
      <p:sp>
        <p:nvSpPr>
          <p:cNvPr id="39" name="TextBox 38"/>
          <p:cNvSpPr txBox="1"/>
          <p:nvPr/>
        </p:nvSpPr>
        <p:spPr>
          <a:xfrm>
            <a:off x="6715140" y="1556792"/>
            <a:ext cx="2214578" cy="3939540"/>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vi-VN" altLang="zh-CN" sz="1200" dirty="0" smtClean="0">
                <a:latin typeface="+mj-lt"/>
                <a:ea typeface="微软雅黑" pitchFamily="34" charset="-122"/>
              </a:rPr>
              <a:t>Thống kê số lượng nhân </a:t>
            </a:r>
            <a:r>
              <a:rPr lang="en-US" altLang="zh-CN" sz="1200" dirty="0" smtClean="0">
                <a:latin typeface="+mj-lt"/>
                <a:ea typeface="微软雅黑" pitchFamily="34" charset="-122"/>
              </a:rPr>
              <a:t>viên </a:t>
            </a:r>
            <a:r>
              <a:rPr lang="en-US" altLang="zh-CN" sz="1200" dirty="0" smtClean="0">
                <a:latin typeface="Times New Roman" panose="02020603050405020304" pitchFamily="18" charset="0"/>
                <a:ea typeface="微软雅黑" pitchFamily="34" charset="-122"/>
                <a:cs typeface="Times New Roman" panose="02020603050405020304" pitchFamily="18" charset="0"/>
              </a:rPr>
              <a:t>từng phòng ban theo độ tuổi</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1.Chọn Năm tháng, phòng ban cần thống kê</a:t>
            </a: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2.Chọn “Tra cứu” hệ thống hiển thị tất cả dữ liệu cần tìm</a:t>
            </a: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3.Chọn 1 chữ số để hiển thị các nhân viên chi tiết.Trong khung hiển thị, có thể kết xuất Excel </a:t>
            </a:r>
          </a:p>
          <a:p>
            <a:pPr algn="l">
              <a:spcBef>
                <a:spcPct val="50000"/>
              </a:spcBef>
            </a:pPr>
            <a:endParaRPr lang="en-US" altLang="zh-CN" sz="1200" dirty="0" smtClean="0">
              <a:latin typeface="+mj-lt"/>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34" name="Picture 7"/>
          <p:cNvPicPr>
            <a:picLocks noChangeAspect="1" noChangeArrowheads="1"/>
          </p:cNvPicPr>
          <p:nvPr/>
        </p:nvPicPr>
        <p:blipFill>
          <a:blip r:embed="rId2"/>
          <a:srcRect/>
          <a:stretch>
            <a:fillRect/>
          </a:stretch>
        </p:blipFill>
        <p:spPr bwMode="auto">
          <a:xfrm>
            <a:off x="500034" y="1857364"/>
            <a:ext cx="857256" cy="195262"/>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0" y="1457699"/>
            <a:ext cx="6545820" cy="3613375"/>
          </a:xfrm>
          <a:prstGeom prst="rect">
            <a:avLst/>
          </a:prstGeom>
        </p:spPr>
      </p:pic>
      <p:pic>
        <p:nvPicPr>
          <p:cNvPr id="3" name="Picture 2"/>
          <p:cNvPicPr>
            <a:picLocks noChangeAspect="1"/>
          </p:cNvPicPr>
          <p:nvPr/>
        </p:nvPicPr>
        <p:blipFill>
          <a:blip r:embed="rId4"/>
          <a:stretch>
            <a:fillRect/>
          </a:stretch>
        </p:blipFill>
        <p:spPr>
          <a:xfrm>
            <a:off x="720984" y="3388062"/>
            <a:ext cx="5103852" cy="2535956"/>
          </a:xfrm>
          <a:prstGeom prst="rect">
            <a:avLst/>
          </a:prstGeom>
        </p:spPr>
      </p:pic>
      <p:sp>
        <p:nvSpPr>
          <p:cNvPr id="4" name="Rectangle 3"/>
          <p:cNvSpPr/>
          <p:nvPr/>
        </p:nvSpPr>
        <p:spPr>
          <a:xfrm>
            <a:off x="2915816" y="2708920"/>
            <a:ext cx="144016" cy="720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p:nvPr/>
        </p:nvCxnSpPr>
        <p:spPr>
          <a:xfrm rot="16200000" flipH="1">
            <a:off x="2915816" y="2852936"/>
            <a:ext cx="432048" cy="288032"/>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57290" y="101244"/>
            <a:ext cx="3430734" cy="261610"/>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vi-VN" altLang="zh-CN" sz="1100" dirty="0" smtClean="0">
                <a:latin typeface="Times New Roman" pitchFamily="18" charset="0"/>
                <a:ea typeface="微软雅黑" pitchFamily="34" charset="-122"/>
                <a:cs typeface="Times New Roman" pitchFamily="18" charset="0"/>
              </a:rPr>
              <a:t>Thống kê nhân sự</a:t>
            </a:r>
            <a:r>
              <a:rPr lang="en-US" altLang="zh-CN" sz="1100" dirty="0" smtClean="0">
                <a:latin typeface="Times New Roman" pitchFamily="18" charset="0"/>
                <a:ea typeface="微软雅黑" pitchFamily="34" charset="-122"/>
                <a:cs typeface="Times New Roman" pitchFamily="18" charset="0"/>
              </a:rPr>
              <a:t>-Thống kê nhân viên (Loại nhân viên)</a:t>
            </a:r>
            <a:endParaRPr lang="zh-CN" altLang="en-US" sz="1100" dirty="0" smtClean="0">
              <a:latin typeface="Times New Roman" pitchFamily="18" charset="0"/>
              <a:ea typeface="微软雅黑" pitchFamily="34" charset="-122"/>
              <a:cs typeface="Times New Roman" pitchFamily="18" charset="0"/>
            </a:endParaRPr>
          </a:p>
        </p:txBody>
      </p:sp>
      <p:sp>
        <p:nvSpPr>
          <p:cNvPr id="39" name="TextBox 38"/>
          <p:cNvSpPr txBox="1"/>
          <p:nvPr/>
        </p:nvSpPr>
        <p:spPr>
          <a:xfrm>
            <a:off x="6715140" y="1571612"/>
            <a:ext cx="2214578" cy="4585871"/>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vi-VN" altLang="zh-CN" sz="1200" dirty="0" smtClean="0">
                <a:latin typeface="+mj-lt"/>
                <a:ea typeface="微软雅黑" pitchFamily="34" charset="-122"/>
              </a:rPr>
              <a:t>Thống kê số lượng nhân viên </a:t>
            </a:r>
            <a:r>
              <a:rPr lang="en-US" altLang="zh-CN" sz="1200" dirty="0" smtClean="0">
                <a:latin typeface="Times New Roman" panose="02020603050405020304" pitchFamily="18" charset="0"/>
                <a:ea typeface="微软雅黑" pitchFamily="34" charset="-122"/>
                <a:cs typeface="Times New Roman" panose="02020603050405020304" pitchFamily="18" charset="0"/>
              </a:rPr>
              <a:t>từng phòng ban theo Loại nhân viên</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1.Chọn Năm tháng, phòng ban cần thống kê</a:t>
            </a: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2.Chọn “Tra cứu” hệ thống hiển thị tất cả dữ liệu cần tìm</a:t>
            </a: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3.Chọn 1 chữ số để hiển thị các nhân viên chi tiết.Trong khung hiển thị, có thể kết xuất Excel </a:t>
            </a:r>
          </a:p>
          <a:p>
            <a:pPr algn="l">
              <a:spcBef>
                <a:spcPct val="50000"/>
              </a:spcBef>
            </a:pPr>
            <a:endParaRPr lang="en-US" altLang="zh-CN" sz="1200" dirty="0" smtClean="0">
              <a:latin typeface="+mj-lt"/>
              <a:ea typeface="微软雅黑" pitchFamily="34" charset="-122"/>
            </a:endParaRPr>
          </a:p>
          <a:p>
            <a:pPr algn="l">
              <a:spcBef>
                <a:spcPct val="50000"/>
              </a:spcBef>
            </a:pPr>
            <a:endParaRPr lang="en-US" altLang="zh-CN" sz="1000" dirty="0" smtClean="0">
              <a:latin typeface="微软雅黑" pitchFamily="34" charset="-122"/>
              <a:ea typeface="微软雅黑" pitchFamily="34" charset="-122"/>
            </a:endParaRPr>
          </a:p>
          <a:p>
            <a:pPr marL="228600" indent="-228600" algn="l">
              <a:spcBef>
                <a:spcPct val="50000"/>
              </a:spcBef>
              <a:buFont typeface="+mj-lt"/>
              <a:buAutoNum type="arabicPeriod"/>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34" name="Picture 7"/>
          <p:cNvPicPr>
            <a:picLocks noChangeAspect="1" noChangeArrowheads="1"/>
          </p:cNvPicPr>
          <p:nvPr/>
        </p:nvPicPr>
        <p:blipFill>
          <a:blip r:embed="rId2"/>
          <a:srcRect/>
          <a:stretch>
            <a:fillRect/>
          </a:stretch>
        </p:blipFill>
        <p:spPr bwMode="auto">
          <a:xfrm>
            <a:off x="500034" y="1857364"/>
            <a:ext cx="857256" cy="195262"/>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0" y="1295923"/>
            <a:ext cx="6715140" cy="3606150"/>
          </a:xfrm>
          <a:prstGeom prst="rect">
            <a:avLst/>
          </a:prstGeom>
        </p:spPr>
      </p:pic>
      <p:pic>
        <p:nvPicPr>
          <p:cNvPr id="3" name="Picture 2"/>
          <p:cNvPicPr>
            <a:picLocks noChangeAspect="1"/>
          </p:cNvPicPr>
          <p:nvPr/>
        </p:nvPicPr>
        <p:blipFill>
          <a:blip r:embed="rId4"/>
          <a:stretch>
            <a:fillRect/>
          </a:stretch>
        </p:blipFill>
        <p:spPr>
          <a:xfrm>
            <a:off x="611560" y="3356992"/>
            <a:ext cx="5479994" cy="2736585"/>
          </a:xfrm>
          <a:prstGeom prst="rect">
            <a:avLst/>
          </a:prstGeom>
        </p:spPr>
      </p:pic>
      <p:sp>
        <p:nvSpPr>
          <p:cNvPr id="4" name="Flowchart: Process 3"/>
          <p:cNvSpPr/>
          <p:nvPr/>
        </p:nvSpPr>
        <p:spPr>
          <a:xfrm>
            <a:off x="4067944" y="2348880"/>
            <a:ext cx="288032"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stCxn id="4" idx="2"/>
            <a:endCxn id="3" idx="0"/>
          </p:cNvCxnSpPr>
          <p:nvPr/>
        </p:nvCxnSpPr>
        <p:spPr>
          <a:xfrm rot="5400000">
            <a:off x="3349711" y="2494743"/>
            <a:ext cx="864096" cy="860403"/>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08938"/>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Thống kê nhân sự-Nhân viên mới</a:t>
            </a:r>
            <a:endParaRPr lang="zh-CN" altLang="en-US" sz="1200" dirty="0" smtClean="0">
              <a:latin typeface="Times New Roman" pitchFamily="18" charset="0"/>
              <a:ea typeface="微软雅黑" pitchFamily="34" charset="-122"/>
              <a:cs typeface="Times New Roman" pitchFamily="18" charset="0"/>
            </a:endParaRPr>
          </a:p>
        </p:txBody>
      </p:sp>
      <p:sp>
        <p:nvSpPr>
          <p:cNvPr id="39" name="TextBox 38"/>
          <p:cNvSpPr txBox="1"/>
          <p:nvPr/>
        </p:nvSpPr>
        <p:spPr>
          <a:xfrm>
            <a:off x="6715140" y="1571612"/>
            <a:ext cx="2214578" cy="3077766"/>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Xem số lượng nhân viên mới vào làm của phòng ban theo từng tháng</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Số hiển thị </a:t>
            </a:r>
            <a:r>
              <a:rPr lang="vi-VN" altLang="zh-CN" sz="1200" dirty="0" smtClean="0">
                <a:latin typeface="+mj-lt"/>
                <a:ea typeface="微软雅黑" pitchFamily="34" charset="-122"/>
              </a:rPr>
              <a:t>là số nhân </a:t>
            </a:r>
            <a:r>
              <a:rPr lang="en-US" altLang="zh-CN" sz="1200" dirty="0" smtClean="0">
                <a:latin typeface="Times New Roman" panose="02020603050405020304" pitchFamily="18" charset="0"/>
                <a:ea typeface="微软雅黑" pitchFamily="34" charset="-122"/>
                <a:cs typeface="Times New Roman" panose="02020603050405020304" pitchFamily="18" charset="0"/>
              </a:rPr>
              <a:t>viên</a:t>
            </a:r>
            <a:r>
              <a:rPr lang="en-US" altLang="zh-CN" sz="1200" dirty="0" smtClean="0">
                <a:latin typeface="+mj-lt"/>
                <a:ea typeface="微软雅黑" pitchFamily="34" charset="-122"/>
              </a:rPr>
              <a:t> </a:t>
            </a:r>
            <a:r>
              <a:rPr lang="vi-VN" altLang="zh-CN" sz="1200" dirty="0" smtClean="0">
                <a:latin typeface="+mj-lt"/>
                <a:ea typeface="微软雅黑" pitchFamily="34" charset="-122"/>
              </a:rPr>
              <a:t>được thống kê tại thời điểm cuối tháng.</a:t>
            </a:r>
            <a:endParaRPr lang="en-US" altLang="zh-CN" sz="1200"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chữ số màu xanh để xem danh sách nhân viên</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algn="l"/>
            <a:endParaRPr lang="en-US" altLang="zh-CN" sz="12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13" name="Picture 7"/>
          <p:cNvPicPr>
            <a:picLocks noChangeAspect="1" noChangeArrowheads="1"/>
          </p:cNvPicPr>
          <p:nvPr/>
        </p:nvPicPr>
        <p:blipFill>
          <a:blip r:embed="rId2"/>
          <a:srcRect/>
          <a:stretch>
            <a:fillRect/>
          </a:stretch>
        </p:blipFill>
        <p:spPr bwMode="auto">
          <a:xfrm>
            <a:off x="500034" y="1876416"/>
            <a:ext cx="857256" cy="195262"/>
          </a:xfrm>
          <a:prstGeom prst="rect">
            <a:avLst/>
          </a:prstGeom>
          <a:noFill/>
          <a:ln w="9525">
            <a:noFill/>
            <a:miter lim="800000"/>
            <a:headEnd/>
            <a:tailEnd/>
          </a:ln>
          <a:effectLst/>
        </p:spPr>
      </p:pic>
      <p:pic>
        <p:nvPicPr>
          <p:cNvPr id="3" name="Picture 2"/>
          <p:cNvPicPr>
            <a:picLocks noChangeAspect="1"/>
          </p:cNvPicPr>
          <p:nvPr/>
        </p:nvPicPr>
        <p:blipFill>
          <a:blip r:embed="rId3"/>
          <a:stretch>
            <a:fillRect/>
          </a:stretch>
        </p:blipFill>
        <p:spPr>
          <a:xfrm>
            <a:off x="-3560" y="1124744"/>
            <a:ext cx="6715140" cy="3675582"/>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180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Thống kê nhân sự-Nhân viên thôi việc</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39" name="TextBox 38"/>
          <p:cNvSpPr txBox="1"/>
          <p:nvPr/>
        </p:nvSpPr>
        <p:spPr>
          <a:xfrm>
            <a:off x="6715140" y="1571612"/>
            <a:ext cx="2214578" cy="3277820"/>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Xem số lượng nhân viên thôi việc của phòng ban theo từng tháng</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algn="l">
              <a:spcBef>
                <a:spcPct val="50000"/>
              </a:spcBef>
            </a:pPr>
            <a:r>
              <a:rPr lang="en-US" altLang="zh-CN" sz="1200" dirty="0">
                <a:latin typeface="Times New Roman" panose="02020603050405020304" pitchFamily="18" charset="0"/>
                <a:ea typeface="微软雅黑" pitchFamily="34" charset="-122"/>
                <a:cs typeface="Times New Roman" panose="02020603050405020304" pitchFamily="18" charset="0"/>
              </a:rPr>
              <a:t>Số hiển thị </a:t>
            </a:r>
            <a:r>
              <a:rPr lang="vi-VN" altLang="zh-CN" sz="1200" dirty="0">
                <a:latin typeface="Times New Roman" panose="02020603050405020304" pitchFamily="18" charset="0"/>
                <a:ea typeface="微软雅黑" pitchFamily="34" charset="-122"/>
                <a:cs typeface="Times New Roman" panose="02020603050405020304" pitchFamily="18" charset="0"/>
              </a:rPr>
              <a:t>là số nhân </a:t>
            </a:r>
            <a:r>
              <a:rPr lang="en-US" altLang="zh-CN" sz="1200" dirty="0">
                <a:latin typeface="Times New Roman" panose="02020603050405020304" pitchFamily="18" charset="0"/>
                <a:ea typeface="微软雅黑" pitchFamily="34" charset="-122"/>
                <a:cs typeface="Times New Roman" panose="02020603050405020304" pitchFamily="18" charset="0"/>
              </a:rPr>
              <a:t>viên </a:t>
            </a:r>
            <a:r>
              <a:rPr lang="vi-VN" altLang="zh-CN" sz="1200" dirty="0">
                <a:latin typeface="Times New Roman" panose="02020603050405020304" pitchFamily="18" charset="0"/>
                <a:ea typeface="微软雅黑" pitchFamily="34" charset="-122"/>
                <a:cs typeface="Times New Roman" panose="02020603050405020304" pitchFamily="18" charset="0"/>
              </a:rPr>
              <a:t>được thống kê tại thời điểm cuối tháng</a:t>
            </a:r>
            <a:r>
              <a:rPr lang="vi-VN" altLang="zh-CN" sz="1200" dirty="0" smtClean="0">
                <a:latin typeface="Times New Roman" panose="02020603050405020304" pitchFamily="18" charset="0"/>
                <a:ea typeface="微软雅黑" pitchFamily="34" charset="-122"/>
                <a:cs typeface="Times New Roman" panose="02020603050405020304" pitchFamily="18" charset="0"/>
              </a:rPr>
              <a:t>.</a:t>
            </a:r>
            <a:endParaRPr lang="en-US" altLang="zh-CN" sz="1200" dirty="0" smtClean="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Chọn chữ số để xem chi tiết danh sách nhân viên</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12" name="Picture 7"/>
          <p:cNvPicPr>
            <a:picLocks noChangeAspect="1" noChangeArrowheads="1"/>
          </p:cNvPicPr>
          <p:nvPr/>
        </p:nvPicPr>
        <p:blipFill>
          <a:blip r:embed="rId2"/>
          <a:srcRect/>
          <a:stretch>
            <a:fillRect/>
          </a:stretch>
        </p:blipFill>
        <p:spPr bwMode="auto">
          <a:xfrm>
            <a:off x="500034" y="1947854"/>
            <a:ext cx="857256" cy="195262"/>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12804" y="1196752"/>
            <a:ext cx="6715140" cy="3646166"/>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2"/>
          <p:cNvSpPr txBox="1">
            <a:spLocks noChangeArrowheads="1"/>
          </p:cNvSpPr>
          <p:nvPr/>
        </p:nvSpPr>
        <p:spPr bwMode="auto">
          <a:xfrm>
            <a:off x="6786578" y="1620742"/>
            <a:ext cx="2357422" cy="3970318"/>
          </a:xfrm>
          <a:prstGeom prst="rect">
            <a:avLst/>
          </a:prstGeom>
          <a:noFill/>
          <a:ln w="9525">
            <a:noFill/>
            <a:miter lim="800000"/>
            <a:headEnd/>
            <a:tailEnd/>
          </a:ln>
        </p:spPr>
        <p:txBody>
          <a:bodyPr wrap="square">
            <a:spAutoFit/>
          </a:bodyPr>
          <a:lstStyle/>
          <a:p>
            <a:pPr algn="l">
              <a:spcBef>
                <a:spcPct val="50000"/>
              </a:spcBef>
              <a:buClr>
                <a:srgbClr val="FF6600"/>
              </a:buClr>
              <a:buSzPct val="100000"/>
              <a:buFont typeface="Wingdings" pitchFamily="2" charset="2"/>
              <a:buChar char="Ø"/>
              <a:defRPr/>
            </a:pPr>
            <a:r>
              <a:rPr lang="zh-CN" altLang="en-US" sz="1200" b="0" dirty="0">
                <a:latin typeface="Times New Roman" pitchFamily="18" charset="0"/>
                <a:ea typeface="微软雅黑" pitchFamily="34" charset="-122"/>
                <a:cs typeface="Times New Roman" pitchFamily="18" charset="0"/>
              </a:rPr>
              <a:t> </a:t>
            </a:r>
            <a:r>
              <a:rPr lang="en-US" altLang="zh-CN" sz="1200" b="0" dirty="0" smtClean="0">
                <a:latin typeface="Times New Roman" pitchFamily="18" charset="0"/>
                <a:ea typeface="微软雅黑" pitchFamily="34" charset="-122"/>
                <a:cs typeface="Times New Roman" pitchFamily="18" charset="0"/>
              </a:rPr>
              <a:t>Hiển thị tất cả Hồ sơ xin việc của Ứng viên ( giống trang “Lọc hồ sơ” trong module Nhân sự)</a:t>
            </a:r>
            <a:endParaRPr lang="en-US" altLang="zh-CN" sz="1200" b="0" dirty="0">
              <a:latin typeface="Times New Roman" pitchFamily="18" charset="0"/>
              <a:ea typeface="微软雅黑" pitchFamily="34" charset="-122"/>
              <a:cs typeface="Times New Roman" pitchFamily="18" charset="0"/>
            </a:endParaRPr>
          </a:p>
          <a:p>
            <a:pPr algn="l">
              <a:spcBef>
                <a:spcPct val="50000"/>
              </a:spcBef>
              <a:buClr>
                <a:srgbClr val="FF6600"/>
              </a:buClr>
              <a:buSzPct val="100000"/>
              <a:buFont typeface="Wingdings" pitchFamily="2" charset="2"/>
              <a:buChar char="Ø"/>
              <a:defRPr/>
            </a:pPr>
            <a:r>
              <a:rPr lang="en-US" altLang="zh-CN" sz="1200" b="0" dirty="0">
                <a:latin typeface="Times New Roman" pitchFamily="18" charset="0"/>
                <a:ea typeface="微软雅黑" pitchFamily="34" charset="-122"/>
                <a:cs typeface="Times New Roman" pitchFamily="18" charset="0"/>
                <a:sym typeface="Wingdings" pitchFamily="2" charset="2"/>
              </a:rPr>
              <a:t> </a:t>
            </a:r>
            <a:r>
              <a:rPr lang="vi-VN" altLang="zh-CN" sz="1200" b="0" dirty="0" smtClean="0">
                <a:latin typeface="Times New Roman" pitchFamily="18" charset="0"/>
                <a:ea typeface="微软雅黑" pitchFamily="34" charset="-122"/>
                <a:cs typeface="Times New Roman" pitchFamily="18" charset="0"/>
                <a:sym typeface="Wingdings" pitchFamily="2" charset="2"/>
              </a:rPr>
              <a:t>Có thể dựa vào điều kiện kiểm tra</a:t>
            </a:r>
            <a:r>
              <a:rPr lang="vi-VN" altLang="zh-CN" sz="1200" dirty="0">
                <a:latin typeface="Times New Roman" pitchFamily="18" charset="0"/>
                <a:ea typeface="微软雅黑" pitchFamily="34" charset="-122"/>
                <a:cs typeface="Times New Roman" pitchFamily="18" charset="0"/>
                <a:sym typeface="Wingdings" pitchFamily="2" charset="2"/>
              </a:rPr>
              <a:t> </a:t>
            </a:r>
            <a:r>
              <a:rPr lang="vi-VN" altLang="zh-CN" sz="1200" dirty="0" smtClean="0">
                <a:latin typeface="Times New Roman" pitchFamily="18" charset="0"/>
                <a:ea typeface="微软雅黑" pitchFamily="34" charset="-122"/>
                <a:cs typeface="Times New Roman" pitchFamily="18" charset="0"/>
                <a:sym typeface="Wingdings" pitchFamily="2" charset="2"/>
              </a:rPr>
              <a:t>để </a:t>
            </a:r>
            <a:r>
              <a:rPr lang="vi-VN" altLang="zh-CN" sz="1200" dirty="0">
                <a:latin typeface="Times New Roman" pitchFamily="18" charset="0"/>
                <a:ea typeface="微软雅黑" pitchFamily="34" charset="-122"/>
                <a:cs typeface="Times New Roman" pitchFamily="18" charset="0"/>
                <a:sym typeface="Wingdings" pitchFamily="2" charset="2"/>
              </a:rPr>
              <a:t>s</a:t>
            </a:r>
            <a:r>
              <a:rPr lang="vi-VN" altLang="zh-CN" sz="1200" b="0" dirty="0" smtClean="0">
                <a:latin typeface="Times New Roman" pitchFamily="18" charset="0"/>
                <a:ea typeface="微软雅黑" pitchFamily="34" charset="-122"/>
                <a:cs typeface="Times New Roman" pitchFamily="18" charset="0"/>
                <a:sym typeface="Wingdings" pitchFamily="2" charset="2"/>
              </a:rPr>
              <a:t>ắp xếp phỏng vấn</a:t>
            </a:r>
            <a:r>
              <a:rPr lang="vi-VN" altLang="zh-CN" sz="1200" dirty="0">
                <a:latin typeface="Times New Roman" pitchFamily="18" charset="0"/>
                <a:ea typeface="微软雅黑" pitchFamily="34" charset="-122"/>
                <a:cs typeface="Times New Roman" pitchFamily="18" charset="0"/>
                <a:sym typeface="Wingdings" pitchFamily="2" charset="2"/>
              </a:rPr>
              <a:t> </a:t>
            </a:r>
            <a:r>
              <a:rPr lang="vi-VN" altLang="zh-CN" sz="1200" dirty="0" smtClean="0">
                <a:latin typeface="Times New Roman" pitchFamily="18" charset="0"/>
                <a:ea typeface="微软雅黑" pitchFamily="34" charset="-122"/>
                <a:cs typeface="Times New Roman" pitchFamily="18" charset="0"/>
                <a:sym typeface="Wingdings" pitchFamily="2" charset="2"/>
              </a:rPr>
              <a:t>hoặc l</a:t>
            </a:r>
            <a:r>
              <a:rPr lang="vi-VN" altLang="zh-CN" sz="1200" b="0" dirty="0" smtClean="0">
                <a:latin typeface="Times New Roman" pitchFamily="18" charset="0"/>
                <a:ea typeface="微软雅黑" pitchFamily="34" charset="-122"/>
                <a:cs typeface="Times New Roman" pitchFamily="18" charset="0"/>
                <a:sym typeface="Wingdings" pitchFamily="2" charset="2"/>
              </a:rPr>
              <a:t>ưu lại dự trữ</a:t>
            </a:r>
            <a:r>
              <a:rPr lang="vi-VN" altLang="zh-CN" sz="1200" dirty="0">
                <a:latin typeface="Times New Roman" pitchFamily="18" charset="0"/>
                <a:ea typeface="微软雅黑" pitchFamily="34" charset="-122"/>
                <a:cs typeface="Times New Roman" pitchFamily="18" charset="0"/>
                <a:sym typeface="Wingdings" pitchFamily="2" charset="2"/>
              </a:rPr>
              <a:t> </a:t>
            </a:r>
            <a:r>
              <a:rPr lang="vi-VN" altLang="zh-CN" sz="1200" dirty="0" smtClean="0">
                <a:latin typeface="Times New Roman" pitchFamily="18" charset="0"/>
                <a:ea typeface="微软雅黑" pitchFamily="34" charset="-122"/>
                <a:cs typeface="Times New Roman" pitchFamily="18" charset="0"/>
                <a:sym typeface="Wingdings" pitchFamily="2" charset="2"/>
              </a:rPr>
              <a:t>(</a:t>
            </a:r>
            <a:r>
              <a:rPr lang="vi-VN" altLang="zh-CN" sz="1200" b="0" dirty="0" smtClean="0">
                <a:latin typeface="Times New Roman" pitchFamily="18" charset="0"/>
                <a:ea typeface="微软雅黑" pitchFamily="34" charset="-122"/>
                <a:cs typeface="Times New Roman" pitchFamily="18" charset="0"/>
                <a:sym typeface="Wingdings" pitchFamily="2" charset="2"/>
              </a:rPr>
              <a:t>Sau khi sắp xếp phỏng vấn chỉ trưởng phòng ban hiện tại và người phụ trách tuyển dụng mới có thể thao tác bước tiếp theo tại trang sắp xếp phỏng vấn, trưởng phòng ban khác không thể xem thông tin này; sau khi lưu lại dự trữ hồ sơ đồ không mặc định hiển thị, chỉ sau khi lựa chọn điều kiện sàng lọc mới có thể xem được)</a:t>
            </a:r>
            <a:endParaRPr lang="en-US" altLang="zh-CN" sz="1200" dirty="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r>
              <a:rPr lang="vi-VN" altLang="zh-CN" sz="1200" b="0" dirty="0" smtClean="0">
                <a:latin typeface="Times New Roman" pitchFamily="18" charset="0"/>
                <a:ea typeface="微软雅黑" pitchFamily="34" charset="-122"/>
                <a:cs typeface="Times New Roman" pitchFamily="18" charset="0"/>
                <a:sym typeface="Wingdings" pitchFamily="2" charset="2"/>
              </a:rPr>
              <a:t>Click vào Họ tên để tra cứu Sơ yếu lí lịch chi tiết.</a:t>
            </a:r>
            <a:endParaRPr lang="en-US" altLang="zh-CN" sz="1200" b="0" dirty="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a:latin typeface="Times New Roman" pitchFamily="18" charset="0"/>
              <a:ea typeface="微软雅黑" pitchFamily="34" charset="-122"/>
              <a:cs typeface="Times New Roman" pitchFamily="18" charset="0"/>
              <a:sym typeface="Wingdings" pitchFamily="2" charset="2"/>
            </a:endParaRPr>
          </a:p>
        </p:txBody>
      </p:sp>
      <p:sp>
        <p:nvSpPr>
          <p:cNvPr id="14" name="Rectangle 17"/>
          <p:cNvSpPr txBox="1">
            <a:spLocks noChangeArrowheads="1"/>
          </p:cNvSpPr>
          <p:nvPr/>
        </p:nvSpPr>
        <p:spPr bwMode="auto">
          <a:xfrm>
            <a:off x="1360603" y="123065"/>
            <a:ext cx="2030368" cy="26865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defRPr/>
            </a:pPr>
            <a:r>
              <a:rPr kumimoji="1" lang="en-US" altLang="zh-CN" sz="1200" kern="0" dirty="0" smtClean="0">
                <a:latin typeface="Times New Roman" pitchFamily="18" charset="0"/>
                <a:ea typeface="微软雅黑" pitchFamily="34" charset="-122"/>
                <a:cs typeface="Times New Roman" pitchFamily="18" charset="0"/>
              </a:rPr>
              <a:t>Tuyển dụng - </a:t>
            </a:r>
            <a:r>
              <a:rPr kumimoji="1" lang="en-US" altLang="zh-CN" sz="1200" kern="0" dirty="0">
                <a:latin typeface="Times New Roman" pitchFamily="18" charset="0"/>
                <a:ea typeface="微软雅黑" pitchFamily="34" charset="-122"/>
                <a:cs typeface="Times New Roman" pitchFamily="18" charset="0"/>
              </a:rPr>
              <a:t>L</a:t>
            </a:r>
            <a:r>
              <a:rPr kumimoji="1" lang="vi-VN" altLang="zh-CN" sz="1200" kern="0" dirty="0" smtClean="0">
                <a:latin typeface="Times New Roman" pitchFamily="18" charset="0"/>
                <a:ea typeface="微软雅黑" pitchFamily="34" charset="-122"/>
                <a:cs typeface="Times New Roman" pitchFamily="18" charset="0"/>
              </a:rPr>
              <a:t>ọc </a:t>
            </a:r>
            <a:r>
              <a:rPr kumimoji="1" lang="vi-VN" altLang="zh-CN" sz="1200" kern="0" dirty="0">
                <a:latin typeface="Times New Roman" pitchFamily="18" charset="0"/>
                <a:ea typeface="微软雅黑" pitchFamily="34" charset="-122"/>
                <a:cs typeface="Times New Roman" pitchFamily="18" charset="0"/>
              </a:rPr>
              <a:t>hồ sơ</a:t>
            </a:r>
            <a:endParaRPr kumimoji="1" lang="en-US" altLang="zh-CN" sz="1200" b="0" i="0" u="none" strike="noStrike" kern="0" cap="none" spc="0" normalizeH="0" baseline="0" noProof="0" dirty="0" smtClean="0">
              <a:ln>
                <a:noFill/>
              </a:ln>
              <a:effectLst/>
              <a:uLnTx/>
              <a:uFillTx/>
              <a:latin typeface="Times New Roman" pitchFamily="18" charset="0"/>
              <a:ea typeface="微软雅黑" pitchFamily="34" charset="-122"/>
              <a:cs typeface="Times New Roman" pitchFamily="18" charset="0"/>
            </a:endParaRPr>
          </a:p>
        </p:txBody>
      </p:sp>
      <p:pic>
        <p:nvPicPr>
          <p:cNvPr id="3" name="Picture 2"/>
          <p:cNvPicPr>
            <a:picLocks noChangeAspect="1"/>
          </p:cNvPicPr>
          <p:nvPr/>
        </p:nvPicPr>
        <p:blipFill>
          <a:blip r:embed="rId2"/>
          <a:stretch>
            <a:fillRect/>
          </a:stretch>
        </p:blipFill>
        <p:spPr>
          <a:xfrm>
            <a:off x="8686" y="1844824"/>
            <a:ext cx="6777892" cy="3746236"/>
          </a:xfrm>
          <a:prstGeom prst="rect">
            <a:avLst/>
          </a:prstGeom>
        </p:spPr>
      </p:pic>
      <p:pic>
        <p:nvPicPr>
          <p:cNvPr id="2" name="Picture 1"/>
          <p:cNvPicPr>
            <a:picLocks noChangeAspect="1"/>
          </p:cNvPicPr>
          <p:nvPr/>
        </p:nvPicPr>
        <p:blipFill>
          <a:blip r:embed="rId3"/>
          <a:stretch>
            <a:fillRect/>
          </a:stretch>
        </p:blipFill>
        <p:spPr>
          <a:xfrm>
            <a:off x="1115616" y="3501008"/>
            <a:ext cx="5019606" cy="2194532"/>
          </a:xfrm>
          <a:prstGeom prst="rect">
            <a:avLst/>
          </a:prstGeom>
        </p:spPr>
      </p:pic>
      <p:sp>
        <p:nvSpPr>
          <p:cNvPr id="5" name="Rectangle 4"/>
          <p:cNvSpPr/>
          <p:nvPr/>
        </p:nvSpPr>
        <p:spPr>
          <a:xfrm>
            <a:off x="1115616" y="2852936"/>
            <a:ext cx="432048"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0" name="Elbow Connector 9"/>
          <p:cNvCxnSpPr>
            <a:stCxn id="5" idx="2"/>
            <a:endCxn id="2" idx="0"/>
          </p:cNvCxnSpPr>
          <p:nvPr/>
        </p:nvCxnSpPr>
        <p:spPr>
          <a:xfrm rot="16200000" flipH="1">
            <a:off x="2226501" y="2102090"/>
            <a:ext cx="504056" cy="2293779"/>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723685"/>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2"/>
          <p:cNvSpPr txBox="1">
            <a:spLocks noChangeArrowheads="1"/>
          </p:cNvSpPr>
          <p:nvPr/>
        </p:nvSpPr>
        <p:spPr bwMode="auto">
          <a:xfrm>
            <a:off x="6715140" y="1500174"/>
            <a:ext cx="2286016" cy="5262979"/>
          </a:xfrm>
          <a:prstGeom prst="rect">
            <a:avLst/>
          </a:prstGeom>
          <a:noFill/>
          <a:ln w="9525">
            <a:noFill/>
            <a:miter lim="800000"/>
            <a:headEnd/>
            <a:tailEnd/>
          </a:ln>
        </p:spPr>
        <p:txBody>
          <a:bodyPr wrap="square">
            <a:spAutoFit/>
          </a:bodyPr>
          <a:lstStyle/>
          <a:p>
            <a:pPr algn="l">
              <a:spcBef>
                <a:spcPct val="50000"/>
              </a:spcBef>
              <a:buClr>
                <a:srgbClr val="FF6600"/>
              </a:buClr>
              <a:buSzPct val="100000"/>
              <a:buFont typeface="Wingdings" pitchFamily="2" charset="2"/>
              <a:buChar char="Ø"/>
              <a:defRPr/>
            </a:pPr>
            <a:r>
              <a:rPr lang="zh-CN" altLang="en-US" sz="1200" b="0" dirty="0">
                <a:latin typeface="Times New Roman" pitchFamily="18" charset="0"/>
                <a:ea typeface="微软雅黑" pitchFamily="34" charset="-122"/>
                <a:cs typeface="Times New Roman" pitchFamily="18" charset="0"/>
              </a:rPr>
              <a:t> </a:t>
            </a:r>
            <a:r>
              <a:rPr lang="en-US" altLang="zh-CN" sz="1200" b="0" dirty="0" smtClean="0">
                <a:latin typeface="Times New Roman" pitchFamily="18" charset="0"/>
                <a:ea typeface="微软雅黑" pitchFamily="34" charset="-122"/>
                <a:cs typeface="Times New Roman" pitchFamily="18" charset="0"/>
              </a:rPr>
              <a:t>Trưởng phòng lựa chọn người phỏng vấn cho Ứng viên</a:t>
            </a:r>
            <a:endParaRPr lang="en-US" altLang="zh-CN" sz="1200" b="0" dirty="0">
              <a:latin typeface="Times New Roman" pitchFamily="18" charset="0"/>
              <a:ea typeface="微软雅黑" pitchFamily="34" charset="-122"/>
              <a:cs typeface="Times New Roman" pitchFamily="18" charset="0"/>
            </a:endParaRPr>
          </a:p>
          <a:p>
            <a:pPr algn="l">
              <a:spcBef>
                <a:spcPct val="50000"/>
              </a:spcBef>
              <a:buClr>
                <a:srgbClr val="FF6600"/>
              </a:buClr>
              <a:buSzPct val="100000"/>
              <a:buFont typeface="Wingdings" pitchFamily="2" charset="2"/>
              <a:buChar char="Ø"/>
              <a:defRPr/>
            </a:pPr>
            <a:r>
              <a:rPr lang="en-US" altLang="zh-CN" sz="1200" b="0" dirty="0">
                <a:latin typeface="Times New Roman" pitchFamily="18" charset="0"/>
                <a:ea typeface="微软雅黑" pitchFamily="34" charset="-122"/>
                <a:cs typeface="Times New Roman" pitchFamily="18" charset="0"/>
                <a:sym typeface="Wingdings" pitchFamily="2" charset="2"/>
              </a:rPr>
              <a:t> </a:t>
            </a:r>
            <a:r>
              <a:rPr lang="en-US" altLang="zh-CN" sz="1200" b="0" dirty="0" smtClean="0">
                <a:latin typeface="Times New Roman" pitchFamily="18" charset="0"/>
                <a:ea typeface="微软雅黑" pitchFamily="34" charset="-122"/>
                <a:cs typeface="Times New Roman" pitchFamily="18" charset="0"/>
                <a:sym typeface="Wingdings" pitchFamily="2" charset="2"/>
              </a:rPr>
              <a:t>Nhập Họ tên, vị trí công việc, trình độ học vấn để tìm Ứng viên muốn phỏng vấn</a:t>
            </a:r>
          </a:p>
          <a:p>
            <a:pPr algn="l">
              <a:spcBef>
                <a:spcPct val="50000"/>
              </a:spcBef>
              <a:buClr>
                <a:srgbClr val="FF6600"/>
              </a:buClr>
              <a:buSzPct val="100000"/>
              <a:buFont typeface="Wingdings" pitchFamily="2" charset="2"/>
              <a:buChar char="Ø"/>
              <a:defRPr/>
            </a:pPr>
            <a:r>
              <a:rPr lang="vi-VN" altLang="zh-CN" sz="1200" b="0" dirty="0" smtClean="0">
                <a:latin typeface="Times New Roman" pitchFamily="18" charset="0"/>
                <a:ea typeface="微软雅黑" pitchFamily="34" charset="-122"/>
                <a:cs typeface="Times New Roman" pitchFamily="18" charset="0"/>
                <a:sym typeface="Wingdings" pitchFamily="2" charset="2"/>
              </a:rPr>
              <a:t>Nhập mã hoặc họ tên để tìm </a:t>
            </a:r>
            <a:r>
              <a:rPr lang="en-US" altLang="zh-CN" sz="1200" dirty="0" smtClean="0">
                <a:latin typeface="Times New Roman" pitchFamily="18" charset="0"/>
                <a:ea typeface="微软雅黑" pitchFamily="34" charset="-122"/>
                <a:cs typeface="Times New Roman" pitchFamily="18" charset="0"/>
                <a:sym typeface="Wingdings" pitchFamily="2" charset="2"/>
              </a:rPr>
              <a:t>người phỏng vấn Ứng viên được tích chọn bên trên</a:t>
            </a: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r>
              <a:rPr lang="vi-VN" altLang="zh-CN" sz="1200" b="0" dirty="0" smtClean="0">
                <a:latin typeface="Times New Roman" pitchFamily="18" charset="0"/>
                <a:ea typeface="微软雅黑" pitchFamily="34" charset="-122"/>
                <a:cs typeface="Times New Roman" pitchFamily="18" charset="0"/>
                <a:sym typeface="Wingdings" pitchFamily="2" charset="2"/>
              </a:rPr>
              <a:t>Nhập thời gian phỏng vấn và địa điểm phỏng vấn (bắt buộc điền)</a:t>
            </a: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r>
              <a:rPr lang="vi-VN" altLang="zh-CN" sz="1200" b="0" dirty="0" smtClean="0">
                <a:latin typeface="Times New Roman" pitchFamily="18" charset="0"/>
                <a:ea typeface="微软雅黑" pitchFamily="34" charset="-122"/>
                <a:cs typeface="Times New Roman" pitchFamily="18" charset="0"/>
                <a:sym typeface="Wingdings" pitchFamily="2" charset="2"/>
              </a:rPr>
              <a:t>Click ‘Lưu</a:t>
            </a:r>
            <a:r>
              <a:rPr lang="en-US" altLang="zh-CN" sz="1200" b="0" dirty="0" smtClean="0">
                <a:latin typeface="Times New Roman" pitchFamily="18" charset="0"/>
                <a:ea typeface="微软雅黑" pitchFamily="34" charset="-122"/>
                <a:cs typeface="Times New Roman" pitchFamily="18" charset="0"/>
                <a:sym typeface="Wingdings" pitchFamily="2" charset="2"/>
              </a:rPr>
              <a:t>”</a:t>
            </a:r>
            <a:r>
              <a:rPr lang="vi-VN" altLang="zh-CN" sz="1200" b="0" dirty="0" smtClean="0">
                <a:latin typeface="Times New Roman" pitchFamily="18" charset="0"/>
                <a:ea typeface="微软雅黑" pitchFamily="34" charset="-122"/>
                <a:cs typeface="Times New Roman" pitchFamily="18" charset="0"/>
                <a:sym typeface="Wingdings" pitchFamily="2" charset="2"/>
              </a:rPr>
              <a:t> </a:t>
            </a:r>
            <a:r>
              <a:rPr lang="en-US" altLang="zh-CN" sz="1200" b="0" dirty="0" smtClean="0">
                <a:latin typeface="Times New Roman" pitchFamily="18" charset="0"/>
                <a:ea typeface="微软雅黑" pitchFamily="34" charset="-122"/>
                <a:cs typeface="Times New Roman" pitchFamily="18" charset="0"/>
                <a:sym typeface="Wingdings" pitchFamily="2" charset="2"/>
              </a:rPr>
              <a:t>, dữ liệu tự động chuyển đến trang “Kế hoạch phỏng vấn” tại HUB để thực hiện quy trình tiếp theo</a:t>
            </a:r>
          </a:p>
          <a:p>
            <a:pPr algn="l">
              <a:spcBef>
                <a:spcPct val="50000"/>
              </a:spcBef>
              <a:buClr>
                <a:srgbClr val="FF6600"/>
              </a:buClr>
              <a:buSzPct val="100000"/>
              <a:buFont typeface="Wingdings" pitchFamily="2" charset="2"/>
              <a:buChar char="Ø"/>
              <a:defRPr/>
            </a:pPr>
            <a:r>
              <a:rPr lang="en-US" altLang="zh-CN" sz="1200" b="0" dirty="0" smtClean="0">
                <a:latin typeface="Times New Roman" pitchFamily="18" charset="0"/>
                <a:ea typeface="微软雅黑" pitchFamily="34" charset="-122"/>
                <a:cs typeface="Times New Roman" pitchFamily="18" charset="0"/>
                <a:sym typeface="Wingdings" pitchFamily="2" charset="2"/>
              </a:rPr>
              <a:t>Trong trang này, người trưởng phòng chỉ xem được các thông tin phỏng vấn của những Ứng viên mình sắp xếp, không xem được thông tin sắp xếp phỏng vấn của người khác.</a:t>
            </a:r>
            <a:endParaRPr lang="en-US" altLang="zh-CN" sz="1200" b="0" dirty="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a:latin typeface="Times New Roman" pitchFamily="18" charset="0"/>
              <a:ea typeface="微软雅黑" pitchFamily="34" charset="-122"/>
              <a:cs typeface="Times New Roman" pitchFamily="18" charset="0"/>
              <a:sym typeface="Wingdings" pitchFamily="2" charset="2"/>
            </a:endParaRPr>
          </a:p>
        </p:txBody>
      </p:sp>
      <p:sp>
        <p:nvSpPr>
          <p:cNvPr id="14" name="Rectangle 17"/>
          <p:cNvSpPr txBox="1">
            <a:spLocks noChangeArrowheads="1"/>
          </p:cNvSpPr>
          <p:nvPr/>
        </p:nvSpPr>
        <p:spPr bwMode="auto">
          <a:xfrm>
            <a:off x="1396143" y="100836"/>
            <a:ext cx="2383769" cy="29912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defRPr/>
            </a:pPr>
            <a:r>
              <a:rPr kumimoji="1" lang="en-US" altLang="zh-CN" sz="1200" kern="0" dirty="0" smtClean="0">
                <a:latin typeface="Times New Roman" pitchFamily="18" charset="0"/>
                <a:ea typeface="微软雅黑" pitchFamily="34" charset="-122"/>
                <a:cs typeface="Times New Roman" pitchFamily="18" charset="0"/>
              </a:rPr>
              <a:t>Tuyển dụng- </a:t>
            </a:r>
            <a:r>
              <a:rPr kumimoji="1" lang="vi-VN" altLang="zh-CN" sz="1200" kern="0" dirty="0" smtClean="0">
                <a:latin typeface="Times New Roman" pitchFamily="18" charset="0"/>
                <a:ea typeface="微软雅黑" pitchFamily="34" charset="-122"/>
                <a:cs typeface="Times New Roman" pitchFamily="18" charset="0"/>
              </a:rPr>
              <a:t>Sắp xếp </a:t>
            </a:r>
            <a:r>
              <a:rPr kumimoji="1" lang="en-US" altLang="zh-CN" sz="1200" kern="0" dirty="0" smtClean="0">
                <a:latin typeface="Times New Roman" pitchFamily="18" charset="0"/>
                <a:ea typeface="微软雅黑" pitchFamily="34" charset="-122"/>
                <a:cs typeface="Times New Roman" pitchFamily="18" charset="0"/>
              </a:rPr>
              <a:t>phỏng vấn</a:t>
            </a:r>
            <a:endParaRPr kumimoji="1" lang="en-US" altLang="zh-CN" sz="1200" b="0" i="0" u="none" strike="noStrike" kern="0" cap="none" spc="0" normalizeH="0" baseline="0" noProof="0" dirty="0" smtClean="0">
              <a:ln>
                <a:noFill/>
              </a:ln>
              <a:effectLst/>
              <a:uLnTx/>
              <a:uFillTx/>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0" y="1844824"/>
            <a:ext cx="6709306" cy="3668221"/>
          </a:xfrm>
          <a:prstGeom prst="rect">
            <a:avLst/>
          </a:prstGeom>
        </p:spPr>
      </p:pic>
    </p:spTree>
    <p:extLst>
      <p:ext uri="{BB962C8B-B14F-4D97-AF65-F5344CB8AC3E}">
        <p14:creationId xmlns:p14="http://schemas.microsoft.com/office/powerpoint/2010/main" val="223999547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2"/>
          <p:cNvSpPr txBox="1">
            <a:spLocks noChangeArrowheads="1"/>
          </p:cNvSpPr>
          <p:nvPr/>
        </p:nvSpPr>
        <p:spPr bwMode="auto">
          <a:xfrm>
            <a:off x="6715140" y="1643050"/>
            <a:ext cx="2428860" cy="3600986"/>
          </a:xfrm>
          <a:prstGeom prst="rect">
            <a:avLst/>
          </a:prstGeom>
          <a:noFill/>
          <a:ln w="9525">
            <a:noFill/>
            <a:miter lim="800000"/>
            <a:headEnd/>
            <a:tailEnd/>
          </a:ln>
        </p:spPr>
        <p:txBody>
          <a:bodyPr wrap="square">
            <a:spAutoFit/>
          </a:bodyPr>
          <a:lstStyle/>
          <a:p>
            <a:pPr algn="l">
              <a:spcBef>
                <a:spcPct val="50000"/>
              </a:spcBef>
              <a:buClr>
                <a:srgbClr val="FF6600"/>
              </a:buClr>
              <a:buSzPct val="100000"/>
              <a:buFont typeface="Wingdings" pitchFamily="2" charset="2"/>
              <a:buChar char="Ø"/>
              <a:defRPr/>
            </a:pPr>
            <a:r>
              <a:rPr lang="zh-CN" altLang="en-US" sz="1200" b="0" dirty="0">
                <a:latin typeface="Times New Roman" pitchFamily="18" charset="0"/>
                <a:ea typeface="微软雅黑" pitchFamily="34" charset="-122"/>
                <a:cs typeface="Times New Roman" pitchFamily="18" charset="0"/>
              </a:rPr>
              <a:t> </a:t>
            </a:r>
            <a:r>
              <a:rPr lang="en-US" altLang="zh-CN" sz="1200" b="0" dirty="0" smtClean="0">
                <a:latin typeface="Times New Roman" pitchFamily="18" charset="0"/>
                <a:ea typeface="微软雅黑" pitchFamily="34" charset="-122"/>
                <a:cs typeface="Times New Roman" pitchFamily="18" charset="0"/>
              </a:rPr>
              <a:t>Trưởng phòng phụ trách phỏng vấn Ứng viên nào đó có thể tại trang này thực hiện ghi chép phỏng vấn</a:t>
            </a:r>
            <a:endParaRPr lang="en-US" altLang="zh-CN" sz="1200" b="0" dirty="0">
              <a:latin typeface="Times New Roman" pitchFamily="18" charset="0"/>
              <a:ea typeface="微软雅黑" pitchFamily="34" charset="-122"/>
              <a:cs typeface="Times New Roman" pitchFamily="18" charset="0"/>
            </a:endParaRPr>
          </a:p>
          <a:p>
            <a:pPr algn="l">
              <a:spcBef>
                <a:spcPct val="50000"/>
              </a:spcBef>
              <a:buClr>
                <a:srgbClr val="FF6600"/>
              </a:buClr>
              <a:buSzPct val="100000"/>
              <a:buFont typeface="Wingdings" pitchFamily="2" charset="2"/>
              <a:buChar char="Ø"/>
              <a:defRPr/>
            </a:pPr>
            <a:r>
              <a:rPr lang="vi-VN" altLang="zh-CN" sz="1200" b="0" dirty="0" smtClean="0">
                <a:latin typeface="Times New Roman" pitchFamily="18" charset="0"/>
                <a:ea typeface="微软雅黑" pitchFamily="34" charset="-122"/>
                <a:cs typeface="Times New Roman" pitchFamily="18" charset="0"/>
                <a:sym typeface="Wingdings" pitchFamily="2" charset="2"/>
              </a:rPr>
              <a:t>Click </a:t>
            </a:r>
            <a:r>
              <a:rPr lang="en-US" altLang="zh-CN" sz="1200" b="0" dirty="0" smtClean="0">
                <a:latin typeface="Times New Roman" pitchFamily="18" charset="0"/>
                <a:ea typeface="微软雅黑" pitchFamily="34" charset="-122"/>
                <a:cs typeface="Times New Roman" pitchFamily="18" charset="0"/>
                <a:sym typeface="Wingdings" pitchFamily="2" charset="2"/>
              </a:rPr>
              <a:t>“Xem” tại cột “Tình hình phỏng vấn” </a:t>
            </a:r>
            <a:r>
              <a:rPr lang="vi-VN" altLang="zh-CN" sz="1200" b="0" dirty="0" smtClean="0">
                <a:latin typeface="Times New Roman" pitchFamily="18" charset="0"/>
                <a:ea typeface="微软雅黑" pitchFamily="34" charset="-122"/>
                <a:cs typeface="Times New Roman" pitchFamily="18" charset="0"/>
                <a:sym typeface="Wingdings" pitchFamily="2" charset="2"/>
              </a:rPr>
              <a:t>có thể xem ý kiến của người </a:t>
            </a:r>
            <a:r>
              <a:rPr lang="en-US" altLang="zh-CN" sz="1200" b="0" dirty="0" smtClean="0">
                <a:latin typeface="Times New Roman" pitchFamily="18" charset="0"/>
                <a:ea typeface="微软雅黑" pitchFamily="34" charset="-122"/>
                <a:cs typeface="Times New Roman" pitchFamily="18" charset="0"/>
                <a:sym typeface="Wingdings" pitchFamily="2" charset="2"/>
              </a:rPr>
              <a:t>phỏng vấn khác</a:t>
            </a:r>
          </a:p>
          <a:p>
            <a:pPr algn="l">
              <a:spcBef>
                <a:spcPct val="50000"/>
              </a:spcBef>
              <a:buClr>
                <a:srgbClr val="FF6600"/>
              </a:buClr>
              <a:buSzPct val="100000"/>
              <a:buFont typeface="Wingdings" pitchFamily="2" charset="2"/>
              <a:buChar char="Ø"/>
              <a:defRPr/>
            </a:pPr>
            <a:r>
              <a:rPr lang="vi-VN" altLang="zh-CN" sz="1200" b="0" dirty="0" smtClean="0">
                <a:latin typeface="Times New Roman" pitchFamily="18" charset="0"/>
                <a:ea typeface="微软雅黑" pitchFamily="34" charset="-122"/>
                <a:cs typeface="Times New Roman" pitchFamily="18" charset="0"/>
                <a:sym typeface="Wingdings" pitchFamily="2" charset="2"/>
              </a:rPr>
              <a:t>Tình trạng từ chối không phân</a:t>
            </a:r>
            <a:r>
              <a:rPr lang="en-US" altLang="zh-CN" sz="1200" b="0" dirty="0" smtClean="0">
                <a:latin typeface="Times New Roman" pitchFamily="18" charset="0"/>
                <a:ea typeface="微软雅黑" pitchFamily="34" charset="-122"/>
                <a:cs typeface="Times New Roman" pitchFamily="18" charset="0"/>
                <a:sym typeface="Wingdings" pitchFamily="2" charset="2"/>
              </a:rPr>
              <a:t> biệt</a:t>
            </a:r>
            <a:r>
              <a:rPr lang="vi-VN" altLang="zh-CN" sz="1200" b="0" dirty="0" smtClean="0">
                <a:latin typeface="Times New Roman" pitchFamily="18" charset="0"/>
                <a:ea typeface="微软雅黑" pitchFamily="34" charset="-122"/>
                <a:cs typeface="Times New Roman" pitchFamily="18" charset="0"/>
                <a:sym typeface="Wingdings" pitchFamily="2" charset="2"/>
              </a:rPr>
              <a:t> thứ tự trước sau và không ảnh hưởng đến người phỏng vấn khác, dữ liệu người phỏng </a:t>
            </a:r>
            <a:r>
              <a:rPr lang="vi-VN" altLang="zh-CN" sz="1200" dirty="0">
                <a:latin typeface="Times New Roman" pitchFamily="18" charset="0"/>
                <a:ea typeface="微软雅黑" pitchFamily="34" charset="-122"/>
                <a:cs typeface="Times New Roman" pitchFamily="18" charset="0"/>
                <a:sym typeface="Wingdings" pitchFamily="2" charset="2"/>
              </a:rPr>
              <a:t>vấn nhân sự đã xác nhận sẽ không hiển thị tại trang này nữa.</a:t>
            </a:r>
            <a:endParaRPr lang="en-US" altLang="zh-CN" sz="1200" b="0" dirty="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defRPr/>
            </a:pPr>
            <a:endParaRPr lang="en-US" altLang="zh-CN" sz="1200" b="0" dirty="0">
              <a:latin typeface="Times New Roman" pitchFamily="18" charset="0"/>
              <a:ea typeface="微软雅黑" pitchFamily="34" charset="-122"/>
              <a:cs typeface="Times New Roman" pitchFamily="18" charset="0"/>
              <a:sym typeface="Wingdings" pitchFamily="2" charset="2"/>
            </a:endParaRPr>
          </a:p>
        </p:txBody>
      </p:sp>
      <p:sp>
        <p:nvSpPr>
          <p:cNvPr id="14" name="Rectangle 17"/>
          <p:cNvSpPr txBox="1">
            <a:spLocks noChangeArrowheads="1"/>
          </p:cNvSpPr>
          <p:nvPr/>
        </p:nvSpPr>
        <p:spPr bwMode="auto">
          <a:xfrm>
            <a:off x="1324135" y="100666"/>
            <a:ext cx="2383769" cy="29912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en-US" altLang="zh-CN" sz="1200" kern="0" noProof="0" dirty="0" smtClean="0">
                <a:latin typeface="Times New Roman" pitchFamily="18" charset="0"/>
                <a:ea typeface="微软雅黑" pitchFamily="34" charset="-122"/>
                <a:cs typeface="Times New Roman" pitchFamily="18" charset="0"/>
              </a:rPr>
              <a:t>Tuyển dụng -G</a:t>
            </a:r>
            <a:r>
              <a:rPr kumimoji="1" lang="vi-VN" altLang="zh-CN" sz="1200" b="0" i="0" u="none" strike="noStrike" kern="0" cap="none" spc="0" normalizeH="0" baseline="0" noProof="0" dirty="0" smtClean="0">
                <a:ln>
                  <a:noFill/>
                </a:ln>
                <a:effectLst/>
                <a:uLnTx/>
                <a:uFillTx/>
                <a:latin typeface="Times New Roman" pitchFamily="18" charset="0"/>
                <a:ea typeface="微软雅黑" pitchFamily="34" charset="-122"/>
                <a:cs typeface="Times New Roman" pitchFamily="18" charset="0"/>
              </a:rPr>
              <a:t>hi chép phỏng vấn</a:t>
            </a:r>
            <a:endParaRPr kumimoji="1" lang="zh-CN" altLang="en-US" sz="1200" b="0" i="0" u="none" strike="noStrike" kern="0" cap="none" spc="0" normalizeH="0" baseline="0" noProof="0" dirty="0" smtClean="0">
              <a:ln>
                <a:noFill/>
              </a:ln>
              <a:effectLst/>
              <a:uLnTx/>
              <a:uFillTx/>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30188" y="1268760"/>
            <a:ext cx="6686657" cy="3715976"/>
          </a:xfrm>
          <a:prstGeom prst="rect">
            <a:avLst/>
          </a:prstGeom>
        </p:spPr>
      </p:pic>
      <p:pic>
        <p:nvPicPr>
          <p:cNvPr id="4" name="Picture 3"/>
          <p:cNvPicPr>
            <a:picLocks noChangeAspect="1"/>
          </p:cNvPicPr>
          <p:nvPr/>
        </p:nvPicPr>
        <p:blipFill>
          <a:blip r:embed="rId3"/>
          <a:stretch>
            <a:fillRect/>
          </a:stretch>
        </p:blipFill>
        <p:spPr>
          <a:xfrm>
            <a:off x="1179109" y="3102256"/>
            <a:ext cx="5057590" cy="2198952"/>
          </a:xfrm>
          <a:prstGeom prst="rect">
            <a:avLst/>
          </a:prstGeom>
        </p:spPr>
      </p:pic>
      <p:sp>
        <p:nvSpPr>
          <p:cNvPr id="5" name="Rectangle 4"/>
          <p:cNvSpPr/>
          <p:nvPr/>
        </p:nvSpPr>
        <p:spPr>
          <a:xfrm>
            <a:off x="6084168" y="2132856"/>
            <a:ext cx="432048"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0" name="Elbow Connector 9"/>
          <p:cNvCxnSpPr>
            <a:endCxn id="4" idx="0"/>
          </p:cNvCxnSpPr>
          <p:nvPr/>
        </p:nvCxnSpPr>
        <p:spPr>
          <a:xfrm rot="10800000" flipV="1">
            <a:off x="3707904" y="2276872"/>
            <a:ext cx="2592288" cy="825384"/>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270708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7"/>
          <p:cNvSpPr txBox="1">
            <a:spLocks noChangeArrowheads="1"/>
          </p:cNvSpPr>
          <p:nvPr/>
        </p:nvSpPr>
        <p:spPr bwMode="auto">
          <a:xfrm>
            <a:off x="1396143" y="100836"/>
            <a:ext cx="2383769" cy="29912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defRPr/>
            </a:pPr>
            <a:r>
              <a:rPr kumimoji="1" lang="en-US" altLang="zh-CN" sz="1200" kern="0" noProof="0" dirty="0" smtClean="0">
                <a:latin typeface="Times New Roman" pitchFamily="18" charset="0"/>
                <a:ea typeface="微软雅黑" pitchFamily="34" charset="-122"/>
                <a:cs typeface="Times New Roman" pitchFamily="18" charset="0"/>
              </a:rPr>
              <a:t>Đào tạo- Xác nhận khóa học</a:t>
            </a:r>
            <a:endParaRPr kumimoji="1" lang="en-US" altLang="zh-CN" sz="1200" b="0" i="0" u="none" strike="noStrike" kern="0" cap="none" spc="0" normalizeH="0" baseline="0" noProof="0" dirty="0" smtClean="0">
              <a:ln>
                <a:noFill/>
              </a:ln>
              <a:effectLst/>
              <a:uLnTx/>
              <a:uFillTx/>
              <a:latin typeface="Times New Roman" pitchFamily="18" charset="0"/>
              <a:ea typeface="微软雅黑" pitchFamily="34" charset="-122"/>
              <a:cs typeface="Times New Roman" pitchFamily="18" charset="0"/>
            </a:endParaRPr>
          </a:p>
        </p:txBody>
      </p:sp>
      <p:sp>
        <p:nvSpPr>
          <p:cNvPr id="3" name="Text Box 12"/>
          <p:cNvSpPr txBox="1">
            <a:spLocks noChangeArrowheads="1"/>
          </p:cNvSpPr>
          <p:nvPr/>
        </p:nvSpPr>
        <p:spPr bwMode="auto">
          <a:xfrm>
            <a:off x="6715140" y="1643050"/>
            <a:ext cx="2428860" cy="3231654"/>
          </a:xfrm>
          <a:prstGeom prst="rect">
            <a:avLst/>
          </a:prstGeom>
          <a:noFill/>
          <a:ln w="9525">
            <a:noFill/>
            <a:miter lim="800000"/>
            <a:headEnd/>
            <a:tailEnd/>
          </a:ln>
        </p:spPr>
        <p:txBody>
          <a:bodyPr wrap="square">
            <a:spAutoFit/>
          </a:bodyPr>
          <a:lstStyle/>
          <a:p>
            <a:pPr algn="l">
              <a:spcBef>
                <a:spcPct val="50000"/>
              </a:spcBef>
              <a:buClr>
                <a:srgbClr val="FF6600"/>
              </a:buClr>
              <a:buSzPct val="100000"/>
              <a:buFont typeface="Wingdings" pitchFamily="2" charset="2"/>
              <a:buChar char="Ø"/>
              <a:defRPr/>
            </a:pPr>
            <a:r>
              <a:rPr lang="en-US" altLang="zh-CN" sz="1200" b="0" dirty="0" smtClean="0">
                <a:solidFill>
                  <a:srgbClr val="FF0000"/>
                </a:solidFill>
                <a:latin typeface="Times New Roman" pitchFamily="18" charset="0"/>
                <a:ea typeface="微软雅黑" pitchFamily="34" charset="-122"/>
                <a:cs typeface="Times New Roman" pitchFamily="18" charset="0"/>
              </a:rPr>
              <a:t>Hệ thống hiển thị các nhân viên đăng ký tham gia khóa đào tạo và cần xác nhận của trường phòng</a:t>
            </a:r>
            <a:endParaRPr lang="en-US" altLang="zh-CN" sz="1200" b="0" dirty="0">
              <a:solidFill>
                <a:srgbClr val="FF0000"/>
              </a:solidFill>
              <a:latin typeface="Times New Roman" pitchFamily="18" charset="0"/>
              <a:ea typeface="微软雅黑" pitchFamily="34" charset="-122"/>
              <a:cs typeface="Times New Roman" pitchFamily="18" charset="0"/>
            </a:endParaRPr>
          </a:p>
          <a:p>
            <a:pPr algn="l">
              <a:spcBef>
                <a:spcPct val="50000"/>
              </a:spcBef>
              <a:buClr>
                <a:srgbClr val="FF6600"/>
              </a:buClr>
              <a:buSzPct val="100000"/>
              <a:buFont typeface="Wingdings" pitchFamily="2" charset="2"/>
              <a:buChar char="Ø"/>
              <a:defRPr/>
            </a:pPr>
            <a:r>
              <a:rPr lang="en-US" altLang="zh-CN" sz="1200" dirty="0" smtClean="0">
                <a:latin typeface="Times New Roman" pitchFamily="18" charset="0"/>
                <a:ea typeface="微软雅黑" pitchFamily="34" charset="-122"/>
                <a:cs typeface="Times New Roman" pitchFamily="18" charset="0"/>
                <a:sym typeface="Wingdings" pitchFamily="2" charset="2"/>
              </a:rPr>
              <a:t>Nhập điều kiện tìm kiếm, sau đó “Tra cứu”, hệ thống hiển thị các nhân viên tương ứng</a:t>
            </a: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r>
              <a:rPr lang="en-US" altLang="zh-CN" sz="1200" dirty="0" smtClean="0">
                <a:latin typeface="Times New Roman" pitchFamily="18" charset="0"/>
                <a:ea typeface="微软雅黑" pitchFamily="34" charset="-122"/>
                <a:cs typeface="Times New Roman" pitchFamily="18" charset="0"/>
                <a:sym typeface="Wingdings" pitchFamily="2" charset="2"/>
              </a:rPr>
              <a:t>Tích chọn vào 1 hoặc nhiều nhân viên, chọn “Duyệt” xác nhận tham gia khóa học, “Từ chối” không cho phép nhân viên tham gia</a:t>
            </a:r>
          </a:p>
          <a:p>
            <a:pPr algn="l">
              <a:spcBef>
                <a:spcPct val="50000"/>
              </a:spcBef>
              <a:buClr>
                <a:srgbClr val="FF6600"/>
              </a:buClr>
              <a:buSzPct val="100000"/>
              <a:buFont typeface="Wingdings" pitchFamily="2" charset="2"/>
              <a:buChar char="Ø"/>
              <a:defRPr/>
            </a:pP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buFont typeface="Wingdings" pitchFamily="2" charset="2"/>
              <a:buChar char="Ø"/>
              <a:defRPr/>
            </a:pPr>
            <a:endParaRPr lang="en-US" altLang="zh-CN" sz="1200" b="0" dirty="0" smtClean="0">
              <a:latin typeface="Times New Roman" pitchFamily="18" charset="0"/>
              <a:ea typeface="微软雅黑" pitchFamily="34" charset="-122"/>
              <a:cs typeface="Times New Roman" pitchFamily="18" charset="0"/>
              <a:sym typeface="Wingdings" pitchFamily="2" charset="2"/>
            </a:endParaRPr>
          </a:p>
          <a:p>
            <a:pPr algn="l">
              <a:spcBef>
                <a:spcPct val="50000"/>
              </a:spcBef>
              <a:buClr>
                <a:srgbClr val="FF6600"/>
              </a:buClr>
              <a:buSzPct val="100000"/>
              <a:defRPr/>
            </a:pPr>
            <a:endParaRPr lang="en-US" altLang="zh-CN" sz="1200" b="0" dirty="0">
              <a:latin typeface="Times New Roman" pitchFamily="18" charset="0"/>
              <a:ea typeface="微软雅黑" pitchFamily="34" charset="-122"/>
              <a:cs typeface="Times New Roman" pitchFamily="18" charset="0"/>
              <a:sym typeface="Wingdings" pitchFamily="2" charset="2"/>
            </a:endParaRPr>
          </a:p>
        </p:txBody>
      </p:sp>
      <p:pic>
        <p:nvPicPr>
          <p:cNvPr id="5" name="Picture 4"/>
          <p:cNvPicPr>
            <a:picLocks noChangeAspect="1"/>
          </p:cNvPicPr>
          <p:nvPr/>
        </p:nvPicPr>
        <p:blipFill>
          <a:blip r:embed="rId2"/>
          <a:stretch>
            <a:fillRect/>
          </a:stretch>
        </p:blipFill>
        <p:spPr>
          <a:xfrm>
            <a:off x="-13154" y="1412776"/>
            <a:ext cx="6728294" cy="3739892"/>
          </a:xfrm>
          <a:prstGeom prst="rect">
            <a:avLst/>
          </a:prstGeom>
        </p:spPr>
      </p:pic>
    </p:spTree>
    <p:extLst>
      <p:ext uri="{BB962C8B-B14F-4D97-AF65-F5344CB8AC3E}">
        <p14:creationId xmlns:p14="http://schemas.microsoft.com/office/powerpoint/2010/main" val="2571885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Trang chủ Adminstrator</a:t>
            </a:r>
            <a:endParaRPr lang="zh-CN" altLang="en-US" sz="1200" dirty="0" smtClean="0">
              <a:latin typeface="Times New Roman" pitchFamily="18" charset="0"/>
              <a:ea typeface="微软雅黑" pitchFamily="34" charset="-122"/>
              <a:cs typeface="Times New Roman" pitchFamily="18" charset="0"/>
            </a:endParaRPr>
          </a:p>
        </p:txBody>
      </p:sp>
      <p:sp>
        <p:nvSpPr>
          <p:cNvPr id="16" name="TextBox 15"/>
          <p:cNvSpPr txBox="1"/>
          <p:nvPr/>
        </p:nvSpPr>
        <p:spPr>
          <a:xfrm>
            <a:off x="6715140" y="1571612"/>
            <a:ext cx="2071702" cy="2377574"/>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vi-VN" altLang="zh-CN" sz="1100" dirty="0" smtClean="0">
                <a:latin typeface="Times New Roman" pitchFamily="18" charset="0"/>
                <a:ea typeface="微软雅黑" pitchFamily="34" charset="-122"/>
                <a:cs typeface="Times New Roman" pitchFamily="18" charset="0"/>
              </a:rPr>
              <a:t>Hiện thị các thông báo tại đây, click vào để xem chi tiết.</a:t>
            </a:r>
            <a:endParaRPr lang="en-US" altLang="zh-CN" sz="1100" dirty="0" smtClean="0">
              <a:latin typeface="Times New Roman" pitchFamily="18" charset="0"/>
              <a:ea typeface="微软雅黑" pitchFamily="34" charset="-122"/>
              <a:cs typeface="Times New Roman" pitchFamily="18" charset="0"/>
            </a:endParaRPr>
          </a:p>
          <a:p>
            <a:pPr algn="l">
              <a:spcBef>
                <a:spcPct val="50000"/>
              </a:spcBef>
            </a:pPr>
            <a:endParaRPr lang="en-US" altLang="zh-CN" sz="1100" dirty="0" smtClean="0">
              <a:latin typeface="微软雅黑" pitchFamily="34" charset="-122"/>
              <a:ea typeface="微软雅黑" pitchFamily="34" charset="-122"/>
            </a:endParaRPr>
          </a:p>
          <a:p>
            <a:pPr marL="228600" indent="-228600" algn="l">
              <a:spcBef>
                <a:spcPct val="50000"/>
              </a:spcBef>
            </a:pPr>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en-US" altLang="zh-CN" sz="1100" dirty="0" smtClean="0">
              <a:latin typeface="微软雅黑" pitchFamily="34" charset="-122"/>
              <a:ea typeface="微软雅黑" pitchFamily="34" charset="-122"/>
            </a:endParaRPr>
          </a:p>
          <a:p>
            <a:pPr algn="l"/>
            <a:endParaRPr lang="zh-CN" altLang="en-US" sz="11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0" y="1374636"/>
            <a:ext cx="6715140" cy="376694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1846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Thay đổi người dùng</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39" name="TextBox 38"/>
          <p:cNvSpPr txBox="1"/>
          <p:nvPr/>
        </p:nvSpPr>
        <p:spPr>
          <a:xfrm>
            <a:off x="6715140" y="1571612"/>
            <a:ext cx="2214578" cy="2723823"/>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smtClean="0">
                <a:latin typeface="+mj-lt"/>
                <a:ea typeface="微软雅黑" pitchFamily="34" charset="-122"/>
              </a:rPr>
              <a:t>Thay đổi, sửa đổi người dùng</a:t>
            </a:r>
            <a:endParaRPr lang="en-US" altLang="zh-CN" sz="1100" dirty="0" smtClean="0">
              <a:latin typeface="+mj-lt"/>
              <a:ea typeface="微软雅黑" pitchFamily="34" charset="-122"/>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buFont typeface="+mj-lt"/>
              <a:buAutoNum type="arabicPeriod"/>
            </a:pPr>
            <a:r>
              <a:rPr lang="vi-VN" altLang="zh-CN" sz="1100" dirty="0" smtClean="0">
                <a:latin typeface="+mj-lt"/>
                <a:ea typeface="微软雅黑" pitchFamily="34" charset="-122"/>
              </a:rPr>
              <a:t>Hiện thị thông tin của người dùng trước. </a:t>
            </a:r>
            <a:endParaRPr lang="en-US" altLang="zh-CN" sz="1100" dirty="0" smtClean="0">
              <a:latin typeface="+mj-lt"/>
              <a:ea typeface="微软雅黑" pitchFamily="34" charset="-122"/>
            </a:endParaRPr>
          </a:p>
          <a:p>
            <a:pPr marL="228600" indent="-228600" algn="l">
              <a:buFont typeface="+mj-lt"/>
              <a:buAutoNum type="arabicPeriod"/>
            </a:pPr>
            <a:r>
              <a:rPr lang="en-US" altLang="zh-CN" sz="1100" dirty="0" smtClean="0">
                <a:latin typeface="+mj-lt"/>
                <a:ea typeface="微软雅黑" pitchFamily="34" charset="-122"/>
              </a:rPr>
              <a:t>Nhập </a:t>
            </a:r>
            <a:r>
              <a:rPr lang="en-US" altLang="zh-CN" sz="1100" dirty="0" smtClean="0">
                <a:latin typeface="Times New Roman" panose="02020603050405020304" pitchFamily="18" charset="0"/>
                <a:ea typeface="微软雅黑" pitchFamily="34" charset="-122"/>
                <a:cs typeface="Times New Roman" panose="02020603050405020304" pitchFamily="18" charset="0"/>
              </a:rPr>
              <a:t>Họ tên/Mã nhân viên </a:t>
            </a:r>
            <a:r>
              <a:rPr lang="vi-VN" altLang="zh-CN" sz="1100" dirty="0" smtClean="0">
                <a:latin typeface="+mj-lt"/>
                <a:ea typeface="微软雅黑" pitchFamily="34" charset="-122"/>
              </a:rPr>
              <a:t>để tìm kiếm nhân viên cần thay đổi.</a:t>
            </a:r>
            <a:endParaRPr lang="en-US" altLang="zh-CN" sz="1100" dirty="0" smtClean="0">
              <a:latin typeface="+mj-lt"/>
              <a:ea typeface="微软雅黑" pitchFamily="34" charset="-122"/>
            </a:endParaRPr>
          </a:p>
          <a:p>
            <a:pPr marL="228600" indent="-228600" algn="l">
              <a:buFont typeface="+mj-lt"/>
              <a:buAutoNum type="arabicPeriod"/>
            </a:pPr>
            <a:r>
              <a:rPr lang="vi-VN" altLang="zh-CN" sz="1100" dirty="0" smtClean="0">
                <a:latin typeface="+mj-lt"/>
                <a:ea typeface="微软雅黑" pitchFamily="34" charset="-122"/>
              </a:rPr>
              <a:t>Click vào "thay đổi người dùng", thay đổi </a:t>
            </a:r>
            <a:r>
              <a:rPr lang="en-US" altLang="zh-CN" sz="1100" dirty="0" smtClean="0">
                <a:latin typeface="Times New Roman" panose="02020603050405020304" pitchFamily="18" charset="0"/>
                <a:ea typeface="微软雅黑" pitchFamily="34" charset="-122"/>
                <a:cs typeface="Times New Roman" panose="02020603050405020304" pitchFamily="18" charset="0"/>
              </a:rPr>
              <a:t>sang trang cá nhân </a:t>
            </a:r>
            <a:r>
              <a:rPr lang="vi-VN" altLang="zh-CN" sz="1100" dirty="0" smtClean="0">
                <a:latin typeface="+mj-lt"/>
                <a:ea typeface="微软雅黑" pitchFamily="34" charset="-122"/>
              </a:rPr>
              <a:t>người dùng mới. </a:t>
            </a:r>
            <a:endParaRPr lang="en-US" altLang="zh-CN" sz="11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en-US" altLang="zh-CN" sz="1000" dirty="0" smtClean="0">
              <a:latin typeface="+mj-lt"/>
              <a:ea typeface="微软雅黑" pitchFamily="34" charset="-122"/>
            </a:endParaRPr>
          </a:p>
          <a:p>
            <a:pPr algn="l"/>
            <a:endParaRPr lang="zh-CN" altLang="en-US" sz="1000" dirty="0">
              <a:latin typeface="+mj-lt"/>
              <a:ea typeface="微软雅黑" pitchFamily="34" charset="-122"/>
            </a:endParaRPr>
          </a:p>
        </p:txBody>
      </p:sp>
      <p:sp>
        <p:nvSpPr>
          <p:cNvPr id="13" name="椭圆 48"/>
          <p:cNvSpPr/>
          <p:nvPr/>
        </p:nvSpPr>
        <p:spPr>
          <a:xfrm>
            <a:off x="4643438" y="185736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14" name="AutoShape 23"/>
          <p:cNvSpPr>
            <a:spLocks noChangeArrowheads="1"/>
          </p:cNvSpPr>
          <p:nvPr/>
        </p:nvSpPr>
        <p:spPr bwMode="auto">
          <a:xfrm>
            <a:off x="857224" y="1928802"/>
            <a:ext cx="5143536" cy="285752"/>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5" name="椭圆 51"/>
          <p:cNvSpPr/>
          <p:nvPr/>
        </p:nvSpPr>
        <p:spPr>
          <a:xfrm>
            <a:off x="1428728" y="2214554"/>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2</a:t>
            </a:r>
            <a:endParaRPr lang="zh-CN" altLang="en-US" sz="1000" dirty="0">
              <a:solidFill>
                <a:schemeClr val="tx1"/>
              </a:solidFill>
              <a:latin typeface="微软雅黑" pitchFamily="34" charset="-122"/>
              <a:ea typeface="微软雅黑" pitchFamily="34" charset="-122"/>
            </a:endParaRPr>
          </a:p>
        </p:txBody>
      </p:sp>
      <p:sp>
        <p:nvSpPr>
          <p:cNvPr id="16" name="AutoShape 23"/>
          <p:cNvSpPr>
            <a:spLocks noChangeArrowheads="1"/>
          </p:cNvSpPr>
          <p:nvPr/>
        </p:nvSpPr>
        <p:spPr bwMode="auto">
          <a:xfrm>
            <a:off x="1428728" y="2214554"/>
            <a:ext cx="1285884"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sp>
        <p:nvSpPr>
          <p:cNvPr id="17" name="椭圆 17"/>
          <p:cNvSpPr/>
          <p:nvPr/>
        </p:nvSpPr>
        <p:spPr>
          <a:xfrm>
            <a:off x="6143636" y="2500306"/>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3</a:t>
            </a:r>
            <a:endParaRPr lang="zh-CN" altLang="en-US" sz="1000" dirty="0">
              <a:solidFill>
                <a:schemeClr val="tx1"/>
              </a:solidFill>
              <a:latin typeface="微软雅黑" pitchFamily="34" charset="-122"/>
              <a:ea typeface="微软雅黑" pitchFamily="34" charset="-122"/>
            </a:endParaRPr>
          </a:p>
        </p:txBody>
      </p:sp>
      <p:sp>
        <p:nvSpPr>
          <p:cNvPr id="21" name="AutoShape 23"/>
          <p:cNvSpPr>
            <a:spLocks noChangeArrowheads="1"/>
          </p:cNvSpPr>
          <p:nvPr/>
        </p:nvSpPr>
        <p:spPr bwMode="auto">
          <a:xfrm>
            <a:off x="6000760" y="2285992"/>
            <a:ext cx="500066"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pic>
        <p:nvPicPr>
          <p:cNvPr id="2" name="Picture 1"/>
          <p:cNvPicPr>
            <a:picLocks noChangeAspect="1"/>
          </p:cNvPicPr>
          <p:nvPr/>
        </p:nvPicPr>
        <p:blipFill>
          <a:blip r:embed="rId2"/>
          <a:stretch>
            <a:fillRect/>
          </a:stretch>
        </p:blipFill>
        <p:spPr>
          <a:xfrm>
            <a:off x="0" y="1444358"/>
            <a:ext cx="6715140" cy="3494114"/>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l">
          <a:defRPr sz="800" dirty="0" smtClean="0">
            <a:solidFill>
              <a:schemeClr val="tx1"/>
            </a:solidFill>
            <a:ea typeface="微软雅黑"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25168</TotalTime>
  <Words>1652</Words>
  <Application>Microsoft Office PowerPoint</Application>
  <PresentationFormat>On-screen Show (4:3)</PresentationFormat>
  <Paragraphs>244</Paragraphs>
  <Slides>23</Slides>
  <Notes>0</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23</vt:i4>
      </vt:variant>
    </vt:vector>
  </HeadingPairs>
  <TitlesOfParts>
    <vt:vector size="38" baseType="lpstr">
      <vt:lpstr>Arial Unicode MS</vt:lpstr>
      <vt:lpstr>微软雅黑</vt:lpstr>
      <vt:lpstr>宋体</vt:lpstr>
      <vt:lpstr>Arial</vt:lpstr>
      <vt:lpstr>Calibri</vt:lpstr>
      <vt:lpstr>Times New Roman</vt:lpstr>
      <vt:lpstr>Wingdings</vt:lpstr>
      <vt:lpstr>2_自定义设计方案</vt:lpstr>
      <vt:lpstr>4_默认设计模板</vt:lpstr>
      <vt:lpstr>3_默认设计模板</vt:lpstr>
      <vt:lpstr>2_默认设计模板</vt:lpstr>
      <vt:lpstr>1_默认设计模板</vt:lpstr>
      <vt:lpstr>默认设计模板</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huong chuot</cp:lastModifiedBy>
  <cp:revision>2098</cp:revision>
  <dcterms:created xsi:type="dcterms:W3CDTF">2010-07-06T05:38:31Z</dcterms:created>
  <dcterms:modified xsi:type="dcterms:W3CDTF">2018-01-26T10:43:49Z</dcterms:modified>
</cp:coreProperties>
</file>