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1"/>
  </p:sldMasterIdLst>
  <p:notesMasterIdLst>
    <p:notesMasterId r:id="rId34"/>
  </p:notesMasterIdLst>
  <p:handoutMasterIdLst>
    <p:handoutMasterId r:id="rId35"/>
  </p:handoutMasterIdLst>
  <p:sldIdLst>
    <p:sldId id="664" r:id="rId2"/>
    <p:sldId id="669" r:id="rId3"/>
    <p:sldId id="588" r:id="rId4"/>
    <p:sldId id="648" r:id="rId5"/>
    <p:sldId id="630" r:id="rId6"/>
    <p:sldId id="589" r:id="rId7"/>
    <p:sldId id="590" r:id="rId8"/>
    <p:sldId id="593" r:id="rId9"/>
    <p:sldId id="628" r:id="rId10"/>
    <p:sldId id="666" r:id="rId11"/>
    <p:sldId id="668" r:id="rId12"/>
    <p:sldId id="633" r:id="rId13"/>
    <p:sldId id="629" r:id="rId14"/>
    <p:sldId id="595" r:id="rId15"/>
    <p:sldId id="624" r:id="rId16"/>
    <p:sldId id="597" r:id="rId17"/>
    <p:sldId id="599" r:id="rId18"/>
    <p:sldId id="601" r:id="rId19"/>
    <p:sldId id="604" r:id="rId20"/>
    <p:sldId id="606" r:id="rId21"/>
    <p:sldId id="608" r:id="rId22"/>
    <p:sldId id="609" r:id="rId23"/>
    <p:sldId id="610" r:id="rId24"/>
    <p:sldId id="611" r:id="rId25"/>
    <p:sldId id="612" r:id="rId26"/>
    <p:sldId id="613" r:id="rId27"/>
    <p:sldId id="659" r:id="rId28"/>
    <p:sldId id="640" r:id="rId29"/>
    <p:sldId id="641" r:id="rId30"/>
    <p:sldId id="661" r:id="rId31"/>
    <p:sldId id="662" r:id="rId32"/>
    <p:sldId id="667" r:id="rId33"/>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pitchFamily="34" charset="0"/>
        <a:ea typeface="宋体" pitchFamily="2" charset="-122"/>
        <a:cs typeface="+mn-cs"/>
      </a:defRPr>
    </a:lvl1pPr>
    <a:lvl2pPr marL="457200" algn="ctr" rtl="0" fontAlgn="base">
      <a:spcBef>
        <a:spcPct val="0"/>
      </a:spcBef>
      <a:spcAft>
        <a:spcPct val="0"/>
      </a:spcAft>
      <a:defRPr kern="1200">
        <a:solidFill>
          <a:schemeClr val="tx1"/>
        </a:solidFill>
        <a:latin typeface="Arial" pitchFamily="34" charset="0"/>
        <a:ea typeface="宋体" pitchFamily="2" charset="-122"/>
        <a:cs typeface="+mn-cs"/>
      </a:defRPr>
    </a:lvl2pPr>
    <a:lvl3pPr marL="914400" algn="ctr"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ctr"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ctr"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888">
          <p15:clr>
            <a:srgbClr val="A4A3A4"/>
          </p15:clr>
        </p15:guide>
        <p15:guide id="2" pos="215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FF"/>
    <a:srgbClr val="3366FF"/>
    <a:srgbClr val="FF6600"/>
    <a:srgbClr val="FF9933"/>
    <a:srgbClr val="000099"/>
    <a:srgbClr val="33CCCC"/>
    <a:srgbClr val="3399FF"/>
    <a:srgbClr val="9999FF"/>
    <a:srgbClr val="99CC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44" autoAdjust="0"/>
    <p:restoredTop sz="86477" autoAdjust="0"/>
  </p:normalViewPr>
  <p:slideViewPr>
    <p:cSldViewPr>
      <p:cViewPr varScale="1">
        <p:scale>
          <a:sx n="80" d="100"/>
          <a:sy n="80" d="100"/>
        </p:scale>
        <p:origin x="1278" y="78"/>
      </p:cViewPr>
      <p:guideLst>
        <p:guide orient="horz" pos="1888"/>
        <p:guide pos="2154"/>
      </p:guideLst>
    </p:cSldViewPr>
  </p:slideViewPr>
  <p:outlineViewPr>
    <p:cViewPr>
      <p:scale>
        <a:sx n="33" d="100"/>
        <a:sy n="33" d="100"/>
      </p:scale>
      <p:origin x="0" y="1836"/>
    </p:cViewPr>
  </p:outlineViewPr>
  <p:notesTextViewPr>
    <p:cViewPr>
      <p:scale>
        <a:sx n="100" d="100"/>
        <a:sy n="100" d="100"/>
      </p:scale>
      <p:origin x="0" y="0"/>
    </p:cViewPr>
  </p:notesTextViewPr>
  <p:sorterViewPr>
    <p:cViewPr>
      <p:scale>
        <a:sx n="100" d="100"/>
        <a:sy n="100" d="100"/>
      </p:scale>
      <p:origin x="0" y="3192"/>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50"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vl1pPr>
          </a:lstStyle>
          <a:p>
            <a:endParaRPr lang="zh-CN" altLang="en-US" dirty="0">
              <a:ea typeface="微软雅黑" pitchFamily="34" charset="-122"/>
            </a:endParaRPr>
          </a:p>
        </p:txBody>
      </p:sp>
      <p:sp>
        <p:nvSpPr>
          <p:cNvPr id="13209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2F809E35-B4AC-482C-BF96-601431D08808}" type="datetimeFigureOut">
              <a:rPr lang="zh-CN" altLang="en-US">
                <a:ea typeface="微软雅黑" pitchFamily="34" charset="-122"/>
              </a:rPr>
              <a:pPr/>
              <a:t>2018/1/26</a:t>
            </a:fld>
            <a:endParaRPr lang="en-US" altLang="zh-CN" dirty="0">
              <a:ea typeface="微软雅黑" pitchFamily="34" charset="-122"/>
            </a:endParaRPr>
          </a:p>
        </p:txBody>
      </p:sp>
      <p:sp>
        <p:nvSpPr>
          <p:cNvPr id="13210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vl1pPr>
          </a:lstStyle>
          <a:p>
            <a:endParaRPr lang="en-US" altLang="zh-CN" dirty="0">
              <a:ea typeface="微软雅黑" pitchFamily="34" charset="-122"/>
            </a:endParaRPr>
          </a:p>
        </p:txBody>
      </p:sp>
      <p:sp>
        <p:nvSpPr>
          <p:cNvPr id="13210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AC84FA5D-D624-4E8D-8EB8-90950245F5C5}" type="slidenum">
              <a:rPr lang="zh-CN" altLang="en-US">
                <a:ea typeface="微软雅黑" pitchFamily="34" charset="-122"/>
              </a:rPr>
              <a:pPr/>
              <a:t>‹#›</a:t>
            </a:fld>
            <a:endParaRPr lang="en-US" altLang="zh-CN" dirty="0">
              <a:ea typeface="微软雅黑" pitchFamily="34" charset="-122"/>
            </a:endParaRPr>
          </a:p>
        </p:txBody>
      </p:sp>
    </p:spTree>
    <p:extLst>
      <p:ext uri="{BB962C8B-B14F-4D97-AF65-F5344CB8AC3E}">
        <p14:creationId xmlns:p14="http://schemas.microsoft.com/office/powerpoint/2010/main" val="3639987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2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微软雅黑" pitchFamily="34" charset="-122"/>
              </a:defRPr>
            </a:lvl1pPr>
          </a:lstStyle>
          <a:p>
            <a:pPr>
              <a:defRPr/>
            </a:pPr>
            <a:endParaRPr lang="en-US" altLang="zh-CN" dirty="0"/>
          </a:p>
        </p:txBody>
      </p:sp>
      <p:sp>
        <p:nvSpPr>
          <p:cNvPr id="389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53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53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3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微软雅黑" pitchFamily="34" charset="-122"/>
              </a:defRPr>
            </a:lvl1pPr>
          </a:lstStyle>
          <a:p>
            <a:pPr>
              <a:defRPr/>
            </a:pPr>
            <a:fld id="{7FD85DB2-E819-49CE-B234-25B8201BF18D}" type="slidenum">
              <a:rPr lang="en-US" altLang="zh-CN" smtClean="0"/>
              <a:pPr>
                <a:defRPr/>
              </a:pPr>
              <a:t>‹#›</a:t>
            </a:fld>
            <a:endParaRPr lang="en-US" altLang="zh-CN" dirty="0"/>
          </a:p>
        </p:txBody>
      </p:sp>
    </p:spTree>
    <p:extLst>
      <p:ext uri="{BB962C8B-B14F-4D97-AF65-F5344CB8AC3E}">
        <p14:creationId xmlns:p14="http://schemas.microsoft.com/office/powerpoint/2010/main" val="153901924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微软雅黑" pitchFamily="34" charset="-122"/>
        <a:cs typeface="+mn-cs"/>
      </a:defRPr>
    </a:lvl1pPr>
    <a:lvl2pPr marL="457200" algn="l" rtl="0" fontAlgn="base">
      <a:spcBef>
        <a:spcPct val="30000"/>
      </a:spcBef>
      <a:spcAft>
        <a:spcPct val="0"/>
      </a:spcAft>
      <a:defRPr sz="1200" kern="1200">
        <a:solidFill>
          <a:schemeClr val="tx1"/>
        </a:solidFill>
        <a:latin typeface="Arial" charset="0"/>
        <a:ea typeface="微软雅黑" pitchFamily="34" charset="-122"/>
        <a:cs typeface="+mn-cs"/>
      </a:defRPr>
    </a:lvl2pPr>
    <a:lvl3pPr marL="914400" algn="l" rtl="0" fontAlgn="base">
      <a:spcBef>
        <a:spcPct val="30000"/>
      </a:spcBef>
      <a:spcAft>
        <a:spcPct val="0"/>
      </a:spcAft>
      <a:defRPr sz="1200" kern="1200">
        <a:solidFill>
          <a:schemeClr val="tx1"/>
        </a:solidFill>
        <a:latin typeface="Arial" charset="0"/>
        <a:ea typeface="微软雅黑" pitchFamily="34" charset="-122"/>
        <a:cs typeface="+mn-cs"/>
      </a:defRPr>
    </a:lvl3pPr>
    <a:lvl4pPr marL="1371600" algn="l" rtl="0" fontAlgn="base">
      <a:spcBef>
        <a:spcPct val="30000"/>
      </a:spcBef>
      <a:spcAft>
        <a:spcPct val="0"/>
      </a:spcAft>
      <a:defRPr sz="1200" kern="1200">
        <a:solidFill>
          <a:schemeClr val="tx1"/>
        </a:solidFill>
        <a:latin typeface="Arial" charset="0"/>
        <a:ea typeface="微软雅黑" pitchFamily="34" charset="-122"/>
        <a:cs typeface="+mn-cs"/>
      </a:defRPr>
    </a:lvl4pPr>
    <a:lvl5pPr marL="1828800" algn="l" rtl="0" fontAlgn="base">
      <a:spcBef>
        <a:spcPct val="30000"/>
      </a:spcBef>
      <a:spcAft>
        <a:spcPct val="0"/>
      </a:spcAft>
      <a:defRPr sz="1200" kern="1200">
        <a:solidFill>
          <a:schemeClr val="tx1"/>
        </a:solidFill>
        <a:latin typeface="Arial" charset="0"/>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18</a:t>
            </a:fld>
            <a:endParaRPr lang="en-US" altLang="zh-CN" dirty="0"/>
          </a:p>
        </p:txBody>
      </p:sp>
    </p:spTree>
    <p:extLst>
      <p:ext uri="{BB962C8B-B14F-4D97-AF65-F5344CB8AC3E}">
        <p14:creationId xmlns:p14="http://schemas.microsoft.com/office/powerpoint/2010/main" val="2822588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19</a:t>
            </a:fld>
            <a:endParaRPr lang="en-US" altLang="zh-CN" dirty="0"/>
          </a:p>
        </p:txBody>
      </p:sp>
    </p:spTree>
    <p:extLst>
      <p:ext uri="{BB962C8B-B14F-4D97-AF65-F5344CB8AC3E}">
        <p14:creationId xmlns:p14="http://schemas.microsoft.com/office/powerpoint/2010/main" val="2337268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10"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23"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1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4"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1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6"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20"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16"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20"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26" name="Line 3"/>
          <p:cNvSpPr>
            <a:spLocks noChangeShapeType="1"/>
          </p:cNvSpPr>
          <p:nvPr userDrawn="1"/>
        </p:nvSpPr>
        <p:spPr bwMode="auto">
          <a:xfrm>
            <a:off x="0" y="6453336"/>
            <a:ext cx="9144000" cy="0"/>
          </a:xfrm>
          <a:prstGeom prst="line">
            <a:avLst/>
          </a:prstGeom>
          <a:noFill/>
          <a:ln w="9525">
            <a:solidFill>
              <a:schemeClr val="bg1">
                <a:lumMod val="85000"/>
              </a:schemeClr>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809885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graphicFrame>
        <p:nvGraphicFramePr>
          <p:cNvPr id="3" name="Group 165"/>
          <p:cNvGraphicFramePr>
            <a:graphicFrameLocks noGrp="1"/>
          </p:cNvGraphicFramePr>
          <p:nvPr userDrawn="1">
            <p:extLst>
              <p:ext uri="{D42A27DB-BD31-4B8C-83A1-F6EECF244321}">
                <p14:modId xmlns:p14="http://schemas.microsoft.com/office/powerpoint/2010/main" val="3266814301"/>
              </p:ext>
            </p:extLst>
          </p:nvPr>
        </p:nvGraphicFramePr>
        <p:xfrm>
          <a:off x="35496" y="116632"/>
          <a:ext cx="9015536" cy="274638"/>
        </p:xfrm>
        <a:graphic>
          <a:graphicData uri="http://schemas.openxmlformats.org/drawingml/2006/table">
            <a:tbl>
              <a:tblPr/>
              <a:tblGrid>
                <a:gridCol w="1378501"/>
                <a:gridCol w="3263187"/>
                <a:gridCol w="743114"/>
                <a:gridCol w="608002"/>
                <a:gridCol w="878226"/>
                <a:gridCol w="2144506"/>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6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26.1.2018</a:t>
                      </a:r>
                    </a:p>
                  </a:txBody>
                  <a:tcPr marL="36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822" r:id="rId6"/>
    <p:sldLayoutId id="2147483795" r:id="rId7"/>
    <p:sldLayoutId id="2147483796" r:id="rId8"/>
    <p:sldLayoutId id="2147483823" r:id="rId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700782" y="3140968"/>
            <a:ext cx="7399610" cy="477054"/>
          </a:xfrm>
          <a:prstGeom prst="rect">
            <a:avLst/>
          </a:prstGeom>
          <a:noFill/>
          <a:ln w="9525">
            <a:noFill/>
            <a:miter lim="800000"/>
            <a:headEnd/>
            <a:tailEnd/>
          </a:ln>
          <a:effectLst/>
        </p:spPr>
        <p:txBody>
          <a:bodyPr wrap="square">
            <a:spAutoFit/>
          </a:bodyPr>
          <a:lstStyle/>
          <a:p>
            <a:r>
              <a:rPr lang="en-US" altLang="zh-CN" sz="2500" b="1" dirty="0" smtClean="0">
                <a:latin typeface="Times New Roman" pitchFamily="18" charset="0"/>
                <a:ea typeface="微软雅黑" pitchFamily="34" charset="-122"/>
                <a:cs typeface="Times New Roman" pitchFamily="18" charset="0"/>
              </a:rPr>
              <a:t>- Module Chấm công -</a:t>
            </a:r>
            <a:endParaRPr lang="en-US" altLang="zh-CN" sz="2500" b="1" dirty="0">
              <a:latin typeface="Times New Roman" pitchFamily="18" charset="0"/>
              <a:ea typeface="微软雅黑" pitchFamily="34" charset="-122"/>
              <a:cs typeface="Times New Roman" pitchFamily="18" charset="0"/>
            </a:endParaRPr>
          </a:p>
        </p:txBody>
      </p:sp>
      <p:sp>
        <p:nvSpPr>
          <p:cNvPr id="11" name="TextBox 10"/>
          <p:cNvSpPr txBox="1"/>
          <p:nvPr/>
        </p:nvSpPr>
        <p:spPr>
          <a:xfrm>
            <a:off x="700098" y="2270702"/>
            <a:ext cx="7383764" cy="584775"/>
          </a:xfrm>
          <a:prstGeom prst="rect">
            <a:avLst/>
          </a:prstGeom>
          <a:noFill/>
        </p:spPr>
        <p:txBody>
          <a:bodyPr wrap="square" rtlCol="0">
            <a:spAutoFit/>
          </a:bodyPr>
          <a:lstStyle/>
          <a:p>
            <a:r>
              <a:rPr lang="en-US" altLang="zh-CN" sz="3200" dirty="0" smtClean="0">
                <a:latin typeface="Times New Roman" pitchFamily="18" charset="0"/>
                <a:ea typeface="Arial Unicode MS" pitchFamily="34" charset="-122"/>
                <a:cs typeface="Times New Roman" pitchFamily="18" charset="0"/>
              </a:rPr>
              <a:t>HƯỚNG DẪN SỬ DỤNG</a:t>
            </a:r>
            <a:endParaRPr lang="zh-CN" altLang="en-US" sz="3200" dirty="0">
              <a:latin typeface="Times New Roman" pitchFamily="18" charset="0"/>
              <a:ea typeface="Arial Unicode MS" pitchFamily="34" charset="-122"/>
              <a:cs typeface="Times New Roman" pitchFamily="18" charset="0"/>
            </a:endParaRPr>
          </a:p>
        </p:txBody>
      </p:sp>
      <p:cxnSp>
        <p:nvCxnSpPr>
          <p:cNvPr id="3" name="Straight Connector 2"/>
          <p:cNvCxnSpPr/>
          <p:nvPr/>
        </p:nvCxnSpPr>
        <p:spPr>
          <a:xfrm>
            <a:off x="1907704" y="2852936"/>
            <a:ext cx="49685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11900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竖排文字占位符 1"/>
          <p:cNvSpPr txBox="1">
            <a:spLocks noChangeArrowheads="1"/>
          </p:cNvSpPr>
          <p:nvPr/>
        </p:nvSpPr>
        <p:spPr bwMode="auto">
          <a:xfrm>
            <a:off x="1403648" y="116632"/>
            <a:ext cx="4852231" cy="2658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16531" indent="-316531" algn="l" defTabSz="844083" eaLnBrk="0" latinLnBrk="1" hangingPunct="0">
              <a:spcBef>
                <a:spcPct val="20000"/>
              </a:spcBef>
              <a:defRPr/>
            </a:pPr>
            <a:r>
              <a:rPr lang="en-US" altLang="zh-CN" sz="1200" kern="0" dirty="0" smtClean="0">
                <a:latin typeface="Times New Roman" panose="02020603050405020304" pitchFamily="18" charset="0"/>
                <a:ea typeface="微软雅黑" pitchFamily="34" charset="-122"/>
                <a:cs typeface="Times New Roman" panose="02020603050405020304" pitchFamily="18" charset="0"/>
              </a:rPr>
              <a:t>Hệ thống nhân sự</a:t>
            </a:r>
            <a:r>
              <a:rPr lang="zh-CN" altLang="en-US" sz="1200" b="0" kern="0" dirty="0" smtClean="0">
                <a:latin typeface="Times New Roman" panose="02020603050405020304" pitchFamily="18" charset="0"/>
                <a:ea typeface="微软雅黑" pitchFamily="34" charset="-122"/>
                <a:cs typeface="Times New Roman" panose="02020603050405020304" pitchFamily="18" charset="0"/>
              </a:rPr>
              <a:t> </a:t>
            </a:r>
            <a:r>
              <a:rPr lang="en-US" altLang="zh-CN" sz="1200" b="0" kern="0" dirty="0" smtClean="0">
                <a:latin typeface="Times New Roman" panose="02020603050405020304" pitchFamily="18" charset="0"/>
                <a:ea typeface="微软雅黑" pitchFamily="34" charset="-122"/>
                <a:cs typeface="Times New Roman" panose="02020603050405020304" pitchFamily="18" charset="0"/>
              </a:rPr>
              <a:t>&gt; </a:t>
            </a:r>
            <a:r>
              <a:rPr lang="en-US" altLang="zh-CN" sz="1200" kern="0" dirty="0" smtClean="0">
                <a:latin typeface="Times New Roman" panose="02020603050405020304" pitchFamily="18" charset="0"/>
                <a:ea typeface="微软雅黑" pitchFamily="34" charset="-122"/>
                <a:cs typeface="Times New Roman" panose="02020603050405020304" pitchFamily="18" charset="0"/>
              </a:rPr>
              <a:t>Đăng nhập</a:t>
            </a:r>
            <a:endParaRPr lang="zh-CN" altLang="en-US" sz="1200" kern="0" dirty="0">
              <a:latin typeface="Times New Roman" panose="02020603050405020304" pitchFamily="18" charset="0"/>
              <a:ea typeface="微软雅黑" pitchFamily="34" charset="-122"/>
              <a:cs typeface="Times New Roman" panose="02020603050405020304" pitchFamily="18" charset="0"/>
            </a:endParaRPr>
          </a:p>
        </p:txBody>
      </p:sp>
      <p:sp>
        <p:nvSpPr>
          <p:cNvPr id="39" name="Text Box 8"/>
          <p:cNvSpPr txBox="1">
            <a:spLocks noChangeArrowheads="1"/>
          </p:cNvSpPr>
          <p:nvPr/>
        </p:nvSpPr>
        <p:spPr bwMode="auto">
          <a:xfrm>
            <a:off x="52113" y="548680"/>
            <a:ext cx="4586356" cy="433324"/>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477" dirty="0" smtClean="0">
                <a:solidFill>
                  <a:srgbClr val="000000"/>
                </a:solidFill>
                <a:latin typeface="Times New Roman" panose="02020603050405020304" pitchFamily="18" charset="0"/>
                <a:ea typeface="微软雅黑" pitchFamily="34" charset="-122"/>
                <a:cs typeface="Times New Roman" panose="02020603050405020304" pitchFamily="18" charset="0"/>
              </a:rPr>
              <a:t>Địa chỉ đăng nhập</a:t>
            </a:r>
            <a:r>
              <a:rPr lang="en-US" altLang="zh-CN" sz="1477" dirty="0" smtClean="0">
                <a:solidFill>
                  <a:srgbClr val="000000"/>
                </a:solidFill>
                <a:latin typeface="微软雅黑" pitchFamily="34" charset="-122"/>
                <a:ea typeface="微软雅黑" pitchFamily="34" charset="-122"/>
              </a:rPr>
              <a:t>: </a:t>
            </a:r>
            <a:r>
              <a:rPr lang="en-US" altLang="zh-CN" sz="1477" dirty="0">
                <a:solidFill>
                  <a:srgbClr val="FF0000"/>
                </a:solidFill>
                <a:latin typeface="微软雅黑" pitchFamily="34" charset="-122"/>
                <a:ea typeface="微软雅黑" pitchFamily="34" charset="-122"/>
              </a:rPr>
              <a:t>http://10.42.200.56:9100</a:t>
            </a:r>
            <a:endParaRPr lang="zh-CN" altLang="en-US" sz="1477" u="sng" dirty="0">
              <a:solidFill>
                <a:srgbClr val="FF0000"/>
              </a:solidFill>
              <a:latin typeface="微软雅黑" pitchFamily="34" charset="-122"/>
              <a:ea typeface="微软雅黑" pitchFamily="34" charset="-122"/>
            </a:endParaRPr>
          </a:p>
        </p:txBody>
      </p:sp>
      <p:sp>
        <p:nvSpPr>
          <p:cNvPr id="40" name="Text Box 8"/>
          <p:cNvSpPr txBox="1">
            <a:spLocks noChangeArrowheads="1"/>
          </p:cNvSpPr>
          <p:nvPr/>
        </p:nvSpPr>
        <p:spPr bwMode="auto">
          <a:xfrm>
            <a:off x="2644401" y="4962087"/>
            <a:ext cx="4586356" cy="987193"/>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USER ID</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Mã nhân viên</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       </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PASSWORD:</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Hệ thống</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Hub</a:t>
            </a:r>
            <a:endParaRPr lang="zh-CN" altLang="en-US"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55576" y="885811"/>
            <a:ext cx="7559490" cy="4000460"/>
          </a:xfrm>
          <a:prstGeom prst="rect">
            <a:avLst/>
          </a:prstGeom>
        </p:spPr>
      </p:pic>
    </p:spTree>
    <p:extLst>
      <p:ext uri="{BB962C8B-B14F-4D97-AF65-F5344CB8AC3E}">
        <p14:creationId xmlns:p14="http://schemas.microsoft.com/office/powerpoint/2010/main" val="39944068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786578" y="1571612"/>
            <a:ext cx="2071702" cy="4893647"/>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vi-VN" altLang="zh-CN" sz="1200" dirty="0" smtClean="0">
                <a:latin typeface="+mj-lt"/>
                <a:ea typeface="微软雅黑" pitchFamily="34" charset="-122"/>
              </a:rPr>
              <a:t>T</a:t>
            </a:r>
            <a:r>
              <a:rPr lang="en-US" altLang="zh-CN" sz="1200" dirty="0" smtClean="0">
                <a:latin typeface="+mj-lt"/>
                <a:ea typeface="微软雅黑" pitchFamily="34" charset="-122"/>
              </a:rPr>
              <a:t>hực hiện</a:t>
            </a:r>
            <a:r>
              <a:rPr lang="vi-VN" altLang="zh-CN" sz="1200" dirty="0" smtClean="0">
                <a:latin typeface="+mj-lt"/>
                <a:ea typeface="微软雅黑" pitchFamily="34" charset="-122"/>
              </a:rPr>
              <a:t> </a:t>
            </a:r>
            <a:r>
              <a:rPr lang="vi-VN" altLang="zh-CN" sz="1200" dirty="0">
                <a:latin typeface="+mj-lt"/>
                <a:ea typeface="微软雅黑" pitchFamily="34" charset="-122"/>
              </a:rPr>
              <a:t>thiết </a:t>
            </a:r>
            <a:r>
              <a:rPr lang="vi-VN" altLang="zh-CN" sz="1200" dirty="0" smtClean="0">
                <a:latin typeface="+mj-lt"/>
                <a:ea typeface="微软雅黑" pitchFamily="34" charset="-122"/>
              </a:rPr>
              <a:t>lập </a:t>
            </a:r>
            <a:r>
              <a:rPr lang="vi-VN" altLang="zh-CN" sz="1200" dirty="0">
                <a:latin typeface="+mj-lt"/>
                <a:ea typeface="微软雅黑" pitchFamily="34" charset="-122"/>
              </a:rPr>
              <a:t>các ca làm khác nhau </a:t>
            </a:r>
            <a:r>
              <a:rPr lang="en-US" altLang="zh-CN" sz="1200" dirty="0" smtClean="0">
                <a:latin typeface="Times New Roman" panose="02020603050405020304" pitchFamily="18" charset="0"/>
                <a:ea typeface="微软雅黑" pitchFamily="34" charset="-122"/>
                <a:cs typeface="Times New Roman" panose="02020603050405020304" pitchFamily="18" charset="0"/>
              </a:rPr>
              <a:t>trong công ty</a:t>
            </a:r>
          </a:p>
          <a:p>
            <a:pPr algn="l">
              <a:spcBef>
                <a:spcPct val="50000"/>
              </a:spcBef>
            </a:pPr>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b="1" dirty="0">
              <a:latin typeface="+mj-lt"/>
              <a:ea typeface="微软雅黑" pitchFamily="34" charset="-122"/>
            </a:endParaRPr>
          </a:p>
          <a:p>
            <a:pPr marL="228600" indent="-228600" algn="l">
              <a:spcBef>
                <a:spcPct val="50000"/>
              </a:spcBef>
              <a:buFont typeface="+mj-lt"/>
              <a:buAutoNum type="arabicPeriod"/>
            </a:pPr>
            <a:r>
              <a:rPr lang="vi-VN" altLang="zh-CN" sz="1200" dirty="0" smtClean="0">
                <a:solidFill>
                  <a:srgbClr val="000000"/>
                </a:solidFill>
                <a:latin typeface="+mj-lt"/>
                <a:ea typeface="微软雅黑" pitchFamily="34" charset="-122"/>
              </a:rPr>
              <a:t>Click “</a:t>
            </a:r>
            <a:r>
              <a:rPr lang="en-US" altLang="zh-CN" sz="1200" dirty="0" smtClean="0">
                <a:solidFill>
                  <a:srgbClr val="000000"/>
                </a:solidFill>
                <a:latin typeface="+mj-lt"/>
                <a:ea typeface="微软雅黑" pitchFamily="34" charset="-122"/>
              </a:rPr>
              <a:t>T</a:t>
            </a:r>
            <a:r>
              <a:rPr lang="vi-VN" altLang="zh-CN" sz="1200" dirty="0" smtClean="0">
                <a:solidFill>
                  <a:srgbClr val="000000"/>
                </a:solidFill>
                <a:latin typeface="+mj-lt"/>
                <a:ea typeface="微软雅黑" pitchFamily="34" charset="-122"/>
              </a:rPr>
              <a:t>hêm</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 mới</a:t>
            </a:r>
            <a:r>
              <a:rPr lang="vi-VN" altLang="zh-CN" sz="1200" dirty="0" smtClean="0">
                <a:solidFill>
                  <a:srgbClr val="000000"/>
                </a:solidFill>
                <a:latin typeface="+mj-lt"/>
                <a:ea typeface="微软雅黑" pitchFamily="34" charset="-122"/>
              </a:rPr>
              <a:t>” </a:t>
            </a:r>
            <a:r>
              <a:rPr lang="vi-VN" altLang="zh-CN" sz="1200" dirty="0">
                <a:solidFill>
                  <a:srgbClr val="000000"/>
                </a:solidFill>
                <a:latin typeface="+mj-lt"/>
                <a:ea typeface="微软雅黑" pitchFamily="34" charset="-122"/>
              </a:rPr>
              <a:t>đến trang </a:t>
            </a:r>
            <a:r>
              <a:rPr lang="en-US" altLang="zh-CN" sz="1200" dirty="0" smtClean="0">
                <a:solidFill>
                  <a:srgbClr val="000000"/>
                </a:solidFill>
                <a:latin typeface="+mj-lt"/>
                <a:ea typeface="微软雅黑" pitchFamily="34" charset="-122"/>
              </a:rPr>
              <a:t>mới</a:t>
            </a:r>
            <a:r>
              <a:rPr lang="vi-VN" altLang="zh-CN" sz="1200" dirty="0" smtClean="0">
                <a:solidFill>
                  <a:srgbClr val="000000"/>
                </a:solidFill>
                <a:latin typeface="+mj-lt"/>
                <a:ea typeface="微软雅黑" pitchFamily="34" charset="-122"/>
              </a:rPr>
              <a:t>,  </a:t>
            </a:r>
            <a:r>
              <a:rPr lang="en-US" altLang="zh-CN" sz="1200" dirty="0" smtClean="0">
                <a:solidFill>
                  <a:srgbClr val="000000"/>
                </a:solidFill>
                <a:latin typeface="+mj-lt"/>
                <a:ea typeface="微软雅黑" pitchFamily="34" charset="-122"/>
              </a:rPr>
              <a:t>thêm các </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thông tin thích hợp để thêm 1 ca làm mới, sau đó chọn </a:t>
            </a:r>
            <a:r>
              <a:rPr lang="vi-VN" altLang="zh-CN" sz="1200" dirty="0" smtClean="0">
                <a:solidFill>
                  <a:srgbClr val="000000"/>
                </a:solidFill>
                <a:latin typeface="+mj-lt"/>
                <a:ea typeface="微软雅黑" pitchFamily="34" charset="-122"/>
              </a:rPr>
              <a:t>“</a:t>
            </a:r>
            <a:r>
              <a:rPr lang="en-US" altLang="zh-CN" sz="1200" dirty="0" smtClean="0">
                <a:solidFill>
                  <a:srgbClr val="000000"/>
                </a:solidFill>
                <a:latin typeface="+mj-lt"/>
                <a:ea typeface="微软雅黑" pitchFamily="34" charset="-122"/>
              </a:rPr>
              <a:t>L</a:t>
            </a:r>
            <a:r>
              <a:rPr lang="vi-VN" altLang="zh-CN" sz="1200" dirty="0" smtClean="0">
                <a:solidFill>
                  <a:srgbClr val="000000"/>
                </a:solidFill>
                <a:latin typeface="+mj-lt"/>
                <a:ea typeface="微软雅黑" pitchFamily="34" charset="-122"/>
              </a:rPr>
              <a:t>ưu</a:t>
            </a:r>
            <a:r>
              <a:rPr lang="vi-VN" altLang="zh-CN" sz="1200" dirty="0">
                <a:solidFill>
                  <a:srgbClr val="000000"/>
                </a:solidFill>
                <a:latin typeface="+mj-lt"/>
                <a:ea typeface="微软雅黑" pitchFamily="34" charset="-122"/>
              </a:rPr>
              <a:t>” để hoàn thành thao tác. </a:t>
            </a:r>
            <a:endParaRPr lang="en-US" altLang="zh-CN" sz="1200" dirty="0">
              <a:solidFill>
                <a:srgbClr val="000000"/>
              </a:solidFill>
              <a:latin typeface="+mj-lt"/>
              <a:ea typeface="微软雅黑" pitchFamily="34" charset="-122"/>
            </a:endParaRPr>
          </a:p>
          <a:p>
            <a:pPr marL="228600" indent="-228600" algn="l">
              <a:spcBef>
                <a:spcPct val="50000"/>
              </a:spcBef>
              <a:buFont typeface="+mj-lt"/>
              <a:buAutoNum type="arabicPeriod"/>
            </a:pPr>
            <a:r>
              <a:rPr lang="vi-VN" altLang="zh-CN" sz="1200" dirty="0">
                <a:solidFill>
                  <a:srgbClr val="000000"/>
                </a:solidFill>
                <a:latin typeface="+mj-lt"/>
                <a:ea typeface="微软雅黑" pitchFamily="34" charset="-122"/>
              </a:rPr>
              <a:t>Chọn mục cần sửa,  </a:t>
            </a:r>
            <a:r>
              <a:rPr lang="vi-VN" altLang="zh-CN" sz="1200" dirty="0" smtClean="0">
                <a:solidFill>
                  <a:srgbClr val="000000"/>
                </a:solidFill>
                <a:latin typeface="+mj-lt"/>
                <a:ea typeface="微软雅黑" pitchFamily="34" charset="-122"/>
              </a:rPr>
              <a:t>click</a:t>
            </a:r>
            <a:r>
              <a:rPr lang="en-US" altLang="zh-CN" sz="1200" dirty="0" smtClean="0">
                <a:solidFill>
                  <a:srgbClr val="000000"/>
                </a:solidFill>
                <a:latin typeface="+mj-lt"/>
                <a:ea typeface="微软雅黑" pitchFamily="34" charset="-122"/>
              </a:rPr>
              <a:t> </a:t>
            </a:r>
            <a:r>
              <a:rPr lang="vi-VN" altLang="zh-CN" sz="1200" dirty="0" smtClean="0">
                <a:solidFill>
                  <a:srgbClr val="000000"/>
                </a:solidFill>
                <a:latin typeface="+mj-lt"/>
                <a:ea typeface="微软雅黑" pitchFamily="34" charset="-122"/>
              </a:rPr>
              <a:t>“</a:t>
            </a:r>
            <a:r>
              <a:rPr lang="en-US" altLang="zh-CN" sz="1200" dirty="0" smtClean="0">
                <a:solidFill>
                  <a:srgbClr val="000000"/>
                </a:solidFill>
                <a:latin typeface="+mj-lt"/>
                <a:ea typeface="微软雅黑" pitchFamily="34" charset="-122"/>
              </a:rPr>
              <a:t>S</a:t>
            </a:r>
            <a:r>
              <a:rPr lang="vi-VN" altLang="zh-CN" sz="1200" dirty="0" smtClean="0">
                <a:solidFill>
                  <a:srgbClr val="000000"/>
                </a:solidFill>
                <a:latin typeface="+mj-lt"/>
                <a:ea typeface="微软雅黑" pitchFamily="34" charset="-122"/>
              </a:rPr>
              <a:t>ửa</a:t>
            </a:r>
            <a:r>
              <a:rPr lang="vi-VN" altLang="zh-CN" sz="1200" dirty="0">
                <a:solidFill>
                  <a:srgbClr val="000000"/>
                </a:solidFill>
                <a:latin typeface="+mj-lt"/>
                <a:ea typeface="微软雅黑" pitchFamily="34" charset="-122"/>
              </a:rPr>
              <a:t>" </a:t>
            </a:r>
            <a:r>
              <a:rPr lang="vi-VN" altLang="zh-CN" sz="1200" dirty="0" smtClean="0">
                <a:solidFill>
                  <a:srgbClr val="000000"/>
                </a:solidFill>
                <a:latin typeface="+mj-lt"/>
                <a:ea typeface="微软雅黑" pitchFamily="34" charset="-122"/>
              </a:rPr>
              <a:t> </a:t>
            </a:r>
            <a:r>
              <a:rPr lang="vi-VN" altLang="zh-CN" sz="1200" dirty="0">
                <a:solidFill>
                  <a:srgbClr val="000000"/>
                </a:solidFill>
                <a:latin typeface="+mj-lt"/>
                <a:ea typeface="微软雅黑" pitchFamily="34" charset="-122"/>
              </a:rPr>
              <a:t>đến trang </a:t>
            </a:r>
            <a:r>
              <a:rPr lang="en-US" altLang="zh-CN" sz="1200" dirty="0" smtClean="0">
                <a:solidFill>
                  <a:srgbClr val="000000"/>
                </a:solidFill>
                <a:latin typeface="+mj-lt"/>
                <a:ea typeface="微软雅黑" pitchFamily="34" charset="-122"/>
              </a:rPr>
              <a:t>mới</a:t>
            </a:r>
            <a:r>
              <a:rPr lang="vi-VN" altLang="zh-CN" sz="1200" dirty="0" smtClean="0">
                <a:solidFill>
                  <a:srgbClr val="000000"/>
                </a:solidFill>
                <a:latin typeface="+mj-lt"/>
                <a:ea typeface="微软雅黑" pitchFamily="34" charset="-122"/>
              </a:rPr>
              <a:t>,  </a:t>
            </a:r>
            <a:r>
              <a:rPr lang="vi-VN" altLang="zh-CN" sz="1200" dirty="0">
                <a:solidFill>
                  <a:srgbClr val="000000"/>
                </a:solidFill>
                <a:latin typeface="+mj-lt"/>
                <a:ea typeface="微软雅黑" pitchFamily="34" charset="-122"/>
              </a:rPr>
              <a:t>tiến hành sửa sau đó </a:t>
            </a:r>
            <a:r>
              <a:rPr lang="en-US" altLang="zh-CN" sz="1200" dirty="0" smtClean="0">
                <a:solidFill>
                  <a:srgbClr val="000000"/>
                </a:solidFill>
                <a:latin typeface="+mj-lt"/>
                <a:ea typeface="微软雅黑" pitchFamily="34" charset="-122"/>
              </a:rPr>
              <a:t>chọn </a:t>
            </a:r>
            <a:r>
              <a:rPr lang="vi-VN" altLang="zh-CN" sz="1200" dirty="0" smtClean="0">
                <a:solidFill>
                  <a:srgbClr val="000000"/>
                </a:solidFill>
                <a:latin typeface="+mj-lt"/>
                <a:ea typeface="微软雅黑" pitchFamily="34" charset="-122"/>
              </a:rPr>
              <a:t>“</a:t>
            </a:r>
            <a:r>
              <a:rPr lang="en-US" altLang="zh-CN" sz="1200" dirty="0" smtClean="0">
                <a:solidFill>
                  <a:srgbClr val="000000"/>
                </a:solidFill>
                <a:latin typeface="+mj-lt"/>
                <a:ea typeface="微软雅黑" pitchFamily="34" charset="-122"/>
              </a:rPr>
              <a:t>L</a:t>
            </a:r>
            <a:r>
              <a:rPr lang="vi-VN" altLang="zh-CN" sz="1200" dirty="0" smtClean="0">
                <a:solidFill>
                  <a:srgbClr val="000000"/>
                </a:solidFill>
                <a:latin typeface="+mj-lt"/>
                <a:ea typeface="微软雅黑" pitchFamily="34" charset="-122"/>
              </a:rPr>
              <a:t>ưu</a:t>
            </a:r>
            <a:r>
              <a:rPr lang="vi-VN" altLang="zh-CN" sz="1200" dirty="0">
                <a:solidFill>
                  <a:srgbClr val="000000"/>
                </a:solidFill>
                <a:latin typeface="+mj-lt"/>
                <a:ea typeface="微软雅黑" pitchFamily="34" charset="-122"/>
              </a:rPr>
              <a:t>" </a:t>
            </a:r>
            <a:r>
              <a:rPr lang="vi-VN" altLang="zh-CN" sz="1200" dirty="0" smtClean="0">
                <a:solidFill>
                  <a:srgbClr val="000000"/>
                </a:solidFill>
                <a:latin typeface="+mj-lt"/>
                <a:ea typeface="微软雅黑" pitchFamily="34" charset="-122"/>
              </a:rPr>
              <a:t>hoàn </a:t>
            </a:r>
            <a:r>
              <a:rPr lang="vi-VN" altLang="zh-CN" sz="1200" dirty="0">
                <a:solidFill>
                  <a:srgbClr val="000000"/>
                </a:solidFill>
                <a:latin typeface="+mj-lt"/>
                <a:ea typeface="微软雅黑" pitchFamily="34" charset="-122"/>
              </a:rPr>
              <a:t>thành thao tác</a:t>
            </a:r>
            <a:endParaRPr lang="en-US" altLang="zh-CN" sz="1200" dirty="0">
              <a:solidFill>
                <a:srgbClr val="000000"/>
              </a:solidFill>
              <a:latin typeface="+mj-lt"/>
              <a:ea typeface="微软雅黑" pitchFamily="34" charset="-122"/>
            </a:endParaRPr>
          </a:p>
          <a:p>
            <a:pPr marL="228600" indent="-228600" algn="l">
              <a:spcBef>
                <a:spcPct val="50000"/>
              </a:spcBef>
              <a:buFont typeface="+mj-lt"/>
              <a:buAutoNum type="arabicPeriod"/>
            </a:pPr>
            <a:r>
              <a:rPr lang="vi-VN" altLang="zh-CN" sz="1200" dirty="0">
                <a:solidFill>
                  <a:srgbClr val="000000"/>
                </a:solidFill>
                <a:latin typeface="+mj-lt"/>
                <a:ea typeface="微软雅黑" pitchFamily="34" charset="-122"/>
              </a:rPr>
              <a:t>Chọn mục cần xóa,  </a:t>
            </a:r>
            <a:r>
              <a:rPr lang="vi-VN" altLang="zh-CN" sz="1200" dirty="0" smtClean="0">
                <a:solidFill>
                  <a:srgbClr val="000000"/>
                </a:solidFill>
                <a:latin typeface="+mj-lt"/>
                <a:ea typeface="微软雅黑" pitchFamily="34" charset="-122"/>
              </a:rPr>
              <a:t>click “</a:t>
            </a:r>
            <a:r>
              <a:rPr lang="en-US" altLang="zh-CN" sz="1200" dirty="0" smtClean="0">
                <a:solidFill>
                  <a:srgbClr val="000000"/>
                </a:solidFill>
                <a:latin typeface="+mj-lt"/>
                <a:ea typeface="微软雅黑" pitchFamily="34" charset="-122"/>
              </a:rPr>
              <a:t>X</a:t>
            </a:r>
            <a:r>
              <a:rPr lang="vi-VN" altLang="zh-CN" sz="1200" dirty="0" smtClean="0">
                <a:solidFill>
                  <a:srgbClr val="000000"/>
                </a:solidFill>
                <a:latin typeface="+mj-lt"/>
                <a:ea typeface="微软雅黑" pitchFamily="34" charset="-122"/>
              </a:rPr>
              <a:t>óa</a:t>
            </a:r>
            <a:r>
              <a:rPr lang="vi-VN" altLang="zh-CN" sz="1200" dirty="0">
                <a:solidFill>
                  <a:srgbClr val="000000"/>
                </a:solidFill>
                <a:latin typeface="+mj-lt"/>
                <a:ea typeface="微软雅黑" pitchFamily="34" charset="-122"/>
              </a:rPr>
              <a:t>",  sau đó chọn </a:t>
            </a:r>
            <a:r>
              <a:rPr lang="vi-VN" altLang="zh-CN" sz="1200" dirty="0" smtClean="0">
                <a:solidFill>
                  <a:srgbClr val="000000"/>
                </a:solidFill>
                <a:latin typeface="+mj-lt"/>
                <a:ea typeface="微软雅黑" pitchFamily="34" charset="-122"/>
              </a:rPr>
              <a:t>“</a:t>
            </a:r>
            <a:r>
              <a:rPr lang="en-US" altLang="zh-CN" sz="1200" dirty="0" smtClean="0">
                <a:solidFill>
                  <a:srgbClr val="000000"/>
                </a:solidFill>
                <a:latin typeface="+mj-lt"/>
                <a:ea typeface="微软雅黑" pitchFamily="34" charset="-122"/>
              </a:rPr>
              <a:t>X</a:t>
            </a:r>
            <a:r>
              <a:rPr lang="vi-VN" altLang="zh-CN" sz="1200" dirty="0" smtClean="0">
                <a:solidFill>
                  <a:srgbClr val="000000"/>
                </a:solidFill>
                <a:latin typeface="+mj-lt"/>
                <a:ea typeface="微软雅黑" pitchFamily="34" charset="-122"/>
              </a:rPr>
              <a:t>ác </a:t>
            </a:r>
            <a:r>
              <a:rPr lang="vi-VN" altLang="zh-CN" sz="1200" dirty="0">
                <a:solidFill>
                  <a:srgbClr val="000000"/>
                </a:solidFill>
                <a:latin typeface="+mj-lt"/>
                <a:ea typeface="微软雅黑" pitchFamily="34" charset="-122"/>
              </a:rPr>
              <a:t>nhận</a:t>
            </a:r>
            <a:r>
              <a:rPr lang="vi-VN" altLang="zh-CN" sz="1200" dirty="0" smtClean="0">
                <a:solidFill>
                  <a:srgbClr val="000000"/>
                </a:solidFill>
                <a:latin typeface="+mj-lt"/>
                <a:ea typeface="微软雅黑" pitchFamily="34" charset="-122"/>
              </a:rPr>
              <a:t>" </a:t>
            </a:r>
            <a:r>
              <a:rPr lang="vi-VN" altLang="zh-CN" sz="1200" dirty="0">
                <a:solidFill>
                  <a:srgbClr val="000000"/>
                </a:solidFill>
                <a:latin typeface="+mj-lt"/>
                <a:ea typeface="微软雅黑" pitchFamily="34" charset="-122"/>
              </a:rPr>
              <a:t>hoàn thành thao tác.</a:t>
            </a:r>
            <a:endParaRPr lang="en-US" altLang="zh-CN" sz="1200" dirty="0">
              <a:solidFill>
                <a:srgbClr val="000000"/>
              </a:solidFill>
              <a:latin typeface="+mj-lt"/>
              <a:ea typeface="微软雅黑" pitchFamily="34" charset="-122"/>
            </a:endParaRPr>
          </a:p>
          <a:p>
            <a:pPr algn="l">
              <a:spcBef>
                <a:spcPct val="50000"/>
              </a:spcBef>
            </a:pPr>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zh-CN" altLang="en-US" sz="1200" dirty="0">
              <a:latin typeface="+mj-lt"/>
              <a:ea typeface="微软雅黑" pitchFamily="34" charset="-122"/>
            </a:endParaRPr>
          </a:p>
        </p:txBody>
      </p:sp>
      <p:graphicFrame>
        <p:nvGraphicFramePr>
          <p:cNvPr id="12" name="表格 11"/>
          <p:cNvGraphicFramePr>
            <a:graphicFrameLocks noGrp="1"/>
          </p:cNvGraphicFramePr>
          <p:nvPr>
            <p:extLst>
              <p:ext uri="{D42A27DB-BD31-4B8C-83A1-F6EECF244321}">
                <p14:modId xmlns:p14="http://schemas.microsoft.com/office/powerpoint/2010/main" val="1801928431"/>
              </p:ext>
            </p:extLst>
          </p:nvPr>
        </p:nvGraphicFramePr>
        <p:xfrm>
          <a:off x="0" y="2037507"/>
          <a:ext cx="6643702" cy="177047"/>
        </p:xfrm>
        <a:graphic>
          <a:graphicData uri="http://schemas.openxmlformats.org/drawingml/2006/table">
            <a:tbl>
              <a:tblPr/>
              <a:tblGrid>
                <a:gridCol w="6643702">
                  <a:extLst>
                    <a:ext uri="{9D8B030D-6E8A-4147-A177-3AD203B41FA5}">
                      <a16:colId xmlns:a16="http://schemas.microsoft.com/office/drawing/2014/main" xmlns="" val="20000"/>
                    </a:ext>
                  </a:extLst>
                </a:gridCol>
              </a:tblGrid>
              <a:tr h="174978">
                <a:tc>
                  <a:txBody>
                    <a:bodyPr/>
                    <a:lstStyle/>
                    <a:p>
                      <a:pPr algn="l" fontAlgn="ctr"/>
                      <a:r>
                        <a:rPr lang="zh-CN" altLang="en-US" sz="1100" b="1" i="0" u="none" strike="noStrike" dirty="0">
                          <a:solidFill>
                            <a:srgbClr val="FFFFFF"/>
                          </a:solidFill>
                          <a:latin typeface="Times New Roman" pitchFamily="18" charset="0"/>
                          <a:ea typeface="微软雅黑" pitchFamily="34" charset="-122"/>
                          <a:cs typeface="Times New Roman" pitchFamily="18" charset="0"/>
                        </a:rPr>
                        <a:t> </a:t>
                      </a:r>
                      <a:r>
                        <a:rPr lang="vi-VN" altLang="zh-CN" sz="1100" b="1" i="0" u="none" strike="noStrike" dirty="0">
                          <a:solidFill>
                            <a:srgbClr val="FFFFFF"/>
                          </a:solidFill>
                          <a:latin typeface="Times New Roman" pitchFamily="18" charset="0"/>
                          <a:ea typeface="微软雅黑" pitchFamily="34" charset="-122"/>
                          <a:cs typeface="Times New Roman" pitchFamily="18" charset="0"/>
                        </a:rPr>
                        <a:t>Thiết lập ca làm</a:t>
                      </a:r>
                      <a:endParaRPr lang="zh-CN" altLang="en-US" sz="1100" b="1" i="0" u="none" strike="noStrike" dirty="0">
                        <a:solidFill>
                          <a:srgbClr val="FFFFFF"/>
                        </a:solidFill>
                        <a:latin typeface="Times New Roman" pitchFamily="18" charset="0"/>
                        <a:ea typeface="微软雅黑" pitchFamily="34" charset="-122"/>
                        <a:cs typeface="Times New Roman" pitchFamily="18" charset="0"/>
                      </a:endParaRPr>
                    </a:p>
                  </a:txBody>
                  <a:tcPr marL="9407" marR="9407" marT="9407" marB="0" anchor="ctr">
                    <a:lnL>
                      <a:noFill/>
                    </a:lnL>
                    <a:lnR>
                      <a:noFill/>
                    </a:lnR>
                    <a:lnT>
                      <a:noFill/>
                    </a:lnT>
                    <a:lnB>
                      <a:noFill/>
                    </a:lnB>
                    <a:solidFill>
                      <a:srgbClr val="8DB4E3"/>
                    </a:solidFill>
                  </a:tcPr>
                </a:tc>
                <a:extLst>
                  <a:ext uri="{0D108BD9-81ED-4DB2-BD59-A6C34878D82A}">
                    <a16:rowId xmlns:a16="http://schemas.microsoft.com/office/drawing/2014/main" xmlns="" val="10000"/>
                  </a:ext>
                </a:extLst>
              </a:tr>
            </a:tbl>
          </a:graphicData>
        </a:graphic>
      </p:graphicFrame>
      <p:sp>
        <p:nvSpPr>
          <p:cNvPr id="24" name="Text Box 7"/>
          <p:cNvSpPr txBox="1">
            <a:spLocks noChangeArrowheads="1"/>
          </p:cNvSpPr>
          <p:nvPr/>
        </p:nvSpPr>
        <p:spPr bwMode="auto">
          <a:xfrm>
            <a:off x="141846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anose="02020603050405020304" pitchFamily="18" charset="0"/>
                <a:ea typeface="微软雅黑" pitchFamily="34" charset="-122"/>
                <a:cs typeface="Times New Roman" panose="02020603050405020304" pitchFamily="18" charset="0"/>
              </a:rPr>
              <a:t>Thiết lập </a:t>
            </a:r>
            <a:r>
              <a:rPr lang="en-US" altLang="zh-CN" sz="1200" dirty="0" smtClean="0">
                <a:latin typeface="Times New Roman" panose="02020603050405020304" pitchFamily="18" charset="0"/>
                <a:ea typeface="微软雅黑" pitchFamily="34" charset="-122"/>
                <a:cs typeface="Times New Roman" panose="02020603050405020304" pitchFamily="18" charset="0"/>
              </a:rPr>
              <a:t>-</a:t>
            </a:r>
            <a:r>
              <a:rPr lang="vi-VN" altLang="zh-CN" sz="1200" dirty="0" smtClean="0">
                <a:latin typeface="+mj-lt"/>
                <a:ea typeface="微软雅黑" pitchFamily="34" charset="-122"/>
              </a:rPr>
              <a:t>Thiết </a:t>
            </a:r>
            <a:r>
              <a:rPr lang="vi-VN" altLang="zh-CN" sz="1200" dirty="0">
                <a:latin typeface="+mj-lt"/>
                <a:ea typeface="微软雅黑" pitchFamily="34" charset="-122"/>
              </a:rPr>
              <a:t>lập ca làm</a:t>
            </a:r>
            <a:endParaRPr lang="zh-CN" altLang="en-US" sz="12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2741" y="1268760"/>
            <a:ext cx="6649152" cy="2295706"/>
          </a:xfrm>
          <a:prstGeom prst="rect">
            <a:avLst/>
          </a:prstGeom>
        </p:spPr>
      </p:pic>
      <p:sp>
        <p:nvSpPr>
          <p:cNvPr id="4" name="Rectangle 3"/>
          <p:cNvSpPr/>
          <p:nvPr/>
        </p:nvSpPr>
        <p:spPr>
          <a:xfrm>
            <a:off x="5796136" y="1484784"/>
            <a:ext cx="36004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8" name="Elbow Connector 7"/>
          <p:cNvCxnSpPr>
            <a:stCxn id="4" idx="2"/>
          </p:cNvCxnSpPr>
          <p:nvPr/>
        </p:nvCxnSpPr>
        <p:spPr>
          <a:xfrm rot="5400000">
            <a:off x="4212656" y="1135330"/>
            <a:ext cx="1198022" cy="2328978"/>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stretch>
            <a:fillRect/>
          </a:stretch>
        </p:blipFill>
        <p:spPr>
          <a:xfrm>
            <a:off x="467544" y="2898830"/>
            <a:ext cx="6000995" cy="267445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200" dirty="0">
                <a:latin typeface="+mj-lt"/>
                <a:ea typeface="微软雅黑" pitchFamily="34" charset="-122"/>
              </a:rPr>
              <a:t>Thiết lập ca làm</a:t>
            </a:r>
            <a:endParaRPr lang="zh-CN" altLang="en-US" sz="1200" dirty="0">
              <a:latin typeface="+mj-lt"/>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4051753204"/>
              </p:ext>
            </p:extLst>
          </p:nvPr>
        </p:nvGraphicFramePr>
        <p:xfrm>
          <a:off x="179512" y="1524102"/>
          <a:ext cx="8712968" cy="2619273"/>
        </p:xfrm>
        <a:graphic>
          <a:graphicData uri="http://schemas.openxmlformats.org/drawingml/2006/table">
            <a:tbl>
              <a:tblPr>
                <a:tableStyleId>{5C22544A-7EE6-4342-B048-85BDC9FD1C3A}</a:tableStyleId>
              </a:tblPr>
              <a:tblGrid>
                <a:gridCol w="582874">
                  <a:extLst>
                    <a:ext uri="{9D8B030D-6E8A-4147-A177-3AD203B41FA5}">
                      <a16:colId xmlns:a16="http://schemas.microsoft.com/office/drawing/2014/main" xmlns="" val="20000"/>
                    </a:ext>
                  </a:extLst>
                </a:gridCol>
                <a:gridCol w="1577366">
                  <a:extLst>
                    <a:ext uri="{9D8B030D-6E8A-4147-A177-3AD203B41FA5}">
                      <a16:colId xmlns:a16="http://schemas.microsoft.com/office/drawing/2014/main" xmlns="" val="20001"/>
                    </a:ext>
                  </a:extLst>
                </a:gridCol>
                <a:gridCol w="2010328">
                  <a:extLst>
                    <a:ext uri="{9D8B030D-6E8A-4147-A177-3AD203B41FA5}">
                      <a16:colId xmlns:a16="http://schemas.microsoft.com/office/drawing/2014/main" xmlns="" val="20002"/>
                    </a:ext>
                  </a:extLst>
                </a:gridCol>
                <a:gridCol w="1728524">
                  <a:extLst>
                    <a:ext uri="{9D8B030D-6E8A-4147-A177-3AD203B41FA5}">
                      <a16:colId xmlns:a16="http://schemas.microsoft.com/office/drawing/2014/main" xmlns="" val="20003"/>
                    </a:ext>
                  </a:extLst>
                </a:gridCol>
                <a:gridCol w="2813876">
                  <a:extLst>
                    <a:ext uri="{9D8B030D-6E8A-4147-A177-3AD203B41FA5}">
                      <a16:colId xmlns:a16="http://schemas.microsoft.com/office/drawing/2014/main" xmlns="" val="20004"/>
                    </a:ext>
                  </a:extLst>
                </a:gridCol>
              </a:tblGrid>
              <a:tr h="314313">
                <a:tc>
                  <a:txBody>
                    <a:bodyPr/>
                    <a:lstStyle/>
                    <a:p>
                      <a:pPr algn="ctr" rtl="0" fontAlgn="ctr"/>
                      <a:r>
                        <a:rPr lang="vi-VN" altLang="zh-CN" sz="1400" u="none" strike="noStrike" dirty="0">
                          <a:effectLst/>
                          <a:latin typeface="+mj-lt"/>
                          <a:ea typeface="+mn-ea"/>
                        </a:rPr>
                        <a:t>Thứ tự</a:t>
                      </a:r>
                      <a:endParaRPr lang="zh-CN" altLang="en-US" sz="1400" b="1" i="0" u="none" strike="noStrike" dirty="0">
                        <a:solidFill>
                          <a:srgbClr val="000000"/>
                        </a:solidFill>
                        <a:effectLst/>
                        <a:latin typeface="+mj-lt"/>
                        <a:ea typeface="+mn-ea"/>
                      </a:endParaRPr>
                    </a:p>
                  </a:txBody>
                  <a:tcPr marL="9525" marR="9525" marT="9525" marB="0" anchor="ctr"/>
                </a:tc>
                <a:tc>
                  <a:txBody>
                    <a:bodyPr/>
                    <a:lstStyle/>
                    <a:p>
                      <a:pPr algn="ctr" rtl="0" fontAlgn="ctr"/>
                      <a:r>
                        <a:rPr lang="vi-VN" altLang="zh-CN" sz="1400" u="none" strike="noStrike" dirty="0">
                          <a:effectLst/>
                          <a:latin typeface="+mj-lt"/>
                          <a:ea typeface="+mn-ea"/>
                        </a:rPr>
                        <a:t>Tên ca làm</a:t>
                      </a:r>
                      <a:endParaRPr lang="zh-CN" altLang="en-US" sz="1400" b="1" i="0" u="none" strike="noStrike" dirty="0">
                        <a:solidFill>
                          <a:srgbClr val="000000"/>
                        </a:solidFill>
                        <a:effectLst/>
                        <a:latin typeface="+mj-lt"/>
                        <a:ea typeface="+mn-ea"/>
                      </a:endParaRPr>
                    </a:p>
                  </a:txBody>
                  <a:tcPr marL="9525" marR="9525" marT="9525" marB="0" anchor="ctr"/>
                </a:tc>
                <a:tc>
                  <a:txBody>
                    <a:bodyPr/>
                    <a:lstStyle/>
                    <a:p>
                      <a:pPr algn="ctr" rtl="0" fontAlgn="ctr"/>
                      <a:r>
                        <a:rPr lang="vi-VN" altLang="zh-CN" sz="1400" u="none" strike="noStrike" dirty="0">
                          <a:effectLst/>
                          <a:latin typeface="+mj-lt"/>
                          <a:ea typeface="+mn-ea"/>
                        </a:rPr>
                        <a:t>Tên ca làm (Hanwha dùng)</a:t>
                      </a:r>
                      <a:endParaRPr lang="en-US" altLang="zh-CN" sz="1400" b="1" i="0" u="none" strike="noStrike" dirty="0">
                        <a:solidFill>
                          <a:srgbClr val="000000"/>
                        </a:solidFill>
                        <a:effectLst/>
                        <a:latin typeface="+mj-lt"/>
                        <a:ea typeface="+mn-ea"/>
                      </a:endParaRPr>
                    </a:p>
                  </a:txBody>
                  <a:tcPr marL="9525" marR="9525" marT="9525" marB="0" anchor="ctr"/>
                </a:tc>
                <a:tc>
                  <a:txBody>
                    <a:bodyPr/>
                    <a:lstStyle/>
                    <a:p>
                      <a:pPr algn="ctr" rtl="0" fontAlgn="ctr"/>
                      <a:r>
                        <a:rPr lang="vi-VN" altLang="zh-CN" sz="1400" u="none" strike="noStrike" dirty="0">
                          <a:effectLst/>
                          <a:latin typeface="+mj-lt"/>
                          <a:ea typeface="+mn-ea"/>
                        </a:rPr>
                        <a:t>Tính chất ca làm</a:t>
                      </a:r>
                      <a:endParaRPr lang="zh-CN" altLang="en-US" sz="1400" b="1" i="0" u="none" strike="noStrike" dirty="0">
                        <a:solidFill>
                          <a:srgbClr val="000000"/>
                        </a:solidFill>
                        <a:effectLst/>
                        <a:latin typeface="+mj-lt"/>
                        <a:ea typeface="+mn-ea"/>
                      </a:endParaRPr>
                    </a:p>
                  </a:txBody>
                  <a:tcPr marL="9525" marR="9525" marT="9525" marB="0" anchor="ctr"/>
                </a:tc>
                <a:tc>
                  <a:txBody>
                    <a:bodyPr/>
                    <a:lstStyle/>
                    <a:p>
                      <a:pPr algn="ctr" rtl="0" fontAlgn="ctr"/>
                      <a:r>
                        <a:rPr lang="vi-VN" altLang="zh-CN" sz="1400" u="none" strike="noStrike" dirty="0">
                          <a:effectLst/>
                          <a:latin typeface="+mj-lt"/>
                          <a:ea typeface="+mn-ea"/>
                        </a:rPr>
                        <a:t>Thời gian làm việc</a:t>
                      </a:r>
                      <a:endParaRPr lang="zh-CN" altLang="en-US" sz="1400" b="1" i="0" u="none" strike="noStrike" dirty="0">
                        <a:solidFill>
                          <a:srgbClr val="000000"/>
                        </a:solidFill>
                        <a:effectLst/>
                        <a:latin typeface="+mj-lt"/>
                        <a:ea typeface="+mn-ea"/>
                      </a:endParaRPr>
                    </a:p>
                  </a:txBody>
                  <a:tcPr marL="9525" marR="9525" marT="9525" marB="0" anchor="ctr"/>
                </a:tc>
                <a:extLst>
                  <a:ext uri="{0D108BD9-81ED-4DB2-BD59-A6C34878D82A}">
                    <a16:rowId xmlns:a16="http://schemas.microsoft.com/office/drawing/2014/main" xmlns="" val="10000"/>
                  </a:ext>
                </a:extLst>
              </a:tr>
              <a:tr h="384160">
                <a:tc>
                  <a:txBody>
                    <a:bodyPr/>
                    <a:lstStyle/>
                    <a:p>
                      <a:pPr algn="ctr" rtl="0" fontAlgn="ctr"/>
                      <a:r>
                        <a:rPr lang="en-US" altLang="zh-CN" sz="1400" u="none" strike="noStrike">
                          <a:effectLst/>
                          <a:latin typeface="+mj-lt"/>
                          <a:ea typeface="+mn-ea"/>
                        </a:rPr>
                        <a:t>1</a:t>
                      </a:r>
                      <a:endParaRPr lang="en-US" altLang="zh-CN" sz="1400" b="0" i="0" u="none" strike="noStrike">
                        <a:solidFill>
                          <a:srgbClr val="000000"/>
                        </a:solidFill>
                        <a:effectLst/>
                        <a:latin typeface="+mj-lt"/>
                        <a:ea typeface="+mn-ea"/>
                      </a:endParaRPr>
                    </a:p>
                  </a:txBody>
                  <a:tcPr marL="9525" marR="9525" marT="9525" marB="0" anchor="ctr"/>
                </a:tc>
                <a:tc>
                  <a:txBody>
                    <a:bodyPr/>
                    <a:lstStyle/>
                    <a:p>
                      <a:pPr algn="ctr" rtl="0" fontAlgn="ctr"/>
                      <a:r>
                        <a:rPr lang="vi-VN" altLang="zh-CN" sz="1200" u="none" strike="noStrike" dirty="0">
                          <a:effectLst/>
                          <a:latin typeface="+mj-lt"/>
                          <a:ea typeface="+mn-ea"/>
                        </a:rPr>
                        <a:t>Ca thường</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sz="1200" u="none" strike="noStrike" dirty="0">
                          <a:effectLst/>
                          <a:latin typeface="+mj-lt"/>
                          <a:ea typeface="+mn-ea"/>
                        </a:rPr>
                        <a:t>Shift 1</a:t>
                      </a:r>
                      <a:endParaRPr 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vi-VN" altLang="zh-CN" sz="1200" u="none" strike="noStrike" dirty="0">
                          <a:effectLst/>
                          <a:latin typeface="+mj-lt"/>
                          <a:ea typeface="+mn-ea"/>
                        </a:rPr>
                        <a:t>Ngày thường</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altLang="zh-CN" sz="1200" u="none" strike="noStrike">
                          <a:effectLst/>
                          <a:latin typeface="+mj-lt"/>
                          <a:ea typeface="+mn-ea"/>
                        </a:rPr>
                        <a:t>8: 00-17: 00</a:t>
                      </a:r>
                      <a:endParaRPr lang="en-US" altLang="zh-CN" sz="1200" b="0" i="0" u="none" strike="noStrike">
                        <a:solidFill>
                          <a:srgbClr val="000000"/>
                        </a:solidFill>
                        <a:effectLst/>
                        <a:latin typeface="+mj-lt"/>
                        <a:ea typeface="+mn-ea"/>
                      </a:endParaRPr>
                    </a:p>
                  </a:txBody>
                  <a:tcPr marL="9525" marR="9525" marT="9525" marB="0" anchor="ctr">
                    <a:solidFill>
                      <a:schemeClr val="bg1"/>
                    </a:solidFill>
                  </a:tcPr>
                </a:tc>
                <a:extLst>
                  <a:ext uri="{0D108BD9-81ED-4DB2-BD59-A6C34878D82A}">
                    <a16:rowId xmlns:a16="http://schemas.microsoft.com/office/drawing/2014/main" xmlns="" val="10001"/>
                  </a:ext>
                </a:extLst>
              </a:tr>
              <a:tr h="384160">
                <a:tc>
                  <a:txBody>
                    <a:bodyPr/>
                    <a:lstStyle/>
                    <a:p>
                      <a:pPr algn="ctr" rtl="0" fontAlgn="ctr"/>
                      <a:r>
                        <a:rPr lang="en-US" altLang="zh-CN" sz="1400" u="none" strike="noStrike">
                          <a:effectLst/>
                          <a:latin typeface="+mj-lt"/>
                          <a:ea typeface="+mn-ea"/>
                        </a:rPr>
                        <a:t>2</a:t>
                      </a:r>
                      <a:endParaRPr lang="en-US" altLang="zh-CN" sz="1400" b="0" i="0" u="none" strike="noStrike">
                        <a:solidFill>
                          <a:srgbClr val="000000"/>
                        </a:solidFill>
                        <a:effectLst/>
                        <a:latin typeface="+mj-lt"/>
                        <a:ea typeface="+mn-ea"/>
                      </a:endParaRPr>
                    </a:p>
                  </a:txBody>
                  <a:tcPr marL="9525" marR="9525" marT="9525" marB="0" anchor="ctr"/>
                </a:tc>
                <a:tc>
                  <a:txBody>
                    <a:bodyPr/>
                    <a:lstStyle/>
                    <a:p>
                      <a:pPr algn="ctr" rtl="0" fontAlgn="ctr"/>
                      <a:r>
                        <a:rPr lang="vi-VN" altLang="zh-CN" sz="1200" u="none" strike="noStrike" dirty="0">
                          <a:effectLst/>
                          <a:latin typeface="+mj-lt"/>
                          <a:ea typeface="+mn-ea"/>
                        </a:rPr>
                        <a:t>Ca đêm</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sz="1200" u="none" strike="noStrike" dirty="0">
                          <a:effectLst/>
                          <a:latin typeface="+mj-lt"/>
                          <a:ea typeface="+mn-ea"/>
                        </a:rPr>
                        <a:t>Shift 2</a:t>
                      </a:r>
                      <a:endParaRPr 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vi-VN" altLang="zh-CN" sz="1200" u="none" strike="noStrike" dirty="0">
                          <a:effectLst/>
                          <a:latin typeface="+mj-lt"/>
                          <a:ea typeface="+mn-ea"/>
                        </a:rPr>
                        <a:t>Ngày thường</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altLang="zh-CN" sz="1200" u="none" strike="noStrike">
                          <a:effectLst/>
                          <a:latin typeface="+mj-lt"/>
                          <a:ea typeface="+mn-ea"/>
                        </a:rPr>
                        <a:t>21: 00-5: 00</a:t>
                      </a:r>
                      <a:endParaRPr lang="en-US" altLang="zh-CN" sz="1200" b="0" i="0" u="none" strike="noStrike">
                        <a:solidFill>
                          <a:srgbClr val="000000"/>
                        </a:solidFill>
                        <a:effectLst/>
                        <a:latin typeface="+mj-lt"/>
                        <a:ea typeface="+mn-ea"/>
                      </a:endParaRPr>
                    </a:p>
                  </a:txBody>
                  <a:tcPr marL="9525" marR="9525" marT="9525" marB="0" anchor="ctr">
                    <a:solidFill>
                      <a:schemeClr val="bg1"/>
                    </a:solidFill>
                  </a:tcPr>
                </a:tc>
                <a:extLst>
                  <a:ext uri="{0D108BD9-81ED-4DB2-BD59-A6C34878D82A}">
                    <a16:rowId xmlns:a16="http://schemas.microsoft.com/office/drawing/2014/main" xmlns="" val="10002"/>
                  </a:ext>
                </a:extLst>
              </a:tr>
              <a:tr h="384160">
                <a:tc>
                  <a:txBody>
                    <a:bodyPr/>
                    <a:lstStyle/>
                    <a:p>
                      <a:pPr algn="ctr" rtl="0" fontAlgn="ctr"/>
                      <a:r>
                        <a:rPr lang="en-US" altLang="zh-CN" sz="1400" u="none" strike="noStrike">
                          <a:effectLst/>
                          <a:latin typeface="+mj-lt"/>
                          <a:ea typeface="+mn-ea"/>
                        </a:rPr>
                        <a:t>3</a:t>
                      </a:r>
                      <a:endParaRPr lang="en-US" altLang="zh-CN" sz="1400" b="0" i="0" u="none" strike="noStrike">
                        <a:solidFill>
                          <a:srgbClr val="000000"/>
                        </a:solidFill>
                        <a:effectLst/>
                        <a:latin typeface="+mj-lt"/>
                        <a:ea typeface="+mn-ea"/>
                      </a:endParaRPr>
                    </a:p>
                  </a:txBody>
                  <a:tcPr marL="9525" marR="9525" marT="9525" marB="0" anchor="ctr"/>
                </a:tc>
                <a:tc>
                  <a:txBody>
                    <a:bodyPr/>
                    <a:lstStyle/>
                    <a:p>
                      <a:pPr algn="ctr" rtl="0" fontAlgn="ctr"/>
                      <a:r>
                        <a:rPr lang="vi-VN" altLang="zh-CN" sz="1200" u="none" strike="noStrike" dirty="0">
                          <a:effectLst/>
                          <a:latin typeface="+mj-lt"/>
                          <a:ea typeface="+mn-ea"/>
                        </a:rPr>
                        <a:t>Ca sáng</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sz="1200" u="none" strike="noStrike" dirty="0">
                          <a:effectLst/>
                          <a:latin typeface="+mj-lt"/>
                          <a:ea typeface="+mn-ea"/>
                        </a:rPr>
                        <a:t>Shift 3</a:t>
                      </a:r>
                      <a:endParaRPr 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vi-VN" altLang="zh-CN" sz="1200" u="none" strike="noStrike" dirty="0">
                          <a:effectLst/>
                          <a:latin typeface="+mj-lt"/>
                          <a:ea typeface="+mn-ea"/>
                        </a:rPr>
                        <a:t>Ngày thường</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altLang="zh-CN" sz="1200" u="none" strike="noStrike">
                          <a:effectLst/>
                          <a:latin typeface="+mj-lt"/>
                          <a:ea typeface="+mn-ea"/>
                        </a:rPr>
                        <a:t>6: 00-14: 00</a:t>
                      </a:r>
                      <a:endParaRPr lang="en-US" altLang="zh-CN" sz="1200" b="0" i="0" u="none" strike="noStrike" dirty="0">
                        <a:solidFill>
                          <a:srgbClr val="000000"/>
                        </a:solidFill>
                        <a:effectLst/>
                        <a:latin typeface="+mj-lt"/>
                        <a:ea typeface="+mn-ea"/>
                      </a:endParaRPr>
                    </a:p>
                  </a:txBody>
                  <a:tcPr marL="9525" marR="9525" marT="9525" marB="0" anchor="ctr">
                    <a:solidFill>
                      <a:schemeClr val="bg1"/>
                    </a:solidFill>
                  </a:tcPr>
                </a:tc>
                <a:extLst>
                  <a:ext uri="{0D108BD9-81ED-4DB2-BD59-A6C34878D82A}">
                    <a16:rowId xmlns:a16="http://schemas.microsoft.com/office/drawing/2014/main" xmlns="" val="10003"/>
                  </a:ext>
                </a:extLst>
              </a:tr>
              <a:tr h="384160">
                <a:tc>
                  <a:txBody>
                    <a:bodyPr/>
                    <a:lstStyle/>
                    <a:p>
                      <a:pPr algn="ctr" rtl="0" fontAlgn="ctr"/>
                      <a:r>
                        <a:rPr lang="en-US" altLang="zh-CN" sz="1400" u="none" strike="noStrike">
                          <a:effectLst/>
                          <a:latin typeface="+mj-lt"/>
                          <a:ea typeface="+mn-ea"/>
                        </a:rPr>
                        <a:t>4</a:t>
                      </a:r>
                      <a:endParaRPr lang="en-US" altLang="zh-CN" sz="1400" b="0" i="0" u="none" strike="noStrike">
                        <a:solidFill>
                          <a:srgbClr val="000000"/>
                        </a:solidFill>
                        <a:effectLst/>
                        <a:latin typeface="+mj-lt"/>
                        <a:ea typeface="+mn-ea"/>
                      </a:endParaRPr>
                    </a:p>
                  </a:txBody>
                  <a:tcPr marL="9525" marR="9525" marT="9525" marB="0" anchor="ctr"/>
                </a:tc>
                <a:tc>
                  <a:txBody>
                    <a:bodyPr/>
                    <a:lstStyle/>
                    <a:p>
                      <a:pPr algn="ctr" rtl="0" fontAlgn="ctr"/>
                      <a:r>
                        <a:rPr lang="vi-VN" altLang="zh-CN" sz="1200" u="none" strike="noStrike" dirty="0">
                          <a:effectLst/>
                          <a:latin typeface="+mj-lt"/>
                          <a:ea typeface="+mn-ea"/>
                        </a:rPr>
                        <a:t>Ca chiều</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sz="1200" u="none" strike="noStrike">
                          <a:effectLst/>
                          <a:latin typeface="+mj-lt"/>
                          <a:ea typeface="+mn-ea"/>
                        </a:rPr>
                        <a:t>Shift 4</a:t>
                      </a:r>
                      <a:endParaRPr lang="en-US" sz="1200" b="0" i="0" u="none" strike="noStrike">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vi-VN" altLang="zh-CN" sz="1200" u="none" strike="noStrike" dirty="0">
                          <a:effectLst/>
                          <a:latin typeface="+mj-lt"/>
                          <a:ea typeface="+mn-ea"/>
                        </a:rPr>
                        <a:t>Ngày thường</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altLang="zh-CN" sz="1200" u="none" strike="noStrike">
                          <a:effectLst/>
                          <a:latin typeface="+mj-lt"/>
                          <a:ea typeface="+mn-ea"/>
                        </a:rPr>
                        <a:t>14: 00-22: 00</a:t>
                      </a:r>
                      <a:endParaRPr lang="en-US" altLang="zh-CN" sz="1200" b="0" i="0" u="none" strike="noStrike" dirty="0">
                        <a:solidFill>
                          <a:srgbClr val="000000"/>
                        </a:solidFill>
                        <a:effectLst/>
                        <a:latin typeface="+mj-lt"/>
                        <a:ea typeface="+mn-ea"/>
                      </a:endParaRPr>
                    </a:p>
                  </a:txBody>
                  <a:tcPr marL="9525" marR="9525" marT="9525" marB="0" anchor="ctr">
                    <a:solidFill>
                      <a:schemeClr val="bg1"/>
                    </a:solidFill>
                  </a:tcPr>
                </a:tc>
                <a:extLst>
                  <a:ext uri="{0D108BD9-81ED-4DB2-BD59-A6C34878D82A}">
                    <a16:rowId xmlns:a16="http://schemas.microsoft.com/office/drawing/2014/main" xmlns="" val="10004"/>
                  </a:ext>
                </a:extLst>
              </a:tr>
              <a:tr h="384160">
                <a:tc>
                  <a:txBody>
                    <a:bodyPr/>
                    <a:lstStyle/>
                    <a:p>
                      <a:pPr algn="ctr" rtl="0" fontAlgn="ctr"/>
                      <a:r>
                        <a:rPr lang="en-US" altLang="zh-CN" sz="1400" u="none" strike="noStrike">
                          <a:effectLst/>
                          <a:latin typeface="+mj-lt"/>
                          <a:ea typeface="+mn-ea"/>
                        </a:rPr>
                        <a:t>5</a:t>
                      </a:r>
                      <a:endParaRPr lang="en-US" altLang="zh-CN" sz="1400" b="0" i="0" u="none" strike="noStrike">
                        <a:solidFill>
                          <a:srgbClr val="000000"/>
                        </a:solidFill>
                        <a:effectLst/>
                        <a:latin typeface="+mj-lt"/>
                        <a:ea typeface="+mn-ea"/>
                      </a:endParaRPr>
                    </a:p>
                  </a:txBody>
                  <a:tcPr marL="9525" marR="9525" marT="9525" marB="0" anchor="ctr"/>
                </a:tc>
                <a:tc>
                  <a:txBody>
                    <a:bodyPr/>
                    <a:lstStyle/>
                    <a:p>
                      <a:pPr algn="ctr" rtl="0" fontAlgn="ctr"/>
                      <a:r>
                        <a:rPr lang="vi-VN" altLang="zh-CN" sz="1200" u="none" strike="noStrike" dirty="0">
                          <a:effectLst/>
                          <a:latin typeface="+mj-lt"/>
                          <a:ea typeface="+mn-ea"/>
                        </a:rPr>
                        <a:t>Ca tối</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sz="1200" u="none" strike="noStrike">
                          <a:effectLst/>
                          <a:latin typeface="+mj-lt"/>
                          <a:ea typeface="+mn-ea"/>
                        </a:rPr>
                        <a:t>Shift 5</a:t>
                      </a:r>
                      <a:endParaRPr lang="en-US" sz="1200" b="0" i="0" u="none" strike="noStrike">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vi-VN" altLang="zh-CN" sz="1200" u="none" strike="noStrike" dirty="0">
                          <a:effectLst/>
                          <a:latin typeface="+mj-lt"/>
                          <a:ea typeface="+mn-ea"/>
                        </a:rPr>
                        <a:t>Ngày thường</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altLang="zh-CN" sz="1200" u="none" strike="noStrike">
                          <a:effectLst/>
                          <a:latin typeface="+mj-lt"/>
                          <a:ea typeface="+mn-ea"/>
                        </a:rPr>
                        <a:t>22: 00-6: 00</a:t>
                      </a:r>
                      <a:endParaRPr lang="en-US" altLang="zh-CN" sz="1200" b="0" i="0" u="none" strike="noStrike" dirty="0">
                        <a:solidFill>
                          <a:srgbClr val="000000"/>
                        </a:solidFill>
                        <a:effectLst/>
                        <a:latin typeface="+mj-lt"/>
                        <a:ea typeface="+mn-ea"/>
                      </a:endParaRPr>
                    </a:p>
                  </a:txBody>
                  <a:tcPr marL="9525" marR="9525" marT="9525" marB="0" anchor="ctr">
                    <a:solidFill>
                      <a:schemeClr val="bg1"/>
                    </a:solidFill>
                  </a:tcPr>
                </a:tc>
                <a:extLst>
                  <a:ext uri="{0D108BD9-81ED-4DB2-BD59-A6C34878D82A}">
                    <a16:rowId xmlns:a16="http://schemas.microsoft.com/office/drawing/2014/main" xmlns="" val="10005"/>
                  </a:ext>
                </a:extLst>
              </a:tr>
              <a:tr h="384160">
                <a:tc>
                  <a:txBody>
                    <a:bodyPr/>
                    <a:lstStyle/>
                    <a:p>
                      <a:pPr algn="ctr" rtl="0" fontAlgn="ctr"/>
                      <a:r>
                        <a:rPr lang="en-US" altLang="zh-CN" sz="1400" u="none" strike="noStrike">
                          <a:effectLst/>
                          <a:latin typeface="+mj-lt"/>
                          <a:ea typeface="+mn-ea"/>
                        </a:rPr>
                        <a:t>6</a:t>
                      </a:r>
                      <a:endParaRPr lang="en-US" altLang="zh-CN" sz="1400" b="0" i="0" u="none" strike="noStrike">
                        <a:solidFill>
                          <a:srgbClr val="000000"/>
                        </a:solidFill>
                        <a:effectLst/>
                        <a:latin typeface="+mj-lt"/>
                        <a:ea typeface="+mn-ea"/>
                      </a:endParaRPr>
                    </a:p>
                  </a:txBody>
                  <a:tcPr marL="9525" marR="9525" marT="9525" marB="0" anchor="ctr"/>
                </a:tc>
                <a:tc>
                  <a:txBody>
                    <a:bodyPr/>
                    <a:lstStyle/>
                    <a:p>
                      <a:pPr algn="ctr" rtl="0" fontAlgn="ctr"/>
                      <a:r>
                        <a:rPr lang="vi-VN" altLang="zh-CN" sz="1200" u="none" strike="noStrike" dirty="0">
                          <a:effectLst/>
                          <a:latin typeface="+mj-lt"/>
                          <a:ea typeface="+mn-ea"/>
                        </a:rPr>
                        <a:t>Nghỉ ngơi</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sz="1200" u="none" strike="noStrike">
                          <a:effectLst/>
                          <a:latin typeface="+mj-lt"/>
                          <a:ea typeface="+mn-ea"/>
                        </a:rPr>
                        <a:t>Shift 6</a:t>
                      </a:r>
                      <a:endParaRPr lang="en-US" sz="1200" b="0" i="0" u="none" strike="noStrike">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vi-VN" altLang="zh-CN" sz="1200" u="none" strike="noStrike" dirty="0">
                          <a:effectLst/>
                          <a:latin typeface="+mj-lt"/>
                          <a:ea typeface="+mn-ea"/>
                        </a:rPr>
                        <a:t>Cuối tuần/ngày</a:t>
                      </a:r>
                      <a:r>
                        <a:rPr lang="vi-VN" altLang="zh-CN" sz="1200" u="none" strike="noStrike" baseline="0" dirty="0">
                          <a:effectLst/>
                          <a:latin typeface="+mj-lt"/>
                          <a:ea typeface="+mn-ea"/>
                        </a:rPr>
                        <a:t> </a:t>
                      </a:r>
                      <a:r>
                        <a:rPr lang="vi-VN" altLang="zh-CN" sz="1200" u="none" strike="noStrike" dirty="0">
                          <a:effectLst/>
                          <a:latin typeface="+mj-lt"/>
                          <a:ea typeface="+mn-ea"/>
                        </a:rPr>
                        <a:t>lễ</a:t>
                      </a:r>
                      <a:endParaRPr lang="zh-CN" altLang="en-US" sz="1200" b="0" i="0" u="none" strike="noStrike" dirty="0">
                        <a:solidFill>
                          <a:srgbClr val="000000"/>
                        </a:solidFill>
                        <a:effectLst/>
                        <a:latin typeface="+mj-lt"/>
                        <a:ea typeface="+mn-ea"/>
                      </a:endParaRPr>
                    </a:p>
                  </a:txBody>
                  <a:tcPr marL="9525" marR="9525" marT="9525" marB="0" anchor="ctr">
                    <a:solidFill>
                      <a:schemeClr val="bg1"/>
                    </a:solidFill>
                  </a:tcPr>
                </a:tc>
                <a:tc>
                  <a:txBody>
                    <a:bodyPr/>
                    <a:lstStyle/>
                    <a:p>
                      <a:pPr algn="ctr" rtl="0" fontAlgn="ctr"/>
                      <a:r>
                        <a:rPr lang="en-US" altLang="zh-CN" sz="1200" u="none" strike="noStrike" dirty="0">
                          <a:effectLst/>
                          <a:latin typeface="+mj-lt"/>
                          <a:ea typeface="+mn-ea"/>
                        </a:rPr>
                        <a:t>8: 00-17: 00</a:t>
                      </a:r>
                      <a:endParaRPr lang="en-US" altLang="zh-CN" sz="1200" b="0" i="0" u="none" strike="noStrike" dirty="0">
                        <a:solidFill>
                          <a:srgbClr val="000000"/>
                        </a:solidFill>
                        <a:effectLst/>
                        <a:latin typeface="+mj-lt"/>
                        <a:ea typeface="+mn-ea"/>
                      </a:endParaRPr>
                    </a:p>
                  </a:txBody>
                  <a:tcPr marL="9525" marR="9525" marT="9525" marB="0" anchor="ctr">
                    <a:solidFill>
                      <a:schemeClr val="bg1"/>
                    </a:solidFill>
                  </a:tcPr>
                </a:tc>
                <a:extLst>
                  <a:ext uri="{0D108BD9-81ED-4DB2-BD59-A6C34878D82A}">
                    <a16:rowId xmlns:a16="http://schemas.microsoft.com/office/drawing/2014/main" xmlns="" val="10006"/>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01940"/>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Thiết lập -</a:t>
            </a:r>
            <a:r>
              <a:rPr lang="vi-VN" altLang="zh-CN" sz="1200" dirty="0" smtClean="0">
                <a:latin typeface="+mj-lt"/>
                <a:ea typeface="微软雅黑" pitchFamily="34" charset="-122"/>
              </a:rPr>
              <a:t>Thiết </a:t>
            </a:r>
            <a:r>
              <a:rPr lang="vi-VN" altLang="zh-CN" sz="1200" dirty="0">
                <a:latin typeface="+mj-lt"/>
                <a:ea typeface="微软雅黑" pitchFamily="34" charset="-122"/>
              </a:rPr>
              <a:t>lập </a:t>
            </a:r>
            <a:r>
              <a:rPr lang="vi-VN" altLang="zh-CN" sz="1200" dirty="0" smtClean="0">
                <a:latin typeface="+mj-lt"/>
                <a:ea typeface="微软雅黑" pitchFamily="34" charset="-122"/>
              </a:rPr>
              <a:t>ngày </a:t>
            </a:r>
            <a:r>
              <a:rPr lang="en-US" altLang="zh-CN" sz="1200" dirty="0" err="1" smtClean="0">
                <a:latin typeface="+mj-lt"/>
                <a:ea typeface="微软雅黑" pitchFamily="34" charset="-122"/>
              </a:rPr>
              <a:t>lễ</a:t>
            </a:r>
            <a:endParaRPr lang="zh-CN" altLang="en-US" sz="1200" dirty="0">
              <a:latin typeface="+mj-lt"/>
              <a:ea typeface="微软雅黑" pitchFamily="34" charset="-122"/>
            </a:endParaRPr>
          </a:p>
        </p:txBody>
      </p:sp>
      <p:sp>
        <p:nvSpPr>
          <p:cNvPr id="11" name="TextBox 10"/>
          <p:cNvSpPr txBox="1"/>
          <p:nvPr/>
        </p:nvSpPr>
        <p:spPr>
          <a:xfrm>
            <a:off x="6786578" y="1571612"/>
            <a:ext cx="2071702" cy="4893647"/>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vi-VN" altLang="zh-CN" sz="1200" dirty="0">
                <a:latin typeface="+mj-lt"/>
                <a:ea typeface="微软雅黑" pitchFamily="34" charset="-122"/>
              </a:rPr>
              <a:t>Thiết lập </a:t>
            </a:r>
            <a:r>
              <a:rPr lang="vi-VN" altLang="zh-CN" sz="1200" dirty="0" smtClean="0">
                <a:latin typeface="+mj-lt"/>
                <a:ea typeface="微软雅黑" pitchFamily="34" charset="-122"/>
              </a:rPr>
              <a:t>các </a:t>
            </a:r>
            <a:r>
              <a:rPr lang="vi-VN" altLang="zh-CN" sz="1200" dirty="0">
                <a:latin typeface="+mj-lt"/>
                <a:ea typeface="微软雅黑" pitchFamily="34" charset="-122"/>
              </a:rPr>
              <a:t>ngày lễ theo quy </a:t>
            </a:r>
            <a:r>
              <a:rPr lang="vi-VN" altLang="zh-CN" sz="1200" dirty="0" smtClean="0">
                <a:latin typeface="+mj-lt"/>
                <a:ea typeface="微软雅黑" pitchFamily="34" charset="-122"/>
              </a:rPr>
              <a:t>định</a:t>
            </a:r>
            <a:r>
              <a:rPr lang="en-US" altLang="zh-CN" sz="1200" dirty="0" smtClean="0">
                <a:latin typeface="+mj-lt"/>
                <a:ea typeface="微软雅黑" pitchFamily="34" charset="-122"/>
              </a:rPr>
              <a:t> của từng năm</a:t>
            </a:r>
            <a:r>
              <a:rPr lang="vi-VN" altLang="zh-CN" sz="1200" dirty="0" smtClean="0">
                <a:latin typeface="+mj-lt"/>
                <a:ea typeface="微软雅黑" pitchFamily="34" charset="-122"/>
              </a:rPr>
              <a:t>, </a:t>
            </a:r>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dirty="0">
              <a:latin typeface="+mj-lt"/>
              <a:ea typeface="微软雅黑" pitchFamily="34" charset="-122"/>
            </a:endParaRPr>
          </a:p>
          <a:p>
            <a:pPr marL="228600" indent="-228600" algn="l">
              <a:spcBef>
                <a:spcPct val="50000"/>
              </a:spcBef>
              <a:buFont typeface="+mj-lt"/>
              <a:buAutoNum type="arabicPeriod"/>
            </a:pP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Chọn năm-&gt;”Tra cứu” xem ngày lễ Tết của năm đó</a:t>
            </a:r>
            <a:endParaRPr lang="en-US" altLang="zh-CN" sz="1200" dirty="0">
              <a:solidFill>
                <a:srgbClr val="000000"/>
              </a:solidFill>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buFont typeface="+mj-lt"/>
              <a:buAutoNum type="arabicPeriod"/>
            </a:pP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Chọn “Thêm mới”, thêm ngày nghỉ lễ Tết, sau đó “Lưu”</a:t>
            </a:r>
            <a:endParaRPr lang="en-US" altLang="zh-CN" sz="1200" dirty="0">
              <a:solidFill>
                <a:srgbClr val="000000"/>
              </a:solidFill>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buFont typeface="+mj-lt"/>
              <a:buAutoNum type="arabicPeriod"/>
            </a:pP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Chọn 1 dữ liệu-&gt; “Sửa”, thay đổi thông tin cân thiết sau đó “Lưu”</a:t>
            </a:r>
          </a:p>
          <a:p>
            <a:pPr marL="228600" indent="-228600" algn="l">
              <a:spcBef>
                <a:spcPct val="50000"/>
              </a:spcBef>
              <a:buFont typeface="+mj-lt"/>
              <a:buAutoNum type="arabicPeriod"/>
            </a:pP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Chọn 1 dữ liệu-&gt; “Xóa” xóa 1 dữ liệu</a:t>
            </a:r>
          </a:p>
          <a:p>
            <a:pPr algn="l">
              <a:spcBef>
                <a:spcPct val="50000"/>
              </a:spcBef>
            </a:pPr>
            <a:r>
              <a:rPr lang="en-US" altLang="zh-CN" sz="1200" dirty="0">
                <a:solidFill>
                  <a:srgbClr val="FF0000"/>
                </a:solidFill>
                <a:latin typeface="Times New Roman" panose="02020603050405020304" pitchFamily="18" charset="0"/>
                <a:ea typeface="微软雅黑" pitchFamily="34" charset="-122"/>
                <a:cs typeface="Times New Roman" panose="02020603050405020304" pitchFamily="18" charset="0"/>
              </a:rPr>
              <a:t>N</a:t>
            </a:r>
            <a:r>
              <a:rPr lang="en-US" altLang="zh-CN" sz="1200" dirty="0" smtClean="0">
                <a:solidFill>
                  <a:srgbClr val="FF0000"/>
                </a:solidFill>
                <a:latin typeface="Times New Roman" panose="02020603050405020304" pitchFamily="18" charset="0"/>
                <a:ea typeface="微软雅黑" pitchFamily="34" charset="-122"/>
                <a:cs typeface="Times New Roman" panose="02020603050405020304" pitchFamily="18" charset="0"/>
              </a:rPr>
              <a:t>gày lễ thường được Nhân sự thiết lập vào mỗi cuối năm cùng với lịch công ty.</a:t>
            </a:r>
            <a:endParaRPr lang="en-US" altLang="zh-CN" sz="1200"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zh-CN" altLang="en-US" sz="1200" dirty="0">
              <a:latin typeface="+mj-lt"/>
              <a:ea typeface="微软雅黑" pitchFamily="34" charset="-122"/>
            </a:endParaRPr>
          </a:p>
        </p:txBody>
      </p:sp>
      <p:sp>
        <p:nvSpPr>
          <p:cNvPr id="9" name="AutoShape 23"/>
          <p:cNvSpPr>
            <a:spLocks noChangeArrowheads="1"/>
          </p:cNvSpPr>
          <p:nvPr/>
        </p:nvSpPr>
        <p:spPr bwMode="auto">
          <a:xfrm>
            <a:off x="6072198" y="2071678"/>
            <a:ext cx="285752"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10" name="AutoShape 23"/>
          <p:cNvSpPr>
            <a:spLocks noChangeArrowheads="1"/>
          </p:cNvSpPr>
          <p:nvPr/>
        </p:nvSpPr>
        <p:spPr bwMode="auto">
          <a:xfrm>
            <a:off x="5786446" y="2285992"/>
            <a:ext cx="357190"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12" name="AutoShape 23"/>
          <p:cNvSpPr>
            <a:spLocks noChangeArrowheads="1"/>
          </p:cNvSpPr>
          <p:nvPr/>
        </p:nvSpPr>
        <p:spPr bwMode="auto">
          <a:xfrm>
            <a:off x="6215074" y="2285992"/>
            <a:ext cx="357190"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pic>
        <p:nvPicPr>
          <p:cNvPr id="2" name="Picture 1"/>
          <p:cNvPicPr>
            <a:picLocks noChangeAspect="1"/>
          </p:cNvPicPr>
          <p:nvPr/>
        </p:nvPicPr>
        <p:blipFill>
          <a:blip r:embed="rId2"/>
          <a:stretch>
            <a:fillRect/>
          </a:stretch>
        </p:blipFill>
        <p:spPr>
          <a:xfrm>
            <a:off x="107504" y="1133232"/>
            <a:ext cx="6679073" cy="2367776"/>
          </a:xfrm>
          <a:prstGeom prst="rect">
            <a:avLst/>
          </a:prstGeom>
        </p:spPr>
      </p:pic>
      <p:pic>
        <p:nvPicPr>
          <p:cNvPr id="4" name="Picture 3"/>
          <p:cNvPicPr>
            <a:picLocks noChangeAspect="1"/>
          </p:cNvPicPr>
          <p:nvPr/>
        </p:nvPicPr>
        <p:blipFill>
          <a:blip r:embed="rId3"/>
          <a:stretch>
            <a:fillRect/>
          </a:stretch>
        </p:blipFill>
        <p:spPr>
          <a:xfrm>
            <a:off x="949395" y="3007917"/>
            <a:ext cx="5519767" cy="2434446"/>
          </a:xfrm>
          <a:prstGeom prst="rect">
            <a:avLst/>
          </a:prstGeom>
        </p:spPr>
      </p:pic>
      <p:sp>
        <p:nvSpPr>
          <p:cNvPr id="3" name="Rectangle 2"/>
          <p:cNvSpPr/>
          <p:nvPr/>
        </p:nvSpPr>
        <p:spPr>
          <a:xfrm>
            <a:off x="5965041" y="1857364"/>
            <a:ext cx="392909" cy="3214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5" name="Elbow Connector 14"/>
          <p:cNvCxnSpPr>
            <a:stCxn id="3" idx="2"/>
            <a:endCxn id="4" idx="0"/>
          </p:cNvCxnSpPr>
          <p:nvPr/>
        </p:nvCxnSpPr>
        <p:spPr>
          <a:xfrm rot="5400000">
            <a:off x="4520847" y="1367268"/>
            <a:ext cx="829082" cy="2452217"/>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786578" y="1571612"/>
            <a:ext cx="2071702" cy="5447645"/>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Thiết lập lịch làm việc của 1 năm cho nhân viên công ty</a:t>
            </a:r>
            <a:endParaRPr lang="zh-CN" altLang="en-US" sz="12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dirty="0">
              <a:solidFill>
                <a:srgbClr val="000000"/>
              </a:solidFill>
              <a:latin typeface="+mj-lt"/>
              <a:ea typeface="微软雅黑" pitchFamily="34" charset="-122"/>
            </a:endParaRPr>
          </a:p>
          <a:p>
            <a:pPr marL="228600" indent="-228600" algn="l">
              <a:spcBef>
                <a:spcPct val="50000"/>
              </a:spcBef>
              <a:buFont typeface="+mj-lt"/>
              <a:buAutoNum type="arabicPeriod"/>
            </a:pP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Chọn tháng bất kỳ, hệ thống tự động hiển thị lịch làm việc vủa công ty</a:t>
            </a:r>
            <a:endParaRPr lang="en-US" altLang="zh-CN" sz="1200" dirty="0">
              <a:solidFill>
                <a:srgbClr val="000000"/>
              </a:solidFill>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buFont typeface="+mj-lt"/>
              <a:buAutoNum type="arabicPeriod"/>
            </a:pP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Click “</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T</a:t>
            </a: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hêm</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 mới</a:t>
            </a: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 </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hiển thị khung mới</a:t>
            </a: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  </a:t>
            </a:r>
            <a:r>
              <a:rPr lang="vi-VN" altLang="zh-CN" sz="1200" dirty="0">
                <a:solidFill>
                  <a:srgbClr val="000000"/>
                </a:solidFill>
                <a:latin typeface="Times New Roman" panose="02020603050405020304" pitchFamily="18" charset="0"/>
                <a:ea typeface="微软雅黑" pitchFamily="34" charset="-122"/>
                <a:cs typeface="Times New Roman" panose="02020603050405020304" pitchFamily="18" charset="0"/>
              </a:rPr>
              <a:t>điền thông tin </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sau đó</a:t>
            </a: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 “</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L</a:t>
            </a: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ưu</a:t>
            </a:r>
            <a:r>
              <a:rPr lang="vi-VN" altLang="zh-CN" sz="1200" dirty="0">
                <a:solidFill>
                  <a:srgbClr val="000000"/>
                </a:solidFill>
                <a:latin typeface="Times New Roman" panose="02020603050405020304" pitchFamily="18" charset="0"/>
                <a:ea typeface="微软雅黑" pitchFamily="34" charset="-122"/>
                <a:cs typeface="Times New Roman" panose="02020603050405020304" pitchFamily="18" charset="0"/>
              </a:rPr>
              <a:t>” </a:t>
            </a: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hoàn </a:t>
            </a:r>
            <a:r>
              <a:rPr lang="vi-VN" altLang="zh-CN" sz="1200" dirty="0">
                <a:solidFill>
                  <a:srgbClr val="000000"/>
                </a:solidFill>
                <a:latin typeface="Times New Roman" panose="02020603050405020304" pitchFamily="18" charset="0"/>
                <a:ea typeface="微软雅黑" pitchFamily="34" charset="-122"/>
                <a:cs typeface="Times New Roman" panose="02020603050405020304" pitchFamily="18" charset="0"/>
              </a:rPr>
              <a:t>thành thao tác. </a:t>
            </a:r>
            <a:endParaRPr lang="en-US" altLang="zh-CN" sz="1200" dirty="0">
              <a:solidFill>
                <a:srgbClr val="000000"/>
              </a:solidFill>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buFont typeface="+mj-lt"/>
              <a:buAutoNum type="arabicPeriod"/>
            </a:pP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Click </a:t>
            </a:r>
            <a:r>
              <a:rPr lang="vi-VN" altLang="zh-CN" sz="1200" dirty="0">
                <a:solidFill>
                  <a:srgbClr val="000000"/>
                </a:solidFill>
                <a:latin typeface="Times New Roman" panose="02020603050405020304" pitchFamily="18" charset="0"/>
                <a:ea typeface="微软雅黑" pitchFamily="34" charset="-122"/>
                <a:cs typeface="Times New Roman" panose="02020603050405020304" pitchFamily="18" charset="0"/>
              </a:rPr>
              <a:t>"Sửa" </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hệ thống hiển thị các ô nhỏ</a:t>
            </a:r>
            <a:r>
              <a:rPr lang="vi-VN"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  </a:t>
            </a:r>
            <a:r>
              <a:rPr lang="en-US" altLang="zh-CN" sz="1200" dirty="0" smtClean="0">
                <a:solidFill>
                  <a:srgbClr val="000000"/>
                </a:solidFill>
                <a:latin typeface="Times New Roman" panose="02020603050405020304" pitchFamily="18" charset="0"/>
                <a:ea typeface="微软雅黑" pitchFamily="34" charset="-122"/>
                <a:cs typeface="Times New Roman" panose="02020603050405020304" pitchFamily="18" charset="0"/>
              </a:rPr>
              <a:t>chọn ngày cần sửa  sửa thông tin ca làm, sau đó “Lưu”</a:t>
            </a:r>
          </a:p>
          <a:p>
            <a:pPr algn="l">
              <a:spcBef>
                <a:spcPct val="50000"/>
              </a:spcBef>
            </a:pPr>
            <a:r>
              <a:rPr lang="en-US" altLang="zh-CN" sz="1200" dirty="0" smtClean="0">
                <a:solidFill>
                  <a:srgbClr val="FF0000"/>
                </a:solidFill>
                <a:latin typeface="Times New Roman" panose="02020603050405020304" pitchFamily="18" charset="0"/>
                <a:ea typeface="微软雅黑" pitchFamily="34" charset="-122"/>
                <a:cs typeface="Times New Roman" panose="02020603050405020304" pitchFamily="18" charset="0"/>
              </a:rPr>
              <a:t>Lịch công ty thường </a:t>
            </a:r>
            <a:r>
              <a:rPr lang="en-US" altLang="zh-CN" sz="1200" dirty="0">
                <a:solidFill>
                  <a:srgbClr val="FF0000"/>
                </a:solidFill>
                <a:latin typeface="Times New Roman" panose="02020603050405020304" pitchFamily="18" charset="0"/>
                <a:ea typeface="微软雅黑" pitchFamily="34" charset="-122"/>
                <a:cs typeface="Times New Roman" panose="02020603050405020304" pitchFamily="18" charset="0"/>
              </a:rPr>
              <a:t>được Nhân sự thiết lập vào mỗi cuối năm cùng với </a:t>
            </a:r>
            <a:r>
              <a:rPr lang="en-US" altLang="zh-CN" sz="1200" dirty="0" smtClean="0">
                <a:solidFill>
                  <a:srgbClr val="FF0000"/>
                </a:solidFill>
                <a:latin typeface="Times New Roman" panose="02020603050405020304" pitchFamily="18" charset="0"/>
                <a:ea typeface="微软雅黑" pitchFamily="34" charset="-122"/>
                <a:cs typeface="Times New Roman" panose="02020603050405020304" pitchFamily="18" charset="0"/>
              </a:rPr>
              <a:t>thiết lập ngày lễ.</a:t>
            </a:r>
            <a:endParaRPr lang="en-US" altLang="zh-CN" sz="1200"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algn="l">
              <a:spcBef>
                <a:spcPct val="50000"/>
              </a:spcBef>
            </a:pPr>
            <a:endParaRPr lang="en-US" altLang="zh-CN" sz="1200" dirty="0">
              <a:solidFill>
                <a:srgbClr val="000000"/>
              </a:solidFill>
              <a:latin typeface="Times New Roman" panose="02020603050405020304" pitchFamily="18" charset="0"/>
              <a:ea typeface="微软雅黑" pitchFamily="34" charset="-122"/>
              <a:cs typeface="Times New Roman" panose="02020603050405020304" pitchFamily="18" charset="0"/>
            </a:endParaRPr>
          </a:p>
          <a:p>
            <a:pPr algn="l">
              <a:spcBef>
                <a:spcPct val="50000"/>
              </a:spcBef>
            </a:pPr>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zh-CN" altLang="en-US" sz="1200" dirty="0">
              <a:latin typeface="+mj-lt"/>
              <a:ea typeface="微软雅黑" pitchFamily="34" charset="-122"/>
            </a:endParaRPr>
          </a:p>
        </p:txBody>
      </p:sp>
      <p:sp>
        <p:nvSpPr>
          <p:cNvPr id="18"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anose="02020603050405020304" pitchFamily="18" charset="0"/>
                <a:ea typeface="微软雅黑" pitchFamily="34" charset="-122"/>
                <a:cs typeface="Times New Roman" panose="02020603050405020304" pitchFamily="18" charset="0"/>
              </a:rPr>
              <a:t>Thiết lập -</a:t>
            </a:r>
            <a:r>
              <a:rPr lang="zh-CN" altLang="en-US" sz="1200" dirty="0" smtClean="0">
                <a:latin typeface="+mj-lt"/>
                <a:ea typeface="微软雅黑" pitchFamily="34" charset="-122"/>
              </a:rPr>
              <a:t> </a:t>
            </a:r>
            <a:r>
              <a:rPr lang="en-US" altLang="zh-CN" sz="1200" dirty="0">
                <a:latin typeface="+mj-lt"/>
                <a:ea typeface="微软雅黑" pitchFamily="34" charset="-122"/>
              </a:rPr>
              <a:t>L</a:t>
            </a:r>
            <a:r>
              <a:rPr lang="vi-VN" altLang="zh-CN" sz="1200" dirty="0" smtClean="0">
                <a:latin typeface="+mj-lt"/>
                <a:ea typeface="微软雅黑" pitchFamily="34" charset="-122"/>
              </a:rPr>
              <a:t>ịch </a:t>
            </a:r>
            <a:r>
              <a:rPr lang="vi-VN" altLang="zh-CN" sz="1200" dirty="0">
                <a:latin typeface="+mj-lt"/>
                <a:ea typeface="微软雅黑" pitchFamily="34" charset="-122"/>
              </a:rPr>
              <a:t>công ty</a:t>
            </a:r>
            <a:endParaRPr lang="zh-CN" altLang="en-US" sz="12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1" y="1556792"/>
            <a:ext cx="6660233" cy="341171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Thay đổi</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lịch công ty</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693319"/>
          </a:xfrm>
          <a:prstGeom prst="rect">
            <a:avLst/>
          </a:prstGeom>
          <a:noFill/>
        </p:spPr>
        <p:txBody>
          <a:bodyPr wrap="square" rtlCol="0">
            <a:spAutoFit/>
          </a:bodyPr>
          <a:lstStyle/>
          <a:p>
            <a:pPr algn="l">
              <a:spcBef>
                <a:spcPct val="50000"/>
              </a:spcBef>
            </a:pPr>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spcBef>
                <a:spcPct val="50000"/>
              </a:spcBef>
            </a:pPr>
            <a:r>
              <a:rPr lang="vi-VN" altLang="zh-CN" sz="1200" dirty="0">
                <a:latin typeface="Times New Roman" pitchFamily="18" charset="0"/>
                <a:ea typeface="微软雅黑" pitchFamily="34" charset="-122"/>
                <a:cs typeface="Times New Roman" pitchFamily="18" charset="0"/>
              </a:rPr>
              <a:t>Cài đặt lịch công ty,  nhân viên không được xếp ca sẽ mặc định ca làm theo lịch làm việc chung của công ty.</a:t>
            </a:r>
            <a:endParaRPr lang="zh-CN" altLang="en-US" sz="1200" dirty="0">
              <a:latin typeface="Times New Roman" pitchFamily="18" charset="0"/>
              <a:ea typeface="微软雅黑" pitchFamily="34" charset="-122"/>
              <a:cs typeface="Times New Roman" pitchFamily="18" charset="0"/>
            </a:endParaRPr>
          </a:p>
          <a:p>
            <a:pPr algn="l">
              <a:spcBef>
                <a:spcPct val="50000"/>
              </a:spcBef>
            </a:pPr>
            <a:r>
              <a:rPr lang="vi-VN" altLang="zh-CN" sz="1200" b="1" dirty="0">
                <a:latin typeface="Times New Roman" pitchFamily="18" charset="0"/>
                <a:ea typeface="微软雅黑" pitchFamily="34" charset="-122"/>
                <a:cs typeface="Times New Roman" pitchFamily="18" charset="0"/>
              </a:rPr>
              <a:t>Chức năng: </a:t>
            </a:r>
            <a:endParaRPr lang="en-US" altLang="zh-CN" sz="1200" b="1" dirty="0">
              <a:latin typeface="Times New Roman" pitchFamily="18" charset="0"/>
              <a:ea typeface="微软雅黑" pitchFamily="34" charset="-122"/>
              <a:cs typeface="Times New Roman" pitchFamily="18" charset="0"/>
            </a:endParaRPr>
          </a:p>
          <a:p>
            <a:pPr algn="l">
              <a:spcBef>
                <a:spcPct val="50000"/>
              </a:spcBef>
            </a:pPr>
            <a:r>
              <a:rPr lang="vi-VN" altLang="zh-CN" sz="1200" dirty="0">
                <a:latin typeface="Times New Roman" pitchFamily="18" charset="0"/>
                <a:ea typeface="微软雅黑" pitchFamily="34" charset="-122"/>
                <a:cs typeface="Times New Roman" pitchFamily="18" charset="0"/>
              </a:rPr>
              <a:t>Thông qua </a:t>
            </a:r>
            <a:r>
              <a:rPr lang="vi-VN" altLang="zh-CN" sz="1200" dirty="0" smtClean="0">
                <a:latin typeface="Times New Roman" pitchFamily="18" charset="0"/>
                <a:ea typeface="微软雅黑" pitchFamily="34" charset="-122"/>
                <a:cs typeface="Times New Roman" pitchFamily="18" charset="0"/>
              </a:rPr>
              <a:t>tích </a:t>
            </a:r>
            <a:r>
              <a:rPr lang="vi-VN" altLang="zh-CN" sz="1200" dirty="0">
                <a:latin typeface="Times New Roman" pitchFamily="18" charset="0"/>
                <a:ea typeface="微软雅黑" pitchFamily="34" charset="-122"/>
                <a:cs typeface="Times New Roman" pitchFamily="18" charset="0"/>
              </a:rPr>
              <a:t>chọn ngày tháng,  ca làm việc,  </a:t>
            </a:r>
            <a:r>
              <a:rPr lang="en-US" altLang="zh-CN" sz="1200" dirty="0" smtClean="0">
                <a:latin typeface="Times New Roman" pitchFamily="18" charset="0"/>
                <a:ea typeface="微软雅黑" pitchFamily="34" charset="-122"/>
                <a:cs typeface="Times New Roman" pitchFamily="18" charset="0"/>
              </a:rPr>
              <a:t>tính chất ngày</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ca </a:t>
            </a:r>
            <a:r>
              <a:rPr lang="en-US" altLang="zh-CN" sz="1200" dirty="0" smtClean="0">
                <a:latin typeface="Times New Roman" pitchFamily="18" charset="0"/>
                <a:ea typeface="微软雅黑" pitchFamily="34" charset="-122"/>
                <a:cs typeface="Times New Roman" pitchFamily="18" charset="0"/>
              </a:rPr>
              <a:t>làm </a:t>
            </a:r>
            <a:r>
              <a:rPr lang="vi-VN" altLang="zh-CN" sz="1200" dirty="0" smtClean="0">
                <a:latin typeface="Times New Roman" pitchFamily="18" charset="0"/>
                <a:ea typeface="微软雅黑" pitchFamily="34" charset="-122"/>
                <a:cs typeface="Times New Roman" pitchFamily="18" charset="0"/>
              </a:rPr>
              <a:t>để </a:t>
            </a:r>
            <a:r>
              <a:rPr lang="vi-VN" altLang="zh-CN" sz="1200" dirty="0">
                <a:latin typeface="Times New Roman" pitchFamily="18" charset="0"/>
                <a:ea typeface="微软雅黑" pitchFamily="34" charset="-122"/>
                <a:cs typeface="Times New Roman" pitchFamily="18" charset="0"/>
              </a:rPr>
              <a:t>cài đặt </a:t>
            </a:r>
            <a:r>
              <a:rPr lang="vi-VN" altLang="zh-CN" sz="1200" dirty="0" smtClean="0">
                <a:latin typeface="Times New Roman" pitchFamily="18" charset="0"/>
                <a:ea typeface="微软雅黑" pitchFamily="34" charset="-122"/>
                <a:cs typeface="Times New Roman" pitchFamily="18" charset="0"/>
              </a:rPr>
              <a:t>lịch</a:t>
            </a:r>
            <a:r>
              <a:rPr lang="en-US" altLang="zh-CN" sz="1200" dirty="0" smtClean="0">
                <a:latin typeface="Times New Roman" pitchFamily="18" charset="0"/>
                <a:ea typeface="微软雅黑" pitchFamily="34" charset="-122"/>
                <a:cs typeface="Times New Roman" pitchFamily="18" charset="0"/>
              </a:rPr>
              <a:t> làm việc</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 Cài đặt xong chọn “Lưu”</a:t>
            </a:r>
            <a:endParaRPr lang="en-US" altLang="zh-CN" sz="1200" dirty="0">
              <a:latin typeface="Times New Roman" pitchFamily="18" charset="0"/>
              <a:ea typeface="微软雅黑" pitchFamily="34" charset="-122"/>
              <a:cs typeface="Times New Roman" pitchFamily="18" charset="0"/>
            </a:endParaRPr>
          </a:p>
          <a:p>
            <a:pPr algn="l">
              <a:spcBef>
                <a:spcPct val="50000"/>
              </a:spcBef>
            </a:pPr>
            <a:endParaRPr lang="en-US" altLang="zh-CN" sz="1200" dirty="0">
              <a:latin typeface="Times New Roman" pitchFamily="18" charset="0"/>
              <a:ea typeface="微软雅黑" pitchFamily="34" charset="-122"/>
              <a:cs typeface="Times New Roman" pitchFamily="18" charset="0"/>
            </a:endParaRPr>
          </a:p>
          <a:p>
            <a:pPr algn="l">
              <a:spcBef>
                <a:spcPct val="50000"/>
              </a:spcBef>
            </a:pPr>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66793" y="1052736"/>
            <a:ext cx="6719785" cy="403668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93009" y="116632"/>
            <a:ext cx="2592288" cy="461665"/>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lgn="l" eaLnBrk="0" hangingPunct="0"/>
            <a:r>
              <a:rPr lang="en-US" altLang="zh-CN" sz="1200" dirty="0">
                <a:latin typeface="Times New Roman" pitchFamily="18" charset="0"/>
                <a:ea typeface="微软雅黑" pitchFamily="34" charset="-122"/>
                <a:cs typeface="Times New Roman" pitchFamily="18" charset="0"/>
              </a:rPr>
              <a:t>Thiết lập - Phân </a:t>
            </a:r>
            <a:r>
              <a:rPr lang="en-US" altLang="zh-CN" sz="1200" dirty="0" smtClean="0">
                <a:latin typeface="Times New Roman" pitchFamily="18" charset="0"/>
                <a:ea typeface="微软雅黑" pitchFamily="34" charset="-122"/>
                <a:cs typeface="Times New Roman" pitchFamily="18" charset="0"/>
              </a:rPr>
              <a:t>quyền chấm công</a:t>
            </a:r>
            <a:endParaRPr lang="zh-CN" altLang="en-US" sz="1200" dirty="0">
              <a:latin typeface="Times New Roman" pitchFamily="18" charset="0"/>
              <a:ea typeface="微软雅黑" pitchFamily="34" charset="-122"/>
              <a:cs typeface="Times New Roman" pitchFamily="18" charset="0"/>
            </a:endParaRPr>
          </a:p>
          <a:p>
            <a:pPr lvl="0" algn="l" eaLnBrk="0" hangingPunct="0"/>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708981"/>
          </a:xfrm>
          <a:prstGeom prst="rect">
            <a:avLst/>
          </a:prstGeom>
          <a:noFill/>
        </p:spPr>
        <p:txBody>
          <a:bodyPr wrap="square" rtlCol="0">
            <a:spAutoFit/>
          </a:bodyPr>
          <a:lstStyle/>
          <a:p>
            <a:pPr algn="l">
              <a:spcBef>
                <a:spcPct val="50000"/>
              </a:spcBef>
            </a:pPr>
            <a:r>
              <a:rPr lang="vi-VN" altLang="zh-CN" sz="1200" b="1" dirty="0" smtClean="0">
                <a:latin typeface="Times New Roman" pitchFamily="18" charset="0"/>
                <a:ea typeface="微软雅黑" pitchFamily="34" charset="-122"/>
                <a:cs typeface="Times New Roman" pitchFamily="18" charset="0"/>
              </a:rPr>
              <a:t>Chức </a:t>
            </a:r>
            <a:r>
              <a:rPr lang="vi-VN" altLang="zh-CN" sz="1200" b="1" dirty="0">
                <a:latin typeface="Times New Roman" pitchFamily="18" charset="0"/>
                <a:ea typeface="微软雅黑" pitchFamily="34" charset="-122"/>
                <a:cs typeface="Times New Roman" pitchFamily="18" charset="0"/>
              </a:rPr>
              <a:t>năng: </a:t>
            </a:r>
            <a:endParaRPr lang="en-US" altLang="zh-CN" sz="1200" b="1" dirty="0">
              <a:latin typeface="Times New Roman" pitchFamily="18" charset="0"/>
              <a:ea typeface="微软雅黑" pitchFamily="34" charset="-122"/>
              <a:cs typeface="Times New Roman" pitchFamily="18" charset="0"/>
            </a:endParaRPr>
          </a:p>
          <a:p>
            <a:pPr algn="l">
              <a:spcBef>
                <a:spcPct val="50000"/>
              </a:spcBef>
            </a:pPr>
            <a:r>
              <a:rPr lang="vi-VN" altLang="zh-CN" sz="1200" dirty="0">
                <a:latin typeface="Times New Roman" pitchFamily="18" charset="0"/>
                <a:ea typeface="微软雅黑" pitchFamily="34" charset="-122"/>
                <a:cs typeface="Times New Roman" pitchFamily="18" charset="0"/>
              </a:rPr>
              <a:t>Thiết lập </a:t>
            </a:r>
            <a:r>
              <a:rPr lang="en-US" altLang="zh-CN" sz="1200" dirty="0" smtClean="0">
                <a:latin typeface="Times New Roman" pitchFamily="18" charset="0"/>
                <a:ea typeface="微软雅黑" pitchFamily="34" charset="-122"/>
                <a:cs typeface="Times New Roman" pitchFamily="18" charset="0"/>
              </a:rPr>
              <a:t>NV phụ trách chấm công từng phòng ban</a:t>
            </a:r>
          </a:p>
          <a:p>
            <a:pPr algn="l">
              <a:spcBef>
                <a:spcPct val="50000"/>
              </a:spcBef>
            </a:pPr>
            <a:r>
              <a:rPr lang="vi-VN" altLang="zh-CN" sz="1200" b="1" dirty="0" smtClean="0">
                <a:latin typeface="Times New Roman" pitchFamily="18" charset="0"/>
                <a:ea typeface="微软雅黑" pitchFamily="34" charset="-122"/>
                <a:cs typeface="Times New Roman" pitchFamily="18" charset="0"/>
              </a:rPr>
              <a:t>Giải </a:t>
            </a:r>
            <a:r>
              <a:rPr lang="vi-VN" altLang="zh-CN" sz="1200" b="1" dirty="0">
                <a:latin typeface="Times New Roman" pitchFamily="18" charset="0"/>
                <a:ea typeface="微软雅黑" pitchFamily="34" charset="-122"/>
                <a:cs typeface="Times New Roman" pitchFamily="18" charset="0"/>
              </a:rPr>
              <a:t>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en-US" altLang="zh-CN" sz="1200" dirty="0" smtClean="0">
                <a:solidFill>
                  <a:srgbClr val="000000"/>
                </a:solidFill>
                <a:latin typeface="Times New Roman" pitchFamily="18" charset="0"/>
                <a:ea typeface="微软雅黑" pitchFamily="34" charset="-122"/>
                <a:cs typeface="Times New Roman" pitchFamily="18" charset="0"/>
              </a:rPr>
              <a:t>Click “Thêm mới” đến trang mới, chọn NV phụ trách chấm công phòng ban nào đó ở bên phải, sau đó “Lưu”</a:t>
            </a:r>
            <a:endParaRPr lang="en-US" altLang="zh-CN" sz="1200" dirty="0">
              <a:solidFill>
                <a:srgbClr val="000000"/>
              </a:solidFill>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200" dirty="0">
                <a:solidFill>
                  <a:srgbClr val="000000"/>
                </a:solidFill>
                <a:latin typeface="Times New Roman" pitchFamily="18" charset="0"/>
                <a:ea typeface="微软雅黑" pitchFamily="34" charset="-122"/>
                <a:cs typeface="Times New Roman" pitchFamily="18" charset="0"/>
              </a:rPr>
              <a:t>Chọn mục cần sửa,  click vào nút </a:t>
            </a:r>
            <a:r>
              <a:rPr lang="vi-VN" altLang="zh-CN" sz="1200" dirty="0" smtClean="0">
                <a:solidFill>
                  <a:srgbClr val="000000"/>
                </a:solidFill>
                <a:latin typeface="Times New Roman" pitchFamily="18" charset="0"/>
                <a:ea typeface="微软雅黑" pitchFamily="34" charset="-122"/>
                <a:cs typeface="Times New Roman" pitchFamily="18" charset="0"/>
              </a:rPr>
              <a:t>“</a:t>
            </a:r>
            <a:r>
              <a:rPr lang="en-US" altLang="zh-CN" sz="1200" dirty="0" smtClean="0">
                <a:solidFill>
                  <a:srgbClr val="000000"/>
                </a:solidFill>
                <a:latin typeface="Times New Roman" pitchFamily="18" charset="0"/>
                <a:ea typeface="微软雅黑" pitchFamily="34" charset="-122"/>
                <a:cs typeface="Times New Roman" pitchFamily="18" charset="0"/>
              </a:rPr>
              <a:t>S</a:t>
            </a:r>
            <a:r>
              <a:rPr lang="vi-VN" altLang="zh-CN" sz="1200" dirty="0" smtClean="0">
                <a:solidFill>
                  <a:srgbClr val="000000"/>
                </a:solidFill>
                <a:latin typeface="Times New Roman" pitchFamily="18" charset="0"/>
                <a:ea typeface="微软雅黑" pitchFamily="34" charset="-122"/>
                <a:cs typeface="Times New Roman" pitchFamily="18" charset="0"/>
              </a:rPr>
              <a:t>ửa" </a:t>
            </a:r>
            <a:r>
              <a:rPr lang="vi-VN" altLang="zh-CN" sz="1200" dirty="0">
                <a:solidFill>
                  <a:srgbClr val="000000"/>
                </a:solidFill>
                <a:latin typeface="Times New Roman" pitchFamily="18" charset="0"/>
                <a:ea typeface="微软雅黑" pitchFamily="34" charset="-122"/>
                <a:cs typeface="Times New Roman" pitchFamily="18" charset="0"/>
              </a:rPr>
              <a:t>đến trang </a:t>
            </a:r>
            <a:r>
              <a:rPr lang="en-US" altLang="zh-CN" sz="1200" dirty="0" smtClean="0">
                <a:solidFill>
                  <a:srgbClr val="000000"/>
                </a:solidFill>
                <a:latin typeface="Times New Roman" pitchFamily="18" charset="0"/>
                <a:ea typeface="微软雅黑" pitchFamily="34" charset="-122"/>
                <a:cs typeface="Times New Roman" pitchFamily="18" charset="0"/>
              </a:rPr>
              <a:t>mới</a:t>
            </a:r>
            <a:r>
              <a:rPr lang="vi-VN" altLang="zh-CN" sz="1200" dirty="0" smtClean="0">
                <a:solidFill>
                  <a:srgbClr val="000000"/>
                </a:solidFill>
                <a:latin typeface="Times New Roman" pitchFamily="18" charset="0"/>
                <a:ea typeface="微软雅黑" pitchFamily="34" charset="-122"/>
                <a:cs typeface="Times New Roman" pitchFamily="18" charset="0"/>
              </a:rPr>
              <a:t>,  </a:t>
            </a:r>
            <a:r>
              <a:rPr lang="en-US" altLang="zh-CN" sz="1200" dirty="0" smtClean="0">
                <a:solidFill>
                  <a:srgbClr val="000000"/>
                </a:solidFill>
                <a:latin typeface="Times New Roman" pitchFamily="18" charset="0"/>
                <a:ea typeface="微软雅黑" pitchFamily="34" charset="-122"/>
                <a:cs typeface="Times New Roman" pitchFamily="18" charset="0"/>
              </a:rPr>
              <a:t>sửa thông tin trong trang đó sau đó “Lưu”</a:t>
            </a:r>
            <a:endParaRPr lang="en-US" altLang="zh-CN" sz="1200" dirty="0">
              <a:solidFill>
                <a:srgbClr val="000000"/>
              </a:solidFill>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200" dirty="0">
                <a:solidFill>
                  <a:srgbClr val="000000"/>
                </a:solidFill>
                <a:latin typeface="Times New Roman" pitchFamily="18" charset="0"/>
                <a:ea typeface="微软雅黑" pitchFamily="34" charset="-122"/>
                <a:cs typeface="Times New Roman" pitchFamily="18" charset="0"/>
              </a:rPr>
              <a:t>Chọn mục cần xóa,  click </a:t>
            </a:r>
            <a:r>
              <a:rPr lang="vi-VN" altLang="zh-CN" sz="1200" dirty="0" smtClean="0">
                <a:solidFill>
                  <a:srgbClr val="000000"/>
                </a:solidFill>
                <a:latin typeface="Times New Roman" pitchFamily="18" charset="0"/>
                <a:ea typeface="微软雅黑" pitchFamily="34" charset="-122"/>
                <a:cs typeface="Times New Roman" pitchFamily="18" charset="0"/>
              </a:rPr>
              <a:t>“</a:t>
            </a:r>
            <a:r>
              <a:rPr lang="en-US" altLang="zh-CN" sz="1200" dirty="0" smtClean="0">
                <a:solidFill>
                  <a:srgbClr val="000000"/>
                </a:solidFill>
                <a:latin typeface="Times New Roman" pitchFamily="18" charset="0"/>
                <a:ea typeface="微软雅黑" pitchFamily="34" charset="-122"/>
                <a:cs typeface="Times New Roman" pitchFamily="18" charset="0"/>
              </a:rPr>
              <a:t>X</a:t>
            </a:r>
            <a:r>
              <a:rPr lang="vi-VN" altLang="zh-CN" sz="1200" dirty="0" smtClean="0">
                <a:solidFill>
                  <a:srgbClr val="000000"/>
                </a:solidFill>
                <a:latin typeface="Times New Roman" pitchFamily="18" charset="0"/>
                <a:ea typeface="微软雅黑" pitchFamily="34" charset="-122"/>
                <a:cs typeface="Times New Roman" pitchFamily="18" charset="0"/>
              </a:rPr>
              <a:t>óa</a:t>
            </a:r>
            <a:r>
              <a:rPr lang="vi-VN" altLang="zh-CN" sz="1200" dirty="0">
                <a:solidFill>
                  <a:srgbClr val="000000"/>
                </a:solidFill>
                <a:latin typeface="Times New Roman" pitchFamily="18" charset="0"/>
                <a:ea typeface="微软雅黑" pitchFamily="34" charset="-122"/>
                <a:cs typeface="Times New Roman" pitchFamily="18" charset="0"/>
              </a:rPr>
              <a:t>",  sau đó chọn </a:t>
            </a:r>
            <a:r>
              <a:rPr lang="vi-VN" altLang="zh-CN" sz="1200" dirty="0" smtClean="0">
                <a:solidFill>
                  <a:srgbClr val="000000"/>
                </a:solidFill>
                <a:latin typeface="Times New Roman" pitchFamily="18" charset="0"/>
                <a:ea typeface="微软雅黑" pitchFamily="34" charset="-122"/>
                <a:cs typeface="Times New Roman" pitchFamily="18" charset="0"/>
              </a:rPr>
              <a:t>“</a:t>
            </a:r>
            <a:r>
              <a:rPr lang="en-US" altLang="zh-CN" sz="1200" dirty="0" smtClean="0">
                <a:solidFill>
                  <a:srgbClr val="000000"/>
                </a:solidFill>
                <a:latin typeface="Times New Roman" pitchFamily="18" charset="0"/>
                <a:ea typeface="微软雅黑" pitchFamily="34" charset="-122"/>
                <a:cs typeface="Times New Roman" pitchFamily="18" charset="0"/>
              </a:rPr>
              <a:t>X</a:t>
            </a:r>
            <a:r>
              <a:rPr lang="vi-VN" altLang="zh-CN" sz="1200" dirty="0" smtClean="0">
                <a:solidFill>
                  <a:srgbClr val="000000"/>
                </a:solidFill>
                <a:latin typeface="Times New Roman" pitchFamily="18" charset="0"/>
                <a:ea typeface="微软雅黑" pitchFamily="34" charset="-122"/>
                <a:cs typeface="Times New Roman" pitchFamily="18" charset="0"/>
              </a:rPr>
              <a:t>ác </a:t>
            </a:r>
            <a:r>
              <a:rPr lang="vi-VN" altLang="zh-CN" sz="1200" dirty="0">
                <a:solidFill>
                  <a:srgbClr val="000000"/>
                </a:solidFill>
                <a:latin typeface="Times New Roman" pitchFamily="18" charset="0"/>
                <a:ea typeface="微软雅黑" pitchFamily="34" charset="-122"/>
                <a:cs typeface="Times New Roman" pitchFamily="18" charset="0"/>
              </a:rPr>
              <a:t>nhận</a:t>
            </a:r>
            <a:r>
              <a:rPr lang="vi-VN" altLang="zh-CN" sz="1200" dirty="0" smtClean="0">
                <a:solidFill>
                  <a:srgbClr val="000000"/>
                </a:solidFill>
                <a:latin typeface="Times New Roman" pitchFamily="18" charset="0"/>
                <a:ea typeface="微软雅黑" pitchFamily="34" charset="-122"/>
                <a:cs typeface="Times New Roman" pitchFamily="18" charset="0"/>
              </a:rPr>
              <a:t>" </a:t>
            </a:r>
            <a:r>
              <a:rPr lang="vi-VN" altLang="zh-CN" sz="1200" dirty="0">
                <a:solidFill>
                  <a:srgbClr val="000000"/>
                </a:solidFill>
                <a:latin typeface="Times New Roman" pitchFamily="18" charset="0"/>
                <a:ea typeface="微软雅黑" pitchFamily="34" charset="-122"/>
                <a:cs typeface="Times New Roman" pitchFamily="18" charset="0"/>
              </a:rPr>
              <a:t>hoàn thành thao tác.</a:t>
            </a:r>
            <a:endParaRPr lang="zh-CN" altLang="en-US" sz="1200" dirty="0">
              <a:latin typeface="Times New Roman" pitchFamily="18" charset="0"/>
              <a:ea typeface="微软雅黑" pitchFamily="34" charset="-122"/>
              <a:cs typeface="Times New Roman" pitchFamily="18" charset="0"/>
            </a:endParaRPr>
          </a:p>
          <a:p>
            <a:pPr algn="l">
              <a:spcBef>
                <a:spcPct val="50000"/>
              </a:spcBef>
            </a:pPr>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graphicFrame>
        <p:nvGraphicFramePr>
          <p:cNvPr id="12" name="表格 11"/>
          <p:cNvGraphicFramePr>
            <a:graphicFrameLocks noGrp="1"/>
          </p:cNvGraphicFramePr>
          <p:nvPr>
            <p:extLst>
              <p:ext uri="{D42A27DB-BD31-4B8C-83A1-F6EECF244321}">
                <p14:modId xmlns:p14="http://schemas.microsoft.com/office/powerpoint/2010/main" val="1835901185"/>
              </p:ext>
            </p:extLst>
          </p:nvPr>
        </p:nvGraphicFramePr>
        <p:xfrm>
          <a:off x="54324" y="803181"/>
          <a:ext cx="6643702" cy="177047"/>
        </p:xfrm>
        <a:graphic>
          <a:graphicData uri="http://schemas.openxmlformats.org/drawingml/2006/table">
            <a:tbl>
              <a:tblPr/>
              <a:tblGrid>
                <a:gridCol w="6643702">
                  <a:extLst>
                    <a:ext uri="{9D8B030D-6E8A-4147-A177-3AD203B41FA5}">
                      <a16:colId xmlns:a16="http://schemas.microsoft.com/office/drawing/2014/main" xmlns="" val="20000"/>
                    </a:ext>
                  </a:extLst>
                </a:gridCol>
              </a:tblGrid>
              <a:tr h="174978">
                <a:tc>
                  <a:txBody>
                    <a:bodyPr/>
                    <a:lstStyle/>
                    <a:p>
                      <a:pPr algn="l" fontAlgn="ctr"/>
                      <a:r>
                        <a:rPr lang="en-US" altLang="zh-CN" sz="1100" b="1" i="0" u="none" strike="noStrike" dirty="0" smtClean="0">
                          <a:solidFill>
                            <a:srgbClr val="FFFFFF"/>
                          </a:solidFill>
                          <a:latin typeface="Times New Roman" pitchFamily="18" charset="0"/>
                          <a:ea typeface="微软雅黑" pitchFamily="34" charset="-122"/>
                          <a:cs typeface="Times New Roman" pitchFamily="18" charset="0"/>
                        </a:rPr>
                        <a:t>Phân</a:t>
                      </a:r>
                      <a:r>
                        <a:rPr lang="en-US" altLang="zh-CN" sz="1100" b="1" i="0" u="none" strike="noStrike" baseline="0" dirty="0" smtClean="0">
                          <a:solidFill>
                            <a:srgbClr val="FFFFFF"/>
                          </a:solidFill>
                          <a:latin typeface="Times New Roman" pitchFamily="18" charset="0"/>
                          <a:ea typeface="微软雅黑" pitchFamily="34" charset="-122"/>
                          <a:cs typeface="Times New Roman" pitchFamily="18" charset="0"/>
                        </a:rPr>
                        <a:t> quyền chấm công</a:t>
                      </a:r>
                      <a:endParaRPr lang="zh-CN" altLang="en-US" sz="1100" b="1" i="0" u="none" strike="noStrike" dirty="0">
                        <a:solidFill>
                          <a:srgbClr val="FFFFFF"/>
                        </a:solidFill>
                        <a:latin typeface="Times New Roman" pitchFamily="18" charset="0"/>
                        <a:ea typeface="微软雅黑" pitchFamily="34" charset="-122"/>
                        <a:cs typeface="Times New Roman" pitchFamily="18" charset="0"/>
                      </a:endParaRPr>
                    </a:p>
                  </a:txBody>
                  <a:tcPr marL="9407" marR="9407" marT="9407" marB="0" anchor="ctr">
                    <a:lnL>
                      <a:noFill/>
                    </a:lnL>
                    <a:lnR>
                      <a:noFill/>
                    </a:lnR>
                    <a:lnT>
                      <a:noFill/>
                    </a:lnT>
                    <a:lnB>
                      <a:noFill/>
                    </a:lnB>
                    <a:solidFill>
                      <a:srgbClr val="8DB4E3"/>
                    </a:solidFill>
                  </a:tcPr>
                </a:tc>
                <a:extLst>
                  <a:ext uri="{0D108BD9-81ED-4DB2-BD59-A6C34878D82A}">
                    <a16:rowId xmlns:a16="http://schemas.microsoft.com/office/drawing/2014/main" xmlns="" val="10000"/>
                  </a:ext>
                </a:extLst>
              </a:tr>
            </a:tbl>
          </a:graphicData>
        </a:graphic>
      </p:graphicFrame>
      <p:sp>
        <p:nvSpPr>
          <p:cNvPr id="14" name="TextBox 13"/>
          <p:cNvSpPr txBox="1"/>
          <p:nvPr/>
        </p:nvSpPr>
        <p:spPr>
          <a:xfrm>
            <a:off x="71406" y="4000504"/>
            <a:ext cx="2643206" cy="276999"/>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Trang thêm </a:t>
            </a:r>
            <a:r>
              <a:rPr lang="vi-VN" altLang="zh-CN" sz="1200" b="1">
                <a:latin typeface="Times New Roman" pitchFamily="18" charset="0"/>
                <a:ea typeface="微软雅黑" pitchFamily="34" charset="-122"/>
                <a:cs typeface="Times New Roman" pitchFamily="18" charset="0"/>
              </a:rPr>
              <a:t>và sửa: </a:t>
            </a:r>
            <a:endParaRPr lang="zh-CN" altLang="en-US" sz="1200" b="1" dirty="0">
              <a:latin typeface="Times New Roman" pitchFamily="18" charset="0"/>
              <a:ea typeface="微软雅黑" pitchFamily="34" charset="-122"/>
              <a:cs typeface="Times New Roman" pitchFamily="18" charset="0"/>
            </a:endParaRPr>
          </a:p>
        </p:txBody>
      </p:sp>
      <p:pic>
        <p:nvPicPr>
          <p:cNvPr id="30" name="Picture 4"/>
          <p:cNvPicPr>
            <a:picLocks noChangeAspect="1" noChangeArrowheads="1"/>
          </p:cNvPicPr>
          <p:nvPr/>
        </p:nvPicPr>
        <p:blipFill>
          <a:blip r:embed="rId2" cstate="print"/>
          <a:srcRect/>
          <a:stretch>
            <a:fillRect/>
          </a:stretch>
        </p:blipFill>
        <p:spPr bwMode="auto">
          <a:xfrm>
            <a:off x="5572132" y="2786059"/>
            <a:ext cx="1023936" cy="212664"/>
          </a:xfrm>
          <a:prstGeom prst="rect">
            <a:avLst/>
          </a:prstGeom>
          <a:noFill/>
          <a:ln w="9525">
            <a:noFill/>
            <a:miter lim="800000"/>
            <a:headEnd/>
            <a:tailEnd/>
          </a:ln>
        </p:spPr>
      </p:pic>
      <p:sp>
        <p:nvSpPr>
          <p:cNvPr id="31" name="椭圆 30"/>
          <p:cNvSpPr/>
          <p:nvPr/>
        </p:nvSpPr>
        <p:spPr>
          <a:xfrm>
            <a:off x="5500694" y="2500306"/>
            <a:ext cx="142875" cy="14287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Times New Roman" pitchFamily="18" charset="0"/>
                <a:ea typeface="微软雅黑" pitchFamily="34" charset="-122"/>
                <a:cs typeface="Times New Roman" pitchFamily="18" charset="0"/>
              </a:rPr>
              <a:t>1</a:t>
            </a:r>
            <a:endParaRPr lang="zh-CN" altLang="en-US" sz="1000" dirty="0">
              <a:solidFill>
                <a:schemeClr val="tx1"/>
              </a:solidFill>
              <a:latin typeface="Times New Roman" pitchFamily="18" charset="0"/>
              <a:ea typeface="微软雅黑" pitchFamily="34" charset="-122"/>
              <a:cs typeface="Times New Roman" pitchFamily="18" charset="0"/>
            </a:endParaRPr>
          </a:p>
        </p:txBody>
      </p:sp>
      <p:sp>
        <p:nvSpPr>
          <p:cNvPr id="32" name="椭圆 31"/>
          <p:cNvSpPr/>
          <p:nvPr/>
        </p:nvSpPr>
        <p:spPr>
          <a:xfrm>
            <a:off x="6000760" y="2500306"/>
            <a:ext cx="142875" cy="14287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Times New Roman" pitchFamily="18" charset="0"/>
                <a:ea typeface="微软雅黑" pitchFamily="34" charset="-122"/>
                <a:cs typeface="Times New Roman" pitchFamily="18" charset="0"/>
              </a:rPr>
              <a:t>3</a:t>
            </a:r>
            <a:endParaRPr lang="zh-CN" altLang="en-US" sz="1000" dirty="0">
              <a:solidFill>
                <a:schemeClr val="tx1"/>
              </a:solidFill>
              <a:latin typeface="Times New Roman" pitchFamily="18" charset="0"/>
              <a:ea typeface="微软雅黑" pitchFamily="34" charset="-122"/>
              <a:cs typeface="Times New Roman" pitchFamily="18" charset="0"/>
            </a:endParaRPr>
          </a:p>
        </p:txBody>
      </p:sp>
      <p:sp>
        <p:nvSpPr>
          <p:cNvPr id="33" name="椭圆 32"/>
          <p:cNvSpPr/>
          <p:nvPr/>
        </p:nvSpPr>
        <p:spPr>
          <a:xfrm>
            <a:off x="6500826" y="2500306"/>
            <a:ext cx="142875" cy="14287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Times New Roman" pitchFamily="18" charset="0"/>
                <a:ea typeface="微软雅黑" pitchFamily="34" charset="-122"/>
                <a:cs typeface="Times New Roman" pitchFamily="18" charset="0"/>
              </a:rPr>
              <a:t>2</a:t>
            </a:r>
            <a:endParaRPr lang="zh-CN" altLang="en-US" sz="1000" dirty="0">
              <a:solidFill>
                <a:schemeClr val="tx1"/>
              </a:solidFill>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3"/>
          <a:stretch>
            <a:fillRect/>
          </a:stretch>
        </p:blipFill>
        <p:spPr>
          <a:xfrm>
            <a:off x="42014" y="1172906"/>
            <a:ext cx="6601687" cy="2791903"/>
          </a:xfrm>
          <a:prstGeom prst="rect">
            <a:avLst/>
          </a:prstGeom>
        </p:spPr>
      </p:pic>
      <p:pic>
        <p:nvPicPr>
          <p:cNvPr id="3" name="Picture 2"/>
          <p:cNvPicPr>
            <a:picLocks noChangeAspect="1"/>
          </p:cNvPicPr>
          <p:nvPr/>
        </p:nvPicPr>
        <p:blipFill>
          <a:blip r:embed="rId4"/>
          <a:stretch>
            <a:fillRect/>
          </a:stretch>
        </p:blipFill>
        <p:spPr>
          <a:xfrm>
            <a:off x="71406" y="3141600"/>
            <a:ext cx="6101621" cy="2056481"/>
          </a:xfrm>
          <a:prstGeom prst="rect">
            <a:avLst/>
          </a:prstGeom>
        </p:spPr>
      </p:pic>
      <p:sp>
        <p:nvSpPr>
          <p:cNvPr id="4" name="Rectangle 3"/>
          <p:cNvSpPr/>
          <p:nvPr/>
        </p:nvSpPr>
        <p:spPr>
          <a:xfrm>
            <a:off x="5796136" y="1686380"/>
            <a:ext cx="504056" cy="2193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a:endCxn id="3" idx="0"/>
          </p:cNvCxnSpPr>
          <p:nvPr/>
        </p:nvCxnSpPr>
        <p:spPr>
          <a:xfrm rot="10800000" flipV="1">
            <a:off x="3122217" y="1908328"/>
            <a:ext cx="2949980" cy="1233272"/>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9"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sp>
        <p:nvSpPr>
          <p:cNvPr id="7" name="Text Box 7"/>
          <p:cNvSpPr txBox="1">
            <a:spLocks noChangeArrowheads="1"/>
          </p:cNvSpPr>
          <p:nvPr/>
        </p:nvSpPr>
        <p:spPr bwMode="auto">
          <a:xfrm>
            <a:off x="1489905" y="106149"/>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Ca làm việc- </a:t>
            </a:r>
            <a:r>
              <a:rPr lang="vi-VN" altLang="zh-CN" sz="1200" dirty="0" smtClean="0">
                <a:latin typeface="Times New Roman" pitchFamily="18" charset="0"/>
                <a:ea typeface="微软雅黑" pitchFamily="34" charset="-122"/>
                <a:cs typeface="Times New Roman" pitchFamily="18" charset="0"/>
              </a:rPr>
              <a:t>Xếp </a:t>
            </a:r>
            <a:r>
              <a:rPr lang="vi-VN" altLang="zh-CN" sz="1200" dirty="0">
                <a:latin typeface="Times New Roman" pitchFamily="18" charset="0"/>
                <a:ea typeface="微软雅黑" pitchFamily="34" charset="-122"/>
                <a:cs typeface="Times New Roman" pitchFamily="18" charset="0"/>
              </a:rPr>
              <a:t>ca </a:t>
            </a:r>
            <a:r>
              <a:rPr lang="en-US" altLang="zh-CN" sz="1200" dirty="0" smtClean="0">
                <a:latin typeface="Times New Roman" pitchFamily="18" charset="0"/>
                <a:ea typeface="微软雅黑" pitchFamily="34" charset="-122"/>
                <a:cs typeface="Times New Roman" pitchFamily="18" charset="0"/>
              </a:rPr>
              <a:t>làm việc</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524315"/>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r>
              <a:rPr lang="vi-VN" altLang="zh-CN" sz="1200" dirty="0">
                <a:latin typeface="Times New Roman" pitchFamily="18" charset="0"/>
                <a:ea typeface="微软雅黑" pitchFamily="34" charset="-122"/>
                <a:cs typeface="Times New Roman" pitchFamily="18" charset="0"/>
              </a:rPr>
              <a:t>Có thể tiến </a:t>
            </a:r>
            <a:r>
              <a:rPr lang="vi-VN" altLang="zh-CN" sz="1200" dirty="0" smtClean="0">
                <a:latin typeface="Times New Roman" pitchFamily="18" charset="0"/>
                <a:ea typeface="微软雅黑" pitchFamily="34" charset="-122"/>
                <a:cs typeface="Times New Roman" pitchFamily="18" charset="0"/>
              </a:rPr>
              <a:t>hành </a:t>
            </a:r>
            <a:r>
              <a:rPr lang="vi-VN" altLang="zh-CN" sz="1200" dirty="0">
                <a:latin typeface="Times New Roman" pitchFamily="18" charset="0"/>
                <a:ea typeface="微软雅黑" pitchFamily="34" charset="-122"/>
                <a:cs typeface="Times New Roman" pitchFamily="18" charset="0"/>
              </a:rPr>
              <a:t>xếp </a:t>
            </a:r>
            <a:r>
              <a:rPr lang="vi-VN" altLang="zh-CN" sz="1200" dirty="0" smtClean="0">
                <a:latin typeface="Times New Roman" pitchFamily="18" charset="0"/>
                <a:ea typeface="微软雅黑" pitchFamily="34" charset="-122"/>
                <a:cs typeface="Times New Roman" pitchFamily="18" charset="0"/>
              </a:rPr>
              <a:t>ca </a:t>
            </a:r>
            <a:r>
              <a:rPr lang="vi-VN" altLang="zh-CN" sz="1200" dirty="0">
                <a:latin typeface="Times New Roman" pitchFamily="18" charset="0"/>
                <a:ea typeface="微软雅黑" pitchFamily="34" charset="-122"/>
                <a:cs typeface="Times New Roman" pitchFamily="18" charset="0"/>
              </a:rPr>
              <a:t>theo cá nhân,  phòng ban,  nhóm ca. Thời gian bắt đầu và thời gian kết thúc sẽ là </a:t>
            </a:r>
            <a:r>
              <a:rPr lang="en-US" altLang="zh-CN" sz="1200" dirty="0" smtClean="0">
                <a:latin typeface="Times New Roman" pitchFamily="18" charset="0"/>
                <a:ea typeface="微软雅黑" pitchFamily="34" charset="-122"/>
                <a:cs typeface="Times New Roman" pitchFamily="18" charset="0"/>
              </a:rPr>
              <a:t>khoảng thời gian </a:t>
            </a:r>
            <a:r>
              <a:rPr lang="vi-VN" altLang="zh-CN" sz="1200" dirty="0" smtClean="0">
                <a:latin typeface="Times New Roman" pitchFamily="18" charset="0"/>
                <a:ea typeface="微软雅黑" pitchFamily="34" charset="-122"/>
                <a:cs typeface="Times New Roman" pitchFamily="18" charset="0"/>
              </a:rPr>
              <a:t>của </a:t>
            </a:r>
            <a:r>
              <a:rPr lang="vi-VN" altLang="zh-CN" sz="1200" dirty="0">
                <a:latin typeface="Times New Roman" pitchFamily="18" charset="0"/>
                <a:ea typeface="微软雅黑" pitchFamily="34" charset="-122"/>
                <a:cs typeface="Times New Roman" pitchFamily="18" charset="0"/>
              </a:rPr>
              <a:t>ca làm được xếp.</a:t>
            </a:r>
            <a:r>
              <a:rPr lang="en-US" altLang="zh-CN" sz="1200" dirty="0">
                <a:latin typeface="Times New Roman" pitchFamily="18" charset="0"/>
                <a:ea typeface="微软雅黑" pitchFamily="34" charset="-122"/>
                <a:cs typeface="Times New Roman" pitchFamily="18" charset="0"/>
              </a:rPr>
              <a:t> </a:t>
            </a:r>
          </a:p>
          <a:p>
            <a:pPr algn="l"/>
            <a:endParaRPr lang="en-US" altLang="zh-CN" sz="1200"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a:latin typeface="Times New Roman" pitchFamily="18" charset="0"/>
                <a:ea typeface="微软雅黑" pitchFamily="34" charset="-122"/>
                <a:cs typeface="Times New Roman" pitchFamily="18" charset="0"/>
              </a:rPr>
              <a:t>Lựa chọn thời gian,  </a:t>
            </a:r>
            <a:r>
              <a:rPr lang="en-US" altLang="zh-CN" sz="1200" dirty="0" smtClean="0">
                <a:latin typeface="Times New Roman" pitchFamily="18" charset="0"/>
                <a:ea typeface="微软雅黑" pitchFamily="34" charset="-122"/>
                <a:cs typeface="Times New Roman" pitchFamily="18" charset="0"/>
              </a:rPr>
              <a:t>lựa chọn “Nhân viên”</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Tìm nhân viên muốn xếp ca</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Tại Bảng ca làm, lựa chọn các ca làm việc trong 7 ngày. </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Cuối cùng chọn “Lưu”</a:t>
            </a:r>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4"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4" name="Picture 3"/>
          <p:cNvPicPr>
            <a:picLocks noChangeAspect="1"/>
          </p:cNvPicPr>
          <p:nvPr/>
        </p:nvPicPr>
        <p:blipFill>
          <a:blip r:embed="rId2"/>
          <a:stretch>
            <a:fillRect/>
          </a:stretch>
        </p:blipFill>
        <p:spPr>
          <a:xfrm>
            <a:off x="0" y="1571612"/>
            <a:ext cx="6786578" cy="336955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9"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sp>
        <p:nvSpPr>
          <p:cNvPr id="7" name="Text Box 7"/>
          <p:cNvSpPr txBox="1">
            <a:spLocks noChangeArrowheads="1"/>
          </p:cNvSpPr>
          <p:nvPr/>
        </p:nvSpPr>
        <p:spPr bwMode="auto">
          <a:xfrm>
            <a:off x="1489905" y="106149"/>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200" dirty="0">
                <a:latin typeface="Times New Roman" pitchFamily="18" charset="0"/>
                <a:ea typeface="微软雅黑" pitchFamily="34" charset="-122"/>
                <a:cs typeface="Times New Roman" pitchFamily="18" charset="0"/>
              </a:rPr>
              <a:t>Xếp ca </a:t>
            </a:r>
            <a:r>
              <a:rPr lang="en-US" altLang="zh-CN" sz="1200" dirty="0" smtClean="0">
                <a:latin typeface="Times New Roman" pitchFamily="18" charset="0"/>
                <a:ea typeface="微软雅黑" pitchFamily="34" charset="-122"/>
                <a:cs typeface="Times New Roman" pitchFamily="18" charset="0"/>
              </a:rPr>
              <a:t>làm việc</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524315"/>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r>
              <a:rPr lang="vi-VN" altLang="zh-CN" sz="1200" dirty="0">
                <a:latin typeface="Times New Roman" pitchFamily="18" charset="0"/>
                <a:ea typeface="微软雅黑" pitchFamily="34" charset="-122"/>
                <a:cs typeface="Times New Roman" pitchFamily="18" charset="0"/>
              </a:rPr>
              <a:t>Có thể tiến </a:t>
            </a:r>
            <a:r>
              <a:rPr lang="vi-VN" altLang="zh-CN" sz="1200" dirty="0" smtClean="0">
                <a:latin typeface="Times New Roman" pitchFamily="18" charset="0"/>
                <a:ea typeface="微软雅黑" pitchFamily="34" charset="-122"/>
                <a:cs typeface="Times New Roman" pitchFamily="18" charset="0"/>
              </a:rPr>
              <a:t>hành </a:t>
            </a:r>
            <a:r>
              <a:rPr lang="vi-VN" altLang="zh-CN" sz="1200" dirty="0">
                <a:latin typeface="Times New Roman" pitchFamily="18" charset="0"/>
                <a:ea typeface="微软雅黑" pitchFamily="34" charset="-122"/>
                <a:cs typeface="Times New Roman" pitchFamily="18" charset="0"/>
              </a:rPr>
              <a:t>xếp </a:t>
            </a:r>
            <a:r>
              <a:rPr lang="vi-VN" altLang="zh-CN" sz="1200" dirty="0" smtClean="0">
                <a:latin typeface="Times New Roman" pitchFamily="18" charset="0"/>
                <a:ea typeface="微软雅黑" pitchFamily="34" charset="-122"/>
                <a:cs typeface="Times New Roman" pitchFamily="18" charset="0"/>
              </a:rPr>
              <a:t>ca </a:t>
            </a:r>
            <a:r>
              <a:rPr lang="vi-VN" altLang="zh-CN" sz="1200" dirty="0">
                <a:latin typeface="Times New Roman" pitchFamily="18" charset="0"/>
                <a:ea typeface="微软雅黑" pitchFamily="34" charset="-122"/>
                <a:cs typeface="Times New Roman" pitchFamily="18" charset="0"/>
              </a:rPr>
              <a:t>theo cá nhân,  phòng ban,  nhóm ca. Thời gian bắt đầu và thời gian kết thúc sẽ là </a:t>
            </a:r>
            <a:r>
              <a:rPr lang="en-US" altLang="zh-CN" sz="1200" dirty="0" smtClean="0">
                <a:latin typeface="Times New Roman" pitchFamily="18" charset="0"/>
                <a:ea typeface="微软雅黑" pitchFamily="34" charset="-122"/>
                <a:cs typeface="Times New Roman" pitchFamily="18" charset="0"/>
              </a:rPr>
              <a:t>khoảng thời gian </a:t>
            </a:r>
            <a:r>
              <a:rPr lang="vi-VN" altLang="zh-CN" sz="1200" dirty="0" smtClean="0">
                <a:latin typeface="Times New Roman" pitchFamily="18" charset="0"/>
                <a:ea typeface="微软雅黑" pitchFamily="34" charset="-122"/>
                <a:cs typeface="Times New Roman" pitchFamily="18" charset="0"/>
              </a:rPr>
              <a:t>của </a:t>
            </a:r>
            <a:r>
              <a:rPr lang="vi-VN" altLang="zh-CN" sz="1200" dirty="0">
                <a:latin typeface="Times New Roman" pitchFamily="18" charset="0"/>
                <a:ea typeface="微软雅黑" pitchFamily="34" charset="-122"/>
                <a:cs typeface="Times New Roman" pitchFamily="18" charset="0"/>
              </a:rPr>
              <a:t>ca làm được xếp.</a:t>
            </a:r>
            <a:r>
              <a:rPr lang="en-US" altLang="zh-CN" sz="1200" dirty="0">
                <a:latin typeface="Times New Roman" pitchFamily="18" charset="0"/>
                <a:ea typeface="微软雅黑" pitchFamily="34" charset="-122"/>
                <a:cs typeface="Times New Roman" pitchFamily="18" charset="0"/>
              </a:rPr>
              <a:t> </a:t>
            </a:r>
          </a:p>
          <a:p>
            <a:pPr algn="l"/>
            <a:endParaRPr lang="en-US" altLang="zh-CN" sz="1200"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a:latin typeface="Times New Roman" pitchFamily="18" charset="0"/>
                <a:ea typeface="微软雅黑" pitchFamily="34" charset="-122"/>
                <a:cs typeface="Times New Roman" pitchFamily="18" charset="0"/>
              </a:rPr>
              <a:t>Lựa chọn thời gian,  </a:t>
            </a:r>
            <a:r>
              <a:rPr lang="en-US" altLang="zh-CN" sz="1200" dirty="0" smtClean="0">
                <a:latin typeface="Times New Roman" pitchFamily="18" charset="0"/>
                <a:ea typeface="微软雅黑" pitchFamily="34" charset="-122"/>
                <a:cs typeface="Times New Roman" pitchFamily="18" charset="0"/>
              </a:rPr>
              <a:t>lựa chọn “Phòng ban”</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Chọn phòng ban cần xếp ca </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Tại Bảng ca làm, lựa chọn các ca làm việc trong 7 ngày. </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Cuối cùng chọn “Lưu”</a:t>
            </a:r>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4"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0" y="1590627"/>
            <a:ext cx="6786578" cy="3278533"/>
          </a:xfrm>
          <a:prstGeom prst="rect">
            <a:avLst/>
          </a:prstGeom>
        </p:spPr>
      </p:pic>
    </p:spTree>
    <p:extLst>
      <p:ext uri="{BB962C8B-B14F-4D97-AF65-F5344CB8AC3E}">
        <p14:creationId xmlns:p14="http://schemas.microsoft.com/office/powerpoint/2010/main" val="10251428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08938"/>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itchFamily="18" charset="0"/>
                <a:ea typeface="微软雅黑" pitchFamily="34" charset="-122"/>
                <a:cs typeface="Times New Roman" pitchFamily="18" charset="0"/>
              </a:rPr>
              <a:t>Ca làm việc- Lịch </a:t>
            </a:r>
            <a:r>
              <a:rPr lang="en-US" altLang="zh-CN" sz="1200" dirty="0" smtClean="0">
                <a:latin typeface="Times New Roman" pitchFamily="18" charset="0"/>
                <a:ea typeface="微软雅黑" pitchFamily="34" charset="-122"/>
                <a:cs typeface="Times New Roman" pitchFamily="18" charset="0"/>
              </a:rPr>
              <a:t>sử ca làm cá nhân</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5724644"/>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r>
              <a:rPr lang="vi-VN" altLang="zh-CN" sz="1200" dirty="0">
                <a:latin typeface="Times New Roman" pitchFamily="18" charset="0"/>
                <a:ea typeface="微软雅黑" pitchFamily="34" charset="-122"/>
                <a:cs typeface="Times New Roman" pitchFamily="18" charset="0"/>
              </a:rPr>
              <a:t>Quản lý </a:t>
            </a:r>
            <a:r>
              <a:rPr lang="en-US" altLang="zh-CN" sz="1200" dirty="0" smtClean="0">
                <a:latin typeface="Times New Roman" pitchFamily="18" charset="0"/>
                <a:ea typeface="微软雅黑" pitchFamily="34" charset="-122"/>
                <a:cs typeface="Times New Roman" pitchFamily="18" charset="0"/>
              </a:rPr>
              <a:t>ca làm việc của 1 nhóm NV đã thiết lập trước đó</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Sau khi sắp xếp nhân viên vào từng nhóm ca làm,  hệ thống sẽ dựa theo qui định và tình hình đi làm của nhóm </a:t>
            </a:r>
            <a:r>
              <a:rPr lang="vi-VN" altLang="zh-CN" sz="1200" dirty="0" smtClean="0">
                <a:latin typeface="Times New Roman" pitchFamily="18" charset="0"/>
                <a:ea typeface="微软雅黑" pitchFamily="34" charset="-122"/>
                <a:cs typeface="Times New Roman" pitchFamily="18" charset="0"/>
              </a:rPr>
              <a:t>ca</a:t>
            </a:r>
            <a:r>
              <a:rPr lang="en-US" altLang="zh-CN" sz="1200" dirty="0" smtClean="0">
                <a:latin typeface="Times New Roman" pitchFamily="18" charset="0"/>
                <a:ea typeface="微软雅黑" pitchFamily="34" charset="-122"/>
                <a:cs typeface="Times New Roman" pitchFamily="18" charset="0"/>
              </a:rPr>
              <a:t> đó</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để ghi chép </a:t>
            </a:r>
            <a:r>
              <a:rPr lang="en-US" altLang="zh-CN" sz="1200" dirty="0" smtClean="0">
                <a:latin typeface="Times New Roman" pitchFamily="18" charset="0"/>
                <a:ea typeface="微软雅黑" pitchFamily="34" charset="-122"/>
                <a:cs typeface="Times New Roman" pitchFamily="18" charset="0"/>
              </a:rPr>
              <a:t>dữ liệu </a:t>
            </a:r>
            <a:r>
              <a:rPr lang="vi-VN" altLang="zh-CN" sz="1200" dirty="0" smtClean="0">
                <a:latin typeface="Times New Roman" pitchFamily="18" charset="0"/>
                <a:ea typeface="微软雅黑" pitchFamily="34" charset="-122"/>
                <a:cs typeface="Times New Roman" pitchFamily="18" charset="0"/>
              </a:rPr>
              <a:t>tăng </a:t>
            </a:r>
            <a:r>
              <a:rPr lang="vi-VN" altLang="zh-CN" sz="1200" dirty="0">
                <a:latin typeface="Times New Roman" pitchFamily="18" charset="0"/>
                <a:ea typeface="微软雅黑" pitchFamily="34" charset="-122"/>
                <a:cs typeface="Times New Roman" pitchFamily="18" charset="0"/>
              </a:rPr>
              <a:t>ca và </a:t>
            </a:r>
            <a:r>
              <a:rPr lang="en-US" altLang="zh-CN" sz="1200" dirty="0" smtClean="0">
                <a:latin typeface="Times New Roman" pitchFamily="18" charset="0"/>
                <a:ea typeface="微软雅黑" pitchFamily="34" charset="-122"/>
                <a:cs typeface="Times New Roman" pitchFamily="18" charset="0"/>
              </a:rPr>
              <a:t>nghỉ phép</a:t>
            </a:r>
            <a:r>
              <a:rPr lang="en-US" altLang="zh-CN" sz="1200" dirty="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của</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nhân viên.</a:t>
            </a:r>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Có thể dựa vào Mã nhân viên/họ tên hoặc Phòng ban…để tra cứu lịch sử ca làm của NV nào đó.</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Chọn 1 NV nào đó cần sửa thông tin, thực hiện sửa ca làm việc, ngày bắt đầu thay đổi, sau đó chọn “Lưu”</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Xuất </a:t>
            </a:r>
            <a:r>
              <a:rPr lang="en-US" altLang="zh-CN" sz="1200" dirty="0" smtClean="0">
                <a:latin typeface="Times New Roman" pitchFamily="18" charset="0"/>
                <a:ea typeface="微软雅黑" pitchFamily="34" charset="-122"/>
                <a:cs typeface="Times New Roman" pitchFamily="18" charset="0"/>
              </a:rPr>
              <a:t>Excel dữ liệu hiển thị ở trang</a:t>
            </a:r>
            <a:endParaRPr lang="en-US" altLang="zh-CN" sz="1200" dirty="0">
              <a:latin typeface="Times New Roman" pitchFamily="18" charset="0"/>
              <a:ea typeface="微软雅黑" pitchFamily="34" charset="-122"/>
              <a:cs typeface="Times New Roman" pitchFamily="18" charset="0"/>
            </a:endParaRPr>
          </a:p>
          <a:p>
            <a:pPr marL="228600" indent="-228600" algn="l"/>
            <a:endParaRPr lang="zh-CN" altLang="en-US"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sp>
        <p:nvSpPr>
          <p:cNvPr id="28"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107504" y="1295182"/>
            <a:ext cx="6679074" cy="3645986"/>
          </a:xfrm>
          <a:prstGeom prst="rect">
            <a:avLst/>
          </a:prstGeom>
        </p:spPr>
      </p:pic>
    </p:spTree>
    <p:extLst>
      <p:ext uri="{BB962C8B-B14F-4D97-AF65-F5344CB8AC3E}">
        <p14:creationId xmlns:p14="http://schemas.microsoft.com/office/powerpoint/2010/main" val="21543028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itchFamily="18" charset="0"/>
                <a:ea typeface="微软雅黑" pitchFamily="34" charset="-122"/>
                <a:cs typeface="Times New Roman" pitchFamily="18" charset="0"/>
              </a:rPr>
              <a:t>Ca làm việc- L</a:t>
            </a:r>
            <a:r>
              <a:rPr lang="vi-VN" altLang="zh-CN" sz="1200" dirty="0" smtClean="0">
                <a:latin typeface="Times New Roman" pitchFamily="18" charset="0"/>
                <a:ea typeface="微软雅黑" pitchFamily="34" charset="-122"/>
                <a:cs typeface="Times New Roman" pitchFamily="18" charset="0"/>
              </a:rPr>
              <a:t>ịch </a:t>
            </a:r>
            <a:r>
              <a:rPr lang="vi-VN" altLang="zh-CN" sz="1200" dirty="0">
                <a:latin typeface="Times New Roman" pitchFamily="18" charset="0"/>
                <a:ea typeface="微软雅黑" pitchFamily="34" charset="-122"/>
                <a:cs typeface="Times New Roman" pitchFamily="18" charset="0"/>
              </a:rPr>
              <a:t>nhóm ca</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154984"/>
          </a:xfrm>
          <a:prstGeom prst="rect">
            <a:avLst/>
          </a:prstGeom>
          <a:noFill/>
        </p:spPr>
        <p:txBody>
          <a:bodyPr wrap="square" rtlCol="0">
            <a:spAutoFit/>
          </a:bodyPr>
          <a:lstStyle/>
          <a:p>
            <a:pPr algn="l">
              <a:spcBef>
                <a:spcPct val="50000"/>
              </a:spcBef>
            </a:pPr>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eaLnBrk="1" hangingPunct="1"/>
            <a:r>
              <a:rPr lang="zh-CN" altLang="en-US" sz="1200" dirty="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Lên lịch kế hoạch làm việc cho các nhóm </a:t>
            </a:r>
            <a:r>
              <a:rPr lang="en-US" altLang="zh-CN" sz="1200" dirty="0" smtClean="0">
                <a:latin typeface="Times New Roman" pitchFamily="18" charset="0"/>
                <a:ea typeface="微软雅黑" pitchFamily="34" charset="-122"/>
                <a:cs typeface="Times New Roman" pitchFamily="18" charset="0"/>
              </a:rPr>
              <a:t>NV</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khác nhau theo tình trạng </a:t>
            </a:r>
            <a:r>
              <a:rPr lang="en-US" altLang="zh-CN" sz="1200" dirty="0" smtClean="0">
                <a:latin typeface="Times New Roman" pitchFamily="18" charset="0"/>
                <a:ea typeface="微软雅黑" pitchFamily="34" charset="-122"/>
                <a:cs typeface="Times New Roman" pitchFamily="18" charset="0"/>
              </a:rPr>
              <a:t>chấm công </a:t>
            </a:r>
            <a:r>
              <a:rPr lang="vi-VN" altLang="zh-CN" sz="1200" dirty="0" smtClean="0">
                <a:latin typeface="Times New Roman" pitchFamily="18" charset="0"/>
                <a:ea typeface="微软雅黑" pitchFamily="34" charset="-122"/>
                <a:cs typeface="Times New Roman" pitchFamily="18" charset="0"/>
              </a:rPr>
              <a:t>của </a:t>
            </a:r>
            <a:r>
              <a:rPr lang="vi-VN" altLang="zh-CN" sz="1200" dirty="0">
                <a:latin typeface="Times New Roman" pitchFamily="18" charset="0"/>
                <a:ea typeface="微软雅黑" pitchFamily="34" charset="-122"/>
                <a:cs typeface="Times New Roman" pitchFamily="18" charset="0"/>
              </a:rPr>
              <a:t>mỗi tháng </a:t>
            </a:r>
          </a:p>
          <a:p>
            <a:pPr algn="l">
              <a:spcBef>
                <a:spcPct val="50000"/>
              </a:spcBef>
            </a:pPr>
            <a:r>
              <a:rPr lang="vi-VN" altLang="zh-CN" sz="1200" b="1" dirty="0" smtClean="0">
                <a:latin typeface="Times New Roman" pitchFamily="18" charset="0"/>
                <a:ea typeface="微软雅黑" pitchFamily="34" charset="-122"/>
                <a:cs typeface="Times New Roman" pitchFamily="18" charset="0"/>
              </a:rPr>
              <a:t>Giải </a:t>
            </a:r>
            <a:r>
              <a:rPr lang="vi-VN" altLang="zh-CN" sz="1200" b="1" dirty="0">
                <a:latin typeface="Times New Roman" pitchFamily="18" charset="0"/>
                <a:ea typeface="微软雅黑" pitchFamily="34" charset="-122"/>
                <a:cs typeface="Times New Roman" pitchFamily="18" charset="0"/>
              </a:rPr>
              <a:t>thích chi tiết: </a:t>
            </a:r>
            <a:endParaRPr lang="en-US" altLang="zh-CN" sz="1200" b="1" dirty="0" smtClean="0">
              <a:latin typeface="Times New Roman" pitchFamily="18" charset="0"/>
              <a:ea typeface="微软雅黑" pitchFamily="34" charset="-122"/>
              <a:cs typeface="Times New Roman" pitchFamily="18" charset="0"/>
            </a:endParaRPr>
          </a:p>
          <a:p>
            <a:pPr algn="l">
              <a:spcBef>
                <a:spcPct val="50000"/>
              </a:spcBef>
            </a:pPr>
            <a:r>
              <a:rPr lang="en-US" altLang="zh-CN" sz="1200" dirty="0" smtClean="0">
                <a:latin typeface="Times New Roman" pitchFamily="18" charset="0"/>
                <a:ea typeface="微软雅黑" pitchFamily="34" charset="-122"/>
                <a:cs typeface="Times New Roman" pitchFamily="18" charset="0"/>
              </a:rPr>
              <a:t>Chọn tháng, năm, hoặc ca làm cần tìm kiếm, hệ thống tự động hiển thị lịch làm việc tương ứng</a:t>
            </a:r>
            <a:endParaRPr lang="en-US" altLang="zh-CN" sz="1200" dirty="0">
              <a:latin typeface="Times New Roman" pitchFamily="18" charset="0"/>
              <a:ea typeface="微软雅黑" pitchFamily="34" charset="-122"/>
              <a:cs typeface="Times New Roman" pitchFamily="18" charset="0"/>
            </a:endParaRPr>
          </a:p>
          <a:p>
            <a:pPr algn="l">
              <a:spcBef>
                <a:spcPct val="50000"/>
              </a:spcBef>
            </a:pPr>
            <a:r>
              <a:rPr lang="vi-VN" altLang="zh-CN" sz="1200" dirty="0" smtClean="0">
                <a:solidFill>
                  <a:srgbClr val="000000"/>
                </a:solidFill>
                <a:latin typeface="Times New Roman" pitchFamily="18" charset="0"/>
                <a:ea typeface="微软雅黑" pitchFamily="34" charset="-122"/>
                <a:cs typeface="Times New Roman" pitchFamily="18" charset="0"/>
              </a:rPr>
              <a:t>Click </a:t>
            </a:r>
            <a:r>
              <a:rPr lang="vi-VN" altLang="zh-CN" sz="1200" dirty="0">
                <a:solidFill>
                  <a:srgbClr val="000000"/>
                </a:solidFill>
                <a:latin typeface="Times New Roman" pitchFamily="18" charset="0"/>
                <a:ea typeface="微软雅黑" pitchFamily="34" charset="-122"/>
                <a:cs typeface="Times New Roman" pitchFamily="18" charset="0"/>
              </a:rPr>
              <a:t>vào </a:t>
            </a:r>
            <a:r>
              <a:rPr lang="vi-VN" altLang="zh-CN" sz="1200" dirty="0" smtClean="0">
                <a:solidFill>
                  <a:srgbClr val="000000"/>
                </a:solidFill>
                <a:latin typeface="Times New Roman" pitchFamily="18" charset="0"/>
                <a:ea typeface="微软雅黑" pitchFamily="34" charset="-122"/>
                <a:cs typeface="Times New Roman" pitchFamily="18" charset="0"/>
              </a:rPr>
              <a:t>“</a:t>
            </a:r>
            <a:r>
              <a:rPr lang="en-US" altLang="zh-CN" sz="1200" dirty="0" smtClean="0">
                <a:solidFill>
                  <a:srgbClr val="000000"/>
                </a:solidFill>
                <a:latin typeface="Times New Roman" pitchFamily="18" charset="0"/>
                <a:ea typeface="微软雅黑" pitchFamily="34" charset="-122"/>
                <a:cs typeface="Times New Roman" pitchFamily="18" charset="0"/>
              </a:rPr>
              <a:t>T</a:t>
            </a:r>
            <a:r>
              <a:rPr lang="vi-VN" altLang="zh-CN" sz="1200" dirty="0" smtClean="0">
                <a:solidFill>
                  <a:srgbClr val="000000"/>
                </a:solidFill>
                <a:latin typeface="Times New Roman" pitchFamily="18" charset="0"/>
                <a:ea typeface="微软雅黑" pitchFamily="34" charset="-122"/>
                <a:cs typeface="Times New Roman" pitchFamily="18" charset="0"/>
              </a:rPr>
              <a:t>hêm</a:t>
            </a:r>
            <a:r>
              <a:rPr lang="en-US" altLang="zh-CN" sz="1200" dirty="0" smtClean="0">
                <a:solidFill>
                  <a:srgbClr val="000000"/>
                </a:solidFill>
                <a:latin typeface="Times New Roman" pitchFamily="18" charset="0"/>
                <a:ea typeface="微软雅黑" pitchFamily="34" charset="-122"/>
                <a:cs typeface="Times New Roman" pitchFamily="18" charset="0"/>
              </a:rPr>
              <a:t> mới</a:t>
            </a:r>
            <a:r>
              <a:rPr lang="vi-VN" altLang="zh-CN" sz="1200" dirty="0" smtClean="0">
                <a:solidFill>
                  <a:srgbClr val="000000"/>
                </a:solidFill>
                <a:latin typeface="Times New Roman" pitchFamily="18" charset="0"/>
                <a:ea typeface="微软雅黑" pitchFamily="34" charset="-122"/>
                <a:cs typeface="Times New Roman" pitchFamily="18" charset="0"/>
              </a:rPr>
              <a:t>” </a:t>
            </a:r>
            <a:r>
              <a:rPr lang="en-US" altLang="zh-CN" sz="1200" dirty="0" smtClean="0">
                <a:solidFill>
                  <a:srgbClr val="000000"/>
                </a:solidFill>
                <a:latin typeface="Times New Roman" pitchFamily="18" charset="0"/>
                <a:ea typeface="微软雅黑" pitchFamily="34" charset="-122"/>
                <a:cs typeface="Times New Roman" pitchFamily="18" charset="0"/>
              </a:rPr>
              <a:t>hiện lên khung thông tin</a:t>
            </a:r>
            <a:r>
              <a:rPr lang="vi-VN" altLang="zh-CN" sz="1200" dirty="0" smtClean="0">
                <a:solidFill>
                  <a:srgbClr val="000000"/>
                </a:solidFill>
                <a:latin typeface="Times New Roman" pitchFamily="18" charset="0"/>
                <a:ea typeface="微软雅黑" pitchFamily="34" charset="-122"/>
                <a:cs typeface="Times New Roman" pitchFamily="18" charset="0"/>
              </a:rPr>
              <a:t>,  </a:t>
            </a:r>
            <a:r>
              <a:rPr lang="en-US" altLang="zh-CN" sz="1200" dirty="0" smtClean="0">
                <a:solidFill>
                  <a:srgbClr val="000000"/>
                </a:solidFill>
                <a:latin typeface="Times New Roman" pitchFamily="18" charset="0"/>
                <a:ea typeface="微软雅黑" pitchFamily="34" charset="-122"/>
                <a:cs typeface="Times New Roman" pitchFamily="18" charset="0"/>
              </a:rPr>
              <a:t>chọn khoảng thời gian xếp ca, chọn ca làm sau đó “Lưu”</a:t>
            </a:r>
            <a:endParaRPr lang="en-US" altLang="zh-CN" sz="1200" dirty="0">
              <a:solidFill>
                <a:srgbClr val="000000"/>
              </a:solidFill>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endParaRPr lang="en-US" altLang="zh-CN" sz="1200" dirty="0" smtClean="0">
              <a:solidFill>
                <a:srgbClr val="000000"/>
              </a:solidFill>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9"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3" name="Picture 2"/>
          <p:cNvPicPr>
            <a:picLocks noChangeAspect="1"/>
          </p:cNvPicPr>
          <p:nvPr/>
        </p:nvPicPr>
        <p:blipFill>
          <a:blip r:embed="rId2"/>
          <a:stretch>
            <a:fillRect/>
          </a:stretch>
        </p:blipFill>
        <p:spPr>
          <a:xfrm>
            <a:off x="19849" y="1604718"/>
            <a:ext cx="6679074" cy="355247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9"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itchFamily="18" charset="0"/>
                <a:ea typeface="微软雅黑" pitchFamily="34" charset="-122"/>
                <a:cs typeface="Times New Roman" pitchFamily="18" charset="0"/>
              </a:rPr>
              <a:t>Ca làm việc- </a:t>
            </a:r>
            <a:r>
              <a:rPr lang="vi-VN" altLang="zh-CN" sz="1200" dirty="0" smtClean="0">
                <a:latin typeface="Times New Roman" pitchFamily="18" charset="0"/>
                <a:ea typeface="微软雅黑" pitchFamily="34" charset="-122"/>
                <a:cs typeface="Times New Roman" pitchFamily="18" charset="0"/>
              </a:rPr>
              <a:t>Lịch </a:t>
            </a:r>
            <a:r>
              <a:rPr lang="vi-VN" altLang="zh-CN" sz="1200" dirty="0">
                <a:latin typeface="Times New Roman" pitchFamily="18" charset="0"/>
                <a:ea typeface="微软雅黑" pitchFamily="34" charset="-122"/>
                <a:cs typeface="Times New Roman" pitchFamily="18" charset="0"/>
              </a:rPr>
              <a:t>cá nhân</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774672"/>
            <a:ext cx="2071702" cy="4278094"/>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r>
              <a:rPr lang="vi-VN" altLang="zh-CN" sz="1200" dirty="0">
                <a:latin typeface="Times New Roman" pitchFamily="18" charset="0"/>
                <a:ea typeface="微软雅黑" pitchFamily="34" charset="-122"/>
                <a:cs typeface="Times New Roman" pitchFamily="18" charset="0"/>
              </a:rPr>
              <a:t>Quản lý </a:t>
            </a:r>
            <a:r>
              <a:rPr lang="en-US" altLang="zh-CN" sz="1200" dirty="0" smtClean="0">
                <a:latin typeface="Times New Roman" pitchFamily="18" charset="0"/>
                <a:ea typeface="微软雅黑" pitchFamily="34" charset="-122"/>
                <a:cs typeface="Times New Roman" pitchFamily="18" charset="0"/>
              </a:rPr>
              <a:t>lịch làm việc </a:t>
            </a:r>
            <a:r>
              <a:rPr lang="vi-VN" altLang="zh-CN" sz="1200" dirty="0" smtClean="0">
                <a:latin typeface="Times New Roman" pitchFamily="18" charset="0"/>
                <a:ea typeface="微软雅黑" pitchFamily="34" charset="-122"/>
                <a:cs typeface="Times New Roman" pitchFamily="18" charset="0"/>
              </a:rPr>
              <a:t>của </a:t>
            </a:r>
            <a:r>
              <a:rPr lang="vi-VN" altLang="zh-CN" sz="1200" dirty="0">
                <a:latin typeface="Times New Roman" pitchFamily="18" charset="0"/>
                <a:ea typeface="微软雅黑" pitchFamily="34" charset="-122"/>
                <a:cs typeface="Times New Roman" pitchFamily="18" charset="0"/>
              </a:rPr>
              <a:t>nhân </a:t>
            </a:r>
            <a:r>
              <a:rPr lang="vi-VN" altLang="zh-CN" sz="1200" dirty="0" smtClean="0">
                <a:latin typeface="Times New Roman" pitchFamily="18" charset="0"/>
                <a:ea typeface="微软雅黑" pitchFamily="34" charset="-122"/>
                <a:cs typeface="Times New Roman" pitchFamily="18" charset="0"/>
              </a:rPr>
              <a:t>viên</a:t>
            </a:r>
            <a:r>
              <a:rPr lang="en-US" altLang="zh-CN" sz="1200" dirty="0" smtClean="0">
                <a:latin typeface="Times New Roman" pitchFamily="18" charset="0"/>
                <a:ea typeface="微软雅黑" pitchFamily="34" charset="-122"/>
                <a:cs typeface="Times New Roman" pitchFamily="18" charset="0"/>
              </a:rPr>
              <a:t> trong tháng.</a:t>
            </a:r>
            <a:endParaRPr lang="en-US" altLang="zh-CN" sz="1200" dirty="0">
              <a:latin typeface="Times New Roman" pitchFamily="18" charset="0"/>
              <a:ea typeface="微软雅黑" pitchFamily="34" charset="-122"/>
              <a:cs typeface="Times New Roman" pitchFamily="18" charset="0"/>
            </a:endParaRPr>
          </a:p>
          <a:p>
            <a:pPr algn="l"/>
            <a:endParaRPr lang="vi-VN" altLang="zh-CN" sz="1200" b="1"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Chọn biểu tượng tìm kiếm hiển thị 1 khung mới, tìm kiếm 1 nhân viên nào đó, hệ thống tự động hiển thị ca làm việc trong tháng của NV đó.</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Tích chọn 1 ngày nào đó</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Click vào nút "Sửa" </a:t>
            </a:r>
            <a:r>
              <a:rPr lang="vi-VN" altLang="zh-CN" sz="1200" dirty="0" smtClean="0">
                <a:latin typeface="Times New Roman" pitchFamily="18" charset="0"/>
                <a:ea typeface="微软雅黑" pitchFamily="34" charset="-122"/>
                <a:cs typeface="Times New Roman" pitchFamily="18" charset="0"/>
              </a:rPr>
              <a:t>để </a:t>
            </a:r>
            <a:r>
              <a:rPr lang="vi-VN" altLang="zh-CN" sz="1200" dirty="0">
                <a:latin typeface="Times New Roman" pitchFamily="18" charset="0"/>
                <a:ea typeface="微软雅黑" pitchFamily="34" charset="-122"/>
                <a:cs typeface="Times New Roman" pitchFamily="18" charset="0"/>
              </a:rPr>
              <a:t>điều chỉnh ca </a:t>
            </a:r>
            <a:r>
              <a:rPr lang="vi-VN" altLang="zh-CN" sz="1200" dirty="0" smtClean="0">
                <a:latin typeface="Times New Roman" pitchFamily="18" charset="0"/>
                <a:ea typeface="微软雅黑" pitchFamily="34" charset="-122"/>
                <a:cs typeface="Times New Roman" pitchFamily="18" charset="0"/>
              </a:rPr>
              <a:t>làm</a:t>
            </a:r>
            <a:r>
              <a:rPr lang="en-US" altLang="zh-CN" sz="1200" dirty="0" smtClean="0">
                <a:latin typeface="Times New Roman" pitchFamily="18" charset="0"/>
                <a:ea typeface="微软雅黑" pitchFamily="34" charset="-122"/>
                <a:cs typeface="Times New Roman" pitchFamily="18" charset="0"/>
              </a:rPr>
              <a:t>, sau đó “Lưu”</a:t>
            </a:r>
            <a:endParaRPr lang="en-US" altLang="zh-CN" sz="1200" dirty="0">
              <a:latin typeface="Times New Roman" pitchFamily="18" charset="0"/>
              <a:ea typeface="微软雅黑" pitchFamily="34" charset="-122"/>
              <a:cs typeface="Times New Roman" pitchFamily="18" charset="0"/>
            </a:endParaRPr>
          </a:p>
          <a:p>
            <a:pPr marL="228600" indent="-228600"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sp>
        <p:nvSpPr>
          <p:cNvPr id="12"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0" y="1484784"/>
            <a:ext cx="6751352" cy="352839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itchFamily="18" charset="0"/>
                <a:ea typeface="微软雅黑" pitchFamily="34" charset="-122"/>
                <a:cs typeface="Times New Roman" pitchFamily="18" charset="0"/>
              </a:rPr>
              <a:t>Ca làm việc- </a:t>
            </a:r>
            <a:r>
              <a:rPr lang="vi-VN" altLang="zh-CN" sz="1200" dirty="0" smtClean="0">
                <a:latin typeface="Times New Roman" pitchFamily="18" charset="0"/>
                <a:ea typeface="微软雅黑" pitchFamily="34" charset="-122"/>
                <a:cs typeface="Times New Roman" pitchFamily="18" charset="0"/>
              </a:rPr>
              <a:t>Tra </a:t>
            </a:r>
            <a:r>
              <a:rPr lang="vi-VN" altLang="zh-CN" sz="1200" dirty="0">
                <a:latin typeface="Times New Roman" pitchFamily="18" charset="0"/>
                <a:ea typeface="微软雅黑" pitchFamily="34" charset="-122"/>
                <a:cs typeface="Times New Roman" pitchFamily="18" charset="0"/>
              </a:rPr>
              <a:t>cứu </a:t>
            </a:r>
            <a:r>
              <a:rPr lang="en-US" altLang="zh-CN" sz="1200" dirty="0" smtClean="0">
                <a:latin typeface="Times New Roman" pitchFamily="18" charset="0"/>
                <a:ea typeface="微软雅黑" pitchFamily="34" charset="-122"/>
                <a:cs typeface="Times New Roman" pitchFamily="18" charset="0"/>
              </a:rPr>
              <a:t>nhóm ca làm</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407087"/>
          </a:xfrm>
          <a:prstGeom prst="rect">
            <a:avLst/>
          </a:prstGeom>
          <a:noFill/>
        </p:spPr>
        <p:txBody>
          <a:bodyPr wrap="square" rtlCol="0">
            <a:spAutoFit/>
          </a:bodyPr>
          <a:lstStyle/>
          <a:p>
            <a:pPr algn="l"/>
            <a:r>
              <a:rPr lang="vi-VN" altLang="zh-CN" sz="1100" b="1" dirty="0">
                <a:latin typeface="Times New Roman" pitchFamily="18" charset="0"/>
                <a:ea typeface="微软雅黑" pitchFamily="34" charset="-122"/>
                <a:cs typeface="Times New Roman" pitchFamily="18" charset="0"/>
              </a:rPr>
              <a:t>Công dụng: </a:t>
            </a:r>
            <a:endParaRPr lang="en-US" altLang="zh-CN" sz="1100" b="1" dirty="0">
              <a:latin typeface="Times New Roman" pitchFamily="18" charset="0"/>
              <a:ea typeface="微软雅黑" pitchFamily="34" charset="-122"/>
              <a:cs typeface="Times New Roman" pitchFamily="18" charset="0"/>
            </a:endParaRPr>
          </a:p>
          <a:p>
            <a:pPr algn="l" eaLnBrk="1" hangingPunct="1">
              <a:lnSpc>
                <a:spcPct val="120000"/>
              </a:lnSpc>
            </a:pPr>
            <a:r>
              <a:rPr lang="vi-VN" altLang="zh-CN" sz="1100" dirty="0">
                <a:latin typeface="Times New Roman" pitchFamily="18" charset="0"/>
                <a:ea typeface="微软雅黑" pitchFamily="34" charset="-122"/>
                <a:cs typeface="Times New Roman" pitchFamily="18" charset="0"/>
              </a:rPr>
              <a:t>Tra </a:t>
            </a:r>
            <a:r>
              <a:rPr lang="vi-VN" altLang="zh-CN" sz="1100" dirty="0" smtClean="0">
                <a:latin typeface="Times New Roman" pitchFamily="18" charset="0"/>
                <a:ea typeface="微软雅黑" pitchFamily="34" charset="-122"/>
                <a:cs typeface="Times New Roman" pitchFamily="18" charset="0"/>
              </a:rPr>
              <a:t>cứu </a:t>
            </a:r>
            <a:r>
              <a:rPr lang="vi-VN" altLang="zh-CN" sz="1100" dirty="0">
                <a:latin typeface="Times New Roman" pitchFamily="18" charset="0"/>
                <a:ea typeface="微软雅黑" pitchFamily="34" charset="-122"/>
                <a:cs typeface="Times New Roman" pitchFamily="18" charset="0"/>
              </a:rPr>
              <a:t>lịch sử thay đổi nhóm ca của cá nhân.</a:t>
            </a:r>
            <a:endParaRPr lang="zh-CN" altLang="en-US" sz="1100" dirty="0">
              <a:latin typeface="Times New Roman" pitchFamily="18" charset="0"/>
              <a:ea typeface="微软雅黑" pitchFamily="34" charset="-122"/>
              <a:cs typeface="Times New Roman" pitchFamily="18" charset="0"/>
            </a:endParaRPr>
          </a:p>
          <a:p>
            <a:pPr algn="l"/>
            <a:endParaRPr lang="en-US" altLang="zh-CN" sz="1100" dirty="0">
              <a:latin typeface="Times New Roman" pitchFamily="18" charset="0"/>
              <a:ea typeface="微软雅黑" pitchFamily="34" charset="-122"/>
              <a:cs typeface="Times New Roman" pitchFamily="18" charset="0"/>
            </a:endParaRPr>
          </a:p>
          <a:p>
            <a:pPr algn="l"/>
            <a:r>
              <a:rPr lang="vi-VN" altLang="zh-CN" sz="1100" b="1" dirty="0">
                <a:latin typeface="Times New Roman" pitchFamily="18" charset="0"/>
                <a:ea typeface="微软雅黑" pitchFamily="34" charset="-122"/>
                <a:cs typeface="Times New Roman" pitchFamily="18" charset="0"/>
              </a:rPr>
              <a:t>Giải thích chi tiết: </a:t>
            </a:r>
            <a:endParaRPr lang="en-US" altLang="zh-CN" sz="11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100" dirty="0" smtClean="0">
                <a:latin typeface="Times New Roman" pitchFamily="18" charset="0"/>
                <a:ea typeface="微软雅黑" pitchFamily="34" charset="-122"/>
                <a:cs typeface="Times New Roman" pitchFamily="18" charset="0"/>
              </a:rPr>
              <a:t>Chọn điều kiện tìm kiếm-&gt; “Trra cứu” hệ thống hiện thị dữ liệu bên trái trang.</a:t>
            </a:r>
            <a:endParaRPr lang="en-US" altLang="zh-CN" sz="11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100" dirty="0" smtClean="0">
                <a:latin typeface="Times New Roman" pitchFamily="18" charset="0"/>
                <a:ea typeface="微软雅黑" pitchFamily="34" charset="-122"/>
                <a:cs typeface="Times New Roman" pitchFamily="18" charset="0"/>
              </a:rPr>
              <a:t>Chọn 1 dữ liệu bên trái, bên phải tự động hiển thị thông tin ca làm.</a:t>
            </a:r>
            <a:endParaRPr lang="en-US" altLang="zh-CN" sz="1100" b="1" dirty="0">
              <a:latin typeface="Times New Roman" pitchFamily="18" charset="0"/>
              <a:ea typeface="微软雅黑" pitchFamily="34" charset="-122"/>
              <a:cs typeface="Times New Roman" pitchFamily="18" charset="0"/>
            </a:endParaRPr>
          </a:p>
          <a:p>
            <a:pPr algn="l"/>
            <a:endParaRPr lang="en-US" altLang="zh-CN" sz="1000" b="1"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sp>
        <p:nvSpPr>
          <p:cNvPr id="18"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56199" y="1279793"/>
            <a:ext cx="6730379" cy="3877399"/>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itchFamily="18" charset="0"/>
                <a:ea typeface="微软雅黑" pitchFamily="34" charset="-122"/>
                <a:cs typeface="Times New Roman" pitchFamily="18" charset="0"/>
              </a:rPr>
              <a:t>Ca làm việc- </a:t>
            </a:r>
            <a:r>
              <a:rPr lang="en-US" altLang="zh-CN" sz="1200" dirty="0" smtClean="0">
                <a:latin typeface="Times New Roman" pitchFamily="18" charset="0"/>
                <a:ea typeface="微软雅黑" pitchFamily="34" charset="-122"/>
                <a:cs typeface="Times New Roman" pitchFamily="18" charset="0"/>
              </a:rPr>
              <a:t>Tra cứu ca làm việc</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046988"/>
          </a:xfrm>
          <a:prstGeom prst="rect">
            <a:avLst/>
          </a:prstGeom>
          <a:noFill/>
        </p:spPr>
        <p:txBody>
          <a:bodyPr wrap="square" rtlCol="0">
            <a:spAutoFit/>
          </a:bodyPr>
          <a:lstStyle/>
          <a:p>
            <a:pPr algn="l">
              <a:spcBef>
                <a:spcPct val="50000"/>
              </a:spcBef>
            </a:pPr>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spcBef>
                <a:spcPct val="50000"/>
              </a:spcBef>
            </a:pPr>
            <a:r>
              <a:rPr lang="vi-VN" altLang="zh-CN" sz="1200" dirty="0">
                <a:latin typeface="Times New Roman" pitchFamily="18" charset="0"/>
                <a:ea typeface="微软雅黑" pitchFamily="34" charset="-122"/>
                <a:cs typeface="Times New Roman" pitchFamily="18" charset="0"/>
              </a:rPr>
              <a:t>Tra cứu tình trạng xếp </a:t>
            </a:r>
            <a:r>
              <a:rPr lang="vi-VN" altLang="zh-CN" sz="1200" dirty="0" smtClean="0">
                <a:latin typeface="Times New Roman" pitchFamily="18" charset="0"/>
                <a:ea typeface="微软雅黑" pitchFamily="34" charset="-122"/>
                <a:cs typeface="Times New Roman" pitchFamily="18" charset="0"/>
              </a:rPr>
              <a:t>ca</a:t>
            </a:r>
            <a:r>
              <a:rPr lang="en-US" altLang="zh-CN" sz="1200" dirty="0" smtClean="0">
                <a:latin typeface="Times New Roman" pitchFamily="18" charset="0"/>
                <a:ea typeface="微软雅黑" pitchFamily="34" charset="-122"/>
                <a:cs typeface="Times New Roman" pitchFamily="18" charset="0"/>
              </a:rPr>
              <a:t> của nhóm NV</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của tháng </a:t>
            </a:r>
            <a:r>
              <a:rPr lang="en-US" altLang="zh-CN" sz="1200" dirty="0" smtClean="0">
                <a:latin typeface="Times New Roman" pitchFamily="18" charset="0"/>
                <a:ea typeface="微软雅黑" pitchFamily="34" charset="-122"/>
                <a:cs typeface="Times New Roman" pitchFamily="18" charset="0"/>
              </a:rPr>
              <a:t>nào đó</a:t>
            </a:r>
            <a:endParaRPr lang="zh-CN" altLang="en-US" sz="1200" dirty="0">
              <a:latin typeface="Times New Roman" pitchFamily="18" charset="0"/>
              <a:ea typeface="微软雅黑" pitchFamily="34" charset="-122"/>
              <a:cs typeface="Times New Roman" pitchFamily="18" charset="0"/>
            </a:endParaRPr>
          </a:p>
          <a:p>
            <a:pPr algn="l">
              <a:spcBef>
                <a:spcPct val="50000"/>
              </a:spcBef>
            </a:pPr>
            <a:r>
              <a:rPr lang="vi-VN" altLang="zh-CN" sz="1200" b="1" dirty="0" smtClean="0">
                <a:latin typeface="Times New Roman" pitchFamily="18" charset="0"/>
                <a:ea typeface="微软雅黑" pitchFamily="34" charset="-122"/>
                <a:cs typeface="Times New Roman" pitchFamily="18" charset="0"/>
              </a:rPr>
              <a:t>Giải </a:t>
            </a:r>
            <a:r>
              <a:rPr lang="vi-VN" altLang="zh-CN" sz="1200" b="1" dirty="0">
                <a:latin typeface="Times New Roman" pitchFamily="18" charset="0"/>
                <a:ea typeface="微软雅黑" pitchFamily="34" charset="-122"/>
                <a:cs typeface="Times New Roman" pitchFamily="18" charset="0"/>
              </a:rPr>
              <a:t>thích chi tiết: </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smtClean="0">
                <a:latin typeface="Times New Roman" pitchFamily="18" charset="0"/>
                <a:ea typeface="微软雅黑" pitchFamily="34" charset="-122"/>
                <a:cs typeface="Times New Roman" pitchFamily="18" charset="0"/>
              </a:rPr>
              <a:t>Click </a:t>
            </a:r>
            <a:r>
              <a:rPr lang="vi-VN" altLang="zh-CN" sz="1200" dirty="0">
                <a:latin typeface="Times New Roman" pitchFamily="18" charset="0"/>
                <a:ea typeface="微软雅黑" pitchFamily="34" charset="-122"/>
                <a:cs typeface="Times New Roman" pitchFamily="18" charset="0"/>
              </a:rPr>
              <a:t>"Tra </a:t>
            </a:r>
            <a:r>
              <a:rPr lang="vi-VN" altLang="zh-CN" sz="1200" dirty="0" smtClean="0">
                <a:latin typeface="Times New Roman" pitchFamily="18" charset="0"/>
                <a:ea typeface="微软雅黑" pitchFamily="34" charset="-122"/>
                <a:cs typeface="Times New Roman" pitchFamily="18" charset="0"/>
              </a:rPr>
              <a:t>cứu“</a:t>
            </a:r>
            <a:r>
              <a:rPr lang="en-US" altLang="zh-CN" sz="1200" dirty="0" smtClean="0">
                <a:latin typeface="Times New Roman" pitchFamily="18" charset="0"/>
                <a:ea typeface="微软雅黑" pitchFamily="34" charset="-122"/>
                <a:cs typeface="Times New Roman" pitchFamily="18" charset="0"/>
              </a:rPr>
              <a:t>, hệ thống hiển thị</a:t>
            </a:r>
            <a:r>
              <a:rPr lang="vi-VN" altLang="zh-CN" sz="1200" dirty="0" smtClean="0">
                <a:latin typeface="Times New Roman" pitchFamily="18" charset="0"/>
                <a:ea typeface="微软雅黑" pitchFamily="34" charset="-122"/>
                <a:cs typeface="Times New Roman" pitchFamily="18" charset="0"/>
              </a:rPr>
              <a:t> tình </a:t>
            </a:r>
            <a:r>
              <a:rPr lang="vi-VN" altLang="zh-CN" sz="1200" dirty="0">
                <a:latin typeface="Times New Roman" pitchFamily="18" charset="0"/>
                <a:ea typeface="微软雅黑" pitchFamily="34" charset="-122"/>
                <a:cs typeface="Times New Roman" pitchFamily="18" charset="0"/>
              </a:rPr>
              <a:t>hình xếp ca theo ngày </a:t>
            </a:r>
            <a:r>
              <a:rPr lang="en-US" altLang="zh-CN" sz="1200" dirty="0" smtClean="0">
                <a:latin typeface="Times New Roman" pitchFamily="18" charset="0"/>
                <a:ea typeface="微软雅黑" pitchFamily="34" charset="-122"/>
                <a:cs typeface="Times New Roman" pitchFamily="18" charset="0"/>
              </a:rPr>
              <a:t>của</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nhóm </a:t>
            </a:r>
            <a:r>
              <a:rPr lang="en-US" altLang="zh-CN" sz="1200" dirty="0" smtClean="0">
                <a:latin typeface="Times New Roman" pitchFamily="18" charset="0"/>
                <a:ea typeface="微软雅黑" pitchFamily="34" charset="-122"/>
                <a:cs typeface="Times New Roman" pitchFamily="18" charset="0"/>
              </a:rPr>
              <a:t>NV </a:t>
            </a:r>
            <a:r>
              <a:rPr lang="vi-VN" altLang="zh-CN" sz="1200" dirty="0" smtClean="0">
                <a:latin typeface="Times New Roman" pitchFamily="18" charset="0"/>
                <a:ea typeface="微软雅黑" pitchFamily="34" charset="-122"/>
                <a:cs typeface="Times New Roman" pitchFamily="18" charset="0"/>
              </a:rPr>
              <a:t>đã </a:t>
            </a:r>
            <a:r>
              <a:rPr lang="vi-VN" altLang="zh-CN" sz="1200" dirty="0">
                <a:latin typeface="Times New Roman" pitchFamily="18" charset="0"/>
                <a:ea typeface="微软雅黑" pitchFamily="34" charset="-122"/>
                <a:cs typeface="Times New Roman" pitchFamily="18" charset="0"/>
              </a:rPr>
              <a:t>chọn.</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a:latin typeface="Times New Roman" pitchFamily="18" charset="0"/>
                <a:ea typeface="微软雅黑" pitchFamily="34" charset="-122"/>
                <a:cs typeface="Times New Roman" pitchFamily="18" charset="0"/>
              </a:rPr>
              <a:t>Click </a:t>
            </a:r>
            <a:r>
              <a:rPr lang="vi-VN" altLang="zh-CN" sz="1200" dirty="0" smtClean="0">
                <a:latin typeface="Times New Roman" pitchFamily="18" charset="0"/>
                <a:ea typeface="微软雅黑" pitchFamily="34" charset="-122"/>
                <a:cs typeface="Times New Roman" pitchFamily="18" charset="0"/>
              </a:rPr>
              <a:t>"</a:t>
            </a:r>
            <a:r>
              <a:rPr lang="vi-VN" altLang="zh-CN" sz="1200" dirty="0">
                <a:latin typeface="Times New Roman" pitchFamily="18" charset="0"/>
                <a:ea typeface="微软雅黑" pitchFamily="34" charset="-122"/>
                <a:cs typeface="Times New Roman" pitchFamily="18" charset="0"/>
              </a:rPr>
              <a:t>In" để in </a:t>
            </a:r>
            <a:r>
              <a:rPr lang="en-US" altLang="zh-CN" sz="1200" dirty="0" smtClean="0">
                <a:latin typeface="Times New Roman" pitchFamily="18" charset="0"/>
                <a:ea typeface="微软雅黑" pitchFamily="34" charset="-122"/>
                <a:cs typeface="Times New Roman" pitchFamily="18" charset="0"/>
              </a:rPr>
              <a:t>ra </a:t>
            </a:r>
            <a:r>
              <a:rPr lang="vi-VN" altLang="zh-CN" sz="1200" dirty="0" smtClean="0">
                <a:latin typeface="Times New Roman" pitchFamily="18" charset="0"/>
                <a:ea typeface="微软雅黑" pitchFamily="34" charset="-122"/>
                <a:cs typeface="Times New Roman" pitchFamily="18" charset="0"/>
              </a:rPr>
              <a:t>nội </a:t>
            </a:r>
            <a:r>
              <a:rPr lang="vi-VN" altLang="zh-CN" sz="1200" dirty="0">
                <a:latin typeface="Times New Roman" pitchFamily="18" charset="0"/>
                <a:ea typeface="微软雅黑" pitchFamily="34" charset="-122"/>
                <a:cs typeface="Times New Roman" pitchFamily="18" charset="0"/>
              </a:rPr>
              <a:t>dung hiển thị</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a:latin typeface="Times New Roman" pitchFamily="18" charset="0"/>
                <a:ea typeface="微软雅黑" pitchFamily="34" charset="-122"/>
                <a:cs typeface="Times New Roman" pitchFamily="18" charset="0"/>
              </a:rPr>
              <a:t>Click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Xuất Excel</a:t>
            </a:r>
            <a:r>
              <a:rPr lang="vi-VN" altLang="zh-CN"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kết xuất dữ liệu trong trang</a:t>
            </a:r>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3"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1" y="1356566"/>
            <a:ext cx="6786579" cy="394464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Nghỉ phép -</a:t>
            </a:r>
            <a:r>
              <a:rPr lang="vi-VN" altLang="zh-CN" sz="1200" dirty="0" smtClean="0">
                <a:latin typeface="+mj-lt"/>
                <a:ea typeface="微软雅黑" pitchFamily="34" charset="-122"/>
              </a:rPr>
              <a:t>Quản </a:t>
            </a:r>
            <a:r>
              <a:rPr lang="vi-VN" altLang="zh-CN" sz="1200" dirty="0">
                <a:latin typeface="+mj-lt"/>
                <a:ea typeface="微软雅黑" pitchFamily="34" charset="-122"/>
              </a:rPr>
              <a:t>lý </a:t>
            </a:r>
            <a:r>
              <a:rPr lang="en-US" altLang="zh-CN" sz="1200" dirty="0" smtClean="0">
                <a:latin typeface="Times New Roman" panose="02020603050405020304" pitchFamily="18" charset="0"/>
                <a:ea typeface="微软雅黑" pitchFamily="34" charset="-122"/>
                <a:cs typeface="Times New Roman" panose="02020603050405020304" pitchFamily="18" charset="0"/>
              </a:rPr>
              <a:t>nghỉ phép</a:t>
            </a:r>
            <a:endParaRPr lang="zh-CN" altLang="en-US" sz="1200" dirty="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475039"/>
            <a:ext cx="2071702" cy="5152180"/>
          </a:xfrm>
          <a:prstGeom prst="rect">
            <a:avLst/>
          </a:prstGeom>
          <a:noFill/>
        </p:spPr>
        <p:txBody>
          <a:bodyPr wrap="square" rtlCol="0">
            <a:spAutoFit/>
          </a:bodyPr>
          <a:lstStyle/>
          <a:p>
            <a:pPr algn="l"/>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eaLnBrk="1" hangingPunct="1">
              <a:lnSpc>
                <a:spcPct val="120000"/>
              </a:lnSpc>
            </a:pPr>
            <a:r>
              <a:rPr lang="vi-VN" altLang="zh-CN" sz="1200" dirty="0">
                <a:latin typeface="+mj-lt"/>
                <a:ea typeface="微软雅黑" pitchFamily="34" charset="-122"/>
              </a:rPr>
              <a:t>Quản lý </a:t>
            </a:r>
            <a:r>
              <a:rPr lang="vi-VN" altLang="zh-CN" sz="1200" dirty="0" smtClean="0">
                <a:latin typeface="+mj-lt"/>
                <a:ea typeface="微软雅黑" pitchFamily="34" charset="-122"/>
              </a:rPr>
              <a:t>t</a:t>
            </a:r>
            <a:r>
              <a:rPr lang="en-US" altLang="zh-CN" sz="1200" dirty="0" smtClean="0">
                <a:latin typeface="+mj-lt"/>
                <a:ea typeface="微软雅黑" pitchFamily="34" charset="-122"/>
              </a:rPr>
              <a:t>ình trạng nghỉ phép của NV công ty</a:t>
            </a:r>
            <a:endParaRPr lang="zh-CN" altLang="en-US" sz="1200" dirty="0">
              <a:latin typeface="+mj-lt"/>
              <a:ea typeface="微软雅黑" pitchFamily="34" charset="-122"/>
            </a:endParaRPr>
          </a:p>
          <a:p>
            <a:pPr algn="l"/>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b="1" dirty="0">
              <a:latin typeface="+mj-lt"/>
              <a:ea typeface="微软雅黑" pitchFamily="34" charset="-122"/>
            </a:endParaRPr>
          </a:p>
          <a:p>
            <a:pPr marL="228600" indent="-228600" algn="l">
              <a:buFont typeface="+mj-lt"/>
              <a:buAutoNum type="arabicPeriod"/>
            </a:pPr>
            <a:endParaRPr lang="en-US" altLang="zh-CN" sz="1200" dirty="0" smtClean="0">
              <a:latin typeface="+mj-lt"/>
              <a:ea typeface="微软雅黑" pitchFamily="34" charset="-122"/>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“Thêm mới” hiển thị 1 dòng dữ liệu, nhập Mã nhân viên, ngày xin phép, loại nghỉ phép…Sau khi điền xong thông tin chọn ‘Lưu”</a:t>
            </a: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Muốn xóa dữ liệu nào đó, tích chọn NV rồi chọn “Xóa”</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Nếu thêm nghỉ phép cho nhiều NV, lựa chọn “loại nghỉ phép”, khoảng thời gian, sau đó chọn “Thực hiện tất cả”</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zh-CN" altLang="en-US" sz="1200" dirty="0">
              <a:latin typeface="+mj-lt"/>
              <a:ea typeface="微软雅黑" pitchFamily="34" charset="-122"/>
            </a:endParaRPr>
          </a:p>
        </p:txBody>
      </p:sp>
      <p:sp>
        <p:nvSpPr>
          <p:cNvPr id="45"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0" y="1124744"/>
            <a:ext cx="6786578" cy="446449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75656" y="127665"/>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itchFamily="18" charset="0"/>
                <a:ea typeface="微软雅黑" pitchFamily="34" charset="-122"/>
                <a:cs typeface="Times New Roman" pitchFamily="18" charset="0"/>
              </a:rPr>
              <a:t>Nghỉ phép - Tra </a:t>
            </a:r>
            <a:r>
              <a:rPr lang="en-US" altLang="zh-CN" sz="1200" dirty="0" smtClean="0">
                <a:latin typeface="Times New Roman" pitchFamily="18" charset="0"/>
                <a:ea typeface="微软雅黑" pitchFamily="34" charset="-122"/>
                <a:cs typeface="Times New Roman" pitchFamily="18" charset="0"/>
              </a:rPr>
              <a:t>cứu nghỉ phép</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450449"/>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eaLnBrk="1" hangingPunct="1">
              <a:lnSpc>
                <a:spcPct val="120000"/>
              </a:lnSpc>
            </a:pPr>
            <a:r>
              <a:rPr lang="vi-VN" altLang="zh-CN" sz="1200" dirty="0">
                <a:latin typeface="Times New Roman" pitchFamily="18" charset="0"/>
                <a:ea typeface="微软雅黑" pitchFamily="34" charset="-122"/>
                <a:cs typeface="Times New Roman" pitchFamily="18" charset="0"/>
              </a:rPr>
              <a:t>Tra cứu </a:t>
            </a:r>
            <a:r>
              <a:rPr lang="en-US" altLang="zh-CN" sz="1200" dirty="0" smtClean="0">
                <a:latin typeface="Times New Roman" pitchFamily="18" charset="0"/>
                <a:ea typeface="微软雅黑" pitchFamily="34" charset="-122"/>
                <a:cs typeface="Times New Roman" pitchFamily="18" charset="0"/>
              </a:rPr>
              <a:t>tình hình</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nghỉ phép và tình trạng phê duyệt trong khoảng thời gian </a:t>
            </a:r>
            <a:r>
              <a:rPr lang="en-US" altLang="zh-CN" sz="1200" dirty="0" smtClean="0">
                <a:latin typeface="Times New Roman" pitchFamily="18" charset="0"/>
                <a:ea typeface="微软雅黑" pitchFamily="34" charset="-122"/>
                <a:cs typeface="Times New Roman" pitchFamily="18" charset="0"/>
              </a:rPr>
              <a:t>nào đó </a:t>
            </a:r>
          </a:p>
          <a:p>
            <a:pPr algn="l"/>
            <a:r>
              <a:rPr lang="vi-VN" altLang="zh-CN" sz="1200" b="1" dirty="0" smtClean="0">
                <a:latin typeface="Times New Roman" pitchFamily="18" charset="0"/>
                <a:ea typeface="微软雅黑" pitchFamily="34" charset="-122"/>
                <a:cs typeface="Times New Roman" pitchFamily="18" charset="0"/>
              </a:rPr>
              <a:t>Giải </a:t>
            </a:r>
            <a:r>
              <a:rPr lang="vi-VN" altLang="zh-CN" sz="1200" b="1" dirty="0">
                <a:latin typeface="Times New Roman" pitchFamily="18" charset="0"/>
                <a:ea typeface="微软雅黑" pitchFamily="34" charset="-122"/>
                <a:cs typeface="Times New Roman" pitchFamily="18" charset="0"/>
              </a:rPr>
              <a:t>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Lựa chọn điều kiện tìm kiếm-&gt; “Tra cứu”, hệ thống hiện thị các dữ liệu bên dưới.</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Chọn “Xuất Excel” kết xuất thông tin vừa tìm kiếm</a:t>
            </a:r>
            <a:endParaRPr lang="en-US" altLang="zh-CN" sz="1200" dirty="0">
              <a:latin typeface="Times New Roman" pitchFamily="18" charset="0"/>
              <a:ea typeface="微软雅黑" pitchFamily="34" charset="-122"/>
              <a:cs typeface="Times New Roman" pitchFamily="18" charset="0"/>
            </a:endParaRPr>
          </a:p>
          <a:p>
            <a:pPr marL="228600" indent="-228600" algn="l"/>
            <a:endParaRPr lang="en-US" altLang="zh-CN" sz="1200" dirty="0">
              <a:latin typeface="Times New Roman" pitchFamily="18" charset="0"/>
              <a:ea typeface="微软雅黑" pitchFamily="34" charset="-122"/>
              <a:cs typeface="Times New Roman" pitchFamily="18" charset="0"/>
            </a:endParaRPr>
          </a:p>
          <a:p>
            <a:pPr marL="228600" indent="-228600" algn="l"/>
            <a:endParaRPr lang="en-US" altLang="zh-CN" sz="1200" dirty="0">
              <a:latin typeface="Times New Roman" pitchFamily="18" charset="0"/>
              <a:ea typeface="微软雅黑" pitchFamily="34" charset="-122"/>
              <a:cs typeface="Times New Roman" pitchFamily="18" charset="0"/>
            </a:endParaRPr>
          </a:p>
          <a:p>
            <a:pPr algn="l"/>
            <a:endParaRPr lang="en-US" altLang="zh-CN" sz="1200" b="1"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5"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72502" y="1484784"/>
            <a:ext cx="6714076" cy="388843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786578" y="1571612"/>
            <a:ext cx="2071702" cy="4201150"/>
          </a:xfrm>
          <a:prstGeom prst="rect">
            <a:avLst/>
          </a:prstGeom>
          <a:noFill/>
        </p:spPr>
        <p:txBody>
          <a:bodyPr wrap="square" rtlCol="0">
            <a:spAutoFit/>
          </a:bodyPr>
          <a:lstStyle/>
          <a:p>
            <a:pPr algn="l"/>
            <a:endParaRPr lang="en-US" altLang="zh-CN" sz="1200" b="1" dirty="0" smtClean="0">
              <a:latin typeface="+mj-lt"/>
              <a:ea typeface="微软雅黑" pitchFamily="34" charset="-122"/>
            </a:endParaRPr>
          </a:p>
          <a:p>
            <a:pPr algn="l"/>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b="1" dirty="0">
              <a:latin typeface="+mj-lt"/>
              <a:ea typeface="微软雅黑" pitchFamily="34" charset="-122"/>
            </a:endParaRPr>
          </a:p>
          <a:p>
            <a:pPr marL="228600" indent="-228600" algn="l">
              <a:buFont typeface="+mj-lt"/>
              <a:buAutoNum type="arabicPeriod"/>
            </a:pPr>
            <a:r>
              <a:rPr lang="vi-VN" altLang="zh-CN" sz="1200" dirty="0">
                <a:latin typeface="+mj-lt"/>
                <a:ea typeface="微软雅黑" pitchFamily="34" charset="-122"/>
              </a:rPr>
              <a:t>Click vào nút "Tra cứu" để hiển thị dữ liệu nghỉ phép năm theo điều kiện tra cứu.</a:t>
            </a:r>
            <a:endParaRPr lang="en-US" altLang="zh-CN" sz="1200" dirty="0">
              <a:latin typeface="+mj-lt"/>
              <a:ea typeface="微软雅黑" pitchFamily="34" charset="-122"/>
            </a:endParaRPr>
          </a:p>
          <a:p>
            <a:pPr marL="228600" indent="-228600" algn="l">
              <a:buFont typeface="+mj-lt"/>
              <a:buAutoNum type="arabicPeriod"/>
            </a:pPr>
            <a:endParaRPr lang="en-US" altLang="zh-CN" sz="1200" dirty="0" smtClean="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Nếu NV nào có có nghỉ phép năm đặc biệt thì sẽ nhập số ngày vào cột “Đặc biệt” sau đó “Lưu”</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Có thể thực hiện lọc nhanh</a:t>
            </a: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“Xuất Excel” kết xuất dữ liệu vừa tìm kiếm bên dưới</a:t>
            </a:r>
            <a:endParaRPr lang="en-US" altLang="zh-CN" sz="1200" dirty="0">
              <a:solidFill>
                <a:srgbClr val="FF0000"/>
              </a:solidFill>
              <a:latin typeface="+mj-lt"/>
              <a:ea typeface="微软雅黑" pitchFamily="34" charset="-122"/>
            </a:endParaRPr>
          </a:p>
          <a:p>
            <a:pPr marL="228600" indent="-228600" algn="l"/>
            <a:r>
              <a:rPr lang="en-US" altLang="zh-CN" sz="900" dirty="0">
                <a:latin typeface="+mj-lt"/>
                <a:ea typeface="微软雅黑" pitchFamily="34" charset="-122"/>
              </a:rPr>
              <a:t>	</a:t>
            </a:r>
          </a:p>
          <a:p>
            <a:pPr marL="228600" indent="-228600" algn="l"/>
            <a:endParaRPr lang="en-US" altLang="zh-CN" sz="900" dirty="0">
              <a:latin typeface="+mj-lt"/>
              <a:ea typeface="微软雅黑" pitchFamily="34" charset="-122"/>
            </a:endParaRPr>
          </a:p>
          <a:p>
            <a:pPr algn="l"/>
            <a:endParaRPr lang="en-US" altLang="zh-CN" sz="900" b="1" dirty="0">
              <a:latin typeface="+mj-lt"/>
              <a:ea typeface="微软雅黑" pitchFamily="34" charset="-122"/>
            </a:endParaRPr>
          </a:p>
          <a:p>
            <a:pPr algn="l"/>
            <a:endParaRPr lang="en-US" altLang="zh-CN" sz="900" dirty="0">
              <a:latin typeface="+mj-lt"/>
              <a:ea typeface="微软雅黑" pitchFamily="34" charset="-122"/>
            </a:endParaRPr>
          </a:p>
          <a:p>
            <a:pPr algn="l"/>
            <a:endParaRPr lang="en-US" altLang="zh-CN" sz="900" dirty="0">
              <a:latin typeface="+mj-lt"/>
              <a:ea typeface="微软雅黑" pitchFamily="34" charset="-122"/>
            </a:endParaRPr>
          </a:p>
          <a:p>
            <a:pPr algn="l"/>
            <a:endParaRPr lang="en-US" altLang="zh-CN" sz="900" dirty="0">
              <a:latin typeface="+mj-lt"/>
              <a:ea typeface="微软雅黑" pitchFamily="34" charset="-122"/>
            </a:endParaRPr>
          </a:p>
          <a:p>
            <a:pPr algn="l"/>
            <a:endParaRPr lang="en-US" altLang="zh-CN" sz="900" dirty="0">
              <a:latin typeface="+mj-lt"/>
              <a:ea typeface="微软雅黑" pitchFamily="34" charset="-122"/>
            </a:endParaRPr>
          </a:p>
          <a:p>
            <a:pPr algn="l"/>
            <a:endParaRPr lang="en-US" altLang="zh-CN" sz="900" dirty="0">
              <a:latin typeface="+mj-lt"/>
              <a:ea typeface="微软雅黑" pitchFamily="34" charset="-122"/>
            </a:endParaRPr>
          </a:p>
          <a:p>
            <a:pPr algn="l"/>
            <a:endParaRPr lang="en-US" altLang="zh-CN" sz="900" dirty="0">
              <a:latin typeface="+mj-lt"/>
              <a:ea typeface="微软雅黑" pitchFamily="34" charset="-122"/>
            </a:endParaRPr>
          </a:p>
          <a:p>
            <a:pPr algn="l"/>
            <a:endParaRPr lang="en-US" altLang="zh-CN" sz="900" dirty="0">
              <a:latin typeface="+mj-lt"/>
              <a:ea typeface="微软雅黑" pitchFamily="34" charset="-122"/>
            </a:endParaRPr>
          </a:p>
          <a:p>
            <a:pPr algn="l"/>
            <a:endParaRPr lang="zh-CN" altLang="en-US" sz="900" dirty="0">
              <a:latin typeface="+mj-lt"/>
              <a:ea typeface="微软雅黑" pitchFamily="34" charset="-122"/>
            </a:endParaRPr>
          </a:p>
        </p:txBody>
      </p:sp>
      <p:sp>
        <p:nvSpPr>
          <p:cNvPr id="31"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anose="02020603050405020304" pitchFamily="18" charset="0"/>
                <a:ea typeface="微软雅黑" pitchFamily="34" charset="-122"/>
                <a:cs typeface="Times New Roman" panose="02020603050405020304" pitchFamily="18" charset="0"/>
              </a:rPr>
              <a:t>Nghỉ phép - </a:t>
            </a:r>
            <a:r>
              <a:rPr lang="en-US" altLang="zh-CN" sz="1200" dirty="0" smtClean="0">
                <a:latin typeface="+mj-lt"/>
                <a:ea typeface="微软雅黑" pitchFamily="34" charset="-122"/>
              </a:rPr>
              <a:t>Nghỉ</a:t>
            </a:r>
            <a:r>
              <a:rPr lang="vi-VN" altLang="zh-CN" sz="1200" dirty="0" smtClean="0">
                <a:latin typeface="+mj-lt"/>
                <a:ea typeface="微软雅黑" pitchFamily="34" charset="-122"/>
              </a:rPr>
              <a:t> </a:t>
            </a:r>
            <a:r>
              <a:rPr lang="vi-VN" altLang="zh-CN" sz="1200" dirty="0">
                <a:latin typeface="+mj-lt"/>
                <a:ea typeface="微软雅黑" pitchFamily="34" charset="-122"/>
              </a:rPr>
              <a:t>phép năm</a:t>
            </a:r>
            <a:endParaRPr lang="zh-CN" altLang="en-US" sz="1200" dirty="0">
              <a:latin typeface="+mj-lt"/>
              <a:ea typeface="微软雅黑" pitchFamily="34" charset="-122"/>
            </a:endParaRPr>
          </a:p>
        </p:txBody>
      </p:sp>
      <p:pic>
        <p:nvPicPr>
          <p:cNvPr id="2" name="Picture 1"/>
          <p:cNvPicPr>
            <a:picLocks noChangeAspect="1"/>
          </p:cNvPicPr>
          <p:nvPr/>
        </p:nvPicPr>
        <p:blipFill>
          <a:blip r:embed="rId3"/>
          <a:stretch>
            <a:fillRect/>
          </a:stretch>
        </p:blipFill>
        <p:spPr>
          <a:xfrm>
            <a:off x="-34657" y="1412776"/>
            <a:ext cx="6766626" cy="4248472"/>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75656" y="86145"/>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Tăng ca - </a:t>
            </a:r>
            <a:r>
              <a:rPr lang="vi-VN" altLang="zh-CN" sz="1200" dirty="0" smtClean="0">
                <a:latin typeface="+mj-lt"/>
                <a:ea typeface="微软雅黑" pitchFamily="34" charset="-122"/>
              </a:rPr>
              <a:t>Quản </a:t>
            </a:r>
            <a:r>
              <a:rPr lang="vi-VN" altLang="zh-CN" sz="1200" dirty="0">
                <a:latin typeface="+mj-lt"/>
                <a:ea typeface="微软雅黑" pitchFamily="34" charset="-122"/>
              </a:rPr>
              <a:t>lý tăng ca</a:t>
            </a:r>
            <a:endParaRPr lang="zh-CN" altLang="en-US" sz="1200" dirty="0">
              <a:latin typeface="+mj-lt"/>
              <a:ea typeface="微软雅黑" pitchFamily="34" charset="-122"/>
            </a:endParaRPr>
          </a:p>
        </p:txBody>
      </p:sp>
      <p:sp>
        <p:nvSpPr>
          <p:cNvPr id="11" name="TextBox 10"/>
          <p:cNvSpPr txBox="1"/>
          <p:nvPr/>
        </p:nvSpPr>
        <p:spPr>
          <a:xfrm>
            <a:off x="6715140" y="1500174"/>
            <a:ext cx="2428860" cy="3046988"/>
          </a:xfrm>
          <a:prstGeom prst="rect">
            <a:avLst/>
          </a:prstGeom>
          <a:noFill/>
        </p:spPr>
        <p:txBody>
          <a:bodyPr wrap="square" rtlCol="0">
            <a:spAutoFit/>
          </a:bodyPr>
          <a:lstStyle/>
          <a:p>
            <a:pPr algn="l"/>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r>
              <a:rPr lang="vi-VN" altLang="zh-CN" sz="1200" dirty="0">
                <a:latin typeface="+mj-lt"/>
                <a:ea typeface="微软雅黑" pitchFamily="34" charset="-122"/>
              </a:rPr>
              <a:t>Trang quản lý </a:t>
            </a:r>
            <a:r>
              <a:rPr lang="en-US" altLang="zh-CN" sz="1200" dirty="0" smtClean="0">
                <a:latin typeface="+mj-lt"/>
                <a:ea typeface="微软雅黑" pitchFamily="34" charset="-122"/>
              </a:rPr>
              <a:t>tình trạng </a:t>
            </a:r>
            <a:r>
              <a:rPr lang="vi-VN" altLang="zh-CN" sz="1200" dirty="0" smtClean="0">
                <a:latin typeface="+mj-lt"/>
                <a:ea typeface="微软雅黑" pitchFamily="34" charset="-122"/>
              </a:rPr>
              <a:t>tăng ca</a:t>
            </a:r>
            <a:r>
              <a:rPr lang="en-US" altLang="zh-CN" sz="1200" dirty="0" smtClean="0">
                <a:latin typeface="+mj-lt"/>
                <a:ea typeface="微软雅黑" pitchFamily="34" charset="-122"/>
              </a:rPr>
              <a:t> của nhân viên</a:t>
            </a:r>
            <a:endParaRPr lang="en-US" altLang="zh-CN" sz="1200" dirty="0">
              <a:latin typeface="+mj-lt"/>
              <a:ea typeface="微软雅黑" pitchFamily="34" charset="-122"/>
            </a:endParaRPr>
          </a:p>
          <a:p>
            <a:pPr algn="l"/>
            <a:endParaRPr lang="en-US" altLang="zh-CN" sz="1200" b="1" dirty="0" smtClean="0">
              <a:latin typeface="+mj-lt"/>
              <a:ea typeface="微软雅黑" pitchFamily="34" charset="-122"/>
            </a:endParaRPr>
          </a:p>
          <a:p>
            <a:pPr algn="l"/>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b="1" dirty="0">
              <a:latin typeface="+mj-lt"/>
              <a:ea typeface="微软雅黑" pitchFamily="34" charset="-122"/>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Lựa chọn điều kiện tìm kiếm-&gt; “Tra cứu” hệ thống hiện thị tất cả dữ liệu tương ứng</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Khi thêm 1 dữ liệu tăng ca của NV nào đó: Chọn “Thêm mới” hệ thống hiển thị 1 dòng bên dưới, nhập các thông tin Họ tên, ngày tăng ca, thời gian tăng ca sau đó “Lưu”</a:t>
            </a:r>
          </a:p>
          <a:p>
            <a:pPr marL="228600" indent="-228600" algn="l">
              <a:buFont typeface="+mj-lt"/>
              <a:buAutoNum type="arabicPeriod"/>
            </a:pPr>
            <a:r>
              <a:rPr lang="vi-VN" altLang="zh-CN" sz="1200" dirty="0" smtClean="0">
                <a:latin typeface="+mj-lt"/>
                <a:ea typeface="微软雅黑" pitchFamily="34" charset="-122"/>
              </a:rPr>
              <a:t>Click nút "Xóa" để xóa dữ liệu chấm công đã chọn. </a:t>
            </a:r>
            <a:endParaRPr lang="en-US" altLang="zh-CN" sz="1200" dirty="0">
              <a:latin typeface="+mj-lt"/>
              <a:ea typeface="微软雅黑" pitchFamily="34" charset="-122"/>
            </a:endParaRPr>
          </a:p>
        </p:txBody>
      </p:sp>
      <p:sp>
        <p:nvSpPr>
          <p:cNvPr id="24"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mj-lt"/>
              <a:ea typeface="微软雅黑" pitchFamily="34" charset="-122"/>
            </a:endParaRPr>
          </a:p>
        </p:txBody>
      </p:sp>
      <p:pic>
        <p:nvPicPr>
          <p:cNvPr id="2" name="Picture 1"/>
          <p:cNvPicPr>
            <a:picLocks noChangeAspect="1"/>
          </p:cNvPicPr>
          <p:nvPr/>
        </p:nvPicPr>
        <p:blipFill>
          <a:blip r:embed="rId3"/>
          <a:stretch>
            <a:fillRect/>
          </a:stretch>
        </p:blipFill>
        <p:spPr>
          <a:xfrm>
            <a:off x="107504" y="1310280"/>
            <a:ext cx="6528812" cy="391892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75656" y="127665"/>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anose="02020603050405020304" pitchFamily="18" charset="0"/>
                <a:ea typeface="微软雅黑" pitchFamily="34" charset="-122"/>
                <a:cs typeface="Times New Roman" panose="02020603050405020304" pitchFamily="18" charset="0"/>
              </a:rPr>
              <a:t>Tăng ca - </a:t>
            </a:r>
            <a:r>
              <a:rPr lang="vi-VN" altLang="zh-CN" sz="1200" dirty="0" smtClean="0">
                <a:latin typeface="Times New Roman" panose="02020603050405020304" pitchFamily="18" charset="0"/>
                <a:ea typeface="微软雅黑" pitchFamily="34" charset="-122"/>
                <a:cs typeface="Times New Roman" panose="02020603050405020304" pitchFamily="18" charset="0"/>
              </a:rPr>
              <a:t>T</a:t>
            </a:r>
            <a:r>
              <a:rPr lang="en-US" altLang="zh-CN" sz="1200" dirty="0" smtClean="0">
                <a:latin typeface="Times New Roman" panose="02020603050405020304" pitchFamily="18" charset="0"/>
                <a:ea typeface="微软雅黑" pitchFamily="34" charset="-122"/>
                <a:cs typeface="Times New Roman" panose="02020603050405020304" pitchFamily="18" charset="0"/>
              </a:rPr>
              <a:t>ra cứu</a:t>
            </a:r>
            <a:r>
              <a:rPr lang="vi-VN" altLang="zh-CN" sz="1200" dirty="0" smtClean="0">
                <a:latin typeface="Times New Roman" panose="02020603050405020304" pitchFamily="18" charset="0"/>
                <a:ea typeface="微软雅黑" pitchFamily="34" charset="-122"/>
                <a:cs typeface="Times New Roman" panose="02020603050405020304" pitchFamily="18" charset="0"/>
              </a:rPr>
              <a:t> </a:t>
            </a:r>
            <a:r>
              <a:rPr lang="vi-VN" altLang="zh-CN" sz="1200" dirty="0">
                <a:latin typeface="Times New Roman" panose="02020603050405020304" pitchFamily="18" charset="0"/>
                <a:ea typeface="微软雅黑" pitchFamily="34" charset="-122"/>
                <a:cs typeface="Times New Roman" panose="02020603050405020304" pitchFamily="18" charset="0"/>
              </a:rPr>
              <a:t>tăng ca</a:t>
            </a:r>
            <a:endParaRPr lang="zh-CN" altLang="en-US" sz="1200" dirty="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071702" cy="3231654"/>
          </a:xfrm>
          <a:prstGeom prst="rect">
            <a:avLst/>
          </a:prstGeom>
          <a:noFill/>
        </p:spPr>
        <p:txBody>
          <a:bodyPr wrap="square" rtlCol="0">
            <a:spAutoFit/>
          </a:bodyPr>
          <a:lstStyle/>
          <a:p>
            <a:pPr algn="l"/>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b="1" dirty="0">
              <a:latin typeface="+mj-lt"/>
              <a:ea typeface="微软雅黑" pitchFamily="34" charset="-122"/>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điều kiện tìm kiếm-&gt; “Tra cứu”, hệ thống hiển thị dữ liệu tăng ca tương ứng</a:t>
            </a: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“Xuất Excel” kết xuất thông tin vừa tra cứu bên dưới</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algn="l"/>
            <a:endParaRPr lang="en-US" altLang="zh-CN" sz="1200" b="1"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zh-CN" altLang="en-US" sz="1200" dirty="0">
              <a:latin typeface="+mj-lt"/>
              <a:ea typeface="微软雅黑" pitchFamily="34" charset="-122"/>
            </a:endParaRPr>
          </a:p>
        </p:txBody>
      </p:sp>
      <p:sp>
        <p:nvSpPr>
          <p:cNvPr id="12"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0" y="1196752"/>
            <a:ext cx="6803758" cy="3699873"/>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56706" y="135360"/>
            <a:ext cx="2205719"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Hiện trạng phòng ban-Nghỉ phép</a:t>
            </a:r>
            <a:endParaRPr lang="zh-CN" altLang="en-US" sz="1200" dirty="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41099" y="1571612"/>
            <a:ext cx="2071702" cy="4708981"/>
          </a:xfrm>
          <a:prstGeom prst="rect">
            <a:avLst/>
          </a:prstGeom>
          <a:noFill/>
        </p:spPr>
        <p:txBody>
          <a:bodyPr wrap="square" rtlCol="0">
            <a:spAutoFit/>
          </a:bodyPr>
          <a:lstStyle/>
          <a:p>
            <a:pPr algn="l"/>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lvl="0" algn="l" eaLnBrk="0" hangingPunct="0"/>
            <a:r>
              <a:rPr lang="vi-VN" altLang="zh-CN" sz="1200" dirty="0">
                <a:latin typeface="+mj-lt"/>
                <a:ea typeface="微软雅黑" pitchFamily="34" charset="-122"/>
              </a:rPr>
              <a:t>Tra cứu tình </a:t>
            </a:r>
            <a:r>
              <a:rPr lang="vi-VN" altLang="zh-CN" sz="1200" dirty="0" smtClean="0">
                <a:latin typeface="+mj-lt"/>
                <a:ea typeface="微软雅黑" pitchFamily="34" charset="-122"/>
              </a:rPr>
              <a:t>trạng</a:t>
            </a:r>
            <a:r>
              <a:rPr lang="en-US" altLang="zh-CN" sz="1200" dirty="0" smtClean="0">
                <a:latin typeface="Times New Roman" panose="02020603050405020304" pitchFamily="18" charset="0"/>
                <a:ea typeface="微软雅黑" pitchFamily="34" charset="-122"/>
                <a:cs typeface="Times New Roman" panose="02020603050405020304" pitchFamily="18" charset="0"/>
              </a:rPr>
              <a:t> nghỉ phép </a:t>
            </a:r>
            <a:r>
              <a:rPr lang="vi-VN" altLang="zh-CN" sz="1200" dirty="0" smtClean="0">
                <a:latin typeface="+mj-lt"/>
                <a:ea typeface="微软雅黑" pitchFamily="34" charset="-122"/>
              </a:rPr>
              <a:t>theo từng phòng </a:t>
            </a:r>
            <a:r>
              <a:rPr lang="vi-VN" altLang="zh-CN" sz="1200" dirty="0">
                <a:latin typeface="+mj-lt"/>
                <a:ea typeface="微软雅黑" pitchFamily="34" charset="-122"/>
              </a:rPr>
              <a:t>ban</a:t>
            </a:r>
            <a:endParaRPr lang="zh-CN" altLang="en-US" sz="1200" dirty="0">
              <a:latin typeface="+mj-lt"/>
              <a:ea typeface="微软雅黑" pitchFamily="34" charset="-122"/>
            </a:endParaRPr>
          </a:p>
          <a:p>
            <a:pPr algn="l"/>
            <a:endParaRPr lang="en-US" altLang="zh-CN" sz="1200" b="1" dirty="0" smtClean="0">
              <a:latin typeface="+mj-lt"/>
              <a:ea typeface="微软雅黑" pitchFamily="34" charset="-122"/>
            </a:endParaRPr>
          </a:p>
          <a:p>
            <a:pPr algn="l"/>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b="1" dirty="0">
              <a:latin typeface="+mj-lt"/>
              <a:ea typeface="微软雅黑" pitchFamily="34" charset="-122"/>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khoảng thời gian, Phòng ban -&gt; “Tra cứu”, hệ thống hiển thị dữ liệu nghỉ phép bên dưới</a:t>
            </a: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“Xuất Excel” kết xuất dữ liệu vừa tra cứu bên dưới</a:t>
            </a: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số màu xanh để xem NV nghỉ</a:t>
            </a:r>
            <a:endParaRPr lang="en-US" altLang="zh-CN" sz="1200" dirty="0" smtClean="0">
              <a:latin typeface="+mj-lt"/>
              <a:ea typeface="微软雅黑" pitchFamily="34" charset="-122"/>
            </a:endParaRPr>
          </a:p>
          <a:p>
            <a:pPr marL="228600" indent="-228600" algn="l"/>
            <a:r>
              <a:rPr lang="en-US" altLang="zh-CN" sz="1200" dirty="0">
                <a:latin typeface="+mj-lt"/>
                <a:ea typeface="微软雅黑" pitchFamily="34" charset="-122"/>
              </a:rPr>
              <a:t>	</a:t>
            </a:r>
          </a:p>
          <a:p>
            <a:pPr marL="228600" indent="-228600" algn="l"/>
            <a:r>
              <a:rPr lang="en-US" altLang="zh-CN" sz="1200" dirty="0">
                <a:latin typeface="+mj-lt"/>
                <a:ea typeface="微软雅黑" pitchFamily="34" charset="-122"/>
              </a:rPr>
              <a:t>		</a:t>
            </a:r>
          </a:p>
          <a:p>
            <a:pPr algn="l"/>
            <a:endParaRPr lang="en-US" altLang="zh-CN" sz="1200" b="1"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zh-CN" altLang="en-US" sz="1200" dirty="0">
              <a:latin typeface="+mj-lt"/>
              <a:ea typeface="微软雅黑" pitchFamily="34" charset="-122"/>
            </a:endParaRPr>
          </a:p>
        </p:txBody>
      </p:sp>
      <p:sp>
        <p:nvSpPr>
          <p:cNvPr id="14" name="Text Box 7"/>
          <p:cNvSpPr txBox="1">
            <a:spLocks noChangeArrowheads="1"/>
          </p:cNvSpPr>
          <p:nvPr/>
        </p:nvSpPr>
        <p:spPr bwMode="auto">
          <a:xfrm>
            <a:off x="1070137"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0" y="1484784"/>
            <a:ext cx="6763999" cy="3600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786578" y="1571612"/>
            <a:ext cx="2071702" cy="2936188"/>
          </a:xfrm>
          <a:prstGeom prst="rect">
            <a:avLst/>
          </a:prstGeom>
          <a:noFill/>
        </p:spPr>
        <p:txBody>
          <a:bodyPr wrap="square" rtlCol="0">
            <a:spAutoFit/>
          </a:bodyPr>
          <a:lstStyle/>
          <a:p>
            <a:pPr algn="l"/>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eaLnBrk="1" hangingPunct="1">
              <a:lnSpc>
                <a:spcPct val="120000"/>
              </a:lnSpc>
            </a:pPr>
            <a:r>
              <a:rPr lang="vi-VN" altLang="zh-CN" sz="1200" dirty="0" smtClean="0">
                <a:latin typeface="+mj-lt"/>
                <a:ea typeface="微软雅黑" pitchFamily="34" charset="-122"/>
              </a:rPr>
              <a:t>Hiển thị tình </a:t>
            </a:r>
            <a:r>
              <a:rPr lang="vi-VN" altLang="zh-CN" sz="1200" dirty="0">
                <a:latin typeface="+mj-lt"/>
                <a:ea typeface="微软雅黑" pitchFamily="34" charset="-122"/>
              </a:rPr>
              <a:t>trạng tăng </a:t>
            </a:r>
            <a:r>
              <a:rPr lang="vi-VN" altLang="zh-CN" sz="1200" dirty="0" smtClean="0">
                <a:latin typeface="+mj-lt"/>
                <a:ea typeface="微软雅黑" pitchFamily="34" charset="-122"/>
              </a:rPr>
              <a:t>ca theo </a:t>
            </a:r>
            <a:r>
              <a:rPr lang="en-US" altLang="zh-CN" sz="1200" dirty="0" smtClean="0">
                <a:latin typeface="Times New Roman" pitchFamily="18" charset="0"/>
                <a:ea typeface="微软雅黑" pitchFamily="34" charset="-122"/>
                <a:cs typeface="Times New Roman" pitchFamily="18" charset="0"/>
              </a:rPr>
              <a:t>phòng ban</a:t>
            </a:r>
          </a:p>
          <a:p>
            <a:pPr algn="l"/>
            <a:endParaRPr lang="en-US" altLang="zh-CN" sz="1200" b="1" dirty="0" smtClean="0">
              <a:latin typeface="+mj-lt"/>
              <a:ea typeface="微软雅黑" pitchFamily="34" charset="-122"/>
            </a:endParaRPr>
          </a:p>
          <a:p>
            <a:pPr algn="l"/>
            <a:r>
              <a:rPr lang="vi-VN" altLang="zh-CN" sz="1200" b="1" dirty="0" smtClean="0">
                <a:latin typeface="+mj-lt"/>
                <a:ea typeface="微软雅黑" pitchFamily="34" charset="-122"/>
              </a:rPr>
              <a:t>Giải </a:t>
            </a:r>
            <a:r>
              <a:rPr lang="vi-VN" altLang="zh-CN" sz="1200" b="1" dirty="0">
                <a:latin typeface="+mj-lt"/>
                <a:ea typeface="微软雅黑" pitchFamily="34" charset="-122"/>
              </a:rPr>
              <a:t>thích chi tiết: </a:t>
            </a:r>
            <a:endParaRPr lang="en-US" altLang="zh-CN" sz="1200" b="1" dirty="0" smtClean="0">
              <a:latin typeface="+mj-lt"/>
              <a:ea typeface="微软雅黑" pitchFamily="34" charset="-122"/>
            </a:endParaRPr>
          </a:p>
          <a:p>
            <a:pPr marL="228600" indent="-228600" algn="l">
              <a:buFont typeface="+mj-lt"/>
              <a:buAutoNum type="arabicPeriod"/>
            </a:pPr>
            <a:r>
              <a:rPr lang="en-US" altLang="zh-CN" sz="1200" dirty="0">
                <a:latin typeface="Times New Roman" panose="02020603050405020304" pitchFamily="18" charset="0"/>
                <a:ea typeface="微软雅黑" pitchFamily="34" charset="-122"/>
                <a:cs typeface="Times New Roman" panose="02020603050405020304" pitchFamily="18" charset="0"/>
              </a:rPr>
              <a:t>Chọn khoảng thời gian, Phòng ban -&gt; “Tra cứu”, hệ thống hiển thị dữ liệu tăng </a:t>
            </a:r>
            <a:r>
              <a:rPr lang="en-US" altLang="zh-CN" sz="1200" dirty="0" smtClean="0">
                <a:latin typeface="Times New Roman" panose="02020603050405020304" pitchFamily="18" charset="0"/>
                <a:ea typeface="微软雅黑" pitchFamily="34" charset="-122"/>
                <a:cs typeface="Times New Roman" panose="02020603050405020304" pitchFamily="18" charset="0"/>
              </a:rPr>
              <a:t>ca bên </a:t>
            </a:r>
            <a:r>
              <a:rPr lang="en-US" altLang="zh-CN" sz="1200" dirty="0">
                <a:latin typeface="Times New Roman" panose="02020603050405020304" pitchFamily="18" charset="0"/>
                <a:ea typeface="微软雅黑" pitchFamily="34" charset="-122"/>
                <a:cs typeface="Times New Roman" panose="02020603050405020304" pitchFamily="18" charset="0"/>
              </a:rPr>
              <a:t>dưới</a:t>
            </a:r>
          </a:p>
          <a:p>
            <a:pPr marL="228600" indent="-228600" algn="l">
              <a:buFont typeface="+mj-lt"/>
              <a:buAutoNum type="arabicPeriod"/>
            </a:pPr>
            <a:r>
              <a:rPr lang="en-US" altLang="zh-CN" sz="1200" dirty="0">
                <a:latin typeface="Times New Roman" panose="02020603050405020304" pitchFamily="18" charset="0"/>
                <a:ea typeface="微软雅黑" pitchFamily="34" charset="-122"/>
                <a:cs typeface="Times New Roman" panose="02020603050405020304" pitchFamily="18" charset="0"/>
              </a:rPr>
              <a:t>Chọn “Xuất Excel” kết xuất dữ liệu vừa tra cứu bên dưới</a:t>
            </a:r>
          </a:p>
          <a:p>
            <a:pPr marL="228600" indent="-228600" algn="l">
              <a:buFont typeface="+mj-lt"/>
              <a:buAutoNum type="arabicPeriod"/>
            </a:pPr>
            <a:r>
              <a:rPr lang="en-US" altLang="zh-CN" sz="1200" dirty="0">
                <a:latin typeface="Times New Roman" panose="02020603050405020304" pitchFamily="18" charset="0"/>
                <a:ea typeface="微软雅黑" pitchFamily="34" charset="-122"/>
                <a:cs typeface="Times New Roman" panose="02020603050405020304" pitchFamily="18" charset="0"/>
              </a:rPr>
              <a:t>Chọn số màu xanh để xem NV </a:t>
            </a:r>
            <a:r>
              <a:rPr lang="en-US" altLang="zh-CN" sz="1200" dirty="0" smtClean="0">
                <a:latin typeface="Times New Roman" panose="02020603050405020304" pitchFamily="18" charset="0"/>
                <a:ea typeface="微软雅黑" pitchFamily="34" charset="-122"/>
                <a:cs typeface="Times New Roman" panose="02020603050405020304" pitchFamily="18" charset="0"/>
              </a:rPr>
              <a:t>tăng ca.</a:t>
            </a:r>
            <a:endParaRPr lang="en-US" altLang="zh-CN" sz="1200" dirty="0">
              <a:ea typeface="微软雅黑" pitchFamily="34" charset="-122"/>
            </a:endParaRPr>
          </a:p>
          <a:p>
            <a:pPr algn="l"/>
            <a:endParaRPr lang="en-US" altLang="zh-CN" sz="1200" b="1" dirty="0">
              <a:latin typeface="+mj-lt"/>
              <a:ea typeface="微软雅黑" pitchFamily="34" charset="-122"/>
            </a:endParaRPr>
          </a:p>
        </p:txBody>
      </p:sp>
      <p:pic>
        <p:nvPicPr>
          <p:cNvPr id="1028" name="Picture 4"/>
          <p:cNvPicPr>
            <a:picLocks noChangeAspect="1" noChangeArrowheads="1"/>
          </p:cNvPicPr>
          <p:nvPr/>
        </p:nvPicPr>
        <p:blipFill>
          <a:blip r:embed="rId2" cstate="print"/>
          <a:srcRect/>
          <a:stretch>
            <a:fillRect/>
          </a:stretch>
        </p:blipFill>
        <p:spPr bwMode="auto">
          <a:xfrm>
            <a:off x="3714744" y="2071678"/>
            <a:ext cx="161925" cy="104775"/>
          </a:xfrm>
          <a:prstGeom prst="rect">
            <a:avLst/>
          </a:prstGeom>
          <a:noFill/>
          <a:ln w="9525">
            <a:noFill/>
            <a:miter lim="800000"/>
            <a:headEnd/>
            <a:tailEnd/>
          </a:ln>
          <a:effectLst/>
        </p:spPr>
      </p:pic>
      <p:sp>
        <p:nvSpPr>
          <p:cNvPr id="14" name="Text Box 7"/>
          <p:cNvSpPr txBox="1">
            <a:spLocks noChangeArrowheads="1"/>
          </p:cNvSpPr>
          <p:nvPr/>
        </p:nvSpPr>
        <p:spPr bwMode="auto">
          <a:xfrm>
            <a:off x="1301561" y="94201"/>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Hiện trạng phòng ban- Tăng ca</a:t>
            </a:r>
            <a:endParaRPr lang="zh-CN" altLang="en-US" sz="1200" dirty="0">
              <a:latin typeface="Times New Roman" panose="02020603050405020304" pitchFamily="18" charset="0"/>
              <a:ea typeface="微软雅黑" pitchFamily="34" charset="-122"/>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07504" y="1571612"/>
            <a:ext cx="6779690" cy="380160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03648" y="44624"/>
            <a:ext cx="2422258" cy="340734"/>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lgn="l" eaLnBrk="0" hangingPunct="0">
              <a:lnSpc>
                <a:spcPct val="150000"/>
              </a:lnSpc>
            </a:pPr>
            <a:r>
              <a:rPr lang="en-US" altLang="zh-CN" sz="1200" dirty="0" smtClean="0">
                <a:latin typeface="Times New Roman" panose="02020603050405020304" pitchFamily="18" charset="0"/>
                <a:ea typeface="微软雅黑" pitchFamily="34" charset="-122"/>
                <a:cs typeface="Times New Roman" panose="02020603050405020304" pitchFamily="18" charset="0"/>
              </a:rPr>
              <a:t>Hiện trạng cá nhân – Nghỉ phép</a:t>
            </a:r>
            <a:endParaRPr lang="en-US" altLang="zh-CN" sz="1200" dirty="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071702" cy="4475071"/>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eaLnBrk="1" hangingPunct="1">
              <a:lnSpc>
                <a:spcPct val="120000"/>
              </a:lnSpc>
            </a:pPr>
            <a:r>
              <a:rPr lang="en-US" altLang="zh-CN" sz="1200" dirty="0" smtClean="0">
                <a:latin typeface="Times New Roman" pitchFamily="18" charset="0"/>
                <a:ea typeface="微软雅黑" pitchFamily="34" charset="-122"/>
                <a:cs typeface="Times New Roman" pitchFamily="18" charset="0"/>
              </a:rPr>
              <a:t>Tra cứu thông tin nghỉ phép của NV bất kỳ</a:t>
            </a:r>
            <a:endParaRPr lang="en-US" altLang="zh-CN" sz="1200" dirty="0">
              <a:latin typeface="Times New Roman" pitchFamily="18" charset="0"/>
              <a:ea typeface="微软雅黑" pitchFamily="34" charset="-122"/>
              <a:cs typeface="Times New Roman" pitchFamily="18" charset="0"/>
            </a:endParaRPr>
          </a:p>
          <a:p>
            <a:pPr algn="l"/>
            <a:endParaRPr lang="vi-VN" altLang="zh-CN" sz="1200" b="1"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Dựa vào điều kiện tìm kiếm để hệ thống hiển thị dữ liệu tương ứng bên dưới.</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Chọn “Xuất Excel” kết xuất dữ liệu vừa tìm bên dưới</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Có thể chọn số màu xanh đề xem thông tin nghỉ chi tiết của NV</a:t>
            </a:r>
            <a:endParaRPr lang="en-US" altLang="zh-CN" sz="1200" dirty="0">
              <a:latin typeface="Times New Roman" pitchFamily="18" charset="0"/>
              <a:ea typeface="微软雅黑" pitchFamily="34" charset="-122"/>
              <a:cs typeface="Times New Roman" pitchFamily="18" charset="0"/>
            </a:endParaRPr>
          </a:p>
          <a:p>
            <a:pPr marL="228600" indent="-228600" algn="l"/>
            <a:r>
              <a:rPr lang="en-US" altLang="zh-CN" sz="1000" dirty="0">
                <a:latin typeface="Times New Roman" pitchFamily="18" charset="0"/>
                <a:ea typeface="微软雅黑" pitchFamily="34" charset="-122"/>
                <a:cs typeface="Times New Roman" pitchFamily="18" charset="0"/>
              </a:rPr>
              <a:t>		</a:t>
            </a:r>
          </a:p>
          <a:p>
            <a:pPr algn="l"/>
            <a:endParaRPr lang="en-US" altLang="zh-CN" sz="1000" b="1"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en-US" altLang="zh-CN" sz="1000" dirty="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sp>
        <p:nvSpPr>
          <p:cNvPr id="12"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0" y="1587616"/>
            <a:ext cx="6689535" cy="349756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331640" y="79267"/>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Hiện trạng cá nhân – Tăng ca</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782848"/>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eaLnBrk="1" hangingPunct="1">
              <a:lnSpc>
                <a:spcPct val="120000"/>
              </a:lnSpc>
            </a:pPr>
            <a:r>
              <a:rPr lang="en-US" altLang="zh-CN" sz="1200" dirty="0">
                <a:latin typeface="Times New Roman" pitchFamily="18" charset="0"/>
                <a:ea typeface="微软雅黑" pitchFamily="34" charset="-122"/>
                <a:cs typeface="Times New Roman" pitchFamily="18" charset="0"/>
              </a:rPr>
              <a:t>Tra cứu thông tin </a:t>
            </a:r>
            <a:r>
              <a:rPr lang="en-US" altLang="zh-CN" sz="1200" dirty="0" smtClean="0">
                <a:latin typeface="Times New Roman" pitchFamily="18" charset="0"/>
                <a:ea typeface="微软雅黑" pitchFamily="34" charset="-122"/>
                <a:cs typeface="Times New Roman" pitchFamily="18" charset="0"/>
              </a:rPr>
              <a:t>tăng ca </a:t>
            </a:r>
            <a:r>
              <a:rPr lang="en-US" altLang="zh-CN" sz="1200" dirty="0">
                <a:latin typeface="Times New Roman" pitchFamily="18" charset="0"/>
                <a:ea typeface="微软雅黑" pitchFamily="34" charset="-122"/>
                <a:cs typeface="Times New Roman" pitchFamily="18" charset="0"/>
              </a:rPr>
              <a:t>của NV bất kỳ</a:t>
            </a:r>
          </a:p>
          <a:p>
            <a:pPr algn="l"/>
            <a:endParaRPr lang="vi-VN" altLang="zh-CN" sz="1200" b="1"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Dựa vào điều kiện tìm kiếm để hệ thống hiển thị dữ liệu </a:t>
            </a:r>
            <a:r>
              <a:rPr lang="en-US" altLang="zh-CN" sz="1200" dirty="0" smtClean="0">
                <a:latin typeface="Times New Roman" pitchFamily="18" charset="0"/>
                <a:ea typeface="微软雅黑" pitchFamily="34" charset="-122"/>
                <a:cs typeface="Times New Roman" pitchFamily="18" charset="0"/>
              </a:rPr>
              <a:t>tăng ca tương </a:t>
            </a:r>
            <a:r>
              <a:rPr lang="en-US" altLang="zh-CN" sz="1200" dirty="0">
                <a:latin typeface="Times New Roman" pitchFamily="18" charset="0"/>
                <a:ea typeface="微软雅黑" pitchFamily="34" charset="-122"/>
                <a:cs typeface="Times New Roman" pitchFamily="18" charset="0"/>
              </a:rPr>
              <a:t>ứng bên dưới.</a:t>
            </a: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Chọn “Xuất Excel” kết xuất dữ liệu vừa tìm bên dưới</a:t>
            </a: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Có thể chọn số màu xanh đề xem thông tin </a:t>
            </a:r>
            <a:r>
              <a:rPr lang="en-US" altLang="zh-CN" sz="1200" dirty="0" smtClean="0">
                <a:latin typeface="Times New Roman" pitchFamily="18" charset="0"/>
                <a:ea typeface="微软雅黑" pitchFamily="34" charset="-122"/>
                <a:cs typeface="Times New Roman" pitchFamily="18" charset="0"/>
              </a:rPr>
              <a:t>tăng ca </a:t>
            </a:r>
            <a:r>
              <a:rPr lang="en-US" altLang="zh-CN" sz="1200" dirty="0">
                <a:latin typeface="Times New Roman" pitchFamily="18" charset="0"/>
                <a:ea typeface="微软雅黑" pitchFamily="34" charset="-122"/>
                <a:cs typeface="Times New Roman" pitchFamily="18" charset="0"/>
              </a:rPr>
              <a:t>chi tiết của NV</a:t>
            </a:r>
          </a:p>
          <a:p>
            <a:pPr marL="228600" indent="-228600" algn="l"/>
            <a:r>
              <a:rPr lang="en-US" altLang="zh-CN" sz="1200" dirty="0">
                <a:latin typeface="Times New Roman" pitchFamily="18" charset="0"/>
                <a:ea typeface="微软雅黑" pitchFamily="34" charset="-122"/>
                <a:cs typeface="Times New Roman" pitchFamily="18" charset="0"/>
              </a:rPr>
              <a:t>		</a:t>
            </a:r>
          </a:p>
          <a:p>
            <a:pPr algn="l"/>
            <a:endParaRPr lang="en-US" altLang="zh-CN" sz="1200" b="1"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2"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107504" y="1356573"/>
            <a:ext cx="6448503" cy="298817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03648" y="82863"/>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Chấm công ngày – Nghỉ phép</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782848"/>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eaLnBrk="1" hangingPunct="1">
              <a:lnSpc>
                <a:spcPct val="120000"/>
              </a:lnSpc>
            </a:pPr>
            <a:r>
              <a:rPr lang="vi-VN" altLang="zh-CN" sz="1200" dirty="0">
                <a:latin typeface="Times New Roman" pitchFamily="18" charset="0"/>
                <a:ea typeface="微软雅黑" pitchFamily="34" charset="-122"/>
                <a:cs typeface="Times New Roman" pitchFamily="18" charset="0"/>
              </a:rPr>
              <a:t>Hiển thị </a:t>
            </a:r>
            <a:r>
              <a:rPr lang="en-US" altLang="zh-CN" sz="1200" dirty="0" smtClean="0">
                <a:latin typeface="Times New Roman" pitchFamily="18" charset="0"/>
                <a:ea typeface="微软雅黑" pitchFamily="34" charset="-122"/>
                <a:cs typeface="Times New Roman" pitchFamily="18" charset="0"/>
              </a:rPr>
              <a:t>dữ liệu</a:t>
            </a:r>
            <a:r>
              <a:rPr lang="vi-VN" altLang="zh-CN"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nghỉ phép</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theo </a:t>
            </a:r>
            <a:r>
              <a:rPr lang="vi-VN" altLang="zh-CN" sz="1200" dirty="0" smtClean="0">
                <a:latin typeface="Times New Roman" pitchFamily="18" charset="0"/>
                <a:ea typeface="微软雅黑" pitchFamily="34" charset="-122"/>
                <a:cs typeface="Times New Roman" pitchFamily="18" charset="0"/>
              </a:rPr>
              <a:t>ngày</a:t>
            </a:r>
            <a:endParaRPr lang="vi-VN" altLang="zh-CN" sz="1200" b="1" dirty="0">
              <a:latin typeface="Times New Roman" pitchFamily="18" charset="0"/>
              <a:ea typeface="微软雅黑" pitchFamily="34" charset="-122"/>
              <a:cs typeface="Times New Roman" pitchFamily="18" charset="0"/>
            </a:endParaRPr>
          </a:p>
          <a:p>
            <a:pPr algn="l"/>
            <a:endParaRPr lang="vi-VN" altLang="zh-CN" sz="1200" b="1"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Dựa vào điều kiện tìm kiếm để hệ thống hiển thị dữ liệu tương ứng bên dưới.</a:t>
            </a: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Chọn “Xuất Excel” kết xuất dữ </a:t>
            </a:r>
            <a:r>
              <a:rPr lang="en-US" altLang="zh-CN" sz="1200" dirty="0" smtClean="0">
                <a:latin typeface="Times New Roman" pitchFamily="18" charset="0"/>
                <a:ea typeface="微软雅黑" pitchFamily="34" charset="-122"/>
                <a:cs typeface="Times New Roman" pitchFamily="18" charset="0"/>
              </a:rPr>
              <a:t>liệu nghỉ phép </a:t>
            </a:r>
            <a:r>
              <a:rPr lang="en-US" altLang="zh-CN" sz="1200" dirty="0">
                <a:latin typeface="Times New Roman" pitchFamily="18" charset="0"/>
                <a:ea typeface="微软雅黑" pitchFamily="34" charset="-122"/>
                <a:cs typeface="Times New Roman" pitchFamily="18" charset="0"/>
              </a:rPr>
              <a:t>vừa tìm bên dưới</a:t>
            </a: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Có thể chọn số màu xanh đề xem thông tin nghỉ chi tiết của NV</a:t>
            </a:r>
          </a:p>
          <a:p>
            <a:pPr marL="228600" indent="-228600" algn="l"/>
            <a:r>
              <a:rPr lang="en-US" altLang="zh-CN" sz="1200" dirty="0">
                <a:latin typeface="Times New Roman" pitchFamily="18" charset="0"/>
                <a:ea typeface="微软雅黑" pitchFamily="34" charset="-122"/>
                <a:cs typeface="Times New Roman" pitchFamily="18" charset="0"/>
              </a:rPr>
              <a:t>		</a:t>
            </a:r>
          </a:p>
          <a:p>
            <a:pPr algn="l"/>
            <a:endParaRPr lang="en-US" altLang="zh-CN" sz="1200" b="1"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2"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107504" y="1196752"/>
            <a:ext cx="6552422" cy="345638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03648" y="108938"/>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Chấm công ngày – Tăng ca</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967514"/>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eaLnBrk="1" hangingPunct="1">
              <a:lnSpc>
                <a:spcPct val="120000"/>
              </a:lnSpc>
            </a:pPr>
            <a:r>
              <a:rPr lang="vi-VN" altLang="zh-CN" sz="1200" dirty="0">
                <a:latin typeface="Times New Roman" pitchFamily="18" charset="0"/>
                <a:ea typeface="微软雅黑" pitchFamily="34" charset="-122"/>
                <a:cs typeface="Times New Roman" pitchFamily="18" charset="0"/>
              </a:rPr>
              <a:t>Hiển thị tình trạng tăng ca theo </a:t>
            </a:r>
            <a:r>
              <a:rPr lang="vi-VN" altLang="zh-CN" sz="1200" dirty="0" smtClean="0">
                <a:latin typeface="Times New Roman" pitchFamily="18" charset="0"/>
                <a:ea typeface="微软雅黑" pitchFamily="34" charset="-122"/>
                <a:cs typeface="Times New Roman" pitchFamily="18" charset="0"/>
              </a:rPr>
              <a:t>ngày</a:t>
            </a:r>
            <a:endParaRPr lang="vi-VN" altLang="zh-CN" sz="1200" b="1" dirty="0">
              <a:latin typeface="Times New Roman" pitchFamily="18" charset="0"/>
              <a:ea typeface="微软雅黑" pitchFamily="34" charset="-122"/>
              <a:cs typeface="Times New Roman" pitchFamily="18" charset="0"/>
            </a:endParaRPr>
          </a:p>
          <a:p>
            <a:pPr algn="l"/>
            <a:endParaRPr lang="vi-VN" altLang="zh-CN" sz="1200" b="1"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Dựa vào điều kiện tìm kiếm để hệ thống hiển thị dữ liệu tăng ca tương ứng bên dưới.</a:t>
            </a: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Chọn “Xuất Excel” kết xuất dữ liệu vừa tìm bên dưới</a:t>
            </a: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Có thể chọn số màu xanh đề xem thông tin tăng ca chi tiết của NV</a:t>
            </a:r>
          </a:p>
          <a:p>
            <a:pPr marL="228600" indent="-228600" algn="l">
              <a:buFont typeface="+mj-lt"/>
              <a:buAutoNum type="arabicPeriod"/>
            </a:pPr>
            <a:endParaRPr lang="en-US" altLang="zh-CN" sz="1200" dirty="0">
              <a:latin typeface="Times New Roman" pitchFamily="18" charset="0"/>
              <a:ea typeface="微软雅黑" pitchFamily="34" charset="-122"/>
              <a:cs typeface="Times New Roman" pitchFamily="18" charset="0"/>
            </a:endParaRPr>
          </a:p>
          <a:p>
            <a:pPr marL="228600" indent="-228600" algn="l"/>
            <a:r>
              <a:rPr lang="en-US" altLang="zh-CN" sz="1200" dirty="0">
                <a:latin typeface="Times New Roman" pitchFamily="18" charset="0"/>
                <a:ea typeface="微软雅黑" pitchFamily="34" charset="-122"/>
                <a:cs typeface="Times New Roman" pitchFamily="18" charset="0"/>
              </a:rPr>
              <a:t>		</a:t>
            </a:r>
          </a:p>
          <a:p>
            <a:pPr algn="l"/>
            <a:endParaRPr lang="en-US" altLang="zh-CN" sz="1200" b="1"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2"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3" name="Picture 2"/>
          <p:cNvPicPr>
            <a:picLocks noChangeAspect="1"/>
          </p:cNvPicPr>
          <p:nvPr/>
        </p:nvPicPr>
        <p:blipFill>
          <a:blip r:embed="rId2"/>
          <a:stretch>
            <a:fillRect/>
          </a:stretch>
        </p:blipFill>
        <p:spPr>
          <a:xfrm>
            <a:off x="179512" y="1295182"/>
            <a:ext cx="6523863" cy="3213938"/>
          </a:xfrm>
          <a:prstGeom prst="rect">
            <a:avLst/>
          </a:prstGeom>
        </p:spPr>
      </p:pic>
      <p:pic>
        <p:nvPicPr>
          <p:cNvPr id="4" name="Picture 3"/>
          <p:cNvPicPr>
            <a:picLocks noChangeAspect="1"/>
          </p:cNvPicPr>
          <p:nvPr/>
        </p:nvPicPr>
        <p:blipFill>
          <a:blip r:embed="rId3"/>
          <a:stretch>
            <a:fillRect/>
          </a:stretch>
        </p:blipFill>
        <p:spPr>
          <a:xfrm>
            <a:off x="899665" y="3926102"/>
            <a:ext cx="5616477" cy="222858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401" name="Text Box 9"/>
          <p:cNvSpPr txBox="1">
            <a:spLocks noChangeArrowheads="1"/>
          </p:cNvSpPr>
          <p:nvPr/>
        </p:nvSpPr>
        <p:spPr bwMode="auto">
          <a:xfrm>
            <a:off x="6715140" y="1571612"/>
            <a:ext cx="2286016" cy="2308324"/>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algn="l">
              <a:spcBef>
                <a:spcPct val="50000"/>
              </a:spcBef>
            </a:pPr>
            <a:r>
              <a:rPr lang="vi-VN" altLang="zh-CN" sz="1200" b="1" dirty="0" smtClean="0">
                <a:latin typeface="+mj-lt"/>
                <a:ea typeface="微软雅黑" pitchFamily="34" charset="-122"/>
              </a:rPr>
              <a:t>Chức </a:t>
            </a:r>
            <a:r>
              <a:rPr lang="vi-VN" altLang="zh-CN" sz="1200" b="1" dirty="0">
                <a:latin typeface="+mj-lt"/>
                <a:ea typeface="微软雅黑" pitchFamily="34" charset="-122"/>
              </a:rPr>
              <a:t>năng: </a:t>
            </a:r>
            <a:endParaRPr lang="en-US" altLang="zh-CN" sz="1200" b="1" dirty="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Kết xuất các loại bảng chấm công</a:t>
            </a:r>
            <a:endParaRPr lang="zh-CN" altLang="en-US" sz="12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vi-VN" altLang="zh-CN" sz="1200" b="1" dirty="0">
                <a:latin typeface="+mj-lt"/>
                <a:ea typeface="微软雅黑" pitchFamily="34" charset="-122"/>
              </a:rPr>
              <a:t>Giải thích chi tiết: </a:t>
            </a:r>
            <a:endParaRPr lang="en-US" altLang="zh-CN" sz="1200" b="1" dirty="0">
              <a:latin typeface="+mj-lt"/>
              <a:ea typeface="微软雅黑" pitchFamily="34" charset="-122"/>
            </a:endParaRP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loại bảng chấm công, chọn khoảng thời gian hoặc phòng ban, sau đó chọn “Xuất Excel” kết xuất dữ liệu tương ứng</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zh-CN" altLang="en-US" sz="1200" dirty="0">
                <a:solidFill>
                  <a:srgbClr val="FF0000"/>
                </a:solidFill>
                <a:latin typeface="+mj-lt"/>
                <a:ea typeface="微软雅黑" pitchFamily="34" charset="-122"/>
              </a:rPr>
              <a:t>*</a:t>
            </a:r>
            <a:r>
              <a:rPr lang="vi-VN" altLang="zh-CN" sz="1200" dirty="0">
                <a:solidFill>
                  <a:srgbClr val="FF0000"/>
                </a:solidFill>
                <a:latin typeface="+mj-lt"/>
                <a:ea typeface="微软雅黑" pitchFamily="34" charset="-122"/>
              </a:rPr>
              <a:t>Nội dung của trang này thiết kế </a:t>
            </a:r>
            <a:r>
              <a:rPr lang="vi-VN" altLang="zh-CN" sz="1200" dirty="0" smtClean="0">
                <a:solidFill>
                  <a:srgbClr val="FF0000"/>
                </a:solidFill>
                <a:latin typeface="+mj-lt"/>
                <a:ea typeface="微软雅黑" pitchFamily="34" charset="-122"/>
              </a:rPr>
              <a:t>theo </a:t>
            </a:r>
            <a:r>
              <a:rPr lang="vi-VN" altLang="zh-CN" sz="1200" dirty="0">
                <a:solidFill>
                  <a:srgbClr val="FF0000"/>
                </a:solidFill>
                <a:latin typeface="+mj-lt"/>
                <a:ea typeface="微软雅黑" pitchFamily="34" charset="-122"/>
              </a:rPr>
              <a:t>bảng </a:t>
            </a:r>
            <a:r>
              <a:rPr lang="en-US" altLang="zh-CN" sz="1200" dirty="0" smtClean="0">
                <a:solidFill>
                  <a:srgbClr val="FF0000"/>
                </a:solidFill>
                <a:latin typeface="+mj-lt"/>
                <a:ea typeface="微软雅黑" pitchFamily="34" charset="-122"/>
              </a:rPr>
              <a:t>biểu </a:t>
            </a:r>
            <a:r>
              <a:rPr lang="vi-VN" altLang="zh-CN" sz="1200" dirty="0" smtClean="0">
                <a:solidFill>
                  <a:srgbClr val="FF0000"/>
                </a:solidFill>
                <a:latin typeface="+mj-lt"/>
                <a:ea typeface="微软雅黑" pitchFamily="34" charset="-122"/>
              </a:rPr>
              <a:t>được </a:t>
            </a:r>
            <a:r>
              <a:rPr lang="vi-VN" altLang="zh-CN" sz="1200" dirty="0">
                <a:solidFill>
                  <a:srgbClr val="FF0000"/>
                </a:solidFill>
                <a:latin typeface="+mj-lt"/>
                <a:ea typeface="微软雅黑" pitchFamily="34" charset="-122"/>
              </a:rPr>
              <a:t>cung cấp</a:t>
            </a:r>
            <a:endParaRPr lang="zh-CN" altLang="en-US" sz="1200" dirty="0">
              <a:latin typeface="+mj-lt"/>
              <a:ea typeface="微软雅黑" pitchFamily="34" charset="-122"/>
            </a:endParaRPr>
          </a:p>
        </p:txBody>
      </p:sp>
      <p:sp>
        <p:nvSpPr>
          <p:cNvPr id="9" name="Text Box 7"/>
          <p:cNvSpPr txBox="1">
            <a:spLocks noChangeArrowheads="1"/>
          </p:cNvSpPr>
          <p:nvPr/>
        </p:nvSpPr>
        <p:spPr bwMode="auto">
          <a:xfrm>
            <a:off x="1475656" y="74643"/>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Bảng chấm công</a:t>
            </a:r>
            <a:endParaRPr lang="zh-CN" altLang="en-US" sz="1200" dirty="0">
              <a:latin typeface="Times New Roman" panose="02020603050405020304" pitchFamily="18" charset="0"/>
              <a:ea typeface="微软雅黑" pitchFamily="34" charset="-122"/>
              <a:cs typeface="Times New Roman" panose="02020603050405020304" pitchFamily="18" charset="0"/>
            </a:endParaRPr>
          </a:p>
        </p:txBody>
      </p:sp>
      <p:sp>
        <p:nvSpPr>
          <p:cNvPr id="7"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34270" y="1310749"/>
            <a:ext cx="6466665" cy="297142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331640" y="44624"/>
            <a:ext cx="2592288"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marL="342900" indent="-342900" algn="l" eaLnBrk="0" hangingPunct="0">
              <a:lnSpc>
                <a:spcPct val="150000"/>
              </a:lnSpc>
            </a:pPr>
            <a:r>
              <a:rPr lang="en-US" altLang="zh-CN" sz="1200" dirty="0" smtClean="0">
                <a:latin typeface="Times New Roman" pitchFamily="18" charset="0"/>
                <a:ea typeface="微软雅黑" pitchFamily="34" charset="-122"/>
                <a:cs typeface="Times New Roman" pitchFamily="18" charset="0"/>
              </a:rPr>
              <a:t>Quản lý ra vào - Lịch sử</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ra vào</a:t>
            </a:r>
            <a:endParaRPr lang="en-US" altLang="zh-CN"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6851106"/>
          </a:xfrm>
          <a:prstGeom prst="rect">
            <a:avLst/>
          </a:prstGeom>
          <a:noFill/>
        </p:spPr>
        <p:txBody>
          <a:bodyPr wrap="square" rtlCol="0">
            <a:spAutoFit/>
          </a:bodyPr>
          <a:lstStyle/>
          <a:p>
            <a:pPr algn="l"/>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eaLnBrk="1" hangingPunct="1">
              <a:lnSpc>
                <a:spcPct val="120000"/>
              </a:lnSpc>
            </a:pPr>
            <a:r>
              <a:rPr lang="en-US" altLang="zh-CN" sz="1200" dirty="0" smtClean="0">
                <a:latin typeface="Times New Roman" panose="02020603050405020304" pitchFamily="18" charset="0"/>
                <a:ea typeface="微软雅黑" pitchFamily="34" charset="-122"/>
                <a:cs typeface="Times New Roman" panose="02020603050405020304" pitchFamily="18" charset="0"/>
              </a:rPr>
              <a:t>Tra cứu dữ liệu quẹt thẻ của Nv bất kỳ</a:t>
            </a:r>
            <a:endParaRPr lang="zh-CN" altLang="en-US" sz="1200" dirty="0">
              <a:latin typeface="Times New Roman" panose="02020603050405020304" pitchFamily="18" charset="0"/>
              <a:ea typeface="微软雅黑" pitchFamily="34" charset="-122"/>
              <a:cs typeface="Times New Roman" panose="02020603050405020304" pitchFamily="18" charset="0"/>
            </a:endParaRPr>
          </a:p>
          <a:p>
            <a:pPr algn="l"/>
            <a:endParaRPr lang="vi-VN" altLang="zh-CN" sz="1200" b="1" dirty="0">
              <a:latin typeface="+mj-lt"/>
              <a:ea typeface="微软雅黑" pitchFamily="34" charset="-122"/>
            </a:endParaRPr>
          </a:p>
          <a:p>
            <a:pPr algn="l"/>
            <a:r>
              <a:rPr lang="vi-VN" altLang="zh-CN" sz="1200" b="1" dirty="0">
                <a:latin typeface="+mj-lt"/>
                <a:ea typeface="微软雅黑" pitchFamily="34" charset="-122"/>
              </a:rPr>
              <a:t>Giải thích chi tiết: </a:t>
            </a:r>
            <a:endParaRPr lang="en-US" altLang="zh-CN" sz="1200" b="1" dirty="0">
              <a:latin typeface="+mj-lt"/>
              <a:ea typeface="微软雅黑" pitchFamily="34" charset="-122"/>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Nhập điều kiện tìm kiếm -&gt; “Tra cứu”, hệ thống hiển thị dữ liệu tương ứng bên dưới</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Khi thêm dữ liệu quẹt thẻ của NV nào đó, chọn “Thêm mới”, nhập họ tên, thời gian sau đó “Lưu”, hệ thống tự động hiển thị dữ liệu vừa thêm</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dữ liệu muốn xóa -&gt; “Xóa” xóa bỏ dữ liệu đó</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“Đọc dữ liệu quẹt thẻ” hệ thống đã tích hợp sẵn với mày chấm công và tự động chuyển dữ liệu từ máy chấm công vào hệ thống</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marL="228600" indent="-228600" algn="l"/>
            <a:endParaRPr lang="en-US" altLang="zh-CN" sz="1200" dirty="0">
              <a:latin typeface="+mj-lt"/>
              <a:ea typeface="微软雅黑" pitchFamily="34" charset="-122"/>
            </a:endParaRPr>
          </a:p>
          <a:p>
            <a:pPr marL="228600" indent="-228600" algn="l">
              <a:buFont typeface="+mj-lt"/>
              <a:buAutoNum type="arabicPeriod"/>
            </a:pPr>
            <a:endParaRPr lang="en-US" altLang="zh-CN" sz="1200" dirty="0">
              <a:latin typeface="+mj-lt"/>
              <a:ea typeface="微软雅黑" pitchFamily="34" charset="-122"/>
            </a:endParaRPr>
          </a:p>
          <a:p>
            <a:pPr marL="228600" indent="-228600" algn="l">
              <a:buFont typeface="+mj-lt"/>
              <a:buAutoNum type="arabicPeriod"/>
            </a:pPr>
            <a:endParaRPr lang="en-US" altLang="zh-CN" sz="1200" dirty="0">
              <a:latin typeface="+mj-lt"/>
              <a:ea typeface="微软雅黑" pitchFamily="34" charset="-122"/>
            </a:endParaRPr>
          </a:p>
          <a:p>
            <a:pPr marL="228600" indent="-228600" algn="l"/>
            <a:r>
              <a:rPr lang="en-US" altLang="zh-CN" sz="1200" dirty="0">
                <a:latin typeface="+mj-lt"/>
                <a:ea typeface="微软雅黑" pitchFamily="34" charset="-122"/>
              </a:rPr>
              <a:t>		</a:t>
            </a:r>
          </a:p>
          <a:p>
            <a:pPr algn="l"/>
            <a:endParaRPr lang="en-US" altLang="zh-CN" sz="1200" b="1"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en-US" altLang="zh-CN" sz="1200" dirty="0">
              <a:latin typeface="+mj-lt"/>
              <a:ea typeface="微软雅黑" pitchFamily="34" charset="-122"/>
            </a:endParaRPr>
          </a:p>
          <a:p>
            <a:pPr algn="l"/>
            <a:endParaRPr lang="zh-CN" altLang="en-US" sz="1200" dirty="0">
              <a:latin typeface="+mj-lt"/>
              <a:ea typeface="微软雅黑" pitchFamily="34" charset="-122"/>
            </a:endParaRPr>
          </a:p>
        </p:txBody>
      </p:sp>
      <p:sp>
        <p:nvSpPr>
          <p:cNvPr id="38"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107504" y="1540750"/>
            <a:ext cx="6523577" cy="361644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75656" y="50112"/>
            <a:ext cx="2592288"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lgn="l" eaLnBrk="0" hangingPunct="0">
              <a:lnSpc>
                <a:spcPct val="150000"/>
              </a:lnSpc>
            </a:pPr>
            <a:r>
              <a:rPr lang="en-US" altLang="zh-CN" sz="1200" dirty="0">
                <a:latin typeface="Times New Roman" panose="02020603050405020304" pitchFamily="18" charset="0"/>
                <a:ea typeface="微软雅黑" pitchFamily="34" charset="-122"/>
                <a:cs typeface="Times New Roman" panose="02020603050405020304" pitchFamily="18" charset="0"/>
              </a:rPr>
              <a:t>Quản lý ra vào - Dữ </a:t>
            </a:r>
            <a:r>
              <a:rPr lang="en-US" altLang="zh-CN" sz="1200" dirty="0" smtClean="0">
                <a:latin typeface="Times New Roman" panose="02020603050405020304" pitchFamily="18" charset="0"/>
                <a:ea typeface="微软雅黑" pitchFamily="34" charset="-122"/>
                <a:cs typeface="Times New Roman" panose="02020603050405020304" pitchFamily="18" charset="0"/>
              </a:rPr>
              <a:t>liệu quẹt thẻ</a:t>
            </a:r>
            <a:endParaRPr lang="zh-CN" altLang="en-US" sz="1200" dirty="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071702" cy="4339650"/>
          </a:xfrm>
          <a:prstGeom prst="rect">
            <a:avLst/>
          </a:prstGeom>
          <a:noFill/>
        </p:spPr>
        <p:txBody>
          <a:bodyPr wrap="square" rtlCol="0">
            <a:spAutoFit/>
          </a:bodyPr>
          <a:lstStyle/>
          <a:p>
            <a:pPr algn="l" eaLnBrk="1" hangingPunct="1">
              <a:lnSpc>
                <a:spcPct val="120000"/>
              </a:lnSpc>
            </a:pPr>
            <a:endParaRPr lang="vi-VN" altLang="zh-CN" sz="1000" b="1" dirty="0">
              <a:latin typeface="+mj-lt"/>
              <a:ea typeface="微软雅黑" pitchFamily="34" charset="-122"/>
            </a:endParaRPr>
          </a:p>
          <a:p>
            <a:pPr algn="l"/>
            <a:endParaRPr lang="vi-VN" altLang="zh-CN" sz="1000" b="1" dirty="0">
              <a:latin typeface="+mj-lt"/>
              <a:ea typeface="微软雅黑" pitchFamily="34" charset="-122"/>
            </a:endParaRPr>
          </a:p>
          <a:p>
            <a:pPr algn="l"/>
            <a:r>
              <a:rPr lang="vi-VN" altLang="zh-CN" sz="1000" b="1" dirty="0">
                <a:latin typeface="+mj-lt"/>
                <a:ea typeface="微软雅黑" pitchFamily="34" charset="-122"/>
              </a:rPr>
              <a:t>Giải thích chi tiết: </a:t>
            </a:r>
            <a:endParaRPr lang="en-US" altLang="zh-CN" sz="1000" b="1" dirty="0">
              <a:latin typeface="+mj-lt"/>
              <a:ea typeface="微软雅黑" pitchFamily="34" charset="-122"/>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Nv hoặc khoảng thời gian hoặc phòng ban, sau đó chọn “Tra cứu” hệ thống hiển thị dữ liệu quẹt thẻ bên dưới</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“Xuất Excel” kết xuất dữ liệu vừa hiển thị bên dưới</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a:latin typeface="Times New Roman" pitchFamily="18" charset="0"/>
                <a:ea typeface="微软雅黑" pitchFamily="34" charset="-122"/>
                <a:cs typeface="Times New Roman" pitchFamily="18" charset="0"/>
              </a:rPr>
              <a:t>“Đọc dữ liệu quẹt thẻ” hệ thống đã tích hợp sẵn với mày chấm công và tự động chuyển dữ liệu từ máy chấm công vào hệ thống</a:t>
            </a:r>
          </a:p>
          <a:p>
            <a:pPr marL="228600" indent="-228600" algn="l"/>
            <a:r>
              <a:rPr lang="en-US" altLang="zh-CN" sz="1000" dirty="0">
                <a:latin typeface="+mj-lt"/>
                <a:ea typeface="微软雅黑" pitchFamily="34" charset="-122"/>
              </a:rPr>
              <a:t>		</a:t>
            </a:r>
          </a:p>
          <a:p>
            <a:pPr algn="l"/>
            <a:endParaRPr lang="en-US" altLang="zh-CN" sz="1000" b="1" dirty="0">
              <a:latin typeface="+mj-lt"/>
              <a:ea typeface="微软雅黑" pitchFamily="34" charset="-122"/>
            </a:endParaRPr>
          </a:p>
          <a:p>
            <a:pPr algn="l"/>
            <a:endParaRPr lang="en-US" altLang="zh-CN" sz="1000" dirty="0">
              <a:latin typeface="+mj-lt"/>
              <a:ea typeface="微软雅黑" pitchFamily="34" charset="-122"/>
            </a:endParaRPr>
          </a:p>
          <a:p>
            <a:pPr algn="l"/>
            <a:endParaRPr lang="en-US" altLang="zh-CN" sz="1000" dirty="0">
              <a:latin typeface="+mj-lt"/>
              <a:ea typeface="微软雅黑" pitchFamily="34" charset="-122"/>
            </a:endParaRPr>
          </a:p>
          <a:p>
            <a:pPr algn="l"/>
            <a:endParaRPr lang="en-US" altLang="zh-CN" sz="1000" dirty="0">
              <a:latin typeface="+mj-lt"/>
              <a:ea typeface="微软雅黑" pitchFamily="34" charset="-122"/>
            </a:endParaRPr>
          </a:p>
          <a:p>
            <a:pPr algn="l"/>
            <a:endParaRPr lang="en-US" altLang="zh-CN" sz="1000" dirty="0">
              <a:latin typeface="+mj-lt"/>
              <a:ea typeface="微软雅黑" pitchFamily="34" charset="-122"/>
            </a:endParaRPr>
          </a:p>
          <a:p>
            <a:pPr algn="l"/>
            <a:endParaRPr lang="en-US" altLang="zh-CN" sz="1000" dirty="0">
              <a:latin typeface="+mj-lt"/>
              <a:ea typeface="微软雅黑" pitchFamily="34" charset="-122"/>
            </a:endParaRPr>
          </a:p>
          <a:p>
            <a:pPr algn="l"/>
            <a:endParaRPr lang="en-US" altLang="zh-CN" sz="1000" dirty="0">
              <a:latin typeface="+mj-lt"/>
              <a:ea typeface="微软雅黑" pitchFamily="34" charset="-122"/>
            </a:endParaRPr>
          </a:p>
          <a:p>
            <a:pPr algn="l"/>
            <a:endParaRPr lang="en-US" altLang="zh-CN" sz="1000" dirty="0">
              <a:latin typeface="+mj-lt"/>
              <a:ea typeface="微软雅黑" pitchFamily="34" charset="-122"/>
            </a:endParaRPr>
          </a:p>
          <a:p>
            <a:pPr algn="l"/>
            <a:endParaRPr lang="zh-CN" altLang="en-US" sz="1000" dirty="0">
              <a:latin typeface="+mj-lt"/>
              <a:ea typeface="微软雅黑" pitchFamily="34" charset="-122"/>
            </a:endParaRPr>
          </a:p>
        </p:txBody>
      </p:sp>
      <p:sp>
        <p:nvSpPr>
          <p:cNvPr id="19"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0" y="1571612"/>
            <a:ext cx="6585101" cy="31243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57908" y="86145"/>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Xác nhận nhân sự - </a:t>
            </a:r>
            <a:r>
              <a:rPr lang="en-US" altLang="zh-CN" sz="1200" dirty="0">
                <a:latin typeface="Times New Roman" pitchFamily="18" charset="0"/>
                <a:ea typeface="微软雅黑" pitchFamily="34" charset="-122"/>
                <a:cs typeface="Times New Roman" pitchFamily="18" charset="0"/>
              </a:rPr>
              <a:t>N</a:t>
            </a:r>
            <a:r>
              <a:rPr lang="en-US" altLang="zh-CN" sz="1200" dirty="0" smtClean="0">
                <a:latin typeface="Times New Roman" pitchFamily="18" charset="0"/>
                <a:ea typeface="微软雅黑" pitchFamily="34" charset="-122"/>
                <a:cs typeface="Times New Roman" pitchFamily="18" charset="0"/>
              </a:rPr>
              <a:t>ghỉ bất thường</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809388" y="1513384"/>
            <a:ext cx="2071702" cy="4612032"/>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lnSpc>
                <a:spcPct val="120000"/>
              </a:lnSpc>
            </a:pPr>
            <a:r>
              <a:rPr lang="vi-VN" altLang="zh-CN" sz="1200" dirty="0">
                <a:latin typeface="Times New Roman" pitchFamily="18" charset="0"/>
                <a:ea typeface="微软雅黑" pitchFamily="34" charset="-122"/>
                <a:cs typeface="Times New Roman" pitchFamily="18" charset="0"/>
              </a:rPr>
              <a:t>Phòng nhân sự phê duyệt </a:t>
            </a:r>
            <a:r>
              <a:rPr lang="en-US" altLang="zh-CN" sz="1200" dirty="0" smtClean="0">
                <a:latin typeface="Times New Roman" pitchFamily="18" charset="0"/>
                <a:ea typeface="微软雅黑" pitchFamily="34" charset="-122"/>
                <a:cs typeface="Times New Roman" pitchFamily="18" charset="0"/>
              </a:rPr>
              <a:t>thông tin không quẹt thẻ khi có lý do hợp lý</a:t>
            </a:r>
            <a:endParaRPr lang="en-US" altLang="zh-CN" sz="1200" dirty="0">
              <a:latin typeface="Times New Roman" pitchFamily="18" charset="0"/>
              <a:ea typeface="微软雅黑" pitchFamily="34" charset="-122"/>
              <a:cs typeface="Times New Roman" pitchFamily="18" charset="0"/>
            </a:endParaRPr>
          </a:p>
          <a:p>
            <a:pPr algn="l"/>
            <a:r>
              <a:rPr lang="vi-VN" altLang="zh-CN" sz="1200" b="1" dirty="0" smtClean="0">
                <a:latin typeface="Times New Roman" pitchFamily="18" charset="0"/>
                <a:ea typeface="微软雅黑" pitchFamily="34" charset="-122"/>
                <a:cs typeface="Times New Roman" pitchFamily="18" charset="0"/>
              </a:rPr>
              <a:t>Giải </a:t>
            </a:r>
            <a:r>
              <a:rPr lang="vi-VN" altLang="zh-CN" sz="1200" b="1" dirty="0">
                <a:latin typeface="Times New Roman" pitchFamily="18" charset="0"/>
                <a:ea typeface="微软雅黑" pitchFamily="34" charset="-122"/>
                <a:cs typeface="Times New Roman" pitchFamily="18" charset="0"/>
              </a:rPr>
              <a:t>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a:latin typeface="Times New Roman" pitchFamily="18" charset="0"/>
                <a:ea typeface="微软雅黑" pitchFamily="34" charset="-122"/>
                <a:cs typeface="Times New Roman" pitchFamily="18" charset="0"/>
              </a:rPr>
              <a:t>Thông qua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Mã nhân viên/Họ tên</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  "Phòng ban" , "Ngày bắt đầu" , "Ngày kết thúc",  "Trạng thái",  "Nhóm </a:t>
            </a:r>
            <a:r>
              <a:rPr lang="en-US" altLang="zh-CN" sz="1200" dirty="0" smtClean="0">
                <a:latin typeface="Times New Roman" pitchFamily="18" charset="0"/>
                <a:ea typeface="微软雅黑" pitchFamily="34" charset="-122"/>
                <a:cs typeface="Times New Roman" pitchFamily="18" charset="0"/>
              </a:rPr>
              <a:t>nhân viên</a:t>
            </a:r>
            <a:r>
              <a:rPr lang="vi-VN" altLang="zh-CN"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tra cứu dữ liệu tương ứng hiển thị bên dưới</a:t>
            </a:r>
            <a:r>
              <a:rPr lang="vi-VN" altLang="zh-CN" sz="1200" dirty="0" smtClean="0">
                <a:latin typeface="Times New Roman" pitchFamily="18" charset="0"/>
                <a:ea typeface="微软雅黑" pitchFamily="34" charset="-122"/>
                <a:cs typeface="Times New Roman" pitchFamily="18" charset="0"/>
              </a:rPr>
              <a:t>.</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a:latin typeface="Times New Roman" pitchFamily="18" charset="0"/>
                <a:ea typeface="微软雅黑" pitchFamily="34" charset="-122"/>
                <a:cs typeface="Times New Roman" pitchFamily="18" charset="0"/>
              </a:rPr>
              <a:t>Click vào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Duyệt</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"Từ chối",  "Thông qua hàng </a:t>
            </a:r>
            <a:r>
              <a:rPr lang="vi-VN" altLang="zh-CN" sz="1200" dirty="0" smtClean="0">
                <a:latin typeface="Times New Roman" pitchFamily="18" charset="0"/>
                <a:ea typeface="微软雅黑" pitchFamily="34" charset="-122"/>
                <a:cs typeface="Times New Roman" pitchFamily="18" charset="0"/>
              </a:rPr>
              <a:t>loạt“</a:t>
            </a:r>
            <a:r>
              <a:rPr lang="en-US" altLang="zh-CN" sz="1200" dirty="0" smtClean="0">
                <a:latin typeface="Times New Roman" pitchFamily="18" charset="0"/>
                <a:ea typeface="微软雅黑" pitchFamily="34" charset="-122"/>
                <a:cs typeface="Times New Roman" pitchFamily="18" charset="0"/>
              </a:rPr>
              <a:t> xác nhận lỗi không quẹt thẻ</a:t>
            </a:r>
            <a:endParaRPr lang="en-US" altLang="zh-CN" sz="1050" dirty="0">
              <a:latin typeface="Times New Roman" pitchFamily="18" charset="0"/>
              <a:ea typeface="微软雅黑" pitchFamily="34" charset="-122"/>
              <a:cs typeface="Times New Roman" pitchFamily="18" charset="0"/>
            </a:endParaRPr>
          </a:p>
          <a:p>
            <a:pPr algn="l"/>
            <a:endParaRPr lang="en-US" altLang="zh-CN" sz="1050" b="1" dirty="0">
              <a:latin typeface="Times New Roman" pitchFamily="18" charset="0"/>
              <a:ea typeface="微软雅黑" pitchFamily="34" charset="-122"/>
              <a:cs typeface="Times New Roman" pitchFamily="18" charset="0"/>
            </a:endParaRPr>
          </a:p>
          <a:p>
            <a:pPr algn="l"/>
            <a:endParaRPr lang="en-US" altLang="zh-CN" sz="1050" dirty="0">
              <a:latin typeface="Times New Roman" pitchFamily="18" charset="0"/>
              <a:ea typeface="微软雅黑" pitchFamily="34" charset="-122"/>
              <a:cs typeface="Times New Roman" pitchFamily="18" charset="0"/>
            </a:endParaRPr>
          </a:p>
          <a:p>
            <a:pPr algn="l"/>
            <a:endParaRPr lang="en-US" altLang="zh-CN" sz="1050" dirty="0">
              <a:latin typeface="Times New Roman" pitchFamily="18" charset="0"/>
              <a:ea typeface="微软雅黑" pitchFamily="34" charset="-122"/>
              <a:cs typeface="Times New Roman" pitchFamily="18" charset="0"/>
            </a:endParaRPr>
          </a:p>
          <a:p>
            <a:pPr algn="l"/>
            <a:endParaRPr lang="en-US" altLang="zh-CN" sz="1050" dirty="0">
              <a:latin typeface="Times New Roman" pitchFamily="18" charset="0"/>
              <a:ea typeface="微软雅黑" pitchFamily="34" charset="-122"/>
              <a:cs typeface="Times New Roman" pitchFamily="18" charset="0"/>
            </a:endParaRPr>
          </a:p>
          <a:p>
            <a:pPr algn="l"/>
            <a:endParaRPr lang="en-US" altLang="zh-CN" sz="1050" dirty="0">
              <a:latin typeface="Times New Roman" pitchFamily="18" charset="0"/>
              <a:ea typeface="微软雅黑" pitchFamily="34" charset="-122"/>
              <a:cs typeface="Times New Roman" pitchFamily="18" charset="0"/>
            </a:endParaRPr>
          </a:p>
          <a:p>
            <a:pPr algn="l"/>
            <a:endParaRPr lang="en-US" altLang="zh-CN" sz="1050" dirty="0">
              <a:latin typeface="Times New Roman" pitchFamily="18" charset="0"/>
              <a:ea typeface="微软雅黑" pitchFamily="34" charset="-122"/>
              <a:cs typeface="Times New Roman" pitchFamily="18" charset="0"/>
            </a:endParaRPr>
          </a:p>
          <a:p>
            <a:pPr algn="l"/>
            <a:endParaRPr lang="en-US" altLang="zh-CN" sz="1050" dirty="0">
              <a:latin typeface="Times New Roman" pitchFamily="18" charset="0"/>
              <a:ea typeface="微软雅黑" pitchFamily="34" charset="-122"/>
              <a:cs typeface="Times New Roman" pitchFamily="18" charset="0"/>
            </a:endParaRPr>
          </a:p>
          <a:p>
            <a:pPr algn="l"/>
            <a:endParaRPr lang="en-US" altLang="zh-CN" sz="1050" dirty="0">
              <a:latin typeface="Times New Roman" pitchFamily="18" charset="0"/>
              <a:ea typeface="微软雅黑" pitchFamily="34" charset="-122"/>
              <a:cs typeface="Times New Roman" pitchFamily="18" charset="0"/>
            </a:endParaRPr>
          </a:p>
          <a:p>
            <a:pPr algn="l"/>
            <a:endParaRPr lang="zh-CN" altLang="en-US" sz="1050" dirty="0">
              <a:latin typeface="Times New Roman" pitchFamily="18" charset="0"/>
              <a:ea typeface="微软雅黑" pitchFamily="34" charset="-122"/>
              <a:cs typeface="Times New Roman" pitchFamily="18" charset="0"/>
            </a:endParaRPr>
          </a:p>
        </p:txBody>
      </p:sp>
      <p:sp>
        <p:nvSpPr>
          <p:cNvPr id="10"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0" y="1484784"/>
            <a:ext cx="6786578" cy="3600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1403648" y="122149"/>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itchFamily="18" charset="0"/>
                <a:ea typeface="微软雅黑" pitchFamily="34" charset="-122"/>
                <a:cs typeface="Times New Roman" pitchFamily="18" charset="0"/>
              </a:rPr>
              <a:t>Xác nhận nhân sự - N</a:t>
            </a:r>
            <a:r>
              <a:rPr lang="vi-VN" altLang="zh-CN" sz="1200" dirty="0" smtClean="0">
                <a:latin typeface="Times New Roman" pitchFamily="18" charset="0"/>
                <a:ea typeface="微软雅黑" pitchFamily="34" charset="-122"/>
                <a:cs typeface="Times New Roman" pitchFamily="18" charset="0"/>
              </a:rPr>
              <a:t>ghỉ </a:t>
            </a:r>
            <a:r>
              <a:rPr lang="vi-VN" altLang="zh-CN" sz="1200" dirty="0">
                <a:latin typeface="Times New Roman" pitchFamily="18" charset="0"/>
                <a:ea typeface="微软雅黑" pitchFamily="34" charset="-122"/>
                <a:cs typeface="Times New Roman" pitchFamily="18" charset="0"/>
              </a:rPr>
              <a:t>phép</a:t>
            </a:r>
            <a:endParaRPr lang="zh-CN" altLang="en-US"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804248" y="1452427"/>
            <a:ext cx="2071702" cy="4782848"/>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lnSpc>
                <a:spcPct val="120000"/>
              </a:lnSpc>
            </a:pPr>
            <a:r>
              <a:rPr lang="vi-VN" altLang="zh-CN" sz="1200" dirty="0">
                <a:latin typeface="Times New Roman" pitchFamily="18" charset="0"/>
                <a:ea typeface="微软雅黑" pitchFamily="34" charset="-122"/>
                <a:cs typeface="Times New Roman" pitchFamily="18" charset="0"/>
              </a:rPr>
              <a:t>Phòng nhân sự </a:t>
            </a:r>
            <a:r>
              <a:rPr lang="vi-VN" altLang="zh-CN" sz="1200" dirty="0" smtClean="0">
                <a:latin typeface="Times New Roman" pitchFamily="18" charset="0"/>
                <a:ea typeface="微软雅黑" pitchFamily="34" charset="-122"/>
                <a:cs typeface="Times New Roman" pitchFamily="18" charset="0"/>
              </a:rPr>
              <a:t>phê </a:t>
            </a:r>
            <a:r>
              <a:rPr lang="vi-VN" altLang="zh-CN" sz="1200" dirty="0">
                <a:latin typeface="Times New Roman" pitchFamily="18" charset="0"/>
                <a:ea typeface="微软雅黑" pitchFamily="34" charset="-122"/>
                <a:cs typeface="Times New Roman" pitchFamily="18" charset="0"/>
              </a:rPr>
              <a:t>duyệt đơn xin nghỉ phép của nhân viên.</a:t>
            </a:r>
            <a:endParaRPr lang="en-US" altLang="zh-CN" sz="1200" dirty="0">
              <a:latin typeface="Times New Roman" pitchFamily="18" charset="0"/>
              <a:ea typeface="微软雅黑" pitchFamily="34" charset="-122"/>
              <a:cs typeface="Times New Roman" pitchFamily="18" charset="0"/>
            </a:endParaRPr>
          </a:p>
          <a:p>
            <a:pPr algn="l"/>
            <a:endParaRPr lang="vi-VN" altLang="zh-CN" sz="1200" b="1"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T</a:t>
            </a:r>
            <a:r>
              <a:rPr lang="vi-VN" altLang="zh-CN" sz="1200" dirty="0" smtClean="0">
                <a:latin typeface="Times New Roman" pitchFamily="18" charset="0"/>
                <a:ea typeface="微软雅黑" pitchFamily="34" charset="-122"/>
                <a:cs typeface="Times New Roman" pitchFamily="18" charset="0"/>
              </a:rPr>
              <a:t>hông </a:t>
            </a:r>
            <a:r>
              <a:rPr lang="vi-VN" altLang="zh-CN" sz="1200" dirty="0">
                <a:latin typeface="Times New Roman" pitchFamily="18" charset="0"/>
                <a:ea typeface="微软雅黑" pitchFamily="34" charset="-122"/>
                <a:cs typeface="Times New Roman" pitchFamily="18" charset="0"/>
              </a:rPr>
              <a:t>qua "Họ tên/mã số",  "Phòng ban",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Thời gian</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 “</a:t>
            </a:r>
            <a:r>
              <a:rPr lang="vi-VN" altLang="zh-CN" sz="1200" dirty="0" smtClean="0">
                <a:latin typeface="Times New Roman" pitchFamily="18" charset="0"/>
                <a:ea typeface="微软雅黑" pitchFamily="34" charset="-122"/>
                <a:cs typeface="Times New Roman" pitchFamily="18" charset="0"/>
              </a:rPr>
              <a:t>Trạng </a:t>
            </a:r>
            <a:r>
              <a:rPr lang="vi-VN" altLang="zh-CN" sz="1200" dirty="0">
                <a:latin typeface="Times New Roman" pitchFamily="18" charset="0"/>
                <a:ea typeface="微软雅黑" pitchFamily="34" charset="-122"/>
                <a:cs typeface="Times New Roman" pitchFamily="18" charset="0"/>
              </a:rPr>
              <a:t>thái",  "Nhóm </a:t>
            </a:r>
            <a:r>
              <a:rPr lang="en-US" altLang="zh-CN" sz="1200" dirty="0" smtClean="0">
                <a:latin typeface="Times New Roman" pitchFamily="18" charset="0"/>
                <a:ea typeface="微软雅黑" pitchFamily="34" charset="-122"/>
                <a:cs typeface="Times New Roman" pitchFamily="18" charset="0"/>
              </a:rPr>
              <a:t>nhân viên</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"Loại hình nghỉ phép" để tìm </a:t>
            </a:r>
            <a:r>
              <a:rPr lang="vi-VN" altLang="zh-CN" sz="1200" dirty="0" smtClean="0">
                <a:latin typeface="Times New Roman" pitchFamily="18" charset="0"/>
                <a:ea typeface="微软雅黑" pitchFamily="34" charset="-122"/>
                <a:cs typeface="Times New Roman" pitchFamily="18" charset="0"/>
              </a:rPr>
              <a:t>kiếm</a:t>
            </a:r>
            <a:r>
              <a:rPr lang="en-US" altLang="zh-CN" sz="1200" dirty="0" smtClean="0">
                <a:latin typeface="Times New Roman" pitchFamily="18" charset="0"/>
                <a:ea typeface="微软雅黑" pitchFamily="34" charset="-122"/>
                <a:cs typeface="Times New Roman" pitchFamily="18" charset="0"/>
              </a:rPr>
              <a:t> NV xin nghỉ phép</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a:latin typeface="Times New Roman" pitchFamily="18" charset="0"/>
                <a:ea typeface="微软雅黑" pitchFamily="34" charset="-122"/>
                <a:cs typeface="Times New Roman" pitchFamily="18" charset="0"/>
              </a:rPr>
              <a:t>Click vào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Duyệt</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"Từ chối",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Duyệt</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hàng </a:t>
            </a:r>
            <a:r>
              <a:rPr lang="vi-VN" altLang="zh-CN" sz="1200" dirty="0" smtClean="0">
                <a:latin typeface="Times New Roman" pitchFamily="18" charset="0"/>
                <a:ea typeface="微软雅黑" pitchFamily="34" charset="-122"/>
                <a:cs typeface="Times New Roman" pitchFamily="18" charset="0"/>
              </a:rPr>
              <a:t>loạt“</a:t>
            </a:r>
            <a:r>
              <a:rPr lang="en-US" altLang="zh-CN" sz="1200" dirty="0" smtClean="0">
                <a:latin typeface="Times New Roman" pitchFamily="18" charset="0"/>
                <a:ea typeface="微软雅黑" pitchFamily="34" charset="-122"/>
                <a:cs typeface="Times New Roman" pitchFamily="18" charset="0"/>
              </a:rPr>
              <a:t>, “Từ chối hàng loạt”</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để </a:t>
            </a:r>
            <a:r>
              <a:rPr lang="en-US" altLang="zh-CN" sz="1200" dirty="0" smtClean="0">
                <a:latin typeface="Times New Roman" pitchFamily="18" charset="0"/>
                <a:ea typeface="微软雅黑" pitchFamily="34" charset="-122"/>
                <a:cs typeface="Times New Roman" pitchFamily="18" charset="0"/>
              </a:rPr>
              <a:t>xác nhận hay hủy bỏ đơn xin phép của NV</a:t>
            </a:r>
            <a:endParaRPr lang="en-US" altLang="zh-CN" sz="1200" dirty="0">
              <a:latin typeface="Times New Roman" pitchFamily="18" charset="0"/>
              <a:ea typeface="微软雅黑" pitchFamily="34" charset="-122"/>
              <a:cs typeface="Times New Roman" pitchFamily="18" charset="0"/>
            </a:endParaRPr>
          </a:p>
          <a:p>
            <a:pPr algn="l"/>
            <a:endParaRPr lang="en-US" altLang="zh-CN" sz="1200" b="1"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sp>
        <p:nvSpPr>
          <p:cNvPr id="10" name="Text Box 7"/>
          <p:cNvSpPr txBox="1">
            <a:spLocks noChangeArrowheads="1"/>
          </p:cNvSpPr>
          <p:nvPr/>
        </p:nvSpPr>
        <p:spPr bwMode="auto">
          <a:xfrm>
            <a:off x="1115616" y="692696"/>
            <a:ext cx="2592288" cy="2880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spcBef>
                <a:spcPct val="50000"/>
              </a:spcBef>
            </a:pPr>
            <a:endParaRPr lang="zh-CN" altLang="en-US" sz="12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28859" y="1299791"/>
            <a:ext cx="6687707" cy="349736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1403648" y="122149"/>
            <a:ext cx="3168352"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a:latin typeface="Times New Roman" pitchFamily="18" charset="0"/>
                <a:ea typeface="微软雅黑" pitchFamily="34" charset="-122"/>
                <a:cs typeface="Times New Roman" pitchFamily="18" charset="0"/>
              </a:rPr>
              <a:t>Xác nhận nhân sự - </a:t>
            </a:r>
            <a:r>
              <a:rPr lang="en-US" altLang="zh-CN" sz="1200" dirty="0" smtClean="0">
                <a:latin typeface="Times New Roman" pitchFamily="18" charset="0"/>
                <a:ea typeface="微软雅黑" pitchFamily="34" charset="-122"/>
                <a:cs typeface="Times New Roman" pitchFamily="18" charset="0"/>
              </a:rPr>
              <a:t>Nộp giấy khám bệnh</a:t>
            </a:r>
            <a:endParaRPr lang="zh-CN" altLang="en-US" sz="1200" dirty="0">
              <a:latin typeface="Times New Roman" pitchFamily="18" charset="0"/>
              <a:ea typeface="微软雅黑" pitchFamily="34" charset="-122"/>
              <a:cs typeface="Times New Roman" pitchFamily="18" charset="0"/>
            </a:endParaRPr>
          </a:p>
        </p:txBody>
      </p:sp>
      <p:sp>
        <p:nvSpPr>
          <p:cNvPr id="3" name="TextBox 2"/>
          <p:cNvSpPr txBox="1"/>
          <p:nvPr/>
        </p:nvSpPr>
        <p:spPr>
          <a:xfrm>
            <a:off x="6804248" y="1452427"/>
            <a:ext cx="2071702" cy="4598182"/>
          </a:xfrm>
          <a:prstGeom prst="rect">
            <a:avLst/>
          </a:prstGeom>
          <a:noFill/>
        </p:spPr>
        <p:txBody>
          <a:bodyPr wrap="square" rtlCol="0">
            <a:spAutoFit/>
          </a:bodyPr>
          <a:lstStyle/>
          <a:p>
            <a:pPr algn="l"/>
            <a:r>
              <a:rPr lang="vi-VN" altLang="zh-CN" sz="1200" b="1" dirty="0">
                <a:latin typeface="Times New Roman" pitchFamily="18" charset="0"/>
                <a:ea typeface="微软雅黑" pitchFamily="34" charset="-122"/>
                <a:cs typeface="Times New Roman" pitchFamily="18" charset="0"/>
              </a:rPr>
              <a:t>Công dụng: </a:t>
            </a:r>
            <a:endParaRPr lang="en-US" altLang="zh-CN" sz="1200" b="1" dirty="0">
              <a:latin typeface="Times New Roman" pitchFamily="18" charset="0"/>
              <a:ea typeface="微软雅黑" pitchFamily="34" charset="-122"/>
              <a:cs typeface="Times New Roman" pitchFamily="18" charset="0"/>
            </a:endParaRPr>
          </a:p>
          <a:p>
            <a:pPr algn="l">
              <a:lnSpc>
                <a:spcPct val="120000"/>
              </a:lnSpc>
            </a:pPr>
            <a:r>
              <a:rPr lang="vi-VN" altLang="zh-CN" sz="1200" dirty="0">
                <a:latin typeface="Times New Roman" pitchFamily="18" charset="0"/>
                <a:ea typeface="微软雅黑" pitchFamily="34" charset="-122"/>
                <a:cs typeface="Times New Roman" pitchFamily="18" charset="0"/>
              </a:rPr>
              <a:t>Phòng nhân sự </a:t>
            </a:r>
            <a:r>
              <a:rPr lang="en-US" altLang="zh-CN" sz="1200" dirty="0" smtClean="0">
                <a:latin typeface="Times New Roman" pitchFamily="18" charset="0"/>
                <a:ea typeface="微软雅黑" pitchFamily="34" charset="-122"/>
                <a:cs typeface="Times New Roman" pitchFamily="18" charset="0"/>
              </a:rPr>
              <a:t>xác nhận NV đã nộp giấy khám bệnh</a:t>
            </a:r>
            <a:endParaRPr lang="vi-VN" altLang="zh-CN" sz="1200" b="1" dirty="0">
              <a:latin typeface="Times New Roman" pitchFamily="18" charset="0"/>
              <a:ea typeface="微软雅黑" pitchFamily="34" charset="-122"/>
              <a:cs typeface="Times New Roman" pitchFamily="18" charset="0"/>
            </a:endParaRPr>
          </a:p>
          <a:p>
            <a:pPr algn="l"/>
            <a:r>
              <a:rPr lang="vi-VN" altLang="zh-CN" sz="1200" b="1" dirty="0">
                <a:latin typeface="Times New Roman" pitchFamily="18" charset="0"/>
                <a:ea typeface="微软雅黑" pitchFamily="34" charset="-122"/>
                <a:cs typeface="Times New Roman" pitchFamily="18" charset="0"/>
              </a:rPr>
              <a:t>Giải thích chi tiết: </a:t>
            </a:r>
            <a:endParaRPr lang="en-US" altLang="zh-CN" sz="1200" b="1"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en-US" altLang="zh-CN" sz="1200" dirty="0" smtClean="0">
                <a:latin typeface="Times New Roman" pitchFamily="18" charset="0"/>
                <a:ea typeface="微软雅黑" pitchFamily="34" charset="-122"/>
                <a:cs typeface="Times New Roman" pitchFamily="18" charset="0"/>
              </a:rPr>
              <a:t>T</a:t>
            </a:r>
            <a:r>
              <a:rPr lang="vi-VN" altLang="zh-CN" sz="1200" dirty="0" smtClean="0">
                <a:latin typeface="Times New Roman" pitchFamily="18" charset="0"/>
                <a:ea typeface="微软雅黑" pitchFamily="34" charset="-122"/>
                <a:cs typeface="Times New Roman" pitchFamily="18" charset="0"/>
              </a:rPr>
              <a:t>hông </a:t>
            </a:r>
            <a:r>
              <a:rPr lang="vi-VN" altLang="zh-CN" sz="1200" dirty="0">
                <a:latin typeface="Times New Roman" pitchFamily="18" charset="0"/>
                <a:ea typeface="微软雅黑" pitchFamily="34" charset="-122"/>
                <a:cs typeface="Times New Roman" pitchFamily="18" charset="0"/>
              </a:rPr>
              <a:t>qua "Họ tên/mã số",  "Phòng ban",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Thời gian</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 “</a:t>
            </a:r>
            <a:r>
              <a:rPr lang="vi-VN" altLang="zh-CN" sz="1200" dirty="0" smtClean="0">
                <a:latin typeface="Times New Roman" pitchFamily="18" charset="0"/>
                <a:ea typeface="微软雅黑" pitchFamily="34" charset="-122"/>
                <a:cs typeface="Times New Roman" pitchFamily="18" charset="0"/>
              </a:rPr>
              <a:t>Trạng </a:t>
            </a:r>
            <a:r>
              <a:rPr lang="vi-VN" altLang="zh-CN" sz="1200" dirty="0">
                <a:latin typeface="Times New Roman" pitchFamily="18" charset="0"/>
                <a:ea typeface="微软雅黑" pitchFamily="34" charset="-122"/>
                <a:cs typeface="Times New Roman" pitchFamily="18" charset="0"/>
              </a:rPr>
              <a:t>thái",  "Nhóm </a:t>
            </a:r>
            <a:r>
              <a:rPr lang="en-US" altLang="zh-CN" sz="1200" dirty="0" smtClean="0">
                <a:latin typeface="Times New Roman" pitchFamily="18" charset="0"/>
                <a:ea typeface="微软雅黑" pitchFamily="34" charset="-122"/>
                <a:cs typeface="Times New Roman" pitchFamily="18" charset="0"/>
              </a:rPr>
              <a:t>nhân viên</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"Loại hình nghỉ phép" để tìm </a:t>
            </a:r>
            <a:r>
              <a:rPr lang="vi-VN" altLang="zh-CN" sz="1200" dirty="0" smtClean="0">
                <a:latin typeface="Times New Roman" pitchFamily="18" charset="0"/>
                <a:ea typeface="微软雅黑" pitchFamily="34" charset="-122"/>
                <a:cs typeface="Times New Roman" pitchFamily="18" charset="0"/>
              </a:rPr>
              <a:t>kiếm</a:t>
            </a:r>
            <a:r>
              <a:rPr lang="en-US" altLang="zh-CN" sz="1200" dirty="0" smtClean="0">
                <a:latin typeface="Times New Roman" pitchFamily="18" charset="0"/>
                <a:ea typeface="微软雅黑" pitchFamily="34" charset="-122"/>
                <a:cs typeface="Times New Roman" pitchFamily="18" charset="0"/>
              </a:rPr>
              <a:t> NV xin nghỉ phép</a:t>
            </a:r>
            <a:endParaRPr lang="en-US" altLang="zh-CN" sz="1200" dirty="0">
              <a:latin typeface="Times New Roman" pitchFamily="18" charset="0"/>
              <a:ea typeface="微软雅黑" pitchFamily="34" charset="-122"/>
              <a:cs typeface="Times New Roman" pitchFamily="18" charset="0"/>
            </a:endParaRPr>
          </a:p>
          <a:p>
            <a:pPr marL="228600" indent="-228600" algn="l">
              <a:buFont typeface="+mj-lt"/>
              <a:buAutoNum type="arabicPeriod"/>
            </a:pPr>
            <a:r>
              <a:rPr lang="vi-VN" altLang="zh-CN" sz="1200" dirty="0">
                <a:latin typeface="Times New Roman" pitchFamily="18" charset="0"/>
                <a:ea typeface="微软雅黑" pitchFamily="34" charset="-122"/>
                <a:cs typeface="Times New Roman" pitchFamily="18" charset="0"/>
              </a:rPr>
              <a:t>Click vào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Duyệt</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"Từ chối",  </a:t>
            </a:r>
            <a:r>
              <a:rPr lang="vi-VN" altLang="zh-CN" sz="1200" dirty="0" smtClean="0">
                <a:latin typeface="Times New Roman" pitchFamily="18" charset="0"/>
                <a:ea typeface="微软雅黑" pitchFamily="34" charset="-122"/>
                <a:cs typeface="Times New Roman" pitchFamily="18" charset="0"/>
              </a:rPr>
              <a:t>“</a:t>
            </a:r>
            <a:r>
              <a:rPr lang="en-US" altLang="zh-CN" sz="1200" dirty="0" smtClean="0">
                <a:latin typeface="Times New Roman" pitchFamily="18" charset="0"/>
                <a:ea typeface="微软雅黑" pitchFamily="34" charset="-122"/>
                <a:cs typeface="Times New Roman" pitchFamily="18" charset="0"/>
              </a:rPr>
              <a:t>Duyệt</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hàng </a:t>
            </a:r>
            <a:r>
              <a:rPr lang="vi-VN" altLang="zh-CN" sz="1200" dirty="0" smtClean="0">
                <a:latin typeface="Times New Roman" pitchFamily="18" charset="0"/>
                <a:ea typeface="微软雅黑" pitchFamily="34" charset="-122"/>
                <a:cs typeface="Times New Roman" pitchFamily="18" charset="0"/>
              </a:rPr>
              <a:t>loạt“</a:t>
            </a:r>
            <a:r>
              <a:rPr lang="en-US" altLang="zh-CN" sz="1200" dirty="0" smtClean="0">
                <a:latin typeface="Times New Roman" pitchFamily="18" charset="0"/>
                <a:ea typeface="微软雅黑" pitchFamily="34" charset="-122"/>
                <a:cs typeface="Times New Roman" pitchFamily="18" charset="0"/>
              </a:rPr>
              <a:t>, “Từ chối hàng loạt”</a:t>
            </a:r>
            <a:r>
              <a:rPr lang="vi-VN" altLang="zh-CN" sz="1200" dirty="0" smtClean="0">
                <a:latin typeface="Times New Roman" pitchFamily="18" charset="0"/>
                <a:ea typeface="微软雅黑" pitchFamily="34" charset="-122"/>
                <a:cs typeface="Times New Roman" pitchFamily="18" charset="0"/>
              </a:rPr>
              <a:t> </a:t>
            </a:r>
            <a:r>
              <a:rPr lang="vi-VN" altLang="zh-CN" sz="1200" dirty="0">
                <a:latin typeface="Times New Roman" pitchFamily="18" charset="0"/>
                <a:ea typeface="微软雅黑" pitchFamily="34" charset="-122"/>
                <a:cs typeface="Times New Roman" pitchFamily="18" charset="0"/>
              </a:rPr>
              <a:t>để </a:t>
            </a:r>
            <a:r>
              <a:rPr lang="en-US" altLang="zh-CN" sz="1200" dirty="0" smtClean="0">
                <a:latin typeface="Times New Roman" pitchFamily="18" charset="0"/>
                <a:ea typeface="微软雅黑" pitchFamily="34" charset="-122"/>
                <a:cs typeface="Times New Roman" pitchFamily="18" charset="0"/>
              </a:rPr>
              <a:t>xác nhận hay hủy bỏ nộp giấy khám của NV</a:t>
            </a:r>
            <a:endParaRPr lang="en-US" altLang="zh-CN" sz="1200" dirty="0">
              <a:latin typeface="Times New Roman" pitchFamily="18" charset="0"/>
              <a:ea typeface="微软雅黑" pitchFamily="34" charset="-122"/>
              <a:cs typeface="Times New Roman" pitchFamily="18" charset="0"/>
            </a:endParaRPr>
          </a:p>
          <a:p>
            <a:pPr algn="l"/>
            <a:endParaRPr lang="en-US" altLang="zh-CN" sz="1200" b="1"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en-US" altLang="zh-CN" sz="1200" dirty="0">
              <a:latin typeface="Times New Roman" pitchFamily="18" charset="0"/>
              <a:ea typeface="微软雅黑" pitchFamily="34" charset="-122"/>
              <a:cs typeface="Times New Roman" pitchFamily="18" charset="0"/>
            </a:endParaRPr>
          </a:p>
          <a:p>
            <a:pPr algn="l"/>
            <a:endParaRPr lang="zh-CN" altLang="en-US" sz="1200" dirty="0">
              <a:latin typeface="Times New Roman" pitchFamily="18" charset="0"/>
              <a:ea typeface="微软雅黑" pitchFamily="34" charset="-122"/>
              <a:cs typeface="Times New Roman" pitchFamily="18" charset="0"/>
            </a:endParaRPr>
          </a:p>
        </p:txBody>
      </p:sp>
      <p:pic>
        <p:nvPicPr>
          <p:cNvPr id="4" name="Picture 3"/>
          <p:cNvPicPr>
            <a:picLocks noChangeAspect="1"/>
          </p:cNvPicPr>
          <p:nvPr/>
        </p:nvPicPr>
        <p:blipFill>
          <a:blip r:embed="rId2"/>
          <a:stretch>
            <a:fillRect/>
          </a:stretch>
        </p:blipFill>
        <p:spPr>
          <a:xfrm>
            <a:off x="-28775" y="1052736"/>
            <a:ext cx="6833023" cy="3679320"/>
          </a:xfrm>
          <a:prstGeom prst="rect">
            <a:avLst/>
          </a:prstGeom>
        </p:spPr>
      </p:pic>
    </p:spTree>
    <p:extLst>
      <p:ext uri="{BB962C8B-B14F-4D97-AF65-F5344CB8AC3E}">
        <p14:creationId xmlns:p14="http://schemas.microsoft.com/office/powerpoint/2010/main" val="1203977385"/>
      </p:ext>
    </p:extLst>
  </p:cSld>
  <p:clrMapOvr>
    <a:masterClrMapping/>
  </p:clrMapOvr>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l">
          <a:defRPr sz="800" dirty="0" smtClean="0">
            <a:solidFill>
              <a:schemeClr val="tx1"/>
            </a:solidFill>
            <a:ea typeface="微软雅黑"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21916</TotalTime>
  <Words>2664</Words>
  <Application>Microsoft Office PowerPoint</Application>
  <PresentationFormat>On-screen Show (4:3)</PresentationFormat>
  <Paragraphs>433</Paragraphs>
  <Slides>32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 Unicode MS</vt:lpstr>
      <vt:lpstr>微软雅黑</vt:lpstr>
      <vt:lpstr>宋体</vt:lpstr>
      <vt:lpstr>Arial</vt:lpstr>
      <vt:lpstr>Calibri</vt:lpstr>
      <vt:lpstr>Times New Roman</vt:lpstr>
      <vt:lpstr>2_自定义设计方案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huong chuot</cp:lastModifiedBy>
  <cp:revision>1797</cp:revision>
  <dcterms:created xsi:type="dcterms:W3CDTF">2010-07-06T05:38:31Z</dcterms:created>
  <dcterms:modified xsi:type="dcterms:W3CDTF">2018-01-26T10:29:41Z</dcterms:modified>
</cp:coreProperties>
</file>