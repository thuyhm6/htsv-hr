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71"/>
  </p:notesMasterIdLst>
  <p:handoutMasterIdLst>
    <p:handoutMasterId r:id="rId72"/>
  </p:handoutMasterIdLst>
  <p:sldIdLst>
    <p:sldId id="876" r:id="rId2"/>
    <p:sldId id="878" r:id="rId3"/>
    <p:sldId id="879" r:id="rId4"/>
    <p:sldId id="880" r:id="rId5"/>
    <p:sldId id="885" r:id="rId6"/>
    <p:sldId id="881" r:id="rId7"/>
    <p:sldId id="882" r:id="rId8"/>
    <p:sldId id="883" r:id="rId9"/>
    <p:sldId id="884" r:id="rId10"/>
    <p:sldId id="877" r:id="rId11"/>
    <p:sldId id="750" r:id="rId12"/>
    <p:sldId id="749" r:id="rId13"/>
    <p:sldId id="751" r:id="rId14"/>
    <p:sldId id="755" r:id="rId15"/>
    <p:sldId id="752" r:id="rId16"/>
    <p:sldId id="753" r:id="rId17"/>
    <p:sldId id="754" r:id="rId18"/>
    <p:sldId id="348" r:id="rId19"/>
    <p:sldId id="756" r:id="rId20"/>
    <p:sldId id="758" r:id="rId21"/>
    <p:sldId id="501" r:id="rId22"/>
    <p:sldId id="732" r:id="rId23"/>
    <p:sldId id="764" r:id="rId24"/>
    <p:sldId id="760" r:id="rId25"/>
    <p:sldId id="765" r:id="rId26"/>
    <p:sldId id="766" r:id="rId27"/>
    <p:sldId id="761" r:id="rId28"/>
    <p:sldId id="769" r:id="rId29"/>
    <p:sldId id="452" r:id="rId30"/>
    <p:sldId id="527" r:id="rId31"/>
    <p:sldId id="847" r:id="rId32"/>
    <p:sldId id="528" r:id="rId33"/>
    <p:sldId id="792" r:id="rId34"/>
    <p:sldId id="775" r:id="rId35"/>
    <p:sldId id="794" r:id="rId36"/>
    <p:sldId id="776" r:id="rId37"/>
    <p:sldId id="777" r:id="rId38"/>
    <p:sldId id="778" r:id="rId39"/>
    <p:sldId id="779" r:id="rId40"/>
    <p:sldId id="781" r:id="rId41"/>
    <p:sldId id="784" r:id="rId42"/>
    <p:sldId id="785" r:id="rId43"/>
    <p:sldId id="786" r:id="rId44"/>
    <p:sldId id="791" r:id="rId45"/>
    <p:sldId id="692" r:id="rId46"/>
    <p:sldId id="694" r:id="rId47"/>
    <p:sldId id="835" r:id="rId48"/>
    <p:sldId id="849" r:id="rId49"/>
    <p:sldId id="850" r:id="rId50"/>
    <p:sldId id="851" r:id="rId51"/>
    <p:sldId id="852" r:id="rId52"/>
    <p:sldId id="853" r:id="rId53"/>
    <p:sldId id="855" r:id="rId54"/>
    <p:sldId id="856" r:id="rId55"/>
    <p:sldId id="858" r:id="rId56"/>
    <p:sldId id="859" r:id="rId57"/>
    <p:sldId id="815" r:id="rId58"/>
    <p:sldId id="816" r:id="rId59"/>
    <p:sldId id="814" r:id="rId60"/>
    <p:sldId id="811" r:id="rId61"/>
    <p:sldId id="812" r:id="rId62"/>
    <p:sldId id="813" r:id="rId63"/>
    <p:sldId id="818" r:id="rId64"/>
    <p:sldId id="820" r:id="rId65"/>
    <p:sldId id="821" r:id="rId66"/>
    <p:sldId id="819" r:id="rId67"/>
    <p:sldId id="693" r:id="rId68"/>
    <p:sldId id="691" r:id="rId69"/>
    <p:sldId id="800" r:id="rId70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0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99CCFF"/>
    <a:srgbClr val="000000"/>
    <a:srgbClr val="006600"/>
    <a:srgbClr val="FF6600"/>
    <a:srgbClr val="4F81BD"/>
    <a:srgbClr val="33CCCC"/>
    <a:srgbClr val="00FF00"/>
    <a:srgbClr val="CCFF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1" autoAdjust="0"/>
    <p:restoredTop sz="92362" autoAdjust="0"/>
  </p:normalViewPr>
  <p:slideViewPr>
    <p:cSldViewPr>
      <p:cViewPr varScale="1">
        <p:scale>
          <a:sx n="73" d="100"/>
          <a:sy n="73" d="100"/>
        </p:scale>
        <p:origin x="1554" y="78"/>
      </p:cViewPr>
      <p:guideLst>
        <p:guide orient="horz" pos="3203"/>
        <p:guide pos="2880"/>
      </p:guideLst>
    </p:cSldViewPr>
  </p:slideViewPr>
  <p:outlineViewPr>
    <p:cViewPr>
      <p:scale>
        <a:sx n="33" d="100"/>
        <a:sy n="33" d="100"/>
      </p:scale>
      <p:origin x="0" y="20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E994EE2-8CF4-4965-9561-09C853560994}" type="datetimeFigureOut">
              <a:rPr lang="zh-CN" altLang="en-US"/>
              <a:pPr/>
              <a:t>2018/1/26</a:t>
            </a:fld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0FCE28B-4E88-422F-815C-9402CA1A8C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26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83ACCD-3A3B-43D2-9AC9-1D3B37933D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8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4213"/>
            <a:ext cx="4575175" cy="34305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1FDC16-B558-412B-95D7-82963DA4978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909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42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Giới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tính</a:t>
            </a:r>
            <a:r>
              <a:rPr lang="en-US" altLang="zh-CN" baseline="0" dirty="0" smtClean="0"/>
              <a:t>: Nam, </a:t>
            </a:r>
            <a:r>
              <a:rPr lang="en-US" altLang="zh-CN" baseline="0" dirty="0" err="1" smtClean="0"/>
              <a:t>Nữ</a:t>
            </a:r>
            <a:endParaRPr lang="en-US" altLang="zh-CN" dirty="0" smtClean="0"/>
          </a:p>
          <a:p>
            <a:r>
              <a:rPr lang="en-US" altLang="zh-CN" dirty="0" err="1" smtClean="0"/>
              <a:t>Tình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trạng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hôn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nhân</a:t>
            </a:r>
            <a:r>
              <a:rPr lang="en-US" altLang="zh-CN" baseline="0" dirty="0" smtClean="0"/>
              <a:t>: </a:t>
            </a:r>
            <a:r>
              <a:rPr lang="en-US" altLang="zh-CN" baseline="0" dirty="0" err="1" smtClean="0"/>
              <a:t>đơn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thân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đã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kết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hôn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ly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hôn</a:t>
            </a:r>
            <a:endParaRPr lang="en-US" altLang="zh-CN" dirty="0" smtClean="0"/>
          </a:p>
          <a:p>
            <a:r>
              <a:rPr lang="en-US" altLang="zh-CN" dirty="0" err="1" smtClean="0"/>
              <a:t>Tình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trạng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chính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trị</a:t>
            </a:r>
            <a:r>
              <a:rPr lang="en-US" altLang="zh-CN" baseline="0" dirty="0" smtClean="0"/>
              <a:t>: </a:t>
            </a:r>
            <a:r>
              <a:rPr lang="en-US" altLang="zh-CN" baseline="0" dirty="0" err="1" smtClean="0"/>
              <a:t>Quần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chúng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đoàn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viên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đảng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viên</a:t>
            </a:r>
            <a:endParaRPr lang="en-US" altLang="zh-CN" dirty="0" smtClean="0"/>
          </a:p>
          <a:p>
            <a:r>
              <a:rPr lang="en-US" altLang="zh-CN" dirty="0" err="1" smtClean="0"/>
              <a:t>Chỗ</a:t>
            </a:r>
            <a:r>
              <a:rPr lang="en-US" altLang="zh-CN" baseline="0" dirty="0" smtClean="0"/>
              <a:t> ở: </a:t>
            </a:r>
            <a:r>
              <a:rPr lang="en-US" altLang="zh-CN" baseline="0" dirty="0" err="1" smtClean="0"/>
              <a:t>Nhà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riêng</a:t>
            </a:r>
            <a:r>
              <a:rPr lang="en-US" altLang="zh-CN" baseline="0" dirty="0" smtClean="0"/>
              <a:t>, ở </a:t>
            </a:r>
            <a:r>
              <a:rPr lang="en-US" altLang="zh-CN" baseline="0" dirty="0" err="1" smtClean="0"/>
              <a:t>với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bố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mẹ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thuê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nhà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kí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túc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công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ty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cung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cấp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nơi</a:t>
            </a:r>
            <a:r>
              <a:rPr lang="en-US" altLang="zh-CN" baseline="0" dirty="0" smtClean="0"/>
              <a:t> ở </a:t>
            </a:r>
            <a:r>
              <a:rPr lang="en-US" altLang="zh-CN" baseline="0" dirty="0" err="1" smtClean="0"/>
              <a:t>khác</a:t>
            </a:r>
            <a:endParaRPr lang="en-US" altLang="zh-CN" dirty="0" smtClean="0"/>
          </a:p>
          <a:p>
            <a:r>
              <a:rPr lang="en-US" altLang="zh-CN" dirty="0" err="1" smtClean="0"/>
              <a:t>Quốc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tịch</a:t>
            </a:r>
            <a:r>
              <a:rPr lang="en-US" altLang="zh-CN" baseline="0" dirty="0" smtClean="0"/>
              <a:t>: </a:t>
            </a:r>
            <a:r>
              <a:rPr lang="en-US" altLang="zh-CN" baseline="0" dirty="0" err="1" smtClean="0"/>
              <a:t>Việt</a:t>
            </a:r>
            <a:r>
              <a:rPr lang="en-US" altLang="zh-CN" baseline="0" dirty="0" smtClean="0"/>
              <a:t> Nam, </a:t>
            </a:r>
            <a:r>
              <a:rPr lang="en-US" altLang="zh-CN" baseline="0" dirty="0" err="1" smtClean="0"/>
              <a:t>Hàn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Quốc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Trung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Quốc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Quốc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tịch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khác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6391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762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479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3516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122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704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704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835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969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122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969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969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122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4381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380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392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967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1266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315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854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7645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Thêm mới</a:t>
            </a:r>
            <a:r>
              <a:rPr lang="zh-CN" altLang="en-US" dirty="0" smtClean="0"/>
              <a:t>历</a:t>
            </a:r>
            <a:r>
              <a:rPr lang="zh-CN" altLang="en-US" dirty="0" smtClean="0"/>
              <a:t>史版本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764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2914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7575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8099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7309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英文菜单改为员工类型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83ACCD-3A3B-43D2-9AC9-1D3B37933DDF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91288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6491288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3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4"/>
          <p:cNvSpPr txBox="1">
            <a:spLocks noChangeArrowheads="1"/>
          </p:cNvSpPr>
          <p:nvPr userDrawn="1"/>
        </p:nvSpPr>
        <p:spPr bwMode="auto">
          <a:xfrm>
            <a:off x="-36514" y="1268760"/>
            <a:ext cx="22322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b="1" baseline="0" dirty="0" smtClean="0">
                <a:latin typeface="Times New Roman" pitchFamily="18" charset="0"/>
                <a:cs typeface="Times New Roman" pitchFamily="18" charset="0"/>
              </a:rPr>
              <a:t> tin yêu cầu chi </a:t>
            </a:r>
            <a:r>
              <a:rPr lang="en-US" altLang="zh-CN" sz="1200" b="1" baseline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zh-CN" sz="1200" b="1" baseline="0" dirty="0" smtClean="0">
                <a:latin typeface="Times New Roman" pitchFamily="18" charset="0"/>
                <a:cs typeface="Times New Roman" pitchFamily="18" charset="0"/>
              </a:rPr>
              <a:t> :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Times New Roman" pitchFamily="18" charset="0"/>
                <a:cs typeface="Times New Roman" pitchFamily="18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sp>
        <p:nvSpPr>
          <p:cNvPr id="30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  <p:graphicFrame>
        <p:nvGraphicFramePr>
          <p:cNvPr id="31" name="Group 14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3021664"/>
              </p:ext>
            </p:extLst>
          </p:nvPr>
        </p:nvGraphicFramePr>
        <p:xfrm>
          <a:off x="35496" y="992962"/>
          <a:ext cx="9109076" cy="5186685"/>
        </p:xfrm>
        <a:graphic>
          <a:graphicData uri="http://schemas.openxmlformats.org/drawingml/2006/table">
            <a:tbl>
              <a:tblPr/>
              <a:tblGrid>
                <a:gridCol w="6624736"/>
                <a:gridCol w="2484340"/>
              </a:tblGrid>
              <a:tr h="51866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Text Box 138"/>
          <p:cNvSpPr txBox="1">
            <a:spLocks noChangeArrowheads="1"/>
          </p:cNvSpPr>
          <p:nvPr userDrawn="1"/>
        </p:nvSpPr>
        <p:spPr bwMode="auto">
          <a:xfrm>
            <a:off x="6732240" y="718324"/>
            <a:ext cx="1258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b="1" baseline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baseline="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altLang="zh-CN" sz="1200" b="1" baseline="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5" name="Text Box 138"/>
          <p:cNvSpPr txBox="1">
            <a:spLocks noChangeArrowheads="1"/>
          </p:cNvSpPr>
          <p:nvPr userDrawn="1"/>
        </p:nvSpPr>
        <p:spPr bwMode="auto">
          <a:xfrm>
            <a:off x="35496" y="715963"/>
            <a:ext cx="1258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altLang="zh-CN" sz="1200" b="1" baseline="0" dirty="0" smtClean="0">
                <a:latin typeface="Times New Roman" pitchFamily="18" charset="0"/>
                <a:cs typeface="Times New Roman" pitchFamily="18" charset="0"/>
              </a:rPr>
              <a:t> trang: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advTm="5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9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</a:endParaRPr>
          </a:p>
        </p:txBody>
      </p:sp>
      <p:graphicFrame>
        <p:nvGraphicFramePr>
          <p:cNvPr id="5" name="Group 16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66242739"/>
              </p:ext>
            </p:extLst>
          </p:nvPr>
        </p:nvGraphicFramePr>
        <p:xfrm>
          <a:off x="107504" y="116632"/>
          <a:ext cx="8853006" cy="274638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462630"/>
                <a:gridCol w="576064"/>
                <a:gridCol w="1004134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09532C8D-4F08-4E3C-9029-5FE7316D863A}" type="slidenum"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‹#›</a:t>
                      </a:fld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26.01.2018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3" r:id="rId2"/>
    <p:sldLayoutId id="2147483810" r:id="rId3"/>
    <p:sldLayoutId id="2147483811" r:id="rId4"/>
    <p:sldLayoutId id="2147483805" r:id="rId5"/>
    <p:sldLayoutId id="2147483806" r:id="rId6"/>
    <p:sldLayoutId id="2147483809" r:id="rId7"/>
    <p:sldLayoutId id="2147483812" r:id="rId8"/>
    <p:sldLayoutId id="2147483813" r:id="rId9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84963" y="2232157"/>
            <a:ext cx="738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HƯỚNG DẪN SỬ DỤNG</a:t>
            </a:r>
            <a:endParaRPr lang="zh-CN" altLang="en-US" sz="3200" dirty="0">
              <a:latin typeface="Times New Roman" pitchFamily="18" charset="0"/>
              <a:ea typeface="Arial Unicode MS" pitchFamily="34" charset="-122"/>
              <a:cs typeface="Times New Roman" pitchFamily="18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059736" y="2996952"/>
            <a:ext cx="4864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91981" y="3356992"/>
            <a:ext cx="739961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 Module Nhân Sự -</a:t>
            </a:r>
            <a:endParaRPr lang="en-US" altLang="zh-CN" sz="25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68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竖排文字占位符 1"/>
          <p:cNvSpPr txBox="1">
            <a:spLocks noChangeArrowheads="1"/>
          </p:cNvSpPr>
          <p:nvPr/>
        </p:nvSpPr>
        <p:spPr bwMode="auto">
          <a:xfrm>
            <a:off x="1403648" y="116632"/>
            <a:ext cx="4852231" cy="26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en-US" altLang="zh-CN" sz="120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Hệ thống nhân sự</a:t>
            </a:r>
            <a:r>
              <a:rPr lang="zh-CN" altLang="en-US" sz="1200" b="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b="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&gt; </a:t>
            </a:r>
            <a:r>
              <a:rPr lang="en-US" altLang="zh-CN" sz="1200" kern="0" dirty="0" smtClean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Đăng nhập</a:t>
            </a:r>
            <a:endParaRPr lang="zh-CN" altLang="en-US" sz="1200" kern="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52113" y="548680"/>
            <a:ext cx="4586356" cy="433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477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Địa chỉ đăng nhập</a:t>
            </a:r>
            <a:r>
              <a:rPr lang="en-US" altLang="zh-CN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1477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http://10.42.200.56:9100</a:t>
            </a:r>
            <a:endParaRPr lang="zh-CN" altLang="en-US" sz="1477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2644401" y="4962087"/>
            <a:ext cx="4586356" cy="9871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USER ID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Mã nhân viên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</a:t>
            </a:r>
            <a:endParaRPr lang="en-US" altLang="zh-CN" sz="1292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PASSWORD: </a:t>
            </a:r>
            <a:endParaRPr lang="en-US" altLang="zh-CN" sz="1292" dirty="0" smtClean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Hệ 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thống</a:t>
            </a:r>
            <a:r>
              <a:rPr lang="zh-CN" altLang="en-US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92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Hub</a:t>
            </a:r>
            <a:endParaRPr lang="zh-CN" altLang="en-US" sz="1292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85811"/>
            <a:ext cx="7559490" cy="40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0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5181199" y="3823156"/>
            <a:ext cx="117635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15317" y="2911326"/>
            <a:ext cx="94223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30717" y="3295108"/>
            <a:ext cx="232683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03819" y="2669145"/>
            <a:ext cx="86409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Thông tin cơ bản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732240" y="1006277"/>
            <a:ext cx="2214578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tuyển dụng nhập hồ sơ của ứng viên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Bên trái hiển thị các hồ sơ đã được nhập thủ công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Sau khi lưu CV, dữ liệu tự động chuyển đến trang Lọc CV ở ESS tra cứu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được</a:t>
            </a: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 thể tải Bản mẫu xuống, nhập thông tin ứng viên và tải lên hệ thống 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67542" y="2909974"/>
            <a:ext cx="543921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tên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04192" y="2912024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10946" y="2887842"/>
            <a:ext cx="862833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0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giấy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tờ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973780" y="2903770"/>
            <a:ext cx="75517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流程图: 合并 2"/>
          <p:cNvSpPr/>
          <p:nvPr/>
        </p:nvSpPr>
        <p:spPr bwMode="auto">
          <a:xfrm>
            <a:off x="4550941" y="2934354"/>
            <a:ext cx="178017" cy="183474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27104" y="2909278"/>
            <a:ext cx="843174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67542" y="3312592"/>
            <a:ext cx="536649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ĐT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11463" y="3309544"/>
            <a:ext cx="86409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58598" y="3303340"/>
            <a:ext cx="672119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05938" y="3761434"/>
            <a:ext cx="672758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00121" y="3757809"/>
            <a:ext cx="67914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流程图: 合并 25"/>
          <p:cNvSpPr/>
          <p:nvPr/>
        </p:nvSpPr>
        <p:spPr bwMode="auto">
          <a:xfrm>
            <a:off x="3018760" y="3798114"/>
            <a:ext cx="134152" cy="188191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79266" y="3757809"/>
            <a:ext cx="794514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tịch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40842" y="3757809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流程图: 合并 28"/>
          <p:cNvSpPr/>
          <p:nvPr/>
        </p:nvSpPr>
        <p:spPr bwMode="auto">
          <a:xfrm>
            <a:off x="4265588" y="3809908"/>
            <a:ext cx="236829" cy="176396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00562" y="3766533"/>
            <a:ext cx="926840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sinh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圆角矩形 73"/>
          <p:cNvSpPr/>
          <p:nvPr/>
        </p:nvSpPr>
        <p:spPr bwMode="auto">
          <a:xfrm>
            <a:off x="4851412" y="2327935"/>
            <a:ext cx="462133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Thêm mới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圆角矩形 74"/>
          <p:cNvSpPr/>
          <p:nvPr/>
        </p:nvSpPr>
        <p:spPr bwMode="auto">
          <a:xfrm>
            <a:off x="5371990" y="2327821"/>
            <a:ext cx="462133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Lưu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圆角矩形 75"/>
          <p:cNvSpPr/>
          <p:nvPr/>
        </p:nvSpPr>
        <p:spPr bwMode="auto">
          <a:xfrm>
            <a:off x="5904528" y="2326650"/>
            <a:ext cx="462133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Xóa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3508497" y="2326650"/>
            <a:ext cx="731158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Bản</a:t>
            </a:r>
            <a:r>
              <a:rPr kumimoji="0" lang="en-US" altLang="zh-CN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sz="12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mẫu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圆角矩形 78"/>
          <p:cNvSpPr/>
          <p:nvPr/>
        </p:nvSpPr>
        <p:spPr bwMode="auto">
          <a:xfrm>
            <a:off x="4325308" y="2326650"/>
            <a:ext cx="462133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Nhập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-36512" y="1500174"/>
            <a:ext cx="157783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1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b="1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1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b="1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1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b="1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endParaRPr lang="zh-CN" altLang="en-US" sz="1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48542" y="1857446"/>
            <a:ext cx="543921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tên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85191" y="1859496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360265" y="1858709"/>
            <a:ext cx="716703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086560" y="1855084"/>
            <a:ext cx="67914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流程图: 合并 84"/>
          <p:cNvSpPr/>
          <p:nvPr/>
        </p:nvSpPr>
        <p:spPr bwMode="auto">
          <a:xfrm>
            <a:off x="2578696" y="1887947"/>
            <a:ext cx="134152" cy="188191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755337" y="1855828"/>
            <a:ext cx="742436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497773" y="1848513"/>
            <a:ext cx="142838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圆角矩形 87"/>
          <p:cNvSpPr/>
          <p:nvPr/>
        </p:nvSpPr>
        <p:spPr bwMode="auto">
          <a:xfrm>
            <a:off x="5314017" y="1855084"/>
            <a:ext cx="590511" cy="28803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Tra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cứu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42844" y="2223307"/>
            <a:ext cx="86409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KQ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6990" y="2669144"/>
            <a:ext cx="675075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tên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6991" y="2931317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67300" y="2677401"/>
            <a:ext cx="742436" cy="2539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5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64761" y="2933887"/>
            <a:ext cx="74497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01684" y="3190746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69454" y="3193316"/>
            <a:ext cx="74497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08991" y="3406770"/>
            <a:ext cx="675075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76761" y="3409340"/>
            <a:ext cx="74497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latin typeface="Times New Roman" pitchFamily="18" charset="0"/>
                <a:cs typeface="Times New Roman" pitchFamily="18" charset="0"/>
              </a:rPr>
              <a:t>***</a:t>
            </a:r>
            <a:endParaRPr lang="zh-CN" alt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左箭头 6"/>
          <p:cNvSpPr/>
          <p:nvPr/>
        </p:nvSpPr>
        <p:spPr bwMode="auto">
          <a:xfrm>
            <a:off x="1426735" y="2305868"/>
            <a:ext cx="287102" cy="249466"/>
          </a:xfrm>
          <a:prstGeom prst="leftArrow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右箭头 7"/>
          <p:cNvSpPr/>
          <p:nvPr/>
        </p:nvSpPr>
        <p:spPr bwMode="auto">
          <a:xfrm>
            <a:off x="1723428" y="2296206"/>
            <a:ext cx="273150" cy="2880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hồ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050" y="1340768"/>
            <a:ext cx="6706082" cy="340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855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643702" y="1174100"/>
            <a:ext cx="253804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 tuyển dụng lọc CV để chuẩn bị đến trang sắp xếp phỏng vấn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dựa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điều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kiện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sắp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xếp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hoặc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lưu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trữ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hệ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thống (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sau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sắp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xếp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hiện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công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việc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tiếp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theo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tại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trang “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Sắp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xếp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”,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được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lưu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trữ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không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hiển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thị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chỉ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điều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kiện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lọc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mới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được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Họ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chi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tiết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đó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Lọc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hồ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6643702" cy="331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16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715140" y="1595115"/>
            <a:ext cx="2475752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 tuyển dụng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xem được tất cả hồ sơ ứng viên từ trước đến nay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dựa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trên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điều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kiện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 xem có thể xem chi tiết tình hình phỏng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 ( nếu Ứng viên đó đã tham gia phỏng vấn)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Họ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chi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tiết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CV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đó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187624" y="116632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hồ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25" y="1196752"/>
            <a:ext cx="6746365" cy="33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652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704190" y="1124744"/>
            <a:ext cx="2404314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tuyển dụng tại  hệ thống sắp xếp phỏng vấn cho Ứng viên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Tích chọn Ứng viên</a:t>
            </a: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Nhập thời gian, địa điểm phỏng vấn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( bắt buộc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)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mã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NV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hoặc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họ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(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ít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nhất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1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Lưu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chuyển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sang trang 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Kế hoạch phỏng vấn để xác nhận lịch phỏng vấn này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187624" y="116632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phỏng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" y="1127056"/>
            <a:ext cx="6697734" cy="34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30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715140" y="1052150"/>
            <a:ext cx="247575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 tuyển dụng thông qua email gửi đến Ứng viên và người phỏng vấn thông tin địa điểm và thời gian để họ sắp xếp.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Tích chọn Ứng viên, chọn “Xác nhận”, hệ thống tự động gửi thông báo phỏng vấn đến ứng viên và người phỏng vấn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442454" y="116632"/>
            <a:ext cx="2769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phỏng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" y="1052150"/>
            <a:ext cx="6679916" cy="33469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19" y="2636911"/>
            <a:ext cx="5973390" cy="2749231"/>
          </a:xfrm>
          <a:prstGeom prst="rect">
            <a:avLst/>
          </a:prstGeom>
        </p:spPr>
      </p:pic>
      <p:cxnSp>
        <p:nvCxnSpPr>
          <p:cNvPr id="5" name="Elbow Connector 4"/>
          <p:cNvCxnSpPr>
            <a:endCxn id="3" idx="0"/>
          </p:cNvCxnSpPr>
          <p:nvPr/>
        </p:nvCxnSpPr>
        <p:spPr>
          <a:xfrm rot="10800000" flipV="1">
            <a:off x="3306314" y="1916831"/>
            <a:ext cx="3065886" cy="72007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7671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660232" y="1020792"/>
            <a:ext cx="2475752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ghi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chép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vấn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dựa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điều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kiện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mặc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định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thứ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tự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căn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cứ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thời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gian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ý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khác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trạng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không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phân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thứ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tự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trước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sau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;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Từ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chối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không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ảnh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hưởng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đến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PV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khác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;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dữ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liệu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nhân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sự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đã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không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hiển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thị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tại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trang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này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448576" y="116632"/>
            <a:ext cx="3195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chép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phỏng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6588223" cy="3367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7379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660232" y="1000467"/>
            <a:ext cx="2475752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1200" b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Trưởng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phòng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sự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thực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hiện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xác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cuối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cùng</a:t>
            </a:r>
            <a:r>
              <a:rPr lang="zh-CN" altLang="en-US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dựa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ĐK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kiếm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mặc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định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thứ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tự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gian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Chỉ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cần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1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hiện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ghi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chép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phỏng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vấn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sẽ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xem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được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ghi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chép</a:t>
            </a: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Người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xác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nhận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cuối</a:t>
            </a:r>
            <a:r>
              <a:rPr lang="en-US" altLang="zh-CN" sz="1200" b="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b="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cùng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sẽ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trực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tiếp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chuyển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đến trang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Lệnh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chờ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thực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hiện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Cv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việc</a:t>
            </a: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 smtClean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algn="l">
              <a:spcBef>
                <a:spcPct val="50000"/>
              </a:spcBef>
              <a:buClr>
                <a:srgbClr val="FF6600"/>
              </a:buClr>
              <a:buSzPct val="100000"/>
              <a:buFont typeface="Wingdings" pitchFamily="2" charset="2"/>
              <a:buChar char="Ø"/>
              <a:defRPr/>
            </a:pPr>
            <a:endParaRPr lang="en-US" altLang="zh-CN" sz="1200" b="0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462022" y="116632"/>
            <a:ext cx="2677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Tuyển dụng - Xác nhận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tuyển dụng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044"/>
            <a:ext cx="6588224" cy="3055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573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HR Profile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04248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50" y="1988840"/>
            <a:ext cx="2483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sự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sự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Sửa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sửa đổi, Thực hiện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chỉnh sửa thông tin CNV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67777" y="1199435"/>
            <a:ext cx="24762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tổng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tin 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2"/>
            <a:ext cx="666023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4"/>
          <p:cNvSpPr/>
          <p:nvPr/>
        </p:nvSpPr>
        <p:spPr>
          <a:xfrm>
            <a:off x="6228184" y="1999873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①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HR Profile -Thông tin cơ bản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25702" y="2075537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3181" y="2290247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Sửa: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sửa đổi,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          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ẩn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dưới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67777" y="1246694"/>
            <a:ext cx="2476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tổng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CNV-t</a:t>
            </a:r>
            <a:r>
              <a:rPr lang="vi-VN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hông tin cơ bả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n,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địa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chỉ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liên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hệ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khẩn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cấp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địa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chỉ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gia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đình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7" y="1196752"/>
            <a:ext cx="665318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696344"/>
            <a:ext cx="1905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724919"/>
            <a:ext cx="1524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矩形 6"/>
          <p:cNvSpPr/>
          <p:nvPr/>
        </p:nvSpPr>
        <p:spPr>
          <a:xfrm>
            <a:off x="6156176" y="170080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矩形 1"/>
          <p:cNvSpPr/>
          <p:nvPr/>
        </p:nvSpPr>
        <p:spPr>
          <a:xfrm>
            <a:off x="6156176" y="3284984"/>
            <a:ext cx="2955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③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矩形 4"/>
          <p:cNvSpPr/>
          <p:nvPr/>
        </p:nvSpPr>
        <p:spPr>
          <a:xfrm>
            <a:off x="6156176" y="3861048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④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5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1468362" y="116632"/>
            <a:ext cx="2455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HR Profile -</a:t>
            </a:r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Thông tin cơ bản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2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04248" y="1916271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67777" y="2237804"/>
            <a:ext cx="2483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Sửa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sửa đổi,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đối với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zh-CN" altLang="en-US" sz="1200" dirty="0"/>
              <a:t>           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ẩn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dưới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67777" y="1133637"/>
            <a:ext cx="247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tổng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CNV-t</a:t>
            </a:r>
            <a:r>
              <a:rPr lang="vi-VN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hông tin cơ bả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n,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địa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chỉ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liên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hệ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khẩn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cấp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địa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chỉ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gia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đình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7776" cy="3229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2768352"/>
            <a:ext cx="1905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796927"/>
            <a:ext cx="1524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矩形 4"/>
          <p:cNvSpPr/>
          <p:nvPr/>
        </p:nvSpPr>
        <p:spPr>
          <a:xfrm>
            <a:off x="6156176" y="3212976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④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矩形 5"/>
          <p:cNvSpPr/>
          <p:nvPr/>
        </p:nvSpPr>
        <p:spPr>
          <a:xfrm>
            <a:off x="6156176" y="3789040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⑤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矩形 6"/>
          <p:cNvSpPr/>
          <p:nvPr/>
        </p:nvSpPr>
        <p:spPr>
          <a:xfrm>
            <a:off x="6105654" y="227687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矩形 1"/>
          <p:cNvSpPr/>
          <p:nvPr/>
        </p:nvSpPr>
        <p:spPr>
          <a:xfrm>
            <a:off x="6156176" y="2636912"/>
            <a:ext cx="2955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③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06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ửa 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 1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67777" y="1052736"/>
            <a:ext cx="247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đổi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thông tin công việc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CNV.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</a:t>
            </a:r>
            <a:r>
              <a:rPr lang="zh-CN" altLang="en-US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04248" y="1745378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2048641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Tra cứu: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Căn cứ điều kiện tra cứu tìm được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muốn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đối với thông tin.</a:t>
            </a:r>
          </a:p>
          <a:p>
            <a:pPr algn="l"/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đổi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endParaRPr lang="zh-CN" altLang="en-US" sz="1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6660232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151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ửa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67777" y="1037918"/>
            <a:ext cx="2476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thông tin cá nhân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CNV.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</a:t>
            </a:r>
            <a:r>
              <a:rPr lang="zh-CN" altLang="en-US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2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04248" y="164305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40387" y="1947657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Tra cứu: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Căn cứ điều kiện tra cứu tìm được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muốn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thông tin.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đổi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1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116632"/>
            <a:ext cx="2160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Sửa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khẩn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3</a:t>
            </a:r>
            <a:endParaRPr lang="zh-CN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6667777" y="1160711"/>
            <a:ext cx="247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 thông tin người liên hệ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. </a:t>
            </a:r>
            <a:r>
              <a:rPr lang="en-US" altLang="zh-CN" sz="12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Sửa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3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92498" y="1876179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2153178"/>
            <a:ext cx="2483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Lựa 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”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In: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: Kết xuất thông tin bên trái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149080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60711"/>
            <a:ext cx="6667776" cy="32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1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Sửa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4</a:t>
            </a:r>
            <a:endParaRPr lang="zh-CN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6667777" y="1124744"/>
            <a:ext cx="2476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địa chỉ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“Sửa” 4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8761" y="1700808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988840"/>
            <a:ext cx="2483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“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In: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phải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323953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3"/>
            <a:ext cx="6660232" cy="309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1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Sửa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5</a:t>
            </a:r>
            <a:endParaRPr lang="zh-CN" altLang="en-US" sz="1200" dirty="0"/>
          </a:p>
        </p:txBody>
      </p:sp>
      <p:sp>
        <p:nvSpPr>
          <p:cNvPr id="5" name="矩形 4"/>
          <p:cNvSpPr/>
          <p:nvPr/>
        </p:nvSpPr>
        <p:spPr>
          <a:xfrm>
            <a:off x="6667777" y="1052736"/>
            <a:ext cx="2476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sửa đổi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gia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đình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CNV</a:t>
            </a:r>
            <a:r>
              <a:rPr lang="en-US" altLang="zh-CN" sz="1200" dirty="0" err="1" smtClean="0">
                <a:latin typeface="Times New Roman" pitchFamily="18" charset="0"/>
                <a:ea typeface="宋体" charset="-122"/>
                <a:cs typeface="Times New Roman" pitchFamily="18" charset="0"/>
              </a:rPr>
              <a:t>.Chọn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Sửa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5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6753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916832"/>
            <a:ext cx="2483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In: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251945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52736"/>
            <a:ext cx="6660232" cy="3152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1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0232" y="980728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đổi thông tin tổng hợp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- thông tin ra lệnh, kinh nghiệm, quản lý nghiệp vụ, quản lý sản phẩm, lí lịch nhận chức.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15090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76753" y="184482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0232" y="2132856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Sửa: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sửa đổi, dùng để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sửa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  :Trang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ẩn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564904"/>
            <a:ext cx="130268" cy="156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593479"/>
            <a:ext cx="104214" cy="13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2"/>
            <a:ext cx="6660231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67777" y="980728"/>
            <a:ext cx="247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thông tin ra lệnh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Chọn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“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Sửa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(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cá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nhân</a:t>
            </a:r>
            <a:r>
              <a:rPr lang="zh-CN" altLang="en-US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6753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916832"/>
            <a:ext cx="248376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CNV,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sau khi chọn ngày ra lệnh mặc định đưa ra thông tin bộ phận, lựa chọn loại ra lệnh, điều chỉnh mục cần điều chỉnh,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xuất thông tin bên trái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611985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6660232" cy="2718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763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67777" y="1052736"/>
            <a:ext cx="2476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sửa mục kinh nghiệm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CNV(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kinh nghiệm trước đây).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“Sửa”2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 trang </a:t>
            </a:r>
            <a:r>
              <a:rPr lang="en-US" altLang="zh-CN" sz="1200" dirty="0" err="1">
                <a:latin typeface="Times New Roman" pitchFamily="18" charset="0"/>
                <a:ea typeface="宋体" charset="-122"/>
                <a:cs typeface="Times New Roman" pitchFamily="18" charset="0"/>
              </a:rPr>
              <a:t>này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6753" y="177281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988840"/>
            <a:ext cx="24837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nghiệm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xuất thông tin bên trái</a:t>
            </a: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phải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5894" y="127665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922" y="4179937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66813"/>
            <a:ext cx="6660232" cy="2838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310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tập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60232" y="1023119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trình độ học vấn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của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76753" y="1556792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0232" y="1844824"/>
            <a:ext cx="2483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nghiệm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922" y="4437112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80242"/>
            <a:ext cx="6660232" cy="318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thông tin chứng nhận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76753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0232" y="1916832"/>
            <a:ext cx="2483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nghiệm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phải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828009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" y="1206427"/>
            <a:ext cx="6625779" cy="323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ngoại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ngữ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1023119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200" dirty="0" smtClean="0">
                <a:latin typeface="Times New Roman (Headings)"/>
              </a:rPr>
              <a:t>  </a:t>
            </a:r>
            <a:r>
              <a:rPr lang="vi-VN" altLang="zh-CN" sz="1200" dirty="0" smtClean="0">
                <a:latin typeface="+mj-lt"/>
              </a:rPr>
              <a:t>Trang n</a:t>
            </a:r>
            <a:r>
              <a:rPr lang="en-US" altLang="zh-CN" sz="1200" dirty="0" err="1" smtClean="0">
                <a:latin typeface="+mj-lt"/>
              </a:rPr>
              <a:t>ày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dùng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để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tra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cứu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và</a:t>
            </a:r>
            <a:r>
              <a:rPr lang="en-US" altLang="zh-CN" sz="1200" dirty="0" smtClean="0">
                <a:latin typeface="+mj-lt"/>
              </a:rPr>
              <a:t> sửa </a:t>
            </a:r>
            <a:r>
              <a:rPr lang="en-US" altLang="zh-CN" sz="1200" dirty="0" err="1" smtClean="0">
                <a:latin typeface="+mj-lt"/>
              </a:rPr>
              <a:t>thông</a:t>
            </a:r>
            <a:r>
              <a:rPr lang="en-US" altLang="zh-CN" sz="1200" dirty="0" smtClean="0">
                <a:latin typeface="+mj-lt"/>
              </a:rPr>
              <a:t> tin năng </a:t>
            </a:r>
            <a:r>
              <a:rPr lang="en-US" altLang="zh-CN" sz="1200" dirty="0" err="1" smtClean="0">
                <a:latin typeface="+mj-lt"/>
              </a:rPr>
              <a:t>lực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ngoại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ngữ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của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nhân</a:t>
            </a:r>
            <a:r>
              <a:rPr lang="en-US" altLang="zh-CN" sz="1200" dirty="0" smtClean="0">
                <a:latin typeface="+mj-lt"/>
              </a:rPr>
              <a:t> </a:t>
            </a:r>
            <a:r>
              <a:rPr lang="en-US" altLang="zh-CN" sz="1200" dirty="0" err="1" smtClean="0">
                <a:latin typeface="+mj-lt"/>
              </a:rPr>
              <a:t>viên</a:t>
            </a:r>
            <a:r>
              <a:rPr lang="en-US" altLang="zh-CN" sz="1200" dirty="0" smtClean="0">
                <a:latin typeface="+mj-lt"/>
              </a:rPr>
              <a:t>.</a:t>
            </a:r>
            <a:endParaRPr lang="zh-CN" altLang="en-US" sz="1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14237" y="1700808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 (Headings)"/>
              </a:rPr>
              <a:t>Giải</a:t>
            </a:r>
            <a:r>
              <a:rPr lang="en-US" altLang="zh-CN" sz="1200" b="1" dirty="0" smtClean="0">
                <a:latin typeface="Times New Roman (Headings)"/>
              </a:rPr>
              <a:t> </a:t>
            </a:r>
            <a:r>
              <a:rPr lang="en-US" altLang="zh-CN" sz="1200" b="1" dirty="0" err="1" smtClean="0">
                <a:latin typeface="Times New Roman (Headings)"/>
              </a:rPr>
              <a:t>thích</a:t>
            </a:r>
            <a:r>
              <a:rPr lang="en-US" altLang="zh-CN" sz="1200" b="1" dirty="0" smtClean="0">
                <a:latin typeface="Times New Roman (Headings)"/>
              </a:rPr>
              <a:t>:</a:t>
            </a:r>
            <a:endParaRPr lang="zh-CN" altLang="en-US" sz="1200" b="1" dirty="0">
              <a:latin typeface="Times New Roman (Headings)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60232" y="2060848"/>
            <a:ext cx="24837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ngoại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phải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922" y="5116041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238211"/>
            <a:ext cx="6660230" cy="3126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522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thưởng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phạt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31640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Thông tin khen thưởng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04248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0232" y="1916832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Sửa: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sửa đổi, dùng để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sửa thông tin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   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rộng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sang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2" cy="3404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287905"/>
            <a:ext cx="1428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91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75656" y="116632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Sửa1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）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thông tin khen thưởng/nhận thưởng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6753" y="1639833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60232" y="1988840"/>
            <a:ext cx="24837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116041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2" cy="3404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71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 thông tin kỷ luật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14237" y="16288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/>
              <a:t>Giải</a:t>
            </a:r>
            <a:r>
              <a:rPr lang="en-US" altLang="zh-CN" sz="1200" b="1" dirty="0" smtClean="0"/>
              <a:t> </a:t>
            </a:r>
            <a:r>
              <a:rPr lang="en-US" altLang="zh-CN" sz="1200" b="1" dirty="0" err="1" smtClean="0"/>
              <a:t>thích</a:t>
            </a:r>
            <a:r>
              <a:rPr lang="en-US" altLang="zh-CN" sz="1200" b="1" dirty="0" smtClean="0"/>
              <a:t>:</a:t>
            </a:r>
            <a:endParaRPr lang="zh-CN" alt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660232" y="1916832"/>
            <a:ext cx="2483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828009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( Sửa2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01093"/>
            <a:ext cx="6660231" cy="294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71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0232" y="1052736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thông tin tổng hợp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-Thông tin đánh giá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7505" y="1603234"/>
            <a:ext cx="864096" cy="1478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5496" y="3584049"/>
            <a:ext cx="151216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" name="Group 2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20053"/>
              </p:ext>
            </p:extLst>
          </p:nvPr>
        </p:nvGraphicFramePr>
        <p:xfrm>
          <a:off x="107505" y="3861048"/>
          <a:ext cx="6480719" cy="640080"/>
        </p:xfrm>
        <a:graphic>
          <a:graphicData uri="http://schemas.openxmlformats.org/drawingml/2006/table">
            <a:tbl>
              <a:tblPr/>
              <a:tblGrid>
                <a:gridCol w="704078"/>
                <a:gridCol w="422447"/>
                <a:gridCol w="422447"/>
                <a:gridCol w="422447"/>
                <a:gridCol w="422447"/>
                <a:gridCol w="422447"/>
                <a:gridCol w="422447"/>
                <a:gridCol w="460358"/>
                <a:gridCol w="384535"/>
                <a:gridCol w="422447"/>
                <a:gridCol w="462451"/>
                <a:gridCol w="504056"/>
                <a:gridCol w="504056"/>
                <a:gridCol w="504056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Năm</a:t>
                      </a: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đánh</a:t>
                      </a: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giá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1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2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3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4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5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6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7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8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9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10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11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12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Năng</a:t>
                      </a: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lực</a:t>
                      </a: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AutoShape 24"/>
          <p:cNvSpPr>
            <a:spLocks noChangeArrowheads="1"/>
          </p:cNvSpPr>
          <p:nvPr/>
        </p:nvSpPr>
        <p:spPr bwMode="auto">
          <a:xfrm>
            <a:off x="35496" y="3212926"/>
            <a:ext cx="936104" cy="28733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r>
              <a:rPr lang="vi-VN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Thông tin cơ bản</a:t>
            </a:r>
            <a:endParaRPr lang="zh-CN" altLang="en-US" sz="1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AutoShape 26"/>
          <p:cNvSpPr>
            <a:spLocks noChangeArrowheads="1"/>
          </p:cNvSpPr>
          <p:nvPr/>
        </p:nvSpPr>
        <p:spPr bwMode="auto">
          <a:xfrm>
            <a:off x="971600" y="3213670"/>
            <a:ext cx="1008112" cy="28659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r>
              <a:rPr lang="en-US" altLang="zh-CN" sz="1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AutoShape 25"/>
          <p:cNvSpPr>
            <a:spLocks noChangeArrowheads="1"/>
          </p:cNvSpPr>
          <p:nvPr/>
        </p:nvSpPr>
        <p:spPr bwMode="auto">
          <a:xfrm>
            <a:off x="1979712" y="3213670"/>
            <a:ext cx="1080120" cy="28733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r>
              <a:rPr lang="vi-VN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Thông tin năng lực</a:t>
            </a:r>
            <a:endParaRPr lang="zh-CN" altLang="en-US" sz="1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AutoShape 25"/>
          <p:cNvSpPr>
            <a:spLocks noChangeArrowheads="1"/>
          </p:cNvSpPr>
          <p:nvPr/>
        </p:nvSpPr>
        <p:spPr bwMode="auto">
          <a:xfrm>
            <a:off x="3059832" y="3212926"/>
            <a:ext cx="1224136" cy="28733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r>
              <a:rPr lang="vi-VN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Thông tin thưởng phạt</a:t>
            </a:r>
            <a:endParaRPr lang="zh-CN" altLang="en-US" sz="1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>
            <a:off x="4283968" y="3212976"/>
            <a:ext cx="1080120" cy="28728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none" anchor="ctr"/>
          <a:lstStyle/>
          <a:p>
            <a:r>
              <a:rPr lang="vi-VN" altLang="zh-CN" sz="1000" dirty="0" smtClean="0">
                <a:latin typeface="Times New Roman" pitchFamily="18" charset="0"/>
                <a:cs typeface="Times New Roman" pitchFamily="18" charset="0"/>
              </a:rPr>
              <a:t>Thông tin đánh giá</a:t>
            </a:r>
            <a:endParaRPr lang="zh-CN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AutoShape 27"/>
          <p:cNvSpPr>
            <a:spLocks noChangeArrowheads="1"/>
          </p:cNvSpPr>
          <p:nvPr/>
        </p:nvSpPr>
        <p:spPr bwMode="auto">
          <a:xfrm>
            <a:off x="5364088" y="3212976"/>
            <a:ext cx="936104" cy="28728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3175">
            <a:noFill/>
            <a:round/>
            <a:headEnd/>
            <a:tailEnd/>
          </a:ln>
          <a:effectLst>
            <a:prstShdw prst="shdw17" dist="17961" dir="2700000">
              <a:srgbClr val="33CCCC">
                <a:gamma/>
                <a:shade val="60000"/>
                <a:invGamma/>
              </a:srgbClr>
            </a:prst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r>
              <a:rPr lang="vi-VN" altLang="zh-CN" sz="1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Ghi chép đặc biệt</a:t>
            </a:r>
            <a:endParaRPr lang="zh-CN" altLang="en-US" sz="1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Thông tin đánh giá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76753" y="177281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0232" y="2093947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Sửa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Chuyển đến 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: 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ẩn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下箭头 46"/>
          <p:cNvSpPr/>
          <p:nvPr/>
        </p:nvSpPr>
        <p:spPr>
          <a:xfrm flipV="1">
            <a:off x="1043608" y="3637112"/>
            <a:ext cx="108011" cy="1384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46467"/>
              </p:ext>
            </p:extLst>
          </p:nvPr>
        </p:nvGraphicFramePr>
        <p:xfrm>
          <a:off x="1043610" y="1603234"/>
          <a:ext cx="5544614" cy="1482228"/>
        </p:xfrm>
        <a:graphic>
          <a:graphicData uri="http://schemas.openxmlformats.org/drawingml/2006/table">
            <a:tbl>
              <a:tblPr/>
              <a:tblGrid>
                <a:gridCol w="993542"/>
                <a:gridCol w="919687"/>
                <a:gridCol w="895082"/>
                <a:gridCol w="936104"/>
                <a:gridCol w="864096"/>
                <a:gridCol w="936103"/>
              </a:tblGrid>
              <a:tr h="246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Họ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tên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王毅（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Wangyi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Mã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CNV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Phòng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ban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Phòng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sản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xuất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Chức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vụ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Công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việc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chính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Chức</a:t>
                      </a:r>
                      <a:r>
                        <a:rPr lang="en-US" altLang="zh-CN" sz="11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trách</a:t>
                      </a:r>
                      <a:endParaRPr lang="zh-CN" alt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41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Mã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chi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phí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ysClr val="windowText" lastClr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ysClr val="windowText" lastClr="000000"/>
                        </a:solidFill>
                        <a:latin typeface="宋体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</a:t>
                      </a:r>
                      <a:r>
                        <a:rPr lang="en-US" altLang="zh-CN" sz="1100" b="0" i="0" u="none" strike="noStrike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Kíp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</a:t>
                      </a:r>
                      <a:r>
                        <a:rPr lang="en-US" altLang="zh-CN" sz="1100" b="0" i="0" u="none" strike="noStrike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thường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Loại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CNV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Chính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thức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Trưởng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phòng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Phải</a:t>
                      </a:r>
                      <a:endParaRPr lang="zh-CN" altLang="en-US" sz="1100" b="0" i="0" u="none" strike="noStrike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Trạng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thái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Đang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làm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41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Ngày</a:t>
                      </a:r>
                      <a:r>
                        <a:rPr lang="en-US" altLang="zh-CN" sz="1100" b="0" i="0" u="none" strike="noStrik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vào</a:t>
                      </a:r>
                      <a:r>
                        <a:rPr lang="en-US" altLang="zh-CN" sz="1100" b="0" i="0" u="none" strike="noStrike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làm</a:t>
                      </a:r>
                      <a:endParaRPr lang="zh-CN" altLang="en-US" sz="1100" b="0" i="0" u="none" strike="noStrike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latin typeface="Times New Roman" pitchFamily="18" charset="0"/>
                          <a:cs typeface="Times New Roman" pitchFamily="18" charset="0"/>
                        </a:rPr>
                        <a:t>09-07-2014</a:t>
                      </a:r>
                      <a:endParaRPr lang="zh-CN" altLang="en-US" sz="1100" b="0" i="0" u="none" strike="noStrike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Kinh nghiệm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tháng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Thời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gian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làm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năm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1 </a:t>
                      </a:r>
                      <a:r>
                        <a:rPr lang="en-US" altLang="zh-CN" sz="1100" b="0" i="0" u="none" strike="noStrike" baseline="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tháng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298" marR="6298" marT="6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52622"/>
            <a:ext cx="6660231" cy="3256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309" y="2492896"/>
            <a:ext cx="80963" cy="223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91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31640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chép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( Sửa)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chép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biệt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2240" y="155679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/>
              <a:t>Giải</a:t>
            </a:r>
            <a:r>
              <a:rPr lang="en-US" altLang="zh-CN" sz="1200" b="1" dirty="0" smtClean="0"/>
              <a:t> </a:t>
            </a:r>
            <a:r>
              <a:rPr lang="en-US" altLang="zh-CN" sz="1200" b="1" dirty="0" err="1" smtClean="0"/>
              <a:t>thích</a:t>
            </a:r>
            <a:r>
              <a:rPr lang="en-US" altLang="zh-CN" sz="1200" b="1" dirty="0" smtClean="0"/>
              <a:t>:</a:t>
            </a:r>
            <a:endParaRPr lang="zh-CN" altLang="en-US" sz="1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660232" y="1844824"/>
            <a:ext cx="24837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cứu: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trái tăng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1 hàng, bên phải hiện thị thông tin trang mới, nhập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chép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sửa.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thông tin bên trái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file: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lên tài liệu của bản sửa đổi ( như tài liệu phế duyệt)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 sang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phải</a:t>
            </a: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900017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3194"/>
            <a:ext cx="6660231" cy="2997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379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76653" y="1052736"/>
            <a:ext cx="24673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thông tin hợp đồng/thỏa thuận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48761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0232" y="1916832"/>
            <a:ext cx="24837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Mặc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CNVdựa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vi-VN" altLang="zh-CN" sz="1200" b="1" dirty="0" smtClean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thúc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lương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chú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”.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Excel: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xuất ra thông tin của trang.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7660"/>
            <a:ext cx="6660231" cy="291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59632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76653" y="1052736"/>
            <a:ext cx="24673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thông tin hợp đồng/thỏa thuận của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04248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60232" y="1916832"/>
            <a:ext cx="248376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Mặc định hiện thị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có hợp đồng đến kỳ hạn trước 2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tháng (đối với NV văn phòng) hoặc 1 tháng (đối với công nhân sản xuất),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và có thể tìm hợp đồng dựa vào điều kiện tra cứu.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thúc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lương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chú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6660231" cy="324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đổi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76653" y="1052736"/>
            <a:ext cx="24673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Chỉnh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sửa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8761" y="16288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988840"/>
            <a:ext cx="2483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sửa đổi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endParaRPr lang="en-US" altLang="zh-CN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Sửa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Sửa đổi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trang.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7275"/>
            <a:ext cx="6660231" cy="2755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76653" y="1052736"/>
            <a:ext cx="24673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32240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232" y="1844824"/>
            <a:ext cx="2483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bô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138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75656" y="150748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Quy trình nhận 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792"/>
            <a:ext cx="6811703" cy="3195217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7020272" y="764704"/>
            <a:ext cx="0" cy="5616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020272" y="1233626"/>
            <a:ext cx="2123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 trình đưa 1 nhân viên mới vào hệ thống</a:t>
            </a:r>
          </a:p>
          <a:p>
            <a:pPr algn="l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 theo các bước từ trên xuống dưới để hoàn thành cho 1 nhân viên vào trong hệ thống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8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75656" y="116632"/>
            <a:ext cx="3240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Quyết định nhận việc – Thông tin cơ bản</a:t>
            </a:r>
            <a:r>
              <a:rPr lang="vi-VN" altLang="zh-CN" sz="1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6753" y="141277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232" y="1700808"/>
            <a:ext cx="2483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Xác 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1 hay nhiều CNV, Chọn “Xác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nhận”,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thông tin CNV này tự động lưu vào hệ thống</a:t>
            </a:r>
            <a:endParaRPr lang="en-US" altLang="zh-CN" sz="12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i="1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i="1" dirty="0" err="1">
                <a:latin typeface="Times New Roman" pitchFamily="18" charset="0"/>
                <a:cs typeface="Times New Roman" pitchFamily="18" charset="0"/>
              </a:rPr>
              <a:t>trái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họ tên, sau đó chọn “Lưu”.( phần có dấu sao đỏ bắt buộc điền, không điền không thể lưu)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Lưu thông tin vừa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đổi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5" y="1182756"/>
            <a:ext cx="6660232" cy="31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384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Times New Roman" pitchFamily="18" charset="0"/>
                <a:cs typeface="Times New Roman" pitchFamily="18" charset="0"/>
              </a:rPr>
              <a:t>Quyết định nhận việc - Thông </a:t>
            </a:r>
            <a:r>
              <a:rPr lang="vi-VN" altLang="zh-CN" sz="1200" dirty="0">
                <a:latin typeface="Times New Roman" pitchFamily="18" charset="0"/>
                <a:cs typeface="Times New Roman" pitchFamily="18" charset="0"/>
              </a:rPr>
              <a:t>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bổ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sung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495817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60232" y="1772816"/>
            <a:ext cx="248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số CMND, địa chỉ, sau đó chọn “Lưu”.( phần có sao đỏ bắt buộc điền, không điền không thể lưu)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xỏa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6034"/>
            <a:ext cx="6660231" cy="3887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80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16632"/>
            <a:ext cx="4608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dục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495817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60232" y="1768748"/>
            <a:ext cx="248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học vấn, sau đó chọn “Lưu”.( phần có dấu sao đỏ bắt buộc điền, không điền không thể lưu)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thông tin muốn Xóa ở bên trái, chọn “ Xóa” xỏa bỏ thông tin này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21" y="5908129"/>
            <a:ext cx="133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39751"/>
            <a:ext cx="6660232" cy="308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3608" y="116632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Nhập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nghiệm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0232" y="1772816"/>
            <a:ext cx="248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thông tin công ty, sau đó chọn “Lưu”( phần có dấu sao đỏ bắt buộc điền, không điền không thể lưu).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thông tin muốn Xóa ở bên trái, chọn “ Xóa” xỏa bỏ thông tin này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0334"/>
            <a:ext cx="6660232" cy="319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168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đình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556792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0232" y="1844824"/>
            <a:ext cx="248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họ tên thành viên gia đình, sau đó chọn “Lưu”.( phần có dấu sao đỏ bắt buộc điền, không điền không thể lưu)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thông tin muốn Xóa ở bên trái, chọn “ Xóa” xỏa bỏ thông tin này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50415"/>
            <a:ext cx="6660231" cy="3762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2240" y="141277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67944" y="2420888"/>
            <a:ext cx="720080" cy="149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660232" y="1700808"/>
            <a:ext cx="2483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(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2852936"/>
            <a:ext cx="1114425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30226"/>
            <a:ext cx="6660231" cy="3234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hận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loạt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loạt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6753" y="141277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700808"/>
            <a:ext cx="24837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Đăng ký</a:t>
            </a: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Tạo ngày thực hiện công việc nhận việc cho nhiều CNV vào hệ thống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Bản 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mẫu: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Tải bản mẫu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chèn file vừa nhập vào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hệ thống</a:t>
            </a:r>
          </a:p>
          <a:p>
            <a:pPr algn="l"/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hoàn thành lần nhập này,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hệ thống tự động tạo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mã CNV (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+2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chữ số năm+4 chữ số thứ tự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Tra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nhau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Thêm mới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Chọn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“Thêm mới”,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bên phải hiển thị trang mới, nhập thông tin, sau đó chọn “Lưu”.( phần có dấu sao đỏ bắt buộc điền, không điền không thể lưu)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Lưu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thay đổi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Kết xuất ra thông tin trang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này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5951"/>
            <a:ext cx="6660232" cy="3293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0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CN" sz="1200" dirty="0" smtClean="0">
                <a:latin typeface="+mj-lt"/>
              </a:rPr>
              <a:t>Quyết định nhân sự</a:t>
            </a:r>
            <a:endParaRPr lang="zh-CN" altLang="en-US" sz="12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980728"/>
            <a:ext cx="2483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Khi công ty có các quyết định có NV nào đó, NV nhân sự truy cập trang này để thêm thông tin quyết định nhân sự. </a:t>
            </a: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nhân viên thực hiện quyết định</a:t>
            </a: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Sau khi tra cứu nhân viên, bên trái hiển thị các lần quyết định đối với nhân viên đó trước đây</a:t>
            </a: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“Thêm mới” để thêm 1 quyết định</a:t>
            </a: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Sau khi nhập các thông tin tương ứng, chọn “Lưu” hệ thống lưu lại thông tin vừa thực hiện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403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87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loạt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Thực hiện quyết định cho nhiều nhân viên cùng 1 lúc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6753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772816"/>
            <a:ext cx="2483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1. Đăng ký 1 ngày quyết định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Bản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bản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Chèn file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Tải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tệp vừa nhập thông tin</a:t>
            </a:r>
          </a:p>
          <a:p>
            <a:pPr algn="l"/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     Tích chọn tất cả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Xác nhận 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thực hiện quyết định cho tất cả nhân viên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Tra 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ra lệnh của ngày đăng ký khác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Lưu thông 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đổi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trang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974"/>
            <a:ext cx="6571965" cy="3195039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6776753" y="2636912"/>
            <a:ext cx="171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87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03648" y="116632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đổi thông tin ra lệnh </a:t>
            </a:r>
            <a:r>
              <a:rPr lang="en-US" altLang="zh-CN" sz="1200" dirty="0">
                <a:latin typeface="Times New Roman" pitchFamily="18" charset="0"/>
                <a:ea typeface="宋体" charset="-122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1700808"/>
            <a:ext cx="2483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sửa</a:t>
            </a: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Xuất Excel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trang</a:t>
            </a:r>
          </a:p>
        </p:txBody>
      </p:sp>
      <p:sp>
        <p:nvSpPr>
          <p:cNvPr id="2" name="矩形 1"/>
          <p:cNvSpPr/>
          <p:nvPr/>
        </p:nvSpPr>
        <p:spPr>
          <a:xfrm>
            <a:off x="5076056" y="2343363"/>
            <a:ext cx="288032" cy="7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0192" y="2343363"/>
            <a:ext cx="288032" cy="7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49859"/>
            <a:ext cx="6588223" cy="3403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967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Xem,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Thêm mới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hoặc sửa đổi thông tin ra lệnh của 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04248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1772816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59384"/>
            <a:ext cx="6660231" cy="3321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41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76753" y="141277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60232" y="1700808"/>
            <a:ext cx="2483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Thẻ nhân sự: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tải về máy thẻ nhân sự của nhân viên vừa tích chọn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0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76753" y="1556792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0232" y="1844824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“Thêm thông tin thống kê”, tích chọn các trường thông tin cần xem, điền tên chủ đề, sau đó “Lưu”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23728" y="2348880"/>
            <a:ext cx="2304256" cy="118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734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30" y="3006649"/>
            <a:ext cx="5934602" cy="29423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1514401"/>
            <a:ext cx="792088" cy="319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lbow Connector 5"/>
          <p:cNvCxnSpPr>
            <a:stCxn id="3" idx="2"/>
            <a:endCxn id="2" idx="0"/>
          </p:cNvCxnSpPr>
          <p:nvPr/>
        </p:nvCxnSpPr>
        <p:spPr>
          <a:xfrm rot="5400000">
            <a:off x="3744059" y="1782664"/>
            <a:ext cx="1172858" cy="127511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Thống kê nhân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viên (tiếp)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0232" y="1023119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0232" y="1484784"/>
            <a:ext cx="2483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Bên dưới lựa chọn điều kiện tìm kiếm khác nhau</a:t>
            </a:r>
          </a:p>
          <a:p>
            <a:pPr marL="228600" indent="-228600" algn="l"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Chọn “Tìm kiếm”, hệ thống mở ra trang thống kê tất cả những nhân viên cần tìm</a:t>
            </a:r>
          </a:p>
          <a:p>
            <a:pPr marL="228600" indent="-228600" algn="l">
              <a:buAutoNum type="arabicPeriod"/>
            </a:pP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Xuất Excel: kết xuất thông tin vừa tìm kiếm</a:t>
            </a: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2484784" y="6957392"/>
            <a:ext cx="100811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000240"/>
            <a:ext cx="74295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7" y="1438821"/>
            <a:ext cx="6616946" cy="337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3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phòng ban –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1484784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liệu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từng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53468"/>
            <a:ext cx="6660231" cy="3427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65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240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phòng ban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68326"/>
            <a:ext cx="6660231" cy="3556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64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phòng ban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tuổi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tuổi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thâm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niên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56519"/>
            <a:ext cx="6660231" cy="3496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64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95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phòng ban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044"/>
            <a:ext cx="6660232" cy="3271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64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Nhân viên mới –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ình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thức nhận 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liệu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</a:t>
            </a:r>
          </a:p>
          <a:p>
            <a:pPr algn="l">
              <a:spcBef>
                <a:spcPct val="50000"/>
              </a:spcBef>
            </a:pP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80902"/>
            <a:ext cx="6660231" cy="36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388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33860"/>
            <a:ext cx="6660231" cy="3491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19" y="3326810"/>
            <a:ext cx="5546594" cy="27966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28819" y="2564904"/>
            <a:ext cx="235269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Elbow Connector 8"/>
          <p:cNvCxnSpPr>
            <a:stCxn id="3" idx="2"/>
            <a:endCxn id="2" idx="0"/>
          </p:cNvCxnSpPr>
          <p:nvPr/>
        </p:nvCxnSpPr>
        <p:spPr>
          <a:xfrm rot="5400000">
            <a:off x="3979340" y="2059696"/>
            <a:ext cx="617890" cy="191633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35893"/>
            <a:ext cx="2483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smtClean="0">
                <a:latin typeface="宋体" pitchFamily="2" charset="-122"/>
              </a:rPr>
              <a:t>    </a:t>
            </a:r>
            <a:endParaRPr lang="zh-CN" altLang="en-US" sz="1200" dirty="0">
              <a:latin typeface="宋体" pitchFamily="2" charset="-122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26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388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do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lý do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endParaRPr lang="zh-CN" altLang="en-US" sz="1200" dirty="0">
              <a:latin typeface="宋体" pitchFamily="2" charset="-122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6660231" cy="319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855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376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thôi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hân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endParaRPr lang="zh-CN" alt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liệu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nghỉ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thống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CNV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59570"/>
            <a:ext cx="6660231" cy="342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855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địa chỉ liên hệ khẩn cấp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6660231" cy="3188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địa chỉ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04048" y="2420888"/>
            <a:ext cx="936104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18419"/>
            <a:ext cx="6660231" cy="317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đình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gia đình của CNV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" y="1210619"/>
            <a:ext cx="6625779" cy="3154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kinh nghiệm của CNV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3" y="1196752"/>
            <a:ext cx="6644829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725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tập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trình độ học vấn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6660231" cy="323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725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5656" y="116632"/>
            <a:ext cx="2016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1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endParaRPr lang="zh-CN" alt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các loại chứng chỉ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" y="1113086"/>
            <a:ext cx="6625779" cy="3108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616" y="116632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CNV.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0902"/>
            <a:ext cx="6660232" cy="318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91680" y="150748"/>
            <a:ext cx="2808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thưởng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980728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khen thưởng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57661"/>
            <a:ext cx="6660231" cy="335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60232" y="1023119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tin kỷ luật 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6660231" cy="33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47664" y="127665"/>
            <a:ext cx="23762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82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3648" y="116632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052736"/>
            <a:ext cx="2483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Tra cứu thông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tin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thôi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việc 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của 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CNV dựa vào điều kiện tìm kiếm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6660231" cy="3103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7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87624" y="11663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62039"/>
            <a:ext cx="6660232" cy="265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116632"/>
            <a:ext cx="266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Nhập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6753" y="1412776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0232" y="1700808"/>
            <a:ext cx="248376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①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②：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②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chưa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lỗi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vi-VN" altLang="zh-CN" sz="1200" b="1" dirty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, chon “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Lưu</a:t>
            </a:r>
            <a:endParaRPr lang="en-US" altLang="zh-C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200" dirty="0" smtClean="0">
                <a:latin typeface="宋体" pitchFamily="2" charset="-122"/>
              </a:rPr>
              <a:t>   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</a:t>
            </a:r>
            <a:endParaRPr lang="en-US" altLang="zh-CN" sz="1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3648" y="2636912"/>
            <a:ext cx="288032" cy="144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6660232" cy="3315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6"/>
          <p:cNvSpPr/>
          <p:nvPr/>
        </p:nvSpPr>
        <p:spPr>
          <a:xfrm>
            <a:off x="4143372" y="2420888"/>
            <a:ext cx="1214446" cy="177291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ảnh</a:t>
            </a:r>
            <a:endParaRPr lang="zh-CN" altLang="en-US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8"/>
          <p:cNvSpPr/>
          <p:nvPr/>
        </p:nvSpPr>
        <p:spPr>
          <a:xfrm>
            <a:off x="128990" y="2960249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5" name="矩形 10"/>
          <p:cNvSpPr/>
          <p:nvPr/>
        </p:nvSpPr>
        <p:spPr>
          <a:xfrm>
            <a:off x="142844" y="2451430"/>
            <a:ext cx="3857652" cy="206096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ảnh</a:t>
            </a:r>
            <a:endParaRPr lang="zh-CN" altLang="en-US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矩形 9"/>
          <p:cNvSpPr/>
          <p:nvPr/>
        </p:nvSpPr>
        <p:spPr>
          <a:xfrm>
            <a:off x="5025534" y="242088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②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116632"/>
            <a:ext cx="3240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Nhập dữ liệu – Tra cứu và tải </a:t>
            </a:r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0232" y="1052736"/>
            <a:ext cx="248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CNV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vửa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1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6753" y="1484784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1772816"/>
            <a:ext cx="2483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zh-CN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l"/>
            <a:r>
              <a:rPr lang="en-US" altLang="zh-CN" sz="1200" b="1" dirty="0" err="1" smtClean="0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vi-VN" altLang="zh-CN" sz="1200" b="1" dirty="0" smtClean="0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zh-CN" altLang="en-US" sz="12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2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altLang="zh-CN" sz="1200" dirty="0" smtClean="0">
                <a:latin typeface="Times New Roman" pitchFamily="18" charset="0"/>
                <a:cs typeface="Times New Roman" pitchFamily="18" charset="0"/>
              </a:rPr>
              <a:t> tin</a:t>
            </a:r>
            <a:endParaRPr lang="en-US" altLang="zh-C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326"/>
            <a:ext cx="6660232" cy="338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4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28383</TotalTime>
  <Words>5066</Words>
  <Application>Microsoft Office PowerPoint</Application>
  <PresentationFormat>On-screen Show (4:3)</PresentationFormat>
  <Paragraphs>520</Paragraphs>
  <Slides>69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8" baseType="lpstr">
      <vt:lpstr>Arial Unicode MS</vt:lpstr>
      <vt:lpstr>微软雅黑</vt:lpstr>
      <vt:lpstr>宋体</vt:lpstr>
      <vt:lpstr>Times New Roman (Headings)</vt:lpstr>
      <vt:lpstr>Arial</vt:lpstr>
      <vt:lpstr>Calibri</vt:lpstr>
      <vt:lpstr>Times New Roman</vt:lpstr>
      <vt:lpstr>Wingdings</vt:lpstr>
      <vt:lpstr>1_自定义设计方案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huong chuot</cp:lastModifiedBy>
  <cp:revision>3794</cp:revision>
  <dcterms:created xsi:type="dcterms:W3CDTF">2010-07-06T05:38:31Z</dcterms:created>
  <dcterms:modified xsi:type="dcterms:W3CDTF">2018-01-26T10:15:14Z</dcterms:modified>
</cp:coreProperties>
</file>