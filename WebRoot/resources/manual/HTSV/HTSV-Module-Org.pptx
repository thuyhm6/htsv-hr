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Lst>
  <p:notesMasterIdLst>
    <p:notesMasterId r:id="rId28"/>
  </p:notesMasterIdLst>
  <p:handoutMasterIdLst>
    <p:handoutMasterId r:id="rId29"/>
  </p:handoutMasterIdLst>
  <p:sldIdLst>
    <p:sldId id="763" r:id="rId2"/>
    <p:sldId id="764" r:id="rId3"/>
    <p:sldId id="734" r:id="rId4"/>
    <p:sldId id="735" r:id="rId5"/>
    <p:sldId id="736" r:id="rId6"/>
    <p:sldId id="737" r:id="rId7"/>
    <p:sldId id="765" r:id="rId8"/>
    <p:sldId id="766" r:id="rId9"/>
    <p:sldId id="740" r:id="rId10"/>
    <p:sldId id="741" r:id="rId11"/>
    <p:sldId id="767" r:id="rId12"/>
    <p:sldId id="742" r:id="rId13"/>
    <p:sldId id="768" r:id="rId14"/>
    <p:sldId id="743" r:id="rId15"/>
    <p:sldId id="744" r:id="rId16"/>
    <p:sldId id="769" r:id="rId17"/>
    <p:sldId id="745" r:id="rId18"/>
    <p:sldId id="746" r:id="rId19"/>
    <p:sldId id="747" r:id="rId20"/>
    <p:sldId id="770" r:id="rId21"/>
    <p:sldId id="748" r:id="rId22"/>
    <p:sldId id="749" r:id="rId23"/>
    <p:sldId id="754" r:id="rId24"/>
    <p:sldId id="755" r:id="rId25"/>
    <p:sldId id="750" r:id="rId26"/>
    <p:sldId id="751" r:id="rId27"/>
  </p:sldIdLst>
  <p:sldSz cx="9144000" cy="6858000" type="screen4x3"/>
  <p:notesSz cx="9939338" cy="6807200"/>
  <p:defaultTextStyle>
    <a:defPPr>
      <a:defRPr lang="zh-CN"/>
    </a:defPPr>
    <a:lvl1pPr algn="ctr" rtl="0" fontAlgn="base">
      <a:spcBef>
        <a:spcPct val="0"/>
      </a:spcBef>
      <a:spcAft>
        <a:spcPct val="0"/>
      </a:spcAft>
      <a:defRPr kern="1200">
        <a:solidFill>
          <a:schemeClr val="tx1"/>
        </a:solidFill>
        <a:latin typeface="Arial" charset="0"/>
        <a:ea typeface="宋体" pitchFamily="2" charset="-122"/>
        <a:cs typeface="+mn-cs"/>
      </a:defRPr>
    </a:lvl1pPr>
    <a:lvl2pPr marL="457200" algn="ctr" rtl="0" fontAlgn="base">
      <a:spcBef>
        <a:spcPct val="0"/>
      </a:spcBef>
      <a:spcAft>
        <a:spcPct val="0"/>
      </a:spcAft>
      <a:defRPr kern="1200">
        <a:solidFill>
          <a:schemeClr val="tx1"/>
        </a:solidFill>
        <a:latin typeface="Arial" charset="0"/>
        <a:ea typeface="宋体" pitchFamily="2" charset="-122"/>
        <a:cs typeface="+mn-cs"/>
      </a:defRPr>
    </a:lvl2pPr>
    <a:lvl3pPr marL="914400" algn="ctr" rtl="0" fontAlgn="base">
      <a:spcBef>
        <a:spcPct val="0"/>
      </a:spcBef>
      <a:spcAft>
        <a:spcPct val="0"/>
      </a:spcAft>
      <a:defRPr kern="1200">
        <a:solidFill>
          <a:schemeClr val="tx1"/>
        </a:solidFill>
        <a:latin typeface="Arial" charset="0"/>
        <a:ea typeface="宋体" pitchFamily="2" charset="-122"/>
        <a:cs typeface="+mn-cs"/>
      </a:defRPr>
    </a:lvl3pPr>
    <a:lvl4pPr marL="1371600" algn="ctr" rtl="0" fontAlgn="base">
      <a:spcBef>
        <a:spcPct val="0"/>
      </a:spcBef>
      <a:spcAft>
        <a:spcPct val="0"/>
      </a:spcAft>
      <a:defRPr kern="1200">
        <a:solidFill>
          <a:schemeClr val="tx1"/>
        </a:solidFill>
        <a:latin typeface="Arial" charset="0"/>
        <a:ea typeface="宋体" pitchFamily="2" charset="-122"/>
        <a:cs typeface="+mn-cs"/>
      </a:defRPr>
    </a:lvl4pPr>
    <a:lvl5pPr marL="1828800" algn="ctr"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3203">
          <p15:clr>
            <a:srgbClr val="A4A3A4"/>
          </p15:clr>
        </p15:guide>
        <p15:guide id="2" pos="2880">
          <p15:clr>
            <a:srgbClr val="A4A3A4"/>
          </p15:clr>
        </p15:guide>
      </p15:sldGuideLst>
    </p:ext>
    <p:ext uri="{2D200454-40CA-4A62-9FC3-DE9A4176ACB9}">
      <p15:notesGuideLst xmlns:p15="http://schemas.microsoft.com/office/powerpoint/2012/main">
        <p15:guide id="1" orient="horz" pos="2144">
          <p15:clr>
            <a:srgbClr val="A4A3A4"/>
          </p15:clr>
        </p15:guide>
        <p15:guide id="2" pos="313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0070C0"/>
    <a:srgbClr val="D7E4BC"/>
    <a:srgbClr val="3DAE22"/>
    <a:srgbClr val="66FF99"/>
    <a:srgbClr val="CCECFF"/>
    <a:srgbClr val="99CCFF"/>
    <a:srgbClr val="C6D9F1"/>
    <a:srgbClr val="385D8A"/>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74" autoAdjust="0"/>
    <p:restoredTop sz="89146" autoAdjust="0"/>
  </p:normalViewPr>
  <p:slideViewPr>
    <p:cSldViewPr>
      <p:cViewPr varScale="1">
        <p:scale>
          <a:sx n="71" d="100"/>
          <a:sy n="71" d="100"/>
        </p:scale>
        <p:origin x="1488" y="66"/>
      </p:cViewPr>
      <p:guideLst>
        <p:guide orient="horz" pos="3203"/>
        <p:guide pos="2880"/>
      </p:guideLst>
    </p:cSldViewPr>
  </p:slideViewPr>
  <p:outlineViewPr>
    <p:cViewPr>
      <p:scale>
        <a:sx n="33" d="100"/>
        <a:sy n="33" d="100"/>
      </p:scale>
      <p:origin x="0" y="200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2490" y="-84"/>
      </p:cViewPr>
      <p:guideLst>
        <p:guide orient="horz" pos="2144"/>
        <p:guide pos="313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vl1pPr>
          </a:lstStyle>
          <a:p>
            <a:endParaRPr lang="zh-CN" altLang="en-US"/>
          </a:p>
        </p:txBody>
      </p:sp>
      <p:sp>
        <p:nvSpPr>
          <p:cNvPr id="132099" name="Rectangle 3"/>
          <p:cNvSpPr>
            <a:spLocks noGrp="1" noChangeArrowheads="1"/>
          </p:cNvSpPr>
          <p:nvPr>
            <p:ph type="dt" sz="quarter" idx="1"/>
          </p:nvPr>
        </p:nvSpPr>
        <p:spPr bwMode="auto">
          <a:xfrm>
            <a:off x="5629992"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FE994EE2-8CF4-4965-9561-09C853560994}" type="datetimeFigureOut">
              <a:rPr lang="zh-CN" altLang="en-US"/>
              <a:pPr/>
              <a:t>2018/1/26</a:t>
            </a:fld>
            <a:endParaRPr lang="en-US" altLang="zh-CN"/>
          </a:p>
        </p:txBody>
      </p:sp>
      <p:sp>
        <p:nvSpPr>
          <p:cNvPr id="132100" name="Rectangle 4"/>
          <p:cNvSpPr>
            <a:spLocks noGrp="1" noChangeArrowheads="1"/>
          </p:cNvSpPr>
          <p:nvPr>
            <p:ph type="ftr" sz="quarter" idx="2"/>
          </p:nvPr>
        </p:nvSpPr>
        <p:spPr bwMode="auto">
          <a:xfrm>
            <a:off x="0"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vl1pPr>
          </a:lstStyle>
          <a:p>
            <a:endParaRPr lang="en-US" altLang="zh-CN"/>
          </a:p>
        </p:txBody>
      </p:sp>
      <p:sp>
        <p:nvSpPr>
          <p:cNvPr id="132101" name="Rectangle 5"/>
          <p:cNvSpPr>
            <a:spLocks noGrp="1" noChangeArrowheads="1"/>
          </p:cNvSpPr>
          <p:nvPr>
            <p:ph type="sldNum" sz="quarter" idx="3"/>
          </p:nvPr>
        </p:nvSpPr>
        <p:spPr bwMode="auto">
          <a:xfrm>
            <a:off x="5629992"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D0FCE28B-4E88-422F-815C-9402CA1A8CE5}" type="slidenum">
              <a:rPr lang="zh-CN" altLang="en-US"/>
              <a:pPr/>
              <a:t>‹#›</a:t>
            </a:fld>
            <a:endParaRPr lang="en-US" altLang="zh-CN"/>
          </a:p>
        </p:txBody>
      </p:sp>
    </p:spTree>
    <p:extLst>
      <p:ext uri="{BB962C8B-B14F-4D97-AF65-F5344CB8AC3E}">
        <p14:creationId xmlns:p14="http://schemas.microsoft.com/office/powerpoint/2010/main" val="192794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ltLang="zh-CN"/>
          </a:p>
        </p:txBody>
      </p:sp>
      <p:sp>
        <p:nvSpPr>
          <p:cNvPr id="55299" name="Rectangle 3"/>
          <p:cNvSpPr>
            <a:spLocks noGrp="1" noChangeArrowheads="1"/>
          </p:cNvSpPr>
          <p:nvPr>
            <p:ph type="dt" idx="1"/>
          </p:nvPr>
        </p:nvSpPr>
        <p:spPr bwMode="auto">
          <a:xfrm>
            <a:off x="5629992"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38916" name="Rectangle 4"/>
          <p:cNvSpPr>
            <a:spLocks noGrp="1" noRot="1" noChangeAspect="1" noChangeArrowheads="1" noTextEdit="1"/>
          </p:cNvSpPr>
          <p:nvPr>
            <p:ph type="sldImg" idx="2"/>
          </p:nvPr>
        </p:nvSpPr>
        <p:spPr bwMode="auto">
          <a:xfrm>
            <a:off x="3267075" y="511175"/>
            <a:ext cx="3405188" cy="2552700"/>
          </a:xfrm>
          <a:prstGeom prst="rect">
            <a:avLst/>
          </a:prstGeom>
          <a:noFill/>
          <a:ln w="9525">
            <a:solidFill>
              <a:srgbClr val="000000"/>
            </a:solidFill>
            <a:miter lim="800000"/>
            <a:headEnd/>
            <a:tailEnd/>
          </a:ln>
        </p:spPr>
      </p:sp>
      <p:sp>
        <p:nvSpPr>
          <p:cNvPr id="55301" name="Rectangle 5"/>
          <p:cNvSpPr>
            <a:spLocks noGrp="1" noChangeArrowheads="1"/>
          </p:cNvSpPr>
          <p:nvPr>
            <p:ph type="body" sz="quarter" idx="3"/>
          </p:nvPr>
        </p:nvSpPr>
        <p:spPr bwMode="auto">
          <a:xfrm>
            <a:off x="993934" y="3233420"/>
            <a:ext cx="7951470" cy="306324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55302" name="Rectangle 6"/>
          <p:cNvSpPr>
            <a:spLocks noGrp="1" noChangeArrowheads="1"/>
          </p:cNvSpPr>
          <p:nvPr>
            <p:ph type="ftr" sz="quarter" idx="4"/>
          </p:nvPr>
        </p:nvSpPr>
        <p:spPr bwMode="auto">
          <a:xfrm>
            <a:off x="0"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ltLang="zh-CN"/>
          </a:p>
        </p:txBody>
      </p:sp>
      <p:sp>
        <p:nvSpPr>
          <p:cNvPr id="55303" name="Rectangle 7"/>
          <p:cNvSpPr>
            <a:spLocks noGrp="1" noChangeArrowheads="1"/>
          </p:cNvSpPr>
          <p:nvPr>
            <p:ph type="sldNum" sz="quarter" idx="5"/>
          </p:nvPr>
        </p:nvSpPr>
        <p:spPr bwMode="auto">
          <a:xfrm>
            <a:off x="5629992"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F83ACCD-3A3B-43D2-9AC9-1D3B37933DDF}" type="slidenum">
              <a:rPr lang="en-US" altLang="zh-CN"/>
              <a:pPr>
                <a:defRPr/>
              </a:pPr>
              <a:t>‹#›</a:t>
            </a:fld>
            <a:endParaRPr lang="en-US" altLang="zh-CN"/>
          </a:p>
        </p:txBody>
      </p:sp>
    </p:spTree>
    <p:extLst>
      <p:ext uri="{BB962C8B-B14F-4D97-AF65-F5344CB8AC3E}">
        <p14:creationId xmlns:p14="http://schemas.microsoft.com/office/powerpoint/2010/main" val="58162696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pitchFamily="2" charset="-122"/>
        <a:cs typeface="+mn-cs"/>
      </a:defRPr>
    </a:lvl1pPr>
    <a:lvl2pPr marL="457200" algn="l" rtl="0" fontAlgn="base">
      <a:spcBef>
        <a:spcPct val="30000"/>
      </a:spcBef>
      <a:spcAft>
        <a:spcPct val="0"/>
      </a:spcAft>
      <a:defRPr sz="1200" kern="1200">
        <a:solidFill>
          <a:schemeClr val="tx1"/>
        </a:solidFill>
        <a:latin typeface="Arial" charset="0"/>
        <a:ea typeface="宋体" pitchFamily="2" charset="-122"/>
        <a:cs typeface="+mn-cs"/>
      </a:defRPr>
    </a:lvl2pPr>
    <a:lvl3pPr marL="914400" algn="l" rtl="0" fontAlgn="base">
      <a:spcBef>
        <a:spcPct val="30000"/>
      </a:spcBef>
      <a:spcAft>
        <a:spcPct val="0"/>
      </a:spcAft>
      <a:defRPr sz="1200" kern="1200">
        <a:solidFill>
          <a:schemeClr val="tx1"/>
        </a:solidFill>
        <a:latin typeface="Arial" charset="0"/>
        <a:ea typeface="宋体" pitchFamily="2" charset="-122"/>
        <a:cs typeface="+mn-cs"/>
      </a:defRPr>
    </a:lvl3pPr>
    <a:lvl4pPr marL="1371600" algn="l" rtl="0" fontAlgn="base">
      <a:spcBef>
        <a:spcPct val="30000"/>
      </a:spcBef>
      <a:spcAft>
        <a:spcPct val="0"/>
      </a:spcAft>
      <a:defRPr sz="1200" kern="1200">
        <a:solidFill>
          <a:schemeClr val="tx1"/>
        </a:solidFill>
        <a:latin typeface="Arial" charset="0"/>
        <a:ea typeface="宋体" pitchFamily="2" charset="-122"/>
        <a:cs typeface="+mn-cs"/>
      </a:defRPr>
    </a:lvl4pPr>
    <a:lvl5pPr marL="1828800" algn="l" rtl="0" fontAlgn="base">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3</a:t>
            </a:fld>
            <a:endParaRPr lang="en-US" altLang="zh-CN"/>
          </a:p>
        </p:txBody>
      </p:sp>
    </p:spTree>
    <p:extLst>
      <p:ext uri="{BB962C8B-B14F-4D97-AF65-F5344CB8AC3E}">
        <p14:creationId xmlns:p14="http://schemas.microsoft.com/office/powerpoint/2010/main" val="505870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6</a:t>
            </a:fld>
            <a:endParaRPr lang="en-US" altLang="zh-CN"/>
          </a:p>
        </p:txBody>
      </p:sp>
    </p:spTree>
    <p:extLst>
      <p:ext uri="{BB962C8B-B14F-4D97-AF65-F5344CB8AC3E}">
        <p14:creationId xmlns:p14="http://schemas.microsoft.com/office/powerpoint/2010/main" val="2240216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7</a:t>
            </a:fld>
            <a:endParaRPr lang="en-US" altLang="zh-CN"/>
          </a:p>
        </p:txBody>
      </p:sp>
    </p:spTree>
    <p:extLst>
      <p:ext uri="{BB962C8B-B14F-4D97-AF65-F5344CB8AC3E}">
        <p14:creationId xmlns:p14="http://schemas.microsoft.com/office/powerpoint/2010/main" val="2117907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8</a:t>
            </a:fld>
            <a:endParaRPr lang="en-US" altLang="zh-CN"/>
          </a:p>
        </p:txBody>
      </p:sp>
    </p:spTree>
    <p:extLst>
      <p:ext uri="{BB962C8B-B14F-4D97-AF65-F5344CB8AC3E}">
        <p14:creationId xmlns:p14="http://schemas.microsoft.com/office/powerpoint/2010/main" val="1833610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smtClean="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9</a:t>
            </a:fld>
            <a:endParaRPr lang="en-US" altLang="zh-CN"/>
          </a:p>
        </p:txBody>
      </p:sp>
    </p:spTree>
    <p:extLst>
      <p:ext uri="{BB962C8B-B14F-4D97-AF65-F5344CB8AC3E}">
        <p14:creationId xmlns:p14="http://schemas.microsoft.com/office/powerpoint/2010/main" val="3820189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smtClean="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10</a:t>
            </a:fld>
            <a:endParaRPr lang="en-US" altLang="zh-CN"/>
          </a:p>
        </p:txBody>
      </p:sp>
    </p:spTree>
    <p:extLst>
      <p:ext uri="{BB962C8B-B14F-4D97-AF65-F5344CB8AC3E}">
        <p14:creationId xmlns:p14="http://schemas.microsoft.com/office/powerpoint/2010/main" val="2789319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smtClean="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11</a:t>
            </a:fld>
            <a:endParaRPr lang="en-US" altLang="zh-CN"/>
          </a:p>
        </p:txBody>
      </p:sp>
    </p:spTree>
    <p:extLst>
      <p:ext uri="{BB962C8B-B14F-4D97-AF65-F5344CB8AC3E}">
        <p14:creationId xmlns:p14="http://schemas.microsoft.com/office/powerpoint/2010/main" val="1098064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dirty="0" smtClean="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12</a:t>
            </a:fld>
            <a:endParaRPr lang="en-US" altLang="zh-CN"/>
          </a:p>
        </p:txBody>
      </p:sp>
    </p:spTree>
    <p:extLst>
      <p:ext uri="{BB962C8B-B14F-4D97-AF65-F5344CB8AC3E}">
        <p14:creationId xmlns:p14="http://schemas.microsoft.com/office/powerpoint/2010/main" val="3569123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dirty="0" smtClean="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13</a:t>
            </a:fld>
            <a:endParaRPr lang="en-US" altLang="zh-CN"/>
          </a:p>
        </p:txBody>
      </p:sp>
    </p:spTree>
    <p:extLst>
      <p:ext uri="{BB962C8B-B14F-4D97-AF65-F5344CB8AC3E}">
        <p14:creationId xmlns:p14="http://schemas.microsoft.com/office/powerpoint/2010/main" val="2556725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14</a:t>
            </a:fld>
            <a:endParaRPr lang="en-US" altLang="zh-CN"/>
          </a:p>
        </p:txBody>
      </p:sp>
    </p:spTree>
    <p:extLst>
      <p:ext uri="{BB962C8B-B14F-4D97-AF65-F5344CB8AC3E}">
        <p14:creationId xmlns:p14="http://schemas.microsoft.com/office/powerpoint/2010/main" val="3939853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15</a:t>
            </a:fld>
            <a:endParaRPr lang="en-US" altLang="zh-CN"/>
          </a:p>
        </p:txBody>
      </p:sp>
    </p:spTree>
    <p:extLst>
      <p:ext uri="{BB962C8B-B14F-4D97-AF65-F5344CB8AC3E}">
        <p14:creationId xmlns:p14="http://schemas.microsoft.com/office/powerpoint/2010/main" val="3939853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16</a:t>
            </a:fld>
            <a:endParaRPr lang="en-US" altLang="zh-CN"/>
          </a:p>
        </p:txBody>
      </p:sp>
    </p:spTree>
    <p:extLst>
      <p:ext uri="{BB962C8B-B14F-4D97-AF65-F5344CB8AC3E}">
        <p14:creationId xmlns:p14="http://schemas.microsoft.com/office/powerpoint/2010/main" val="2631380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17</a:t>
            </a:fld>
            <a:endParaRPr lang="en-US" altLang="zh-CN"/>
          </a:p>
        </p:txBody>
      </p:sp>
    </p:spTree>
    <p:extLst>
      <p:ext uri="{BB962C8B-B14F-4D97-AF65-F5344CB8AC3E}">
        <p14:creationId xmlns:p14="http://schemas.microsoft.com/office/powerpoint/2010/main" val="2673624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18</a:t>
            </a:fld>
            <a:endParaRPr lang="en-US" altLang="zh-CN"/>
          </a:p>
        </p:txBody>
      </p:sp>
    </p:spTree>
    <p:extLst>
      <p:ext uri="{BB962C8B-B14F-4D97-AF65-F5344CB8AC3E}">
        <p14:creationId xmlns:p14="http://schemas.microsoft.com/office/powerpoint/2010/main" val="2673624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21</a:t>
            </a:fld>
            <a:endParaRPr lang="en-US" altLang="zh-CN"/>
          </a:p>
        </p:txBody>
      </p:sp>
    </p:spTree>
    <p:extLst>
      <p:ext uri="{BB962C8B-B14F-4D97-AF65-F5344CB8AC3E}">
        <p14:creationId xmlns:p14="http://schemas.microsoft.com/office/powerpoint/2010/main" val="1947566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6F83ACCD-3A3B-43D2-9AC9-1D3B37933DDF}" type="slidenum">
              <a:rPr lang="en-US" altLang="zh-CN" smtClean="0"/>
              <a:pPr>
                <a:defRPr/>
              </a:pPr>
              <a:t>22</a:t>
            </a:fld>
            <a:endParaRPr lang="en-US" altLang="zh-CN"/>
          </a:p>
        </p:txBody>
      </p:sp>
    </p:spTree>
    <p:extLst>
      <p:ext uri="{BB962C8B-B14F-4D97-AF65-F5344CB8AC3E}">
        <p14:creationId xmlns:p14="http://schemas.microsoft.com/office/powerpoint/2010/main" val="1356768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6F83ACCD-3A3B-43D2-9AC9-1D3B37933DDF}" type="slidenum">
              <a:rPr lang="en-US" altLang="zh-CN" smtClean="0"/>
              <a:pPr>
                <a:defRPr/>
              </a:pPr>
              <a:t>24</a:t>
            </a:fld>
            <a:endParaRPr lang="en-US" altLang="zh-CN"/>
          </a:p>
        </p:txBody>
      </p:sp>
    </p:spTree>
    <p:extLst>
      <p:ext uri="{BB962C8B-B14F-4D97-AF65-F5344CB8AC3E}">
        <p14:creationId xmlns:p14="http://schemas.microsoft.com/office/powerpoint/2010/main" val="2375871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25</a:t>
            </a:fld>
            <a:endParaRPr lang="en-US" altLang="zh-CN"/>
          </a:p>
        </p:txBody>
      </p:sp>
    </p:spTree>
    <p:extLst>
      <p:ext uri="{BB962C8B-B14F-4D97-AF65-F5344CB8AC3E}">
        <p14:creationId xmlns:p14="http://schemas.microsoft.com/office/powerpoint/2010/main" val="2847004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10"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21"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23"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10"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21"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23"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extLst>
      <p:ext uri="{BB962C8B-B14F-4D97-AF65-F5344CB8AC3E}">
        <p14:creationId xmlns:p14="http://schemas.microsoft.com/office/powerpoint/2010/main" val="345423098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1"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16"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
        <p:nvSpPr>
          <p:cNvPr id="20"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1"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graphicFrame>
        <p:nvGraphicFramePr>
          <p:cNvPr id="14" name="Group 146"/>
          <p:cNvGraphicFramePr>
            <a:graphicFrameLocks noGrp="1"/>
          </p:cNvGraphicFramePr>
          <p:nvPr userDrawn="1">
            <p:extLst>
              <p:ext uri="{D42A27DB-BD31-4B8C-83A1-F6EECF244321}">
                <p14:modId xmlns:p14="http://schemas.microsoft.com/office/powerpoint/2010/main" val="508199362"/>
              </p:ext>
            </p:extLst>
          </p:nvPr>
        </p:nvGraphicFramePr>
        <p:xfrm>
          <a:off x="17462" y="992962"/>
          <a:ext cx="9109076" cy="5186685"/>
        </p:xfrm>
        <a:graphic>
          <a:graphicData uri="http://schemas.openxmlformats.org/drawingml/2006/table">
            <a:tbl>
              <a:tblPr/>
              <a:tblGrid>
                <a:gridCol w="6624736"/>
                <a:gridCol w="2484340"/>
              </a:tblGrid>
              <a:tr h="518668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a:txBody>
                  <a:tcPr horzOverflow="overflow">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bl>
          </a:graphicData>
        </a:graphic>
      </p:graphicFrame>
      <p:sp>
        <p:nvSpPr>
          <p:cNvPr id="15" name="Text Box 138"/>
          <p:cNvSpPr txBox="1">
            <a:spLocks noChangeArrowheads="1"/>
          </p:cNvSpPr>
          <p:nvPr userDrawn="1"/>
        </p:nvSpPr>
        <p:spPr bwMode="auto">
          <a:xfrm>
            <a:off x="6732240" y="718324"/>
            <a:ext cx="1258888" cy="274638"/>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algn="l">
              <a:spcBef>
                <a:spcPct val="50000"/>
              </a:spcBef>
            </a:pPr>
            <a:r>
              <a:rPr lang="vi-VN" altLang="zh-CN" sz="1200" b="1" dirty="0" smtClean="0">
                <a:latin typeface="+mj-lt"/>
              </a:rPr>
              <a:t>Ch</a:t>
            </a:r>
            <a:r>
              <a:rPr lang="en-US" altLang="zh-CN" sz="1200" b="1" dirty="0" err="1" smtClean="0">
                <a:latin typeface="Times New Roman" pitchFamily="18" charset="0"/>
                <a:cs typeface="Times New Roman" pitchFamily="18" charset="0"/>
              </a:rPr>
              <a:t>ức</a:t>
            </a:r>
            <a:r>
              <a:rPr lang="en-US" altLang="zh-CN" sz="1200" b="1" baseline="0" dirty="0" smtClean="0">
                <a:latin typeface="+mj-lt"/>
              </a:rPr>
              <a:t> </a:t>
            </a:r>
            <a:r>
              <a:rPr lang="vi-VN" altLang="zh-CN" sz="1200" b="1" baseline="0" dirty="0" smtClean="0">
                <a:latin typeface="+mj-lt"/>
              </a:rPr>
              <a:t>n</a:t>
            </a:r>
            <a:r>
              <a:rPr lang="en-US" altLang="zh-CN" sz="1200" b="1" baseline="0" dirty="0" err="1" smtClean="0">
                <a:latin typeface="Times New Roman" pitchFamily="18" charset="0"/>
                <a:cs typeface="Times New Roman" pitchFamily="18" charset="0"/>
              </a:rPr>
              <a:t>ăng</a:t>
            </a:r>
            <a:r>
              <a:rPr lang="zh-CN" altLang="en-US" sz="1200" b="1" dirty="0" smtClean="0">
                <a:latin typeface="+mj-lt"/>
              </a:rPr>
              <a:t>：</a:t>
            </a:r>
            <a:endParaRPr lang="en-US" altLang="zh-CN" sz="1200" b="1" dirty="0">
              <a:latin typeface="+mj-lt"/>
            </a:endParaRPr>
          </a:p>
        </p:txBody>
      </p:sp>
      <p:sp>
        <p:nvSpPr>
          <p:cNvPr id="2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
        <p:nvSpPr>
          <p:cNvPr id="24" name="Line 3"/>
          <p:cNvSpPr>
            <a:spLocks noChangeShapeType="1"/>
          </p:cNvSpPr>
          <p:nvPr userDrawn="1"/>
        </p:nvSpPr>
        <p:spPr bwMode="auto">
          <a:xfrm>
            <a:off x="0" y="6453336"/>
            <a:ext cx="9144000" cy="0"/>
          </a:xfrm>
          <a:prstGeom prst="line">
            <a:avLst/>
          </a:prstGeom>
          <a:noFill/>
          <a:ln w="9525">
            <a:solidFill>
              <a:schemeClr val="bg1">
                <a:lumMod val="85000"/>
              </a:schemeClr>
            </a:solidFill>
            <a:round/>
            <a:headEnd/>
            <a:tailEnd/>
          </a:ln>
          <a:effectLst/>
        </p:spPr>
        <p:txBody>
          <a:bodyPr/>
          <a:lstStyle/>
          <a:p>
            <a:pPr algn="l">
              <a:defRPr/>
            </a:pPr>
            <a:endParaRPr lang="zh-CN" altLang="en-US">
              <a:latin typeface="Arial" pitchFamily="34" charset="0"/>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4"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
        <p:nvSpPr>
          <p:cNvPr id="1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
        <p:nvSpPr>
          <p:cNvPr id="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73120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5497513" y="6524625"/>
            <a:ext cx="372218" cy="276999"/>
          </a:xfrm>
          <a:prstGeom prst="rect">
            <a:avLst/>
          </a:prstGeom>
          <a:noFill/>
          <a:ln w="9525" algn="ctr">
            <a:noFill/>
            <a:miter lim="800000"/>
            <a:headEnd/>
            <a:tailEnd/>
          </a:ln>
          <a:effectLst/>
        </p:spPr>
        <p:txBody>
          <a:bodyPr wrap="none">
            <a:spAutoFit/>
          </a:bodyPr>
          <a:lstStyle/>
          <a:p>
            <a:pPr marL="342900" indent="-342900" algn="l">
              <a:spcBef>
                <a:spcPct val="20000"/>
              </a:spcBef>
              <a:defRPr/>
            </a:pPr>
            <a:fld id="{DB49D9EF-0432-480C-BB54-A66D7C2C7466}" type="slidenum">
              <a:rPr lang="en-US" altLang="zh-CN" sz="1200" smtClean="0">
                <a:latin typeface="Arial" pitchFamily="34" charset="0"/>
              </a:rPr>
              <a:t>‹#›</a:t>
            </a:fld>
            <a:endParaRPr lang="en-US" altLang="zh-CN" sz="1200" dirty="0">
              <a:latin typeface="Arial" pitchFamily="34" charset="0"/>
            </a:endParaRPr>
          </a:p>
        </p:txBody>
      </p:sp>
      <p:graphicFrame>
        <p:nvGraphicFramePr>
          <p:cNvPr id="4" name="Group 165"/>
          <p:cNvGraphicFramePr>
            <a:graphicFrameLocks noGrp="1"/>
          </p:cNvGraphicFramePr>
          <p:nvPr userDrawn="1">
            <p:extLst>
              <p:ext uri="{D42A27DB-BD31-4B8C-83A1-F6EECF244321}">
                <p14:modId xmlns:p14="http://schemas.microsoft.com/office/powerpoint/2010/main" val="2400870577"/>
              </p:ext>
            </p:extLst>
          </p:nvPr>
        </p:nvGraphicFramePr>
        <p:xfrm>
          <a:off x="107504" y="116632"/>
          <a:ext cx="8853006" cy="274638"/>
        </p:xfrm>
        <a:graphic>
          <a:graphicData uri="http://schemas.openxmlformats.org/drawingml/2006/table">
            <a:tbl>
              <a:tblPr/>
              <a:tblGrid>
                <a:gridCol w="1356322"/>
                <a:gridCol w="4855702"/>
                <a:gridCol w="598154"/>
                <a:gridCol w="462630"/>
                <a:gridCol w="576064"/>
                <a:gridCol w="1004134"/>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fld id="{A7F08251-3A41-4E21-85C3-B3E687549055}" type="slidenum">
                        <a:rPr kumimoji="1" lang="en-US" altLang="ko-KR" sz="1200" b="1" i="0" u="none" strike="noStrike" cap="none" normalizeH="0" baseline="0" smtClean="0">
                          <a:ln>
                            <a:noFill/>
                          </a:ln>
                          <a:solidFill>
                            <a:schemeClr val="tx1"/>
                          </a:solidFill>
                          <a:effectLst/>
                          <a:latin typeface="微软雅黑" pitchFamily="34" charset="-122"/>
                          <a:ea typeface="微软雅黑" pitchFamily="34" charset="-122"/>
                        </a:rPr>
                        <a:t>‹#›</a:t>
                      </a:fld>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26.01.2018</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 bg1="lt1" tx1="dk1" bg2="lt2" tx2="dk2" accent1="accent1" accent2="accent2" accent3="accent3" accent4="accent4" accent5="accent5" accent6="accent6" hlink="hlink" folHlink="folHlink"/>
  <p:sldLayoutIdLst>
    <p:sldLayoutId id="2147483819" r:id="rId1"/>
    <p:sldLayoutId id="2147483841" r:id="rId2"/>
    <p:sldLayoutId id="2147483820" r:id="rId3"/>
    <p:sldLayoutId id="2147483823" r:id="rId4"/>
    <p:sldLayoutId id="2147483824" r:id="rId5"/>
    <p:sldLayoutId id="2147483821" r:id="rId6"/>
    <p:sldLayoutId id="2147483822" r:id="rId7"/>
    <p:sldLayoutId id="2147483825" r:id="rId8"/>
    <p:sldLayoutId id="2147483840" r:id="rId9"/>
    <p:sldLayoutId id="2147483842" r:id="rId10"/>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99592" y="2365721"/>
            <a:ext cx="7383764" cy="584775"/>
          </a:xfrm>
          <a:prstGeom prst="rect">
            <a:avLst/>
          </a:prstGeom>
          <a:noFill/>
        </p:spPr>
        <p:txBody>
          <a:bodyPr wrap="square" rtlCol="0">
            <a:spAutoFit/>
          </a:bodyPr>
          <a:lstStyle/>
          <a:p>
            <a:r>
              <a:rPr lang="en-US" altLang="zh-CN" sz="3200" dirty="0" smtClean="0">
                <a:latin typeface="Times New Roman" pitchFamily="18" charset="0"/>
                <a:ea typeface="Arial Unicode MS" pitchFamily="34" charset="-122"/>
                <a:cs typeface="Times New Roman" pitchFamily="18" charset="0"/>
              </a:rPr>
              <a:t>HƯỚNG DẪN SỬ DỤNG</a:t>
            </a:r>
            <a:endParaRPr lang="zh-CN" altLang="en-US" sz="3200" dirty="0">
              <a:latin typeface="Times New Roman" pitchFamily="18" charset="0"/>
              <a:ea typeface="Arial Unicode MS" pitchFamily="34" charset="-122"/>
              <a:cs typeface="Times New Roman" pitchFamily="18" charset="0"/>
            </a:endParaRPr>
          </a:p>
        </p:txBody>
      </p:sp>
      <p:sp>
        <p:nvSpPr>
          <p:cNvPr id="8" name="Line 5"/>
          <p:cNvSpPr>
            <a:spLocks noChangeShapeType="1"/>
          </p:cNvSpPr>
          <p:nvPr/>
        </p:nvSpPr>
        <p:spPr bwMode="auto">
          <a:xfrm>
            <a:off x="2051720" y="3068960"/>
            <a:ext cx="4864100" cy="0"/>
          </a:xfrm>
          <a:prstGeom prst="line">
            <a:avLst/>
          </a:prstGeom>
          <a:noFill/>
          <a:ln w="9525">
            <a:solidFill>
              <a:schemeClr val="tx1"/>
            </a:solidFill>
            <a:round/>
            <a:headEnd/>
            <a:tailEnd/>
          </a:ln>
          <a:effectLst/>
        </p:spPr>
        <p:txBody>
          <a:bodyPr/>
          <a:lstStyle/>
          <a:p>
            <a:pPr algn="l">
              <a:defRPr/>
            </a:pPr>
            <a:endParaRPr lang="zh-CN" altLang="en-US" dirty="0">
              <a:latin typeface="微软雅黑" pitchFamily="34" charset="-122"/>
              <a:ea typeface="微软雅黑" pitchFamily="34" charset="-122"/>
            </a:endParaRPr>
          </a:p>
        </p:txBody>
      </p:sp>
      <p:sp>
        <p:nvSpPr>
          <p:cNvPr id="9" name="Rectangle 4"/>
          <p:cNvSpPr>
            <a:spLocks noChangeArrowheads="1"/>
          </p:cNvSpPr>
          <p:nvPr/>
        </p:nvSpPr>
        <p:spPr bwMode="auto">
          <a:xfrm>
            <a:off x="783965" y="3356992"/>
            <a:ext cx="7399610" cy="477054"/>
          </a:xfrm>
          <a:prstGeom prst="rect">
            <a:avLst/>
          </a:prstGeom>
          <a:noFill/>
          <a:ln w="9525">
            <a:noFill/>
            <a:miter lim="800000"/>
            <a:headEnd/>
            <a:tailEnd/>
          </a:ln>
          <a:effectLst/>
        </p:spPr>
        <p:txBody>
          <a:bodyPr wrap="square">
            <a:spAutoFit/>
          </a:bodyPr>
          <a:lstStyle/>
          <a:p>
            <a:r>
              <a:rPr lang="en-US" altLang="zh-CN" sz="2500" b="1" dirty="0" smtClean="0">
                <a:latin typeface="Times New Roman" pitchFamily="18" charset="0"/>
                <a:ea typeface="微软雅黑" pitchFamily="34" charset="-122"/>
                <a:cs typeface="Times New Roman" pitchFamily="18" charset="0"/>
              </a:rPr>
              <a:t>- Module </a:t>
            </a:r>
            <a:r>
              <a:rPr lang="vi-VN" altLang="zh-CN" sz="2500" b="1" dirty="0" smtClean="0">
                <a:latin typeface="Times New Roman" pitchFamily="18" charset="0"/>
                <a:ea typeface="微软雅黑" pitchFamily="34" charset="-122"/>
                <a:cs typeface="Times New Roman" pitchFamily="18" charset="0"/>
              </a:rPr>
              <a:t>T</a:t>
            </a:r>
            <a:r>
              <a:rPr lang="en-US" altLang="zh-CN" sz="2500" b="1" dirty="0" smtClean="0">
                <a:latin typeface="Times New Roman" pitchFamily="18" charset="0"/>
                <a:ea typeface="微软雅黑" pitchFamily="34" charset="-122"/>
                <a:cs typeface="Times New Roman" pitchFamily="18" charset="0"/>
              </a:rPr>
              <a:t>ổ </a:t>
            </a:r>
            <a:r>
              <a:rPr lang="en-US" altLang="zh-CN" sz="2500" b="1" dirty="0" err="1" smtClean="0">
                <a:latin typeface="Times New Roman" pitchFamily="18" charset="0"/>
                <a:ea typeface="微软雅黑" pitchFamily="34" charset="-122"/>
                <a:cs typeface="Times New Roman" pitchFamily="18" charset="0"/>
              </a:rPr>
              <a:t>Chức</a:t>
            </a:r>
            <a:r>
              <a:rPr lang="en-US" altLang="zh-CN" sz="2500" b="1" dirty="0" smtClean="0">
                <a:latin typeface="Times New Roman" pitchFamily="18" charset="0"/>
                <a:ea typeface="微软雅黑" pitchFamily="34" charset="-122"/>
                <a:cs typeface="Times New Roman" pitchFamily="18" charset="0"/>
              </a:rPr>
              <a:t> -</a:t>
            </a:r>
            <a:endParaRPr lang="en-US" altLang="zh-CN" sz="2500" b="1" dirty="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0102563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竖排文字占位符 1"/>
          <p:cNvSpPr txBox="1">
            <a:spLocks noChangeArrowheads="1"/>
          </p:cNvSpPr>
          <p:nvPr/>
        </p:nvSpPr>
        <p:spPr bwMode="auto">
          <a:xfrm>
            <a:off x="1403648" y="116632"/>
            <a:ext cx="4852231" cy="2658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16531" indent="-316531" algn="l" defTabSz="844083" eaLnBrk="0" latinLnBrk="1" hangingPunct="0">
              <a:spcBef>
                <a:spcPct val="20000"/>
              </a:spcBef>
              <a:defRPr/>
            </a:pPr>
            <a:r>
              <a:rPr lang="en-US" altLang="zh-CN" sz="1200" kern="0" dirty="0" smtClean="0">
                <a:latin typeface="Times New Roman" panose="02020603050405020304" pitchFamily="18" charset="0"/>
                <a:ea typeface="微软雅黑" pitchFamily="34" charset="-122"/>
                <a:cs typeface="Times New Roman" panose="02020603050405020304" pitchFamily="18" charset="0"/>
              </a:rPr>
              <a:t>Hệ thống nhân sự</a:t>
            </a:r>
            <a:r>
              <a:rPr lang="zh-CN" altLang="en-US" sz="1200" b="0" kern="0" dirty="0" smtClean="0">
                <a:latin typeface="Times New Roman" panose="02020603050405020304" pitchFamily="18" charset="0"/>
                <a:ea typeface="微软雅黑" pitchFamily="34" charset="-122"/>
                <a:cs typeface="Times New Roman" panose="02020603050405020304" pitchFamily="18" charset="0"/>
              </a:rPr>
              <a:t> </a:t>
            </a:r>
            <a:r>
              <a:rPr lang="en-US" altLang="zh-CN" sz="1200" b="0" kern="0" dirty="0" smtClean="0">
                <a:latin typeface="Times New Roman" panose="02020603050405020304" pitchFamily="18" charset="0"/>
                <a:ea typeface="微软雅黑" pitchFamily="34" charset="-122"/>
                <a:cs typeface="Times New Roman" panose="02020603050405020304" pitchFamily="18" charset="0"/>
              </a:rPr>
              <a:t>&gt; </a:t>
            </a:r>
            <a:r>
              <a:rPr lang="en-US" altLang="zh-CN" sz="1200" kern="0" dirty="0" smtClean="0">
                <a:latin typeface="Times New Roman" panose="02020603050405020304" pitchFamily="18" charset="0"/>
                <a:ea typeface="微软雅黑" pitchFamily="34" charset="-122"/>
                <a:cs typeface="Times New Roman" panose="02020603050405020304" pitchFamily="18" charset="0"/>
              </a:rPr>
              <a:t>Đăng nhập</a:t>
            </a:r>
            <a:endParaRPr lang="zh-CN" altLang="en-US" sz="1200" kern="0" dirty="0">
              <a:latin typeface="Times New Roman" panose="02020603050405020304" pitchFamily="18" charset="0"/>
              <a:ea typeface="微软雅黑" pitchFamily="34" charset="-122"/>
              <a:cs typeface="Times New Roman" panose="02020603050405020304" pitchFamily="18" charset="0"/>
            </a:endParaRPr>
          </a:p>
        </p:txBody>
      </p:sp>
      <p:sp>
        <p:nvSpPr>
          <p:cNvPr id="39" name="Text Box 8"/>
          <p:cNvSpPr txBox="1">
            <a:spLocks noChangeArrowheads="1"/>
          </p:cNvSpPr>
          <p:nvPr/>
        </p:nvSpPr>
        <p:spPr bwMode="auto">
          <a:xfrm>
            <a:off x="52113" y="548680"/>
            <a:ext cx="4586356" cy="433324"/>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477" dirty="0" smtClean="0">
                <a:solidFill>
                  <a:srgbClr val="000000"/>
                </a:solidFill>
                <a:latin typeface="Times New Roman" panose="02020603050405020304" pitchFamily="18" charset="0"/>
                <a:ea typeface="微软雅黑" pitchFamily="34" charset="-122"/>
                <a:cs typeface="Times New Roman" panose="02020603050405020304" pitchFamily="18" charset="0"/>
              </a:rPr>
              <a:t>Địa chỉ đăng nhập</a:t>
            </a:r>
            <a:r>
              <a:rPr lang="en-US" altLang="zh-CN" sz="1477" dirty="0" smtClean="0">
                <a:solidFill>
                  <a:srgbClr val="000000"/>
                </a:solidFill>
                <a:latin typeface="微软雅黑" pitchFamily="34" charset="-122"/>
                <a:ea typeface="微软雅黑" pitchFamily="34" charset="-122"/>
              </a:rPr>
              <a:t>: </a:t>
            </a:r>
            <a:r>
              <a:rPr lang="en-US" altLang="zh-CN" sz="1477" dirty="0">
                <a:solidFill>
                  <a:srgbClr val="FF0000"/>
                </a:solidFill>
                <a:latin typeface="微软雅黑" pitchFamily="34" charset="-122"/>
                <a:ea typeface="微软雅黑" pitchFamily="34" charset="-122"/>
              </a:rPr>
              <a:t>http://10.42.200.56:9100</a:t>
            </a:r>
            <a:endParaRPr lang="zh-CN" altLang="en-US" sz="1477" u="sng" dirty="0">
              <a:solidFill>
                <a:srgbClr val="FF0000"/>
              </a:solidFill>
              <a:latin typeface="微软雅黑" pitchFamily="34" charset="-122"/>
              <a:ea typeface="微软雅黑" pitchFamily="34" charset="-122"/>
            </a:endParaRPr>
          </a:p>
        </p:txBody>
      </p:sp>
      <p:sp>
        <p:nvSpPr>
          <p:cNvPr id="40" name="Text Box 8"/>
          <p:cNvSpPr txBox="1">
            <a:spLocks noChangeArrowheads="1"/>
          </p:cNvSpPr>
          <p:nvPr/>
        </p:nvSpPr>
        <p:spPr bwMode="auto">
          <a:xfrm>
            <a:off x="2644401" y="4962087"/>
            <a:ext cx="4586356" cy="987193"/>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USER ID</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Mã nhân viên</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       </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PASSWORD:</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Hệ thống</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Hub</a:t>
            </a:r>
            <a:endParaRPr lang="zh-CN" altLang="en-US"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5576" y="885811"/>
            <a:ext cx="7559490" cy="4000460"/>
          </a:xfrm>
          <a:prstGeom prst="rect">
            <a:avLst/>
          </a:prstGeom>
        </p:spPr>
      </p:pic>
    </p:spTree>
    <p:extLst>
      <p:ext uri="{BB962C8B-B14F-4D97-AF65-F5344CB8AC3E}">
        <p14:creationId xmlns:p14="http://schemas.microsoft.com/office/powerpoint/2010/main" val="14292805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75656" y="116632"/>
            <a:ext cx="2880320" cy="261610"/>
          </a:xfrm>
          <a:prstGeom prst="rect">
            <a:avLst/>
          </a:prstGeom>
          <a:noFill/>
        </p:spPr>
        <p:txBody>
          <a:bodyPr wrap="square" rtlCol="0">
            <a:spAutoFit/>
          </a:bodyPr>
          <a:lstStyle/>
          <a:p>
            <a:r>
              <a:rPr lang="en-US" altLang="zh-CN" sz="1100" dirty="0" smtClean="0">
                <a:latin typeface="Times New Roman" pitchFamily="18" charset="0"/>
                <a:cs typeface="Times New Roman" pitchFamily="18" charset="0"/>
              </a:rPr>
              <a:t>Thay đổi tổ chức – Tổng hợp thay đổi</a:t>
            </a:r>
            <a:endParaRPr lang="zh-CN" altLang="en-US" sz="1100" dirty="0">
              <a:latin typeface="Times New Roman" pitchFamily="18" charset="0"/>
              <a:cs typeface="Times New Roman" pitchFamily="18" charset="0"/>
            </a:endParaRPr>
          </a:p>
        </p:txBody>
      </p:sp>
      <p:sp>
        <p:nvSpPr>
          <p:cNvPr id="5" name="TextBox 4"/>
          <p:cNvSpPr txBox="1"/>
          <p:nvPr/>
        </p:nvSpPr>
        <p:spPr>
          <a:xfrm>
            <a:off x="6583398" y="1858074"/>
            <a:ext cx="1652530" cy="261610"/>
          </a:xfrm>
          <a:prstGeom prst="rect">
            <a:avLst/>
          </a:prstGeom>
          <a:noFill/>
        </p:spPr>
        <p:txBody>
          <a:bodyPr wrap="square" rtlCol="0">
            <a:spAutoFit/>
          </a:bodyPr>
          <a:lstStyle/>
          <a:p>
            <a:r>
              <a:rPr lang="vi-VN" altLang="zh-CN" sz="1100" b="1" dirty="0" smtClean="0">
                <a:latin typeface="+mj-lt"/>
              </a:rPr>
              <a:t>Giải thích </a:t>
            </a:r>
            <a:r>
              <a:rPr lang="zh-CN" altLang="en-US" sz="1100" b="1" dirty="0" smtClean="0">
                <a:latin typeface="+mj-lt"/>
              </a:rPr>
              <a:t>：</a:t>
            </a:r>
            <a:endParaRPr lang="zh-CN" altLang="en-US" sz="1100" b="1" dirty="0">
              <a:latin typeface="+mj-lt"/>
            </a:endParaRPr>
          </a:p>
        </p:txBody>
      </p:sp>
      <p:sp>
        <p:nvSpPr>
          <p:cNvPr id="6" name="TextBox 5"/>
          <p:cNvSpPr txBox="1"/>
          <p:nvPr/>
        </p:nvSpPr>
        <p:spPr>
          <a:xfrm>
            <a:off x="6649441" y="2120527"/>
            <a:ext cx="2483768" cy="4331955"/>
          </a:xfrm>
          <a:prstGeom prst="rect">
            <a:avLst/>
          </a:prstGeom>
          <a:noFill/>
        </p:spPr>
        <p:txBody>
          <a:bodyPr wrap="square" rtlCol="0">
            <a:spAutoFit/>
          </a:bodyPr>
          <a:lstStyle/>
          <a:p>
            <a:pPr lvl="0" algn="l"/>
            <a:r>
              <a:rPr lang="vi-VN" altLang="zh-CN" sz="950" b="1" dirty="0">
                <a:solidFill>
                  <a:prstClr val="black"/>
                </a:solidFill>
                <a:latin typeface="Times New Roman"/>
              </a:rPr>
              <a:t>Thêm</a:t>
            </a:r>
            <a:r>
              <a:rPr lang="zh-CN" altLang="en-US" sz="950" b="1" dirty="0">
                <a:solidFill>
                  <a:prstClr val="black"/>
                </a:solidFill>
                <a:latin typeface="Calibri"/>
              </a:rPr>
              <a:t>：</a:t>
            </a:r>
            <a:r>
              <a:rPr lang="vi-VN" altLang="zh-CN" sz="950" dirty="0">
                <a:solidFill>
                  <a:prstClr val="black"/>
                </a:solidFill>
                <a:latin typeface="Times New Roman"/>
              </a:rPr>
              <a:t>Click vào nút này, bên phải hiển thị một trang mới, mặc định mã số thay đổi tổ chức là (ngày tháng năm + 3 số sau ngày tháng năm chỉ thứ tự lần sửa đổi), nhập/chọn ngày tháng (mặc định là ngày tiến hành sửa đổi), nhập tên sửa đổi, cài đặt tự động tích chọn hay không các mục ở tổ chức hiện tại (sau khi bản mới lập có hiệu lực, tổ chức cũ sẽ tự động hủy những tích chọn này), trạng thái là (đang tiến hành/đã xác nhận), nhập nguyên nhân thay đổi và ghi chú, mặc định người thay đổi và thời gian thay đổi (như hình), thêm</a:t>
            </a:r>
            <a:r>
              <a:rPr lang="en-US" altLang="zh-CN" sz="950" dirty="0">
                <a:solidFill>
                  <a:prstClr val="black"/>
                </a:solidFill>
                <a:latin typeface="Calibri"/>
              </a:rPr>
              <a:t>/</a:t>
            </a:r>
            <a:r>
              <a:rPr lang="vi-VN" altLang="zh-CN" sz="950" dirty="0">
                <a:solidFill>
                  <a:prstClr val="black"/>
                </a:solidFill>
                <a:latin typeface="Times New Roman"/>
              </a:rPr>
              <a:t>xóa tệp đính kèm, sau đó click </a:t>
            </a:r>
            <a:r>
              <a:rPr lang="zh-CN" altLang="en-US" sz="950" dirty="0">
                <a:solidFill>
                  <a:prstClr val="black"/>
                </a:solidFill>
                <a:latin typeface="Calibri"/>
              </a:rPr>
              <a:t>“</a:t>
            </a:r>
            <a:r>
              <a:rPr lang="vi-VN" altLang="zh-CN" sz="950" dirty="0">
                <a:solidFill>
                  <a:prstClr val="black"/>
                </a:solidFill>
                <a:latin typeface="Times New Roman"/>
              </a:rPr>
              <a:t>Lưu</a:t>
            </a:r>
            <a:r>
              <a:rPr lang="zh-CN" altLang="en-US" sz="950" dirty="0">
                <a:solidFill>
                  <a:prstClr val="black"/>
                </a:solidFill>
                <a:latin typeface="Calibri"/>
              </a:rPr>
              <a:t>”</a:t>
            </a:r>
            <a:endParaRPr lang="en-US" altLang="zh-CN" sz="950" dirty="0">
              <a:solidFill>
                <a:prstClr val="black"/>
              </a:solidFill>
              <a:latin typeface="Calibri"/>
            </a:endParaRPr>
          </a:p>
          <a:p>
            <a:pPr lvl="0" algn="l"/>
            <a:r>
              <a:rPr lang="vi-VN" altLang="zh-CN" sz="950" b="1" dirty="0">
                <a:solidFill>
                  <a:prstClr val="black"/>
                </a:solidFill>
                <a:latin typeface="Times New Roman"/>
              </a:rPr>
              <a:t>Xóa</a:t>
            </a:r>
            <a:r>
              <a:rPr lang="zh-CN" altLang="en-US" sz="950" b="1" dirty="0">
                <a:solidFill>
                  <a:prstClr val="black"/>
                </a:solidFill>
                <a:latin typeface="Calibri"/>
              </a:rPr>
              <a:t>：</a:t>
            </a:r>
            <a:r>
              <a:rPr lang="vi-VN" altLang="zh-CN" sz="950" dirty="0">
                <a:solidFill>
                  <a:prstClr val="black"/>
                </a:solidFill>
                <a:latin typeface="Times New Roman"/>
              </a:rPr>
              <a:t>Chọn các bản cần xóa nếu như nó ở trạng thái ‘chưa xác nhận’, click vào nút xóa để xóa thông tin đó.</a:t>
            </a:r>
            <a:endParaRPr lang="en-US" altLang="zh-CN" sz="950" b="1" dirty="0">
              <a:solidFill>
                <a:prstClr val="black"/>
              </a:solidFill>
              <a:latin typeface="Calibri"/>
            </a:endParaRPr>
          </a:p>
          <a:p>
            <a:pPr lvl="0" algn="l"/>
            <a:r>
              <a:rPr lang="vi-VN" altLang="zh-CN" sz="950" b="1" dirty="0">
                <a:solidFill>
                  <a:prstClr val="black"/>
                </a:solidFill>
                <a:latin typeface="Times New Roman"/>
              </a:rPr>
              <a:t>Lưu</a:t>
            </a:r>
            <a:r>
              <a:rPr lang="zh-CN" altLang="en-US" sz="950" b="1" dirty="0">
                <a:solidFill>
                  <a:prstClr val="black"/>
                </a:solidFill>
                <a:latin typeface="Calibri"/>
              </a:rPr>
              <a:t>：</a:t>
            </a:r>
            <a:r>
              <a:rPr lang="vi-VN" altLang="zh-CN" sz="950" dirty="0">
                <a:solidFill>
                  <a:prstClr val="black"/>
                </a:solidFill>
                <a:latin typeface="Times New Roman"/>
              </a:rPr>
              <a:t>dùng để lưu các thông tin đã thêm hoặc sửa.</a:t>
            </a:r>
            <a:endParaRPr lang="en-US" altLang="zh-CN" sz="950" dirty="0">
              <a:solidFill>
                <a:prstClr val="black"/>
              </a:solidFill>
              <a:latin typeface="Calibri"/>
            </a:endParaRPr>
          </a:p>
          <a:p>
            <a:pPr lvl="0" algn="l"/>
            <a:r>
              <a:rPr lang="vi-VN" altLang="zh-CN" sz="950" b="1" dirty="0">
                <a:solidFill>
                  <a:prstClr val="black"/>
                </a:solidFill>
                <a:latin typeface="Times New Roman"/>
              </a:rPr>
              <a:t>In</a:t>
            </a:r>
            <a:r>
              <a:rPr lang="zh-CN" altLang="en-US" sz="950" b="1" dirty="0">
                <a:solidFill>
                  <a:prstClr val="black"/>
                </a:solidFill>
                <a:latin typeface="Calibri"/>
              </a:rPr>
              <a:t>：</a:t>
            </a:r>
            <a:r>
              <a:rPr lang="vi-VN" altLang="zh-CN" sz="950" dirty="0">
                <a:solidFill>
                  <a:prstClr val="black"/>
                </a:solidFill>
                <a:latin typeface="Times New Roman"/>
              </a:rPr>
              <a:t>Có thể trực tiếp in các thông tin ở bên trái.</a:t>
            </a:r>
            <a:endParaRPr lang="en-US" altLang="zh-CN" sz="950" dirty="0">
              <a:solidFill>
                <a:prstClr val="black"/>
              </a:solidFill>
              <a:latin typeface="Calibri"/>
            </a:endParaRPr>
          </a:p>
          <a:p>
            <a:pPr lvl="0" algn="l"/>
            <a:r>
              <a:rPr lang="vi-VN" altLang="zh-CN" sz="950" b="1" dirty="0">
                <a:solidFill>
                  <a:prstClr val="black"/>
                </a:solidFill>
                <a:latin typeface="Times New Roman"/>
              </a:rPr>
              <a:t>Lấy tài liệu</a:t>
            </a:r>
            <a:r>
              <a:rPr lang="zh-CN" altLang="en-US" sz="950" b="1" dirty="0">
                <a:solidFill>
                  <a:prstClr val="black"/>
                </a:solidFill>
                <a:latin typeface="Calibri"/>
              </a:rPr>
              <a:t>：</a:t>
            </a:r>
            <a:r>
              <a:rPr lang="vi-VN" altLang="zh-CN" sz="950" dirty="0">
                <a:solidFill>
                  <a:prstClr val="black"/>
                </a:solidFill>
                <a:latin typeface="Times New Roman"/>
              </a:rPr>
              <a:t>Dùng để xuất các thông tin bên trái</a:t>
            </a:r>
          </a:p>
          <a:p>
            <a:pPr lvl="0" algn="l"/>
            <a:r>
              <a:rPr lang="vi-VN" altLang="zh-CN" sz="950" b="1" dirty="0">
                <a:solidFill>
                  <a:prstClr val="black"/>
                </a:solidFill>
                <a:latin typeface="Times New Roman"/>
              </a:rPr>
              <a:t>Tài liệu đính kèm</a:t>
            </a:r>
            <a:r>
              <a:rPr lang="zh-CN" altLang="en-US" sz="950" b="1" dirty="0">
                <a:solidFill>
                  <a:prstClr val="black"/>
                </a:solidFill>
                <a:latin typeface="Calibri"/>
              </a:rPr>
              <a:t>：</a:t>
            </a:r>
            <a:r>
              <a:rPr lang="vi-VN" altLang="zh-CN" sz="950" dirty="0">
                <a:solidFill>
                  <a:prstClr val="black"/>
                </a:solidFill>
                <a:latin typeface="Times New Roman"/>
              </a:rPr>
              <a:t>dùng để đăng lên các tài liệu tương đương đã chỉnh sửa (như văn bản phê duyệt...)</a:t>
            </a:r>
            <a:endParaRPr lang="en-US" altLang="zh-CN" sz="950" dirty="0">
              <a:solidFill>
                <a:prstClr val="black"/>
              </a:solidFill>
              <a:latin typeface="Calibri"/>
            </a:endParaRPr>
          </a:p>
          <a:p>
            <a:pPr lvl="0" algn="l"/>
            <a:r>
              <a:rPr lang="vi-VN" altLang="zh-CN" sz="950" b="1" dirty="0">
                <a:solidFill>
                  <a:prstClr val="black"/>
                </a:solidFill>
                <a:latin typeface="Times New Roman"/>
              </a:rPr>
              <a:t>Xóa</a:t>
            </a:r>
            <a:r>
              <a:rPr lang="zh-CN" altLang="en-US" sz="950" b="1" dirty="0">
                <a:solidFill>
                  <a:prstClr val="black"/>
                </a:solidFill>
                <a:latin typeface="Calibri"/>
              </a:rPr>
              <a:t>：</a:t>
            </a:r>
            <a:r>
              <a:rPr lang="vi-VN" altLang="zh-CN" sz="950" dirty="0">
                <a:solidFill>
                  <a:prstClr val="black"/>
                </a:solidFill>
                <a:latin typeface="Times New Roman"/>
              </a:rPr>
              <a:t>Xóa các tệp đã tích </a:t>
            </a:r>
            <a:r>
              <a:rPr lang="vi-VN" altLang="zh-CN" sz="950" dirty="0" smtClean="0">
                <a:solidFill>
                  <a:prstClr val="black"/>
                </a:solidFill>
                <a:latin typeface="Times New Roman"/>
              </a:rPr>
              <a:t>chọn</a:t>
            </a:r>
            <a:endParaRPr lang="vi-VN" altLang="zh-CN" sz="950" dirty="0">
              <a:solidFill>
                <a:prstClr val="black"/>
              </a:solidFill>
              <a:latin typeface="Times New Roman"/>
            </a:endParaRPr>
          </a:p>
          <a:p>
            <a:pPr lvl="0" algn="l"/>
            <a:r>
              <a:rPr lang="vi-VN" altLang="zh-CN" sz="950" dirty="0">
                <a:solidFill>
                  <a:prstClr val="black"/>
                </a:solidFill>
                <a:latin typeface="Times New Roman"/>
              </a:rPr>
              <a:t>  </a:t>
            </a:r>
            <a:endParaRPr lang="vi-VN" altLang="zh-CN" sz="950" dirty="0" smtClean="0">
              <a:solidFill>
                <a:prstClr val="black"/>
              </a:solidFill>
              <a:latin typeface="Times New Roman"/>
            </a:endParaRPr>
          </a:p>
          <a:p>
            <a:pPr lvl="0" algn="l"/>
            <a:r>
              <a:rPr lang="vi-VN" altLang="zh-CN" sz="950" dirty="0">
                <a:solidFill>
                  <a:prstClr val="black"/>
                </a:solidFill>
                <a:latin typeface="Times New Roman"/>
              </a:rPr>
              <a:t> </a:t>
            </a:r>
            <a:r>
              <a:rPr lang="vi-VN" altLang="zh-CN" sz="950" dirty="0" smtClean="0">
                <a:solidFill>
                  <a:prstClr val="black"/>
                </a:solidFill>
                <a:latin typeface="Times New Roman"/>
              </a:rPr>
              <a:t>    Click </a:t>
            </a:r>
            <a:r>
              <a:rPr lang="vi-VN" altLang="zh-CN" sz="950" dirty="0">
                <a:solidFill>
                  <a:prstClr val="black"/>
                </a:solidFill>
                <a:latin typeface="Times New Roman"/>
              </a:rPr>
              <a:t>vào kí hiệu này để có thể hiện thị toàn bộ trang bên trái hoặc toàn bộ trang bên phải.</a:t>
            </a:r>
            <a:endParaRPr lang="zh-CN" altLang="en-US" sz="950" dirty="0">
              <a:solidFill>
                <a:prstClr val="black"/>
              </a:solidFill>
              <a:latin typeface="Calibri"/>
            </a:endParaRPr>
          </a:p>
        </p:txBody>
      </p:sp>
      <p:sp>
        <p:nvSpPr>
          <p:cNvPr id="7" name="TextBox 6"/>
          <p:cNvSpPr txBox="1"/>
          <p:nvPr/>
        </p:nvSpPr>
        <p:spPr>
          <a:xfrm>
            <a:off x="6649441" y="1114796"/>
            <a:ext cx="2483768" cy="723275"/>
          </a:xfrm>
          <a:prstGeom prst="rect">
            <a:avLst/>
          </a:prstGeom>
          <a:noFill/>
        </p:spPr>
        <p:txBody>
          <a:bodyPr wrap="square" rtlCol="0">
            <a:spAutoFit/>
          </a:bodyPr>
          <a:lstStyle/>
          <a:p>
            <a:pPr algn="l"/>
            <a:r>
              <a:rPr lang="zh-CN" altLang="en-US" sz="1100" dirty="0" smtClean="0"/>
              <a:t>       </a:t>
            </a:r>
            <a:r>
              <a:rPr lang="vi-VN" altLang="zh-CN" sz="1000" dirty="0">
                <a:latin typeface="Times New Roman" pitchFamily="18" charset="0"/>
                <a:cs typeface="Times New Roman" pitchFamily="18" charset="0"/>
              </a:rPr>
              <a:t>Bước đầu tiên của việc sửa đổi tổ chức</a:t>
            </a:r>
            <a:r>
              <a:rPr lang="en-US" altLang="zh-CN" sz="1000" dirty="0">
                <a:latin typeface="Times New Roman" pitchFamily="18" charset="0"/>
                <a:cs typeface="Times New Roman" pitchFamily="18" charset="0"/>
              </a:rPr>
              <a:t> </a:t>
            </a:r>
            <a:r>
              <a:rPr lang="en-US" altLang="zh-CN" sz="1000" dirty="0" smtClean="0">
                <a:latin typeface="Times New Roman" pitchFamily="18" charset="0"/>
                <a:cs typeface="Times New Roman" pitchFamily="18" charset="0"/>
              </a:rPr>
              <a:t>là </a:t>
            </a:r>
            <a:r>
              <a:rPr lang="en-US" altLang="zh-CN" sz="1000" dirty="0">
                <a:latin typeface="Times New Roman" pitchFamily="18" charset="0"/>
                <a:cs typeface="Times New Roman" pitchFamily="18" charset="0"/>
              </a:rPr>
              <a:t>tóm tắt sửa đổi tổ chức, nhập thông tin vì sao phải sửa đổi tổ chức, ngày bắt đầu có hiệu lực…</a:t>
            </a:r>
            <a:endParaRPr lang="zh-CN" altLang="en-US" sz="1000" dirty="0">
              <a:latin typeface="Times New Roman" pitchFamily="18" charset="0"/>
              <a:cs typeface="Times New Roman" pitchFamily="18" charset="0"/>
            </a:endParaRPr>
          </a:p>
        </p:txBody>
      </p:sp>
      <p:pic>
        <p:nvPicPr>
          <p:cNvPr id="1024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2906" y="5805264"/>
            <a:ext cx="133350" cy="25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8" y="1233860"/>
            <a:ext cx="6638294" cy="371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35792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331640" y="116632"/>
            <a:ext cx="3024336" cy="276999"/>
          </a:xfrm>
          <a:prstGeom prst="rect">
            <a:avLst/>
          </a:prstGeom>
          <a:noFill/>
        </p:spPr>
        <p:txBody>
          <a:bodyPr wrap="square" rtlCol="0">
            <a:spAutoFit/>
          </a:bodyPr>
          <a:lstStyle/>
          <a:p>
            <a:r>
              <a:rPr lang="en-US" altLang="zh-CN" sz="1200" dirty="0" smtClean="0">
                <a:latin typeface="Times New Roman" panose="02020603050405020304" pitchFamily="18" charset="0"/>
                <a:cs typeface="Times New Roman" panose="02020603050405020304" pitchFamily="18" charset="0"/>
              </a:rPr>
              <a:t>Thay đổi tổ chức – Quy trình thay đổi</a:t>
            </a:r>
            <a:endParaRPr lang="zh-CN" altLang="en-US" sz="12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6660232" y="1124744"/>
            <a:ext cx="2483768" cy="1015663"/>
          </a:xfrm>
          <a:prstGeom prst="rect">
            <a:avLst/>
          </a:prstGeom>
          <a:noFill/>
        </p:spPr>
        <p:txBody>
          <a:bodyPr wrap="square" rtlCol="0">
            <a:spAutoFit/>
          </a:bodyPr>
          <a:lstStyle/>
          <a:p>
            <a:pPr algn="l"/>
            <a:r>
              <a:rPr lang="en-US" altLang="zh-CN" sz="1200" dirty="0" smtClean="0">
                <a:latin typeface="Times New Roman" panose="02020603050405020304" pitchFamily="18" charset="0"/>
                <a:cs typeface="Times New Roman" panose="02020603050405020304" pitchFamily="18" charset="0"/>
              </a:rPr>
              <a:t>Quy trình thực hiện thay đổi tổ chức theo thứ tự mũi tên.</a:t>
            </a:r>
            <a:endParaRPr lang="en-US" altLang="zh-CN" sz="1200" dirty="0">
              <a:latin typeface="Times New Roman" pitchFamily="18" charset="0"/>
              <a:cs typeface="Times New Roman" pitchFamily="18" charset="0"/>
            </a:endParaRPr>
          </a:p>
          <a:p>
            <a:pPr algn="l"/>
            <a:r>
              <a:rPr lang="en-US" altLang="zh-CN" sz="1200" dirty="0" smtClean="0">
                <a:latin typeface="Times New Roman" pitchFamily="18" charset="0"/>
                <a:cs typeface="Times New Roman" pitchFamily="18" charset="0"/>
              </a:rPr>
              <a:t>Khung chứa ô vuông nhỏ: hiển thị màu cam là chưa thực hiện; màu xanh là đã thực hiện.</a:t>
            </a:r>
          </a:p>
        </p:txBody>
      </p:sp>
      <p:sp>
        <p:nvSpPr>
          <p:cNvPr id="28" name="TextBox 27"/>
          <p:cNvSpPr txBox="1"/>
          <p:nvPr/>
        </p:nvSpPr>
        <p:spPr>
          <a:xfrm>
            <a:off x="6372200" y="2284423"/>
            <a:ext cx="1947002" cy="276999"/>
          </a:xfrm>
          <a:prstGeom prst="rect">
            <a:avLst/>
          </a:prstGeom>
          <a:noFill/>
        </p:spPr>
        <p:txBody>
          <a:bodyPr wrap="square" rtlCol="0">
            <a:spAutoFit/>
          </a:bodyPr>
          <a:lstStyle/>
          <a:p>
            <a:r>
              <a:rPr lang="vi-VN" altLang="zh-CN" sz="1200" b="1" dirty="0" smtClean="0">
                <a:latin typeface="+mj-lt"/>
              </a:rPr>
              <a:t>Giải thích </a:t>
            </a:r>
            <a:r>
              <a:rPr lang="zh-CN" altLang="en-US" sz="1200" b="1" dirty="0" smtClean="0">
                <a:latin typeface="+mj-lt"/>
              </a:rPr>
              <a:t>：</a:t>
            </a:r>
            <a:endParaRPr lang="zh-CN" altLang="en-US" sz="1200" b="1" dirty="0">
              <a:latin typeface="+mj-lt"/>
            </a:endParaRPr>
          </a:p>
        </p:txBody>
      </p:sp>
      <p:sp>
        <p:nvSpPr>
          <p:cNvPr id="29" name="TextBox 28"/>
          <p:cNvSpPr txBox="1"/>
          <p:nvPr/>
        </p:nvSpPr>
        <p:spPr>
          <a:xfrm>
            <a:off x="6679682" y="2644170"/>
            <a:ext cx="2483768" cy="646331"/>
          </a:xfrm>
          <a:prstGeom prst="rect">
            <a:avLst/>
          </a:prstGeom>
          <a:noFill/>
        </p:spPr>
        <p:txBody>
          <a:bodyPr wrap="square" rtlCol="0">
            <a:spAutoFit/>
          </a:bodyPr>
          <a:lstStyle/>
          <a:p>
            <a:pPr algn="l"/>
            <a:r>
              <a:rPr lang="vi-VN" altLang="zh-CN" sz="1200" b="1" dirty="0" smtClean="0">
                <a:latin typeface="+mj-lt"/>
              </a:rPr>
              <a:t>Thực hiện: </a:t>
            </a:r>
            <a:r>
              <a:rPr lang="vi-VN" altLang="zh-CN" sz="1200" dirty="0" smtClean="0">
                <a:latin typeface="+mj-lt"/>
              </a:rPr>
              <a:t>tích chọn vào ô màu xám, sau đó </a:t>
            </a:r>
            <a:r>
              <a:rPr lang="en-US" altLang="zh-CN" sz="1200" dirty="0" smtClean="0">
                <a:latin typeface="+mj-lt"/>
              </a:rPr>
              <a:t>“</a:t>
            </a:r>
            <a:r>
              <a:rPr lang="en-US" altLang="zh-CN" sz="1200" dirty="0" smtClean="0">
                <a:latin typeface="Times New Roman" panose="02020603050405020304" pitchFamily="18" charset="0"/>
                <a:cs typeface="Times New Roman" panose="02020603050405020304" pitchFamily="18" charset="0"/>
              </a:rPr>
              <a:t>Thực hiện</a:t>
            </a:r>
            <a:r>
              <a:rPr lang="en-US" altLang="zh-CN" sz="1200" dirty="0" smtClean="0">
                <a:latin typeface="+mj-lt"/>
              </a:rPr>
              <a:t>”,</a:t>
            </a:r>
            <a:r>
              <a:rPr lang="vi-VN" altLang="zh-CN" sz="1200" dirty="0" smtClean="0">
                <a:latin typeface="+mj-lt"/>
              </a:rPr>
              <a:t> hệ thống </a:t>
            </a:r>
            <a:r>
              <a:rPr lang="en-US" altLang="zh-CN" sz="1200" dirty="0" smtClean="0">
                <a:latin typeface="Times New Roman" panose="02020603050405020304" pitchFamily="18" charset="0"/>
                <a:cs typeface="Times New Roman" panose="02020603050405020304" pitchFamily="18" charset="0"/>
              </a:rPr>
              <a:t>tự động thực hiện công việc đó.</a:t>
            </a:r>
            <a:endParaRPr lang="en-US" altLang="zh-CN" sz="1200" b="1" dirty="0" smtClean="0">
              <a:latin typeface="Times New Roman" panose="02020603050405020304" pitchFamily="18" charset="0"/>
              <a:cs typeface="Times New Roman" panose="02020603050405020304" pitchFamily="18" charset="0"/>
            </a:endParaRPr>
          </a:p>
        </p:txBody>
      </p:sp>
      <p:sp>
        <p:nvSpPr>
          <p:cNvPr id="9" name="TextBox 28"/>
          <p:cNvSpPr txBox="1"/>
          <p:nvPr/>
        </p:nvSpPr>
        <p:spPr>
          <a:xfrm>
            <a:off x="6660231" y="3434517"/>
            <a:ext cx="2483768" cy="830997"/>
          </a:xfrm>
          <a:prstGeom prst="rect">
            <a:avLst/>
          </a:prstGeom>
          <a:noFill/>
        </p:spPr>
        <p:txBody>
          <a:bodyPr wrap="square" rtlCol="0">
            <a:spAutoFit/>
          </a:bodyPr>
          <a:lstStyle/>
          <a:p>
            <a:pPr algn="l"/>
            <a:r>
              <a:rPr lang="vi-VN" altLang="zh-CN" sz="1200" dirty="0" smtClean="0">
                <a:solidFill>
                  <a:srgbClr val="FF0000"/>
                </a:solidFill>
                <a:latin typeface="Times New Roman" pitchFamily="18" charset="0"/>
                <a:cs typeface="Times New Roman" pitchFamily="18" charset="0"/>
              </a:rPr>
              <a:t>Ghi chú: quy trình đã thực hiện được khoanh màu xanh, quy trình chưa thực hiện được khoanh màu vàng cam.</a:t>
            </a:r>
            <a:endParaRPr lang="en-US" altLang="zh-CN" sz="1200" dirty="0" smtClean="0">
              <a:solidFill>
                <a:srgbClr val="FF0000"/>
              </a:solidFill>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8760"/>
            <a:ext cx="6660231" cy="328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207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430264" y="116632"/>
            <a:ext cx="2421656" cy="261610"/>
          </a:xfrm>
          <a:prstGeom prst="rect">
            <a:avLst/>
          </a:prstGeom>
          <a:noFill/>
        </p:spPr>
        <p:txBody>
          <a:bodyPr wrap="square" rtlCol="0">
            <a:spAutoFit/>
          </a:bodyPr>
          <a:lstStyle/>
          <a:p>
            <a:r>
              <a:rPr lang="en-US" altLang="zh-CN" sz="1100" dirty="0" err="1" smtClean="0">
                <a:latin typeface="Times New Roman" pitchFamily="18" charset="0"/>
                <a:cs typeface="Times New Roman" pitchFamily="18" charset="0"/>
              </a:rPr>
              <a:t>Ví</a:t>
            </a:r>
            <a:r>
              <a:rPr lang="en-US" altLang="zh-CN" sz="1100" dirty="0" smtClean="0">
                <a:latin typeface="Times New Roman" pitchFamily="18" charset="0"/>
                <a:cs typeface="Times New Roman" pitchFamily="18" charset="0"/>
              </a:rPr>
              <a:t> </a:t>
            </a:r>
            <a:r>
              <a:rPr lang="en-US" altLang="zh-CN" sz="1100" dirty="0" err="1" smtClean="0">
                <a:latin typeface="Times New Roman" pitchFamily="18" charset="0"/>
                <a:cs typeface="Times New Roman" pitchFamily="18" charset="0"/>
              </a:rPr>
              <a:t>dụ</a:t>
            </a:r>
            <a:r>
              <a:rPr lang="en-US" altLang="zh-CN" sz="1100" dirty="0" smtClean="0">
                <a:latin typeface="Times New Roman" pitchFamily="18" charset="0"/>
                <a:cs typeface="Times New Roman" pitchFamily="18" charset="0"/>
              </a:rPr>
              <a:t> </a:t>
            </a:r>
            <a:r>
              <a:rPr lang="en-US" altLang="zh-CN" sz="1100" dirty="0" err="1" smtClean="0">
                <a:latin typeface="Times New Roman" pitchFamily="18" charset="0"/>
                <a:cs typeface="Times New Roman" pitchFamily="18" charset="0"/>
              </a:rPr>
              <a:t>về</a:t>
            </a:r>
            <a:r>
              <a:rPr lang="en-US" altLang="zh-CN" sz="1100" dirty="0" smtClean="0">
                <a:latin typeface="Times New Roman" pitchFamily="18" charset="0"/>
                <a:cs typeface="Times New Roman" pitchFamily="18" charset="0"/>
              </a:rPr>
              <a:t> </a:t>
            </a:r>
            <a:r>
              <a:rPr lang="en-US" altLang="zh-CN" sz="1100" dirty="0" err="1" smtClean="0">
                <a:latin typeface="Times New Roman" pitchFamily="18" charset="0"/>
                <a:cs typeface="Times New Roman" pitchFamily="18" charset="0"/>
              </a:rPr>
              <a:t>thao</a:t>
            </a:r>
            <a:r>
              <a:rPr lang="en-US" altLang="zh-CN" sz="1100" dirty="0" smtClean="0">
                <a:latin typeface="Times New Roman" pitchFamily="18" charset="0"/>
                <a:cs typeface="Times New Roman" pitchFamily="18" charset="0"/>
              </a:rPr>
              <a:t> </a:t>
            </a:r>
            <a:r>
              <a:rPr lang="en-US" altLang="zh-CN" sz="1100" dirty="0" err="1" smtClean="0">
                <a:latin typeface="Times New Roman" pitchFamily="18" charset="0"/>
                <a:cs typeface="Times New Roman" pitchFamily="18" charset="0"/>
              </a:rPr>
              <a:t>tác</a:t>
            </a:r>
            <a:r>
              <a:rPr lang="en-US" altLang="zh-CN" sz="1100" dirty="0" smtClean="0">
                <a:latin typeface="Times New Roman" pitchFamily="18" charset="0"/>
                <a:cs typeface="Times New Roman" pitchFamily="18" charset="0"/>
              </a:rPr>
              <a:t> </a:t>
            </a:r>
            <a:r>
              <a:rPr lang="en-US" altLang="zh-CN" sz="1100" dirty="0" err="1" smtClean="0">
                <a:latin typeface="Times New Roman" pitchFamily="18" charset="0"/>
                <a:cs typeface="Times New Roman" pitchFamily="18" charset="0"/>
              </a:rPr>
              <a:t>sao</a:t>
            </a:r>
            <a:r>
              <a:rPr lang="en-US" altLang="zh-CN" sz="1100" dirty="0" smtClean="0">
                <a:latin typeface="Times New Roman" pitchFamily="18" charset="0"/>
                <a:cs typeface="Times New Roman" pitchFamily="18" charset="0"/>
              </a:rPr>
              <a:t> chép tổ chức</a:t>
            </a:r>
            <a:endParaRPr lang="zh-CN" altLang="en-US" sz="1100" dirty="0">
              <a:latin typeface="Times New Roman" pitchFamily="18" charset="0"/>
              <a:cs typeface="Times New Roman" pitchFamily="18" charset="0"/>
            </a:endParaRPr>
          </a:p>
        </p:txBody>
      </p:sp>
      <p:sp>
        <p:nvSpPr>
          <p:cNvPr id="2" name="TextBox 1"/>
          <p:cNvSpPr txBox="1"/>
          <p:nvPr/>
        </p:nvSpPr>
        <p:spPr>
          <a:xfrm>
            <a:off x="6660232" y="1412776"/>
            <a:ext cx="2483768" cy="1015663"/>
          </a:xfrm>
          <a:prstGeom prst="rect">
            <a:avLst/>
          </a:prstGeom>
          <a:noFill/>
        </p:spPr>
        <p:txBody>
          <a:bodyPr wrap="square" rtlCol="0">
            <a:spAutoFit/>
          </a:bodyPr>
          <a:lstStyle/>
          <a:p>
            <a:pPr algn="l"/>
            <a:r>
              <a:rPr lang="en-US" altLang="zh-CN" sz="1200" b="1" dirty="0" smtClean="0">
                <a:latin typeface="Times New Roman" panose="02020603050405020304" pitchFamily="18" charset="0"/>
                <a:cs typeface="Times New Roman" panose="02020603050405020304" pitchFamily="18" charset="0"/>
              </a:rPr>
              <a:t>Giải thích:</a:t>
            </a:r>
          </a:p>
          <a:p>
            <a:pPr marL="228600" indent="-228600" algn="l">
              <a:buAutoNum type="arabicPeriod"/>
            </a:pPr>
            <a:r>
              <a:rPr lang="en-US" altLang="zh-CN" sz="1200" dirty="0" smtClean="0">
                <a:latin typeface="Times New Roman" panose="02020603050405020304" pitchFamily="18" charset="0"/>
                <a:cs typeface="Times New Roman" panose="02020603050405020304" pitchFamily="18" charset="0"/>
              </a:rPr>
              <a:t>Tích chọn ô vuông nhỏ</a:t>
            </a:r>
          </a:p>
          <a:p>
            <a:pPr marL="228600" indent="-228600" algn="l">
              <a:buAutoNum type="arabicPeriod"/>
            </a:pPr>
            <a:r>
              <a:rPr lang="en-US" altLang="zh-CN" sz="1200" dirty="0" smtClean="0">
                <a:latin typeface="Times New Roman" panose="02020603050405020304" pitchFamily="18" charset="0"/>
                <a:cs typeface="Times New Roman" panose="02020603050405020304" pitchFamily="18" charset="0"/>
              </a:rPr>
              <a:t>Chọn “Thực hiện”</a:t>
            </a:r>
          </a:p>
          <a:p>
            <a:pPr marL="228600" indent="-228600" algn="l">
              <a:buAutoNum type="arabicPeriod"/>
            </a:pPr>
            <a:r>
              <a:rPr lang="en-US" altLang="zh-CN" sz="1200" dirty="0" smtClean="0">
                <a:latin typeface="Times New Roman" panose="02020603050405020304" pitchFamily="18" charset="0"/>
                <a:cs typeface="Times New Roman" panose="02020603050405020304" pitchFamily="18" charset="0"/>
              </a:rPr>
              <a:t>Chọn “OK” xác nhận thao tác; “Cancel” hủy bỏ thao tác</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0768"/>
            <a:ext cx="6660232" cy="269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323528" y="2276872"/>
            <a:ext cx="936104"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12160" y="1628800"/>
            <a:ext cx="576064"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347864" y="1700808"/>
            <a:ext cx="792088"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8-Point Star 10"/>
          <p:cNvSpPr/>
          <p:nvPr/>
        </p:nvSpPr>
        <p:spPr>
          <a:xfrm>
            <a:off x="138687" y="2012837"/>
            <a:ext cx="216024" cy="216024"/>
          </a:xfrm>
          <a:prstGeom prst="star8">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12" name="8-Point Star 11"/>
          <p:cNvSpPr/>
          <p:nvPr/>
        </p:nvSpPr>
        <p:spPr>
          <a:xfrm>
            <a:off x="5940152" y="1916832"/>
            <a:ext cx="216024" cy="204017"/>
          </a:xfrm>
          <a:prstGeom prst="star8">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13" name="8-Point Star 12"/>
          <p:cNvSpPr/>
          <p:nvPr/>
        </p:nvSpPr>
        <p:spPr>
          <a:xfrm>
            <a:off x="4211960" y="1700808"/>
            <a:ext cx="216024" cy="216024"/>
          </a:xfrm>
          <a:prstGeom prst="star8">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Tree>
    <p:extLst>
      <p:ext uri="{BB962C8B-B14F-4D97-AF65-F5344CB8AC3E}">
        <p14:creationId xmlns:p14="http://schemas.microsoft.com/office/powerpoint/2010/main" val="25943177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115616" y="116632"/>
            <a:ext cx="3394066"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Thay đổi tổ chức – Thiết lập tổ chức</a:t>
            </a:r>
            <a:endParaRPr lang="zh-CN" altLang="en-US" sz="1200" dirty="0">
              <a:latin typeface="Times New Roman" pitchFamily="18" charset="0"/>
              <a:cs typeface="Times New Roman" pitchFamily="18" charset="0"/>
            </a:endParaRPr>
          </a:p>
        </p:txBody>
      </p:sp>
      <p:sp>
        <p:nvSpPr>
          <p:cNvPr id="6" name="TextBox 5"/>
          <p:cNvSpPr txBox="1"/>
          <p:nvPr/>
        </p:nvSpPr>
        <p:spPr>
          <a:xfrm>
            <a:off x="7136376" y="1412776"/>
            <a:ext cx="930063" cy="276999"/>
          </a:xfrm>
          <a:prstGeom prst="rect">
            <a:avLst/>
          </a:prstGeom>
          <a:noFill/>
        </p:spPr>
        <p:txBody>
          <a:bodyPr wrap="none" rtlCol="0">
            <a:spAutoFit/>
          </a:bodyPr>
          <a:lstStyle/>
          <a:p>
            <a:r>
              <a:rPr lang="vi-VN" altLang="zh-CN" sz="1200" b="1" dirty="0" smtClean="0">
                <a:latin typeface="+mj-lt"/>
              </a:rPr>
              <a:t>Giải thích :</a:t>
            </a:r>
            <a:endParaRPr lang="zh-CN" altLang="en-US" sz="1200" b="1" dirty="0">
              <a:latin typeface="+mj-lt"/>
            </a:endParaRPr>
          </a:p>
        </p:txBody>
      </p:sp>
      <p:sp>
        <p:nvSpPr>
          <p:cNvPr id="9" name="TextBox 8"/>
          <p:cNvSpPr txBox="1"/>
          <p:nvPr/>
        </p:nvSpPr>
        <p:spPr>
          <a:xfrm>
            <a:off x="6660232" y="908720"/>
            <a:ext cx="2483768" cy="430887"/>
          </a:xfrm>
          <a:prstGeom prst="rect">
            <a:avLst/>
          </a:prstGeom>
          <a:noFill/>
        </p:spPr>
        <p:txBody>
          <a:bodyPr wrap="square" rtlCol="0">
            <a:spAutoFit/>
          </a:bodyPr>
          <a:lstStyle/>
          <a:p>
            <a:pPr algn="l"/>
            <a:r>
              <a:rPr lang="zh-CN" altLang="en-US" sz="1200" dirty="0" smtClean="0"/>
              <a:t>       </a:t>
            </a:r>
            <a:r>
              <a:rPr lang="en-US" altLang="zh-CN" sz="1000" dirty="0" smtClean="0">
                <a:latin typeface="Times New Roman" panose="02020603050405020304" pitchFamily="18" charset="0"/>
                <a:cs typeface="Times New Roman" panose="02020603050405020304" pitchFamily="18" charset="0"/>
              </a:rPr>
              <a:t>Trang để thực hiện các thay đổi </a:t>
            </a:r>
            <a:r>
              <a:rPr lang="vi-VN" altLang="zh-CN" sz="1000" dirty="0" smtClean="0">
                <a:latin typeface="+mj-lt"/>
              </a:rPr>
              <a:t>(thêm</a:t>
            </a:r>
            <a:r>
              <a:rPr lang="en-US" altLang="zh-CN" sz="1000" dirty="0" smtClean="0">
                <a:latin typeface="+mj-lt"/>
              </a:rPr>
              <a:t> mới</a:t>
            </a:r>
            <a:r>
              <a:rPr lang="vi-VN" altLang="zh-CN" sz="1000" dirty="0" smtClean="0">
                <a:latin typeface="+mj-lt"/>
              </a:rPr>
              <a:t>, sửa, xóa, điều chỉnh thứ tự, hợp, tách)</a:t>
            </a:r>
            <a:endParaRPr lang="en-US" altLang="zh-CN" sz="1000" dirty="0" smtClean="0">
              <a:latin typeface="+mj-lt"/>
            </a:endParaRPr>
          </a:p>
        </p:txBody>
      </p:sp>
      <p:sp>
        <p:nvSpPr>
          <p:cNvPr id="2" name="矩形 1"/>
          <p:cNvSpPr/>
          <p:nvPr/>
        </p:nvSpPr>
        <p:spPr>
          <a:xfrm>
            <a:off x="2483768" y="3140968"/>
            <a:ext cx="216024"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06291" y="3140969"/>
            <a:ext cx="689645"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6660232" y="1700808"/>
            <a:ext cx="2483768" cy="1631216"/>
          </a:xfrm>
          <a:prstGeom prst="rect">
            <a:avLst/>
          </a:prstGeom>
          <a:noFill/>
        </p:spPr>
        <p:txBody>
          <a:bodyPr wrap="square" rtlCol="0">
            <a:spAutoFit/>
          </a:bodyPr>
          <a:lstStyle/>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Chọn “Tên phiên bản” để xem thông tin tổ chức trước đây</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Tại sơ đồ tổ chức bên trái, chọn Phòng ban nào đó, bên phải hiển thị thông tin chi tiết  và danh sách nhân viên đang làm việc tại phòng ban đó.</a:t>
            </a:r>
          </a:p>
          <a:p>
            <a:pPr marL="228600" indent="-228600" algn="l">
              <a:buAutoNum type="arabicPeriod"/>
            </a:pPr>
            <a:endParaRPr lang="en-US" altLang="zh-CN" sz="1000" dirty="0" smtClean="0">
              <a:latin typeface="Times New Roman" panose="02020603050405020304" pitchFamily="18" charset="0"/>
              <a:cs typeface="Times New Roman" panose="02020603050405020304" pitchFamily="18" charset="0"/>
            </a:endParaRPr>
          </a:p>
          <a:p>
            <a:pPr marL="228600" indent="-228600" algn="l">
              <a:buAutoNum type="arabicPeriod"/>
            </a:pPr>
            <a:endParaRPr lang="en-US" altLang="zh-CN" sz="1000" dirty="0" smtClean="0">
              <a:latin typeface="Times New Roman" panose="02020603050405020304" pitchFamily="18" charset="0"/>
              <a:cs typeface="Times New Roman" panose="02020603050405020304" pitchFamily="18" charset="0"/>
            </a:endParaRPr>
          </a:p>
          <a:p>
            <a:pPr algn="l"/>
            <a:endParaRPr lang="zh-CN" altLang="en-US" sz="1000" dirty="0">
              <a:latin typeface="+mj-lt"/>
            </a:endParaRPr>
          </a:p>
          <a:p>
            <a:pPr algn="l"/>
            <a:r>
              <a:rPr lang="en-US" altLang="zh-CN" sz="1000" b="1" dirty="0" smtClean="0">
                <a:latin typeface="+mj-lt"/>
              </a:rPr>
              <a:t> </a:t>
            </a:r>
            <a:r>
              <a:rPr lang="zh-CN" altLang="en-US" sz="1000" b="1" dirty="0" smtClean="0">
                <a:latin typeface="+mj-lt"/>
              </a:rPr>
              <a:t>  </a:t>
            </a:r>
            <a:endParaRPr lang="zh-CN" altLang="en-US" sz="1000" dirty="0">
              <a:latin typeface="+mj-lt"/>
            </a:endParaRPr>
          </a:p>
        </p:txBody>
      </p:sp>
      <p:sp>
        <p:nvSpPr>
          <p:cNvPr id="32" name="矩形 12"/>
          <p:cNvSpPr/>
          <p:nvPr/>
        </p:nvSpPr>
        <p:spPr>
          <a:xfrm>
            <a:off x="1137102" y="2071881"/>
            <a:ext cx="338554" cy="276999"/>
          </a:xfrm>
          <a:prstGeom prst="rect">
            <a:avLst/>
          </a:prstGeom>
        </p:spPr>
        <p:txBody>
          <a:bodyPr wrap="square">
            <a:spAutoFit/>
          </a:bodyPr>
          <a:lstStyle/>
          <a:p>
            <a:r>
              <a:rPr lang="zh-CN" altLang="en-US" sz="1200" dirty="0">
                <a:solidFill>
                  <a:srgbClr val="FF0000"/>
                </a:solidFill>
              </a:rPr>
              <a:t>②</a:t>
            </a:r>
          </a:p>
        </p:txBody>
      </p:sp>
      <p:sp>
        <p:nvSpPr>
          <p:cNvPr id="43" name="矩形 3"/>
          <p:cNvSpPr/>
          <p:nvPr/>
        </p:nvSpPr>
        <p:spPr>
          <a:xfrm>
            <a:off x="22345" y="1651876"/>
            <a:ext cx="1525319" cy="24890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11"/>
          <p:cNvSpPr/>
          <p:nvPr/>
        </p:nvSpPr>
        <p:spPr>
          <a:xfrm>
            <a:off x="1227299" y="1667449"/>
            <a:ext cx="296331" cy="276999"/>
          </a:xfrm>
          <a:prstGeom prst="rect">
            <a:avLst/>
          </a:prstGeom>
          <a:ln>
            <a:noFill/>
          </a:ln>
        </p:spPr>
        <p:txBody>
          <a:bodyPr wrap="square">
            <a:spAutoFit/>
          </a:bodyPr>
          <a:lstStyle/>
          <a:p>
            <a:r>
              <a:rPr lang="zh-CN" altLang="en-US" sz="1200" dirty="0">
                <a:solidFill>
                  <a:srgbClr val="FF0000"/>
                </a:solidFill>
              </a:rPr>
              <a:t>①</a:t>
            </a:r>
          </a:p>
        </p:txBody>
      </p:sp>
      <p:sp>
        <p:nvSpPr>
          <p:cNvPr id="45" name="矩形 19"/>
          <p:cNvSpPr/>
          <p:nvPr/>
        </p:nvSpPr>
        <p:spPr>
          <a:xfrm>
            <a:off x="1619672" y="1700808"/>
            <a:ext cx="4913392" cy="141308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14"/>
          <p:cNvSpPr/>
          <p:nvPr/>
        </p:nvSpPr>
        <p:spPr>
          <a:xfrm>
            <a:off x="6194510" y="1959293"/>
            <a:ext cx="338554" cy="276999"/>
          </a:xfrm>
          <a:prstGeom prst="rect">
            <a:avLst/>
          </a:prstGeom>
        </p:spPr>
        <p:txBody>
          <a:bodyPr wrap="none">
            <a:spAutoFit/>
          </a:bodyPr>
          <a:lstStyle/>
          <a:p>
            <a:r>
              <a:rPr lang="zh-CN" altLang="en-US" sz="1200" dirty="0">
                <a:solidFill>
                  <a:srgbClr val="FF0000"/>
                </a:solidFill>
              </a:rPr>
              <a:t>③</a:t>
            </a:r>
          </a:p>
        </p:txBody>
      </p:sp>
      <p:sp>
        <p:nvSpPr>
          <p:cNvPr id="47" name="矩形 15"/>
          <p:cNvSpPr/>
          <p:nvPr/>
        </p:nvSpPr>
        <p:spPr>
          <a:xfrm>
            <a:off x="6194510" y="3588065"/>
            <a:ext cx="338554" cy="276999"/>
          </a:xfrm>
          <a:prstGeom prst="rect">
            <a:avLst/>
          </a:prstGeom>
        </p:spPr>
        <p:txBody>
          <a:bodyPr wrap="none">
            <a:spAutoFit/>
          </a:bodyPr>
          <a:lstStyle/>
          <a:p>
            <a:r>
              <a:rPr lang="zh-CN" altLang="en-US" sz="1200" dirty="0" smtClean="0">
                <a:solidFill>
                  <a:srgbClr val="FF0000"/>
                </a:solidFill>
              </a:rPr>
              <a:t>④</a:t>
            </a:r>
            <a:endParaRPr lang="zh-CN" altLang="en-US" sz="1200" dirty="0">
              <a:solidFill>
                <a:srgbClr val="FF0000"/>
              </a:solidFill>
            </a:endParaRPr>
          </a:p>
        </p:txBody>
      </p:sp>
      <p:sp>
        <p:nvSpPr>
          <p:cNvPr id="48" name="矩形 22"/>
          <p:cNvSpPr/>
          <p:nvPr/>
        </p:nvSpPr>
        <p:spPr>
          <a:xfrm>
            <a:off x="1619672" y="3212143"/>
            <a:ext cx="4913392" cy="79292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Picture 4"/>
          <p:cNvPicPr>
            <a:picLocks noChangeAspect="1"/>
          </p:cNvPicPr>
          <p:nvPr/>
        </p:nvPicPr>
        <p:blipFill>
          <a:blip r:embed="rId3"/>
          <a:stretch>
            <a:fillRect/>
          </a:stretch>
        </p:blipFill>
        <p:spPr>
          <a:xfrm>
            <a:off x="22345" y="919083"/>
            <a:ext cx="6652847" cy="3690251"/>
          </a:xfrm>
          <a:prstGeom prst="rect">
            <a:avLst/>
          </a:prstGeom>
        </p:spPr>
      </p:pic>
    </p:spTree>
    <p:extLst>
      <p:ext uri="{BB962C8B-B14F-4D97-AF65-F5344CB8AC3E}">
        <p14:creationId xmlns:p14="http://schemas.microsoft.com/office/powerpoint/2010/main" val="506278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65966" y="116632"/>
            <a:ext cx="2313946"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Thiết lập tổ chức –Sắp xếp thứ tự</a:t>
            </a:r>
            <a:endParaRPr lang="zh-CN" altLang="en-US" sz="1200" dirty="0">
              <a:latin typeface="Times New Roman" pitchFamily="18" charset="0"/>
              <a:cs typeface="Times New Roman" pitchFamily="18" charset="0"/>
            </a:endParaRPr>
          </a:p>
        </p:txBody>
      </p:sp>
      <p:sp>
        <p:nvSpPr>
          <p:cNvPr id="6" name="TextBox 5"/>
          <p:cNvSpPr txBox="1"/>
          <p:nvPr/>
        </p:nvSpPr>
        <p:spPr>
          <a:xfrm>
            <a:off x="7136376" y="1412776"/>
            <a:ext cx="930063" cy="276999"/>
          </a:xfrm>
          <a:prstGeom prst="rect">
            <a:avLst/>
          </a:prstGeom>
          <a:noFill/>
        </p:spPr>
        <p:txBody>
          <a:bodyPr wrap="none" rtlCol="0">
            <a:spAutoFit/>
          </a:bodyPr>
          <a:lstStyle/>
          <a:p>
            <a:r>
              <a:rPr lang="vi-VN" altLang="zh-CN" sz="1200" b="1" dirty="0" smtClean="0">
                <a:latin typeface="+mj-lt"/>
              </a:rPr>
              <a:t>Giải thích :</a:t>
            </a:r>
            <a:endParaRPr lang="zh-CN" altLang="en-US" sz="1200" b="1" dirty="0">
              <a:latin typeface="+mj-lt"/>
            </a:endParaRPr>
          </a:p>
        </p:txBody>
      </p:sp>
      <p:sp>
        <p:nvSpPr>
          <p:cNvPr id="9" name="TextBox 8"/>
          <p:cNvSpPr txBox="1"/>
          <p:nvPr/>
        </p:nvSpPr>
        <p:spPr>
          <a:xfrm>
            <a:off x="6660232" y="908720"/>
            <a:ext cx="2483768" cy="430887"/>
          </a:xfrm>
          <a:prstGeom prst="rect">
            <a:avLst/>
          </a:prstGeom>
          <a:noFill/>
        </p:spPr>
        <p:txBody>
          <a:bodyPr wrap="square" rtlCol="0">
            <a:spAutoFit/>
          </a:bodyPr>
          <a:lstStyle/>
          <a:p>
            <a:pPr algn="l"/>
            <a:r>
              <a:rPr lang="zh-CN" altLang="en-US" sz="1200" dirty="0" smtClean="0"/>
              <a:t>       </a:t>
            </a:r>
            <a:r>
              <a:rPr lang="en-US" altLang="zh-CN" sz="1000" dirty="0" smtClean="0">
                <a:latin typeface="Times New Roman" panose="02020603050405020304" pitchFamily="18" charset="0"/>
                <a:cs typeface="Times New Roman" panose="02020603050405020304" pitchFamily="18" charset="0"/>
              </a:rPr>
              <a:t>Trang để thực hiện các thay đổi </a:t>
            </a:r>
            <a:r>
              <a:rPr lang="vi-VN" altLang="zh-CN" sz="1000" dirty="0" smtClean="0">
                <a:latin typeface="+mj-lt"/>
              </a:rPr>
              <a:t>(thêm</a:t>
            </a:r>
            <a:r>
              <a:rPr lang="en-US" altLang="zh-CN" sz="1000" dirty="0" smtClean="0">
                <a:latin typeface="+mj-lt"/>
              </a:rPr>
              <a:t> mới</a:t>
            </a:r>
            <a:r>
              <a:rPr lang="vi-VN" altLang="zh-CN" sz="1000" dirty="0" smtClean="0">
                <a:latin typeface="+mj-lt"/>
              </a:rPr>
              <a:t>, sửa, xóa, điều chỉnh thứ tự, hợp, tách)</a:t>
            </a:r>
            <a:endParaRPr lang="en-US" altLang="zh-CN" sz="1000" dirty="0" smtClean="0">
              <a:latin typeface="+mj-lt"/>
            </a:endParaRPr>
          </a:p>
        </p:txBody>
      </p:sp>
      <p:sp>
        <p:nvSpPr>
          <p:cNvPr id="2" name="矩形 1"/>
          <p:cNvSpPr/>
          <p:nvPr/>
        </p:nvSpPr>
        <p:spPr>
          <a:xfrm>
            <a:off x="2483768" y="3140968"/>
            <a:ext cx="216024"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06291" y="3140969"/>
            <a:ext cx="689645"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6660232" y="1700808"/>
            <a:ext cx="2483768" cy="2246769"/>
          </a:xfrm>
          <a:prstGeom prst="rect">
            <a:avLst/>
          </a:prstGeom>
          <a:noFill/>
        </p:spPr>
        <p:txBody>
          <a:bodyPr wrap="square" rtlCol="0">
            <a:spAutoFit/>
          </a:bodyPr>
          <a:lstStyle/>
          <a:p>
            <a:pPr algn="l"/>
            <a:r>
              <a:rPr lang="en-US" altLang="zh-CN" sz="1000" dirty="0" smtClean="0">
                <a:latin typeface="Times New Roman" panose="02020603050405020304" pitchFamily="18" charset="0"/>
                <a:cs typeface="Times New Roman" panose="02020603050405020304" pitchFamily="18" charset="0"/>
              </a:rPr>
              <a:t>--Cây sơ đồ tổ chức bên phải chọn phòng ban tương đương cần thay đổi thứ tự</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Chọn “Sắp xếp thứ tự”, hiển thị khung thực hiện</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Dựa vào nút ký hiệu up, down để thay đổi thứ tự hiển thị phòng ban</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Chọn “Lưu” để lưu kết quả vào hệ thống; “Đóng” hủy bỏ thao tác vừa thực hiện</a:t>
            </a:r>
          </a:p>
          <a:p>
            <a:pPr marL="228600" indent="-228600" algn="l">
              <a:buAutoNum type="arabicPeriod"/>
            </a:pPr>
            <a:endParaRPr lang="en-US" altLang="zh-CN" sz="1000" dirty="0" smtClean="0">
              <a:latin typeface="Times New Roman" panose="02020603050405020304" pitchFamily="18" charset="0"/>
              <a:cs typeface="Times New Roman" panose="02020603050405020304" pitchFamily="18" charset="0"/>
            </a:endParaRPr>
          </a:p>
          <a:p>
            <a:pPr marL="228600" indent="-228600" algn="l">
              <a:buAutoNum type="arabicPeriod"/>
            </a:pPr>
            <a:endParaRPr lang="en-US" altLang="zh-CN" sz="1000" dirty="0" smtClean="0">
              <a:latin typeface="Times New Roman" panose="02020603050405020304" pitchFamily="18" charset="0"/>
              <a:cs typeface="Times New Roman" panose="02020603050405020304" pitchFamily="18" charset="0"/>
            </a:endParaRPr>
          </a:p>
          <a:p>
            <a:pPr marL="228600" indent="-228600" algn="l">
              <a:buAutoNum type="arabicPeriod"/>
            </a:pPr>
            <a:endParaRPr lang="en-US" altLang="zh-CN" sz="1000" dirty="0" smtClean="0">
              <a:latin typeface="Times New Roman" panose="02020603050405020304" pitchFamily="18" charset="0"/>
              <a:cs typeface="Times New Roman" panose="02020603050405020304" pitchFamily="18" charset="0"/>
            </a:endParaRPr>
          </a:p>
          <a:p>
            <a:pPr algn="l"/>
            <a:endParaRPr lang="zh-CN" altLang="en-US" sz="1000" dirty="0">
              <a:latin typeface="+mj-lt"/>
            </a:endParaRPr>
          </a:p>
          <a:p>
            <a:pPr algn="l"/>
            <a:r>
              <a:rPr lang="en-US" altLang="zh-CN" sz="1000" b="1" dirty="0" smtClean="0">
                <a:latin typeface="+mj-lt"/>
              </a:rPr>
              <a:t> </a:t>
            </a:r>
            <a:r>
              <a:rPr lang="zh-CN" altLang="en-US" sz="1000" b="1" dirty="0" smtClean="0">
                <a:latin typeface="+mj-lt"/>
              </a:rPr>
              <a:t>  </a:t>
            </a:r>
            <a:endParaRPr lang="zh-CN" altLang="en-US" sz="1000" dirty="0">
              <a:latin typeface="+mj-lt"/>
            </a:endParaRPr>
          </a:p>
        </p:txBody>
      </p:sp>
      <p:sp>
        <p:nvSpPr>
          <p:cNvPr id="32" name="矩形 12"/>
          <p:cNvSpPr/>
          <p:nvPr/>
        </p:nvSpPr>
        <p:spPr>
          <a:xfrm>
            <a:off x="1137102" y="2071881"/>
            <a:ext cx="338554" cy="276999"/>
          </a:xfrm>
          <a:prstGeom prst="rect">
            <a:avLst/>
          </a:prstGeom>
        </p:spPr>
        <p:txBody>
          <a:bodyPr wrap="square">
            <a:spAutoFit/>
          </a:bodyPr>
          <a:lstStyle/>
          <a:p>
            <a:r>
              <a:rPr lang="zh-CN" altLang="en-US" sz="1200" dirty="0">
                <a:solidFill>
                  <a:srgbClr val="FF0000"/>
                </a:solidFill>
              </a:rPr>
              <a:t>②</a:t>
            </a:r>
          </a:p>
        </p:txBody>
      </p:sp>
      <p:sp>
        <p:nvSpPr>
          <p:cNvPr id="43" name="矩形 3"/>
          <p:cNvSpPr/>
          <p:nvPr/>
        </p:nvSpPr>
        <p:spPr>
          <a:xfrm>
            <a:off x="22345" y="1651876"/>
            <a:ext cx="1525319" cy="24890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11"/>
          <p:cNvSpPr/>
          <p:nvPr/>
        </p:nvSpPr>
        <p:spPr>
          <a:xfrm>
            <a:off x="1227299" y="1667449"/>
            <a:ext cx="296331" cy="276999"/>
          </a:xfrm>
          <a:prstGeom prst="rect">
            <a:avLst/>
          </a:prstGeom>
          <a:ln>
            <a:noFill/>
          </a:ln>
        </p:spPr>
        <p:txBody>
          <a:bodyPr wrap="square">
            <a:spAutoFit/>
          </a:bodyPr>
          <a:lstStyle/>
          <a:p>
            <a:r>
              <a:rPr lang="zh-CN" altLang="en-US" sz="1200" dirty="0">
                <a:solidFill>
                  <a:srgbClr val="FF0000"/>
                </a:solidFill>
              </a:rPr>
              <a:t>①</a:t>
            </a:r>
          </a:p>
        </p:txBody>
      </p:sp>
      <p:sp>
        <p:nvSpPr>
          <p:cNvPr id="45" name="矩形 19"/>
          <p:cNvSpPr/>
          <p:nvPr/>
        </p:nvSpPr>
        <p:spPr>
          <a:xfrm>
            <a:off x="1619672" y="1700808"/>
            <a:ext cx="4913392" cy="141308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14"/>
          <p:cNvSpPr/>
          <p:nvPr/>
        </p:nvSpPr>
        <p:spPr>
          <a:xfrm>
            <a:off x="6194510" y="1959293"/>
            <a:ext cx="338554" cy="276999"/>
          </a:xfrm>
          <a:prstGeom prst="rect">
            <a:avLst/>
          </a:prstGeom>
        </p:spPr>
        <p:txBody>
          <a:bodyPr wrap="none">
            <a:spAutoFit/>
          </a:bodyPr>
          <a:lstStyle/>
          <a:p>
            <a:r>
              <a:rPr lang="zh-CN" altLang="en-US" sz="1200" dirty="0">
                <a:solidFill>
                  <a:srgbClr val="FF0000"/>
                </a:solidFill>
              </a:rPr>
              <a:t>③</a:t>
            </a:r>
          </a:p>
        </p:txBody>
      </p:sp>
      <p:sp>
        <p:nvSpPr>
          <p:cNvPr id="47" name="矩形 15"/>
          <p:cNvSpPr/>
          <p:nvPr/>
        </p:nvSpPr>
        <p:spPr>
          <a:xfrm>
            <a:off x="6194510" y="3588065"/>
            <a:ext cx="338554" cy="276999"/>
          </a:xfrm>
          <a:prstGeom prst="rect">
            <a:avLst/>
          </a:prstGeom>
        </p:spPr>
        <p:txBody>
          <a:bodyPr wrap="none">
            <a:spAutoFit/>
          </a:bodyPr>
          <a:lstStyle/>
          <a:p>
            <a:r>
              <a:rPr lang="zh-CN" altLang="en-US" sz="1200" dirty="0" smtClean="0">
                <a:solidFill>
                  <a:srgbClr val="FF0000"/>
                </a:solidFill>
              </a:rPr>
              <a:t>④</a:t>
            </a:r>
            <a:endParaRPr lang="zh-CN" altLang="en-US" sz="1200" dirty="0">
              <a:solidFill>
                <a:srgbClr val="FF0000"/>
              </a:solidFill>
            </a:endParaRPr>
          </a:p>
        </p:txBody>
      </p:sp>
      <p:sp>
        <p:nvSpPr>
          <p:cNvPr id="48" name="矩形 22"/>
          <p:cNvSpPr/>
          <p:nvPr/>
        </p:nvSpPr>
        <p:spPr>
          <a:xfrm>
            <a:off x="1619672" y="3212143"/>
            <a:ext cx="4913392" cy="79292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p:cNvPicPr>
            <a:picLocks noChangeAspect="1"/>
          </p:cNvPicPr>
          <p:nvPr/>
        </p:nvPicPr>
        <p:blipFill>
          <a:blip r:embed="rId3"/>
          <a:stretch>
            <a:fillRect/>
          </a:stretch>
        </p:blipFill>
        <p:spPr>
          <a:xfrm>
            <a:off x="-15569" y="706415"/>
            <a:ext cx="6675801" cy="3620001"/>
          </a:xfrm>
          <a:prstGeom prst="rect">
            <a:avLst/>
          </a:prstGeom>
        </p:spPr>
      </p:pic>
      <p:pic>
        <p:nvPicPr>
          <p:cNvPr id="7" name="Picture 6"/>
          <p:cNvPicPr>
            <a:picLocks noChangeAspect="1"/>
          </p:cNvPicPr>
          <p:nvPr/>
        </p:nvPicPr>
        <p:blipFill>
          <a:blip r:embed="rId4"/>
          <a:stretch>
            <a:fillRect/>
          </a:stretch>
        </p:blipFill>
        <p:spPr>
          <a:xfrm>
            <a:off x="2170725" y="1326682"/>
            <a:ext cx="2523809" cy="3628571"/>
          </a:xfrm>
          <a:prstGeom prst="rect">
            <a:avLst/>
          </a:prstGeom>
        </p:spPr>
      </p:pic>
    </p:spTree>
    <p:extLst>
      <p:ext uri="{BB962C8B-B14F-4D97-AF65-F5344CB8AC3E}">
        <p14:creationId xmlns:p14="http://schemas.microsoft.com/office/powerpoint/2010/main" val="2177521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65966" y="116632"/>
            <a:ext cx="2313946"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Thiết lập tổ chức –Thêm mới</a:t>
            </a:r>
            <a:endParaRPr lang="zh-CN" altLang="en-US" sz="1200" dirty="0">
              <a:latin typeface="Times New Roman" pitchFamily="18" charset="0"/>
              <a:cs typeface="Times New Roman" pitchFamily="18" charset="0"/>
            </a:endParaRPr>
          </a:p>
        </p:txBody>
      </p:sp>
      <p:sp>
        <p:nvSpPr>
          <p:cNvPr id="6" name="TextBox 5"/>
          <p:cNvSpPr txBox="1"/>
          <p:nvPr/>
        </p:nvSpPr>
        <p:spPr>
          <a:xfrm>
            <a:off x="7136376" y="1412776"/>
            <a:ext cx="930063" cy="276999"/>
          </a:xfrm>
          <a:prstGeom prst="rect">
            <a:avLst/>
          </a:prstGeom>
          <a:noFill/>
        </p:spPr>
        <p:txBody>
          <a:bodyPr wrap="none" rtlCol="0">
            <a:spAutoFit/>
          </a:bodyPr>
          <a:lstStyle/>
          <a:p>
            <a:r>
              <a:rPr lang="vi-VN" altLang="zh-CN" sz="1200" b="1" dirty="0" smtClean="0">
                <a:latin typeface="+mj-lt"/>
              </a:rPr>
              <a:t>Giải thích :</a:t>
            </a:r>
            <a:endParaRPr lang="zh-CN" altLang="en-US" sz="1200" b="1" dirty="0">
              <a:latin typeface="+mj-lt"/>
            </a:endParaRPr>
          </a:p>
        </p:txBody>
      </p:sp>
      <p:sp>
        <p:nvSpPr>
          <p:cNvPr id="9" name="TextBox 8"/>
          <p:cNvSpPr txBox="1"/>
          <p:nvPr/>
        </p:nvSpPr>
        <p:spPr>
          <a:xfrm>
            <a:off x="6660232" y="908720"/>
            <a:ext cx="2483768" cy="276999"/>
          </a:xfrm>
          <a:prstGeom prst="rect">
            <a:avLst/>
          </a:prstGeom>
          <a:noFill/>
        </p:spPr>
        <p:txBody>
          <a:bodyPr wrap="square" rtlCol="0">
            <a:spAutoFit/>
          </a:bodyPr>
          <a:lstStyle/>
          <a:p>
            <a:pPr algn="l"/>
            <a:r>
              <a:rPr lang="en-US" altLang="zh-CN" sz="1200" dirty="0" smtClean="0">
                <a:latin typeface="Times New Roman" panose="02020603050405020304" pitchFamily="18" charset="0"/>
                <a:cs typeface="Times New Roman" panose="02020603050405020304" pitchFamily="18" charset="0"/>
              </a:rPr>
              <a:t>Thêm 1 bộ phận, phòng ban </a:t>
            </a:r>
            <a:endParaRPr lang="en-US" altLang="zh-CN" sz="1000" dirty="0" smtClean="0">
              <a:latin typeface="Times New Roman" panose="02020603050405020304" pitchFamily="18" charset="0"/>
              <a:cs typeface="Times New Roman" panose="02020603050405020304" pitchFamily="18" charset="0"/>
            </a:endParaRPr>
          </a:p>
        </p:txBody>
      </p:sp>
      <p:sp>
        <p:nvSpPr>
          <p:cNvPr id="2" name="矩形 1"/>
          <p:cNvSpPr/>
          <p:nvPr/>
        </p:nvSpPr>
        <p:spPr>
          <a:xfrm>
            <a:off x="2483768" y="3140968"/>
            <a:ext cx="216024"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06291" y="3140969"/>
            <a:ext cx="689645"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6660232" y="1700808"/>
            <a:ext cx="2483768" cy="1477328"/>
          </a:xfrm>
          <a:prstGeom prst="rect">
            <a:avLst/>
          </a:prstGeom>
          <a:noFill/>
        </p:spPr>
        <p:txBody>
          <a:bodyPr wrap="square" rtlCol="0">
            <a:spAutoFit/>
          </a:bodyPr>
          <a:lstStyle/>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Chọn “Thêm mới”, hiển thị trang như trong hình</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Nhập tên phòng ban, loại tổ chức, trưởng phòng (nếu có)..</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Chọn “Lưu” lưu dữ liệu vừa thực hiện</a:t>
            </a:r>
          </a:p>
          <a:p>
            <a:pPr marL="228600" indent="-228600" algn="l">
              <a:buAutoNum type="arabicPeriod"/>
            </a:pPr>
            <a:endParaRPr lang="en-US" altLang="zh-CN" sz="1000" dirty="0" smtClean="0">
              <a:latin typeface="Times New Roman" panose="02020603050405020304" pitchFamily="18" charset="0"/>
              <a:cs typeface="Times New Roman" panose="02020603050405020304" pitchFamily="18" charset="0"/>
            </a:endParaRPr>
          </a:p>
          <a:p>
            <a:pPr marL="228600" indent="-228600" algn="l">
              <a:buAutoNum type="arabicPeriod"/>
            </a:pPr>
            <a:endParaRPr lang="en-US" altLang="zh-CN" sz="1000" dirty="0" smtClean="0">
              <a:latin typeface="Times New Roman" panose="02020603050405020304" pitchFamily="18" charset="0"/>
              <a:cs typeface="Times New Roman" panose="02020603050405020304" pitchFamily="18" charset="0"/>
            </a:endParaRPr>
          </a:p>
          <a:p>
            <a:pPr algn="l"/>
            <a:endParaRPr lang="zh-CN" altLang="en-US" sz="1000" dirty="0">
              <a:latin typeface="+mj-lt"/>
            </a:endParaRPr>
          </a:p>
          <a:p>
            <a:pPr algn="l"/>
            <a:r>
              <a:rPr lang="en-US" altLang="zh-CN" sz="1000" b="1" dirty="0" smtClean="0">
                <a:latin typeface="+mj-lt"/>
              </a:rPr>
              <a:t> </a:t>
            </a:r>
            <a:r>
              <a:rPr lang="zh-CN" altLang="en-US" sz="1000" b="1" dirty="0" smtClean="0">
                <a:latin typeface="+mj-lt"/>
              </a:rPr>
              <a:t>  </a:t>
            </a:r>
            <a:endParaRPr lang="zh-CN" altLang="en-US" sz="1000" dirty="0">
              <a:latin typeface="+mj-lt"/>
            </a:endParaRPr>
          </a:p>
        </p:txBody>
      </p:sp>
      <p:sp>
        <p:nvSpPr>
          <p:cNvPr id="32" name="矩形 12"/>
          <p:cNvSpPr/>
          <p:nvPr/>
        </p:nvSpPr>
        <p:spPr>
          <a:xfrm>
            <a:off x="1137102" y="2071881"/>
            <a:ext cx="338554" cy="276999"/>
          </a:xfrm>
          <a:prstGeom prst="rect">
            <a:avLst/>
          </a:prstGeom>
        </p:spPr>
        <p:txBody>
          <a:bodyPr wrap="square">
            <a:spAutoFit/>
          </a:bodyPr>
          <a:lstStyle/>
          <a:p>
            <a:r>
              <a:rPr lang="zh-CN" altLang="en-US" sz="1200" dirty="0">
                <a:solidFill>
                  <a:srgbClr val="FF0000"/>
                </a:solidFill>
              </a:rPr>
              <a:t>②</a:t>
            </a:r>
          </a:p>
        </p:txBody>
      </p:sp>
      <p:sp>
        <p:nvSpPr>
          <p:cNvPr id="43" name="矩形 3"/>
          <p:cNvSpPr/>
          <p:nvPr/>
        </p:nvSpPr>
        <p:spPr>
          <a:xfrm>
            <a:off x="22345" y="1651876"/>
            <a:ext cx="1525319" cy="24890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11"/>
          <p:cNvSpPr/>
          <p:nvPr/>
        </p:nvSpPr>
        <p:spPr>
          <a:xfrm>
            <a:off x="1227299" y="1667449"/>
            <a:ext cx="296331" cy="276999"/>
          </a:xfrm>
          <a:prstGeom prst="rect">
            <a:avLst/>
          </a:prstGeom>
          <a:ln>
            <a:noFill/>
          </a:ln>
        </p:spPr>
        <p:txBody>
          <a:bodyPr wrap="square">
            <a:spAutoFit/>
          </a:bodyPr>
          <a:lstStyle/>
          <a:p>
            <a:r>
              <a:rPr lang="zh-CN" altLang="en-US" sz="1200" dirty="0">
                <a:solidFill>
                  <a:srgbClr val="FF0000"/>
                </a:solidFill>
              </a:rPr>
              <a:t>①</a:t>
            </a:r>
          </a:p>
        </p:txBody>
      </p:sp>
      <p:sp>
        <p:nvSpPr>
          <p:cNvPr id="45" name="矩形 19"/>
          <p:cNvSpPr/>
          <p:nvPr/>
        </p:nvSpPr>
        <p:spPr>
          <a:xfrm>
            <a:off x="1619672" y="1700808"/>
            <a:ext cx="4913392" cy="141308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14"/>
          <p:cNvSpPr/>
          <p:nvPr/>
        </p:nvSpPr>
        <p:spPr>
          <a:xfrm>
            <a:off x="6194510" y="1959293"/>
            <a:ext cx="338554" cy="276999"/>
          </a:xfrm>
          <a:prstGeom prst="rect">
            <a:avLst/>
          </a:prstGeom>
        </p:spPr>
        <p:txBody>
          <a:bodyPr wrap="none">
            <a:spAutoFit/>
          </a:bodyPr>
          <a:lstStyle/>
          <a:p>
            <a:r>
              <a:rPr lang="zh-CN" altLang="en-US" sz="1200" dirty="0">
                <a:solidFill>
                  <a:srgbClr val="FF0000"/>
                </a:solidFill>
              </a:rPr>
              <a:t>③</a:t>
            </a:r>
          </a:p>
        </p:txBody>
      </p:sp>
      <p:sp>
        <p:nvSpPr>
          <p:cNvPr id="47" name="矩形 15"/>
          <p:cNvSpPr/>
          <p:nvPr/>
        </p:nvSpPr>
        <p:spPr>
          <a:xfrm>
            <a:off x="6194510" y="3588065"/>
            <a:ext cx="338554" cy="276999"/>
          </a:xfrm>
          <a:prstGeom prst="rect">
            <a:avLst/>
          </a:prstGeom>
        </p:spPr>
        <p:txBody>
          <a:bodyPr wrap="none">
            <a:spAutoFit/>
          </a:bodyPr>
          <a:lstStyle/>
          <a:p>
            <a:r>
              <a:rPr lang="zh-CN" altLang="en-US" sz="1200" dirty="0" smtClean="0">
                <a:solidFill>
                  <a:srgbClr val="FF0000"/>
                </a:solidFill>
              </a:rPr>
              <a:t>④</a:t>
            </a:r>
            <a:endParaRPr lang="zh-CN" altLang="en-US" sz="1200" dirty="0">
              <a:solidFill>
                <a:srgbClr val="FF0000"/>
              </a:solidFill>
            </a:endParaRPr>
          </a:p>
        </p:txBody>
      </p:sp>
      <p:sp>
        <p:nvSpPr>
          <p:cNvPr id="48" name="矩形 22"/>
          <p:cNvSpPr/>
          <p:nvPr/>
        </p:nvSpPr>
        <p:spPr>
          <a:xfrm>
            <a:off x="1619672" y="3212143"/>
            <a:ext cx="4913392" cy="79292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p:cNvPicPr>
            <a:picLocks noChangeAspect="1"/>
          </p:cNvPicPr>
          <p:nvPr/>
        </p:nvPicPr>
        <p:blipFill>
          <a:blip r:embed="rId3"/>
          <a:stretch>
            <a:fillRect/>
          </a:stretch>
        </p:blipFill>
        <p:spPr>
          <a:xfrm>
            <a:off x="22345" y="1109921"/>
            <a:ext cx="6637887" cy="3197434"/>
          </a:xfrm>
          <a:prstGeom prst="rect">
            <a:avLst/>
          </a:prstGeom>
        </p:spPr>
      </p:pic>
    </p:spTree>
    <p:extLst>
      <p:ext uri="{BB962C8B-B14F-4D97-AF65-F5344CB8AC3E}">
        <p14:creationId xmlns:p14="http://schemas.microsoft.com/office/powerpoint/2010/main" val="17574223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270774" y="116632"/>
            <a:ext cx="2653154" cy="261610"/>
          </a:xfrm>
          <a:prstGeom prst="rect">
            <a:avLst/>
          </a:prstGeom>
          <a:noFill/>
        </p:spPr>
        <p:txBody>
          <a:bodyPr wrap="square" rtlCol="0">
            <a:spAutoFit/>
          </a:bodyPr>
          <a:lstStyle/>
          <a:p>
            <a:r>
              <a:rPr lang="en-US" altLang="zh-CN" sz="1100" dirty="0" smtClean="0">
                <a:solidFill>
                  <a:prstClr val="black"/>
                </a:solidFill>
                <a:latin typeface="Times New Roman"/>
              </a:rPr>
              <a:t>Thiết lập tổ chức – Gộp bộ phận</a:t>
            </a:r>
            <a:endParaRPr lang="zh-CN" altLang="en-US" sz="1100" dirty="0">
              <a:latin typeface="Times New Roman" pitchFamily="18" charset="0"/>
              <a:cs typeface="Times New Roman" pitchFamily="18" charset="0"/>
            </a:endParaRPr>
          </a:p>
        </p:txBody>
      </p:sp>
      <p:sp>
        <p:nvSpPr>
          <p:cNvPr id="9" name="TextBox 8"/>
          <p:cNvSpPr txBox="1"/>
          <p:nvPr/>
        </p:nvSpPr>
        <p:spPr>
          <a:xfrm>
            <a:off x="6660232" y="1052736"/>
            <a:ext cx="2483768" cy="461665"/>
          </a:xfrm>
          <a:prstGeom prst="rect">
            <a:avLst/>
          </a:prstGeom>
          <a:noFill/>
        </p:spPr>
        <p:txBody>
          <a:bodyPr wrap="square" rtlCol="0">
            <a:spAutoFit/>
          </a:bodyPr>
          <a:lstStyle/>
          <a:p>
            <a:pPr algn="l"/>
            <a:r>
              <a:rPr lang="en-US" altLang="zh-CN" sz="1200" dirty="0" smtClean="0">
                <a:latin typeface="Times New Roman" panose="02020603050405020304" pitchFamily="18" charset="0"/>
                <a:cs typeface="Times New Roman" panose="02020603050405020304" pitchFamily="18" charset="0"/>
              </a:rPr>
              <a:t>Gộp 2 phòng ban thành 1 phòng ban mới hoặc gộp vào phòng ban đã có</a:t>
            </a:r>
            <a:endParaRPr lang="zh-CN" altLang="en-US" sz="1200" dirty="0">
              <a:latin typeface="Times New Roman" panose="02020603050405020304" pitchFamily="18" charset="0"/>
              <a:cs typeface="Times New Roman" panose="02020603050405020304" pitchFamily="18" charset="0"/>
            </a:endParaRPr>
          </a:p>
        </p:txBody>
      </p:sp>
      <p:sp>
        <p:nvSpPr>
          <p:cNvPr id="2" name="矩形 1"/>
          <p:cNvSpPr/>
          <p:nvPr/>
        </p:nvSpPr>
        <p:spPr>
          <a:xfrm>
            <a:off x="3232901" y="1354819"/>
            <a:ext cx="135765" cy="54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055425" y="1354820"/>
            <a:ext cx="433425" cy="54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6660232" y="1556206"/>
            <a:ext cx="2483768" cy="2677656"/>
          </a:xfrm>
          <a:prstGeom prst="rect">
            <a:avLst/>
          </a:prstGeom>
          <a:noFill/>
        </p:spPr>
        <p:txBody>
          <a:bodyPr wrap="square" rtlCol="0">
            <a:spAutoFit/>
          </a:bodyPr>
          <a:lstStyle/>
          <a:p>
            <a:pPr marL="228600" indent="-228600" algn="l">
              <a:buAutoNum type="arabicPeriod"/>
            </a:pPr>
            <a:r>
              <a:rPr lang="en-US" altLang="zh-CN" sz="1200" dirty="0" smtClean="0">
                <a:latin typeface="Times New Roman" panose="02020603050405020304" pitchFamily="18" charset="0"/>
                <a:cs typeface="Times New Roman" panose="02020603050405020304" pitchFamily="18" charset="0"/>
              </a:rPr>
              <a:t>Chọn phòng ban để xem chi tiết thông tin</a:t>
            </a:r>
          </a:p>
          <a:p>
            <a:pPr marL="228600" indent="-228600" algn="l">
              <a:buAutoNum type="arabicPeriod"/>
            </a:pPr>
            <a:r>
              <a:rPr lang="en-US" altLang="zh-CN" sz="1200" dirty="0" smtClean="0">
                <a:latin typeface="Times New Roman" panose="02020603050405020304" pitchFamily="18" charset="0"/>
                <a:cs typeface="Times New Roman" panose="02020603050405020304" pitchFamily="18" charset="0"/>
              </a:rPr>
              <a:t>Chọn “Gộp bộ phận”, hiển thị khung bên dưới</a:t>
            </a:r>
          </a:p>
          <a:p>
            <a:pPr algn="l"/>
            <a:r>
              <a:rPr lang="en-US" altLang="zh-CN" sz="1200" dirty="0" smtClean="0">
                <a:latin typeface="Times New Roman" panose="02020603050405020304" pitchFamily="18" charset="0"/>
                <a:cs typeface="Times New Roman" panose="02020603050405020304" pitchFamily="18" charset="0"/>
              </a:rPr>
              <a:t>4. Chọn 2 hoặc nhiều phòng ban cần gộp</a:t>
            </a:r>
          </a:p>
          <a:p>
            <a:pPr algn="l"/>
            <a:r>
              <a:rPr lang="en-US" altLang="zh-CN" sz="1200" dirty="0" smtClean="0">
                <a:latin typeface="Times New Roman" panose="02020603050405020304" pitchFamily="18" charset="0"/>
                <a:cs typeface="Times New Roman" panose="02020603050405020304" pitchFamily="18" charset="0"/>
              </a:rPr>
              <a:t>5. Chọn 1 phòng ban mới, hoặc phòng ban đã có</a:t>
            </a:r>
          </a:p>
          <a:p>
            <a:pPr algn="l"/>
            <a:r>
              <a:rPr lang="en-US" altLang="zh-CN" sz="1200" dirty="0" smtClean="0">
                <a:latin typeface="Times New Roman" panose="02020603050405020304" pitchFamily="18" charset="0"/>
                <a:cs typeface="Times New Roman" panose="02020603050405020304" pitchFamily="18" charset="0"/>
              </a:rPr>
              <a:t>6. Chọn “Lưu” để hoàn thành thao tác; “Đóng” để hủy bỏ thao tác</a:t>
            </a:r>
          </a:p>
          <a:p>
            <a:pPr algn="l"/>
            <a:r>
              <a:rPr lang="en-US" altLang="zh-CN" sz="1200" dirty="0" smtClean="0">
                <a:latin typeface="Times New Roman" panose="02020603050405020304" pitchFamily="18" charset="0"/>
                <a:cs typeface="Times New Roman" panose="02020603050405020304" pitchFamily="18" charset="0"/>
              </a:rPr>
              <a:t>--Sau khi gộp phòng ban, tất cả nhân viên đang làm tại 2 phòng ban cũ tự động chuyển đến phòng ban mới</a:t>
            </a:r>
            <a:endParaRPr lang="vi-VN" altLang="zh-CN" sz="1200" dirty="0" smtClean="0">
              <a:latin typeface="Times New Roman" panose="02020603050405020304" pitchFamily="18" charset="0"/>
              <a:cs typeface="Times New Roman" panose="02020603050405020304" pitchFamily="18" charset="0"/>
            </a:endParaRPr>
          </a:p>
          <a:p>
            <a:pPr algn="l"/>
            <a:endParaRPr lang="en-US" altLang="zh-CN" sz="1200" dirty="0" smtClean="0">
              <a:latin typeface="+mj-lt"/>
            </a:endParaRPr>
          </a:p>
        </p:txBody>
      </p:sp>
      <p:sp>
        <p:nvSpPr>
          <p:cNvPr id="22" name="矩形 3"/>
          <p:cNvSpPr/>
          <p:nvPr/>
        </p:nvSpPr>
        <p:spPr>
          <a:xfrm>
            <a:off x="2339751" y="2708921"/>
            <a:ext cx="997321" cy="1855328"/>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4"/>
          <p:cNvSpPr/>
          <p:nvPr/>
        </p:nvSpPr>
        <p:spPr>
          <a:xfrm>
            <a:off x="3060969" y="2725541"/>
            <a:ext cx="212773" cy="276999"/>
          </a:xfrm>
          <a:prstGeom prst="rect">
            <a:avLst/>
          </a:prstGeom>
        </p:spPr>
        <p:txBody>
          <a:bodyPr wrap="square">
            <a:spAutoFit/>
          </a:bodyPr>
          <a:lstStyle/>
          <a:p>
            <a:r>
              <a:rPr lang="zh-CN" altLang="en-US" sz="1200" dirty="0">
                <a:solidFill>
                  <a:srgbClr val="FF0000"/>
                </a:solidFill>
              </a:rPr>
              <a:t>②</a:t>
            </a:r>
          </a:p>
        </p:txBody>
      </p:sp>
      <p:sp>
        <p:nvSpPr>
          <p:cNvPr id="24" name="矩形 18"/>
          <p:cNvSpPr/>
          <p:nvPr/>
        </p:nvSpPr>
        <p:spPr>
          <a:xfrm>
            <a:off x="3500430" y="2646259"/>
            <a:ext cx="785818" cy="854748"/>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10"/>
          <p:cNvSpPr/>
          <p:nvPr/>
        </p:nvSpPr>
        <p:spPr>
          <a:xfrm>
            <a:off x="4073475" y="2646259"/>
            <a:ext cx="212773" cy="276999"/>
          </a:xfrm>
          <a:prstGeom prst="rect">
            <a:avLst/>
          </a:prstGeom>
        </p:spPr>
        <p:txBody>
          <a:bodyPr wrap="square">
            <a:spAutoFit/>
          </a:bodyPr>
          <a:lstStyle/>
          <a:p>
            <a:r>
              <a:rPr lang="zh-CN" altLang="en-US" sz="1200" dirty="0">
                <a:solidFill>
                  <a:srgbClr val="FF0000"/>
                </a:solidFill>
              </a:rPr>
              <a:t>③</a:t>
            </a:r>
          </a:p>
        </p:txBody>
      </p:sp>
      <p:sp>
        <p:nvSpPr>
          <p:cNvPr id="26" name="矩形 14"/>
          <p:cNvSpPr/>
          <p:nvPr/>
        </p:nvSpPr>
        <p:spPr>
          <a:xfrm>
            <a:off x="4144913" y="2369260"/>
            <a:ext cx="212773" cy="276999"/>
          </a:xfrm>
          <a:prstGeom prst="rect">
            <a:avLst/>
          </a:prstGeom>
          <a:ln>
            <a:noFill/>
          </a:ln>
        </p:spPr>
        <p:txBody>
          <a:bodyPr wrap="square">
            <a:spAutoFit/>
          </a:bodyPr>
          <a:lstStyle/>
          <a:p>
            <a:r>
              <a:rPr lang="zh-CN" altLang="en-US" sz="1200" dirty="0">
                <a:solidFill>
                  <a:srgbClr val="FF0000"/>
                </a:solidFill>
              </a:rPr>
              <a:t>①</a:t>
            </a:r>
          </a:p>
        </p:txBody>
      </p:sp>
      <p:sp>
        <p:nvSpPr>
          <p:cNvPr id="27" name="矩形 19"/>
          <p:cNvSpPr/>
          <p:nvPr/>
        </p:nvSpPr>
        <p:spPr>
          <a:xfrm>
            <a:off x="3482847" y="3636585"/>
            <a:ext cx="803401" cy="927664"/>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12"/>
          <p:cNvSpPr/>
          <p:nvPr/>
        </p:nvSpPr>
        <p:spPr>
          <a:xfrm>
            <a:off x="4067104" y="3657857"/>
            <a:ext cx="212773" cy="276999"/>
          </a:xfrm>
          <a:prstGeom prst="rect">
            <a:avLst/>
          </a:prstGeom>
        </p:spPr>
        <p:txBody>
          <a:bodyPr wrap="square">
            <a:spAutoFit/>
          </a:bodyPr>
          <a:lstStyle/>
          <a:p>
            <a:r>
              <a:rPr lang="zh-CN" altLang="en-US" sz="1200" dirty="0">
                <a:solidFill>
                  <a:srgbClr val="FF0000"/>
                </a:solidFill>
              </a:rPr>
              <a:t>④</a:t>
            </a:r>
          </a:p>
        </p:txBody>
      </p:sp>
      <p:pic>
        <p:nvPicPr>
          <p:cNvPr id="4" name="Picture 3"/>
          <p:cNvPicPr>
            <a:picLocks noChangeAspect="1"/>
          </p:cNvPicPr>
          <p:nvPr/>
        </p:nvPicPr>
        <p:blipFill>
          <a:blip r:embed="rId3"/>
          <a:stretch>
            <a:fillRect/>
          </a:stretch>
        </p:blipFill>
        <p:spPr>
          <a:xfrm>
            <a:off x="0" y="946046"/>
            <a:ext cx="6660232" cy="3676170"/>
          </a:xfrm>
          <a:prstGeom prst="rect">
            <a:avLst/>
          </a:prstGeom>
        </p:spPr>
      </p:pic>
      <p:pic>
        <p:nvPicPr>
          <p:cNvPr id="5" name="Picture 4"/>
          <p:cNvPicPr>
            <a:picLocks noChangeAspect="1"/>
          </p:cNvPicPr>
          <p:nvPr/>
        </p:nvPicPr>
        <p:blipFill>
          <a:blip r:embed="rId4"/>
          <a:stretch>
            <a:fillRect/>
          </a:stretch>
        </p:blipFill>
        <p:spPr>
          <a:xfrm>
            <a:off x="1408845" y="1887055"/>
            <a:ext cx="3919642" cy="3981577"/>
          </a:xfrm>
          <a:prstGeom prst="rect">
            <a:avLst/>
          </a:prstGeom>
        </p:spPr>
      </p:pic>
    </p:spTree>
    <p:extLst>
      <p:ext uri="{BB962C8B-B14F-4D97-AF65-F5344CB8AC3E}">
        <p14:creationId xmlns:p14="http://schemas.microsoft.com/office/powerpoint/2010/main" val="2287459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2016224" cy="261610"/>
          </a:xfrm>
          <a:prstGeom prst="rect">
            <a:avLst/>
          </a:prstGeom>
          <a:noFill/>
        </p:spPr>
        <p:txBody>
          <a:bodyPr wrap="square" rtlCol="0">
            <a:spAutoFit/>
          </a:bodyPr>
          <a:lstStyle/>
          <a:p>
            <a:r>
              <a:rPr lang="en-US" altLang="zh-CN" sz="1100" dirty="0" smtClean="0">
                <a:solidFill>
                  <a:prstClr val="black"/>
                </a:solidFill>
                <a:latin typeface="Times New Roman" pitchFamily="18" charset="0"/>
                <a:cs typeface="Times New Roman" pitchFamily="18" charset="0"/>
              </a:rPr>
              <a:t>Thiết lập tổ chức- Tách bộ phận</a:t>
            </a:r>
            <a:endParaRPr lang="zh-CN" altLang="en-US" sz="1100" dirty="0">
              <a:latin typeface="Times New Roman" pitchFamily="18" charset="0"/>
              <a:cs typeface="Times New Roman" pitchFamily="18" charset="0"/>
            </a:endParaRPr>
          </a:p>
        </p:txBody>
      </p:sp>
      <p:sp>
        <p:nvSpPr>
          <p:cNvPr id="9" name="TextBox 8"/>
          <p:cNvSpPr txBox="1"/>
          <p:nvPr/>
        </p:nvSpPr>
        <p:spPr>
          <a:xfrm>
            <a:off x="6660232" y="1484784"/>
            <a:ext cx="2483768" cy="830997"/>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Tách 1 phòng ban thành 2 hay nhiều phòng ban mới. Sau khi tách, các nhân viên phải được điều chuyển đến phòng ban mới</a:t>
            </a:r>
          </a:p>
        </p:txBody>
      </p:sp>
      <p:sp>
        <p:nvSpPr>
          <p:cNvPr id="16" name="TextBox 15"/>
          <p:cNvSpPr txBox="1"/>
          <p:nvPr/>
        </p:nvSpPr>
        <p:spPr>
          <a:xfrm>
            <a:off x="6669010" y="2420888"/>
            <a:ext cx="2483768" cy="2308324"/>
          </a:xfrm>
          <a:prstGeom prst="rect">
            <a:avLst/>
          </a:prstGeom>
          <a:noFill/>
        </p:spPr>
        <p:txBody>
          <a:bodyPr wrap="square" rtlCol="0">
            <a:spAutoFit/>
          </a:bodyPr>
          <a:lstStyle/>
          <a:p>
            <a:pPr marL="228600" indent="-228600" algn="l">
              <a:buAutoNum type="arabicPeriod"/>
            </a:pPr>
            <a:r>
              <a:rPr lang="en-US" altLang="zh-CN" sz="1200" dirty="0" smtClean="0">
                <a:latin typeface="Times New Roman" pitchFamily="18" charset="0"/>
                <a:cs typeface="Times New Roman" pitchFamily="18" charset="0"/>
              </a:rPr>
              <a:t>Chọn “Tách bộ phận”, hiển thị khung bên dưới</a:t>
            </a:r>
          </a:p>
          <a:p>
            <a:pPr marL="228600" indent="-228600" algn="l">
              <a:buAutoNum type="arabicPeriod"/>
            </a:pPr>
            <a:r>
              <a:rPr lang="en-US" altLang="zh-CN" sz="1200" dirty="0" smtClean="0">
                <a:latin typeface="Times New Roman" pitchFamily="18" charset="0"/>
                <a:cs typeface="Times New Roman" pitchFamily="18" charset="0"/>
              </a:rPr>
              <a:t>Chọn phòng ban cần tách</a:t>
            </a:r>
          </a:p>
          <a:p>
            <a:pPr marL="228600" indent="-228600" algn="l">
              <a:buAutoNum type="arabicPeriod"/>
            </a:pPr>
            <a:r>
              <a:rPr lang="en-US" altLang="zh-CN" sz="1200" dirty="0" smtClean="0">
                <a:latin typeface="Times New Roman" pitchFamily="18" charset="0"/>
                <a:cs typeface="Times New Roman" pitchFamily="18" charset="0"/>
              </a:rPr>
              <a:t>Chọn 2 hay nhiều phòng ban mới</a:t>
            </a:r>
          </a:p>
          <a:p>
            <a:pPr marL="228600" indent="-228600" algn="l">
              <a:buAutoNum type="arabicPeriod"/>
            </a:pPr>
            <a:r>
              <a:rPr lang="en-US" altLang="zh-CN" sz="1200" dirty="0" smtClean="0">
                <a:latin typeface="Times New Roman" pitchFamily="18" charset="0"/>
                <a:cs typeface="Times New Roman" pitchFamily="18" charset="0"/>
              </a:rPr>
              <a:t>Chọn nhân viên chuyển đến 2 hay nhiều phòng ban bên dưới thông qua ký hiệu chuyển lên, chuyển</a:t>
            </a:r>
          </a:p>
          <a:p>
            <a:pPr marL="228600" indent="-228600" algn="l">
              <a:buAutoNum type="arabicPeriod"/>
            </a:pPr>
            <a:r>
              <a:rPr lang="en-US" altLang="zh-CN" sz="1200" dirty="0" smtClean="0">
                <a:latin typeface="Times New Roman" pitchFamily="18" charset="0"/>
                <a:cs typeface="Times New Roman" pitchFamily="18" charset="0"/>
              </a:rPr>
              <a:t>Dùng 2 ký hiệu để di chuyển nhân viên</a:t>
            </a:r>
          </a:p>
          <a:p>
            <a:pPr marL="228600" indent="-228600" algn="l">
              <a:buAutoNum type="arabicPeriod"/>
            </a:pPr>
            <a:r>
              <a:rPr lang="en-US" altLang="zh-CN" sz="1200" dirty="0" smtClean="0">
                <a:latin typeface="Times New Roman" pitchFamily="18" charset="0"/>
                <a:cs typeface="Times New Roman" pitchFamily="18" charset="0"/>
              </a:rPr>
              <a:t>Chọn “Lưu” để hoàn thành thao tác; “Đóng” để hủy bỏ thao tác</a:t>
            </a:r>
          </a:p>
        </p:txBody>
      </p:sp>
      <p:pic>
        <p:nvPicPr>
          <p:cNvPr id="4" name="Picture 3"/>
          <p:cNvPicPr>
            <a:picLocks noChangeAspect="1"/>
          </p:cNvPicPr>
          <p:nvPr/>
        </p:nvPicPr>
        <p:blipFill>
          <a:blip r:embed="rId3"/>
          <a:stretch>
            <a:fillRect/>
          </a:stretch>
        </p:blipFill>
        <p:spPr>
          <a:xfrm>
            <a:off x="0" y="1111512"/>
            <a:ext cx="6642622" cy="3674568"/>
          </a:xfrm>
          <a:prstGeom prst="rect">
            <a:avLst/>
          </a:prstGeom>
        </p:spPr>
      </p:pic>
      <p:pic>
        <p:nvPicPr>
          <p:cNvPr id="5" name="Picture 4"/>
          <p:cNvPicPr>
            <a:picLocks noChangeAspect="1"/>
          </p:cNvPicPr>
          <p:nvPr/>
        </p:nvPicPr>
        <p:blipFill>
          <a:blip r:embed="rId4"/>
          <a:stretch>
            <a:fillRect/>
          </a:stretch>
        </p:blipFill>
        <p:spPr>
          <a:xfrm>
            <a:off x="1292097" y="2100352"/>
            <a:ext cx="4399566" cy="3361072"/>
          </a:xfrm>
          <a:prstGeom prst="rect">
            <a:avLst/>
          </a:prstGeom>
        </p:spPr>
      </p:pic>
    </p:spTree>
    <p:extLst>
      <p:ext uri="{BB962C8B-B14F-4D97-AF65-F5344CB8AC3E}">
        <p14:creationId xmlns:p14="http://schemas.microsoft.com/office/powerpoint/2010/main" val="10591159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2448272" cy="261610"/>
          </a:xfrm>
          <a:prstGeom prst="rect">
            <a:avLst/>
          </a:prstGeom>
          <a:noFill/>
        </p:spPr>
        <p:txBody>
          <a:bodyPr wrap="square" rtlCol="0">
            <a:spAutoFit/>
          </a:bodyPr>
          <a:lstStyle/>
          <a:p>
            <a:r>
              <a:rPr lang="en-US" altLang="zh-CN" sz="1100" dirty="0" smtClean="0">
                <a:solidFill>
                  <a:prstClr val="black"/>
                </a:solidFill>
                <a:latin typeface="Times New Roman" pitchFamily="18" charset="0"/>
                <a:cs typeface="Times New Roman" pitchFamily="18" charset="0"/>
              </a:rPr>
              <a:t>Thiết lập tổ chức- Xóa, Lưu, Tiếp theo</a:t>
            </a:r>
            <a:endParaRPr lang="zh-CN" altLang="en-US" sz="1100" dirty="0">
              <a:latin typeface="Times New Roman" pitchFamily="18" charset="0"/>
              <a:cs typeface="Times New Roman" pitchFamily="18" charset="0"/>
            </a:endParaRPr>
          </a:p>
        </p:txBody>
      </p:sp>
      <p:sp>
        <p:nvSpPr>
          <p:cNvPr id="9" name="TextBox 8"/>
          <p:cNvSpPr txBox="1"/>
          <p:nvPr/>
        </p:nvSpPr>
        <p:spPr>
          <a:xfrm>
            <a:off x="6660232" y="1484784"/>
            <a:ext cx="2483768" cy="1015663"/>
          </a:xfrm>
          <a:prstGeom prst="rect">
            <a:avLst/>
          </a:prstGeom>
          <a:noFill/>
        </p:spPr>
        <p:txBody>
          <a:bodyPr wrap="square" rtlCol="0">
            <a:spAutoFit/>
          </a:bodyPr>
          <a:lstStyle/>
          <a:p>
            <a:pPr algn="l"/>
            <a:r>
              <a:rPr lang="en-US" altLang="zh-CN" sz="1200" b="1" dirty="0"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xóa phòng ban</a:t>
            </a:r>
          </a:p>
          <a:p>
            <a:pPr algn="l"/>
            <a:r>
              <a:rPr lang="en-US" altLang="zh-CN" sz="1200" b="1" dirty="0" smtClean="0">
                <a:latin typeface="Times New Roman" pitchFamily="18" charset="0"/>
                <a:cs typeface="Times New Roman" pitchFamily="18" charset="0"/>
              </a:rPr>
              <a:t>Lưu</a:t>
            </a:r>
            <a:r>
              <a:rPr lang="en-US" altLang="zh-CN" sz="1200" dirty="0" smtClean="0">
                <a:latin typeface="Times New Roman" pitchFamily="18" charset="0"/>
                <a:cs typeface="Times New Roman" pitchFamily="18" charset="0"/>
              </a:rPr>
              <a:t>: lưu lại những thay đổi hoặc thêm mới</a:t>
            </a:r>
          </a:p>
          <a:p>
            <a:pPr algn="l"/>
            <a:r>
              <a:rPr lang="en-US" altLang="zh-CN" sz="1200" b="1" dirty="0" smtClean="0">
                <a:latin typeface="Times New Roman" pitchFamily="18" charset="0"/>
                <a:cs typeface="Times New Roman" pitchFamily="18" charset="0"/>
              </a:rPr>
              <a:t>Tiếp theo</a:t>
            </a:r>
            <a:r>
              <a:rPr lang="en-US" altLang="zh-CN" sz="1200" dirty="0" smtClean="0">
                <a:latin typeface="Times New Roman" pitchFamily="18" charset="0"/>
                <a:cs typeface="Times New Roman" pitchFamily="18" charset="0"/>
              </a:rPr>
              <a:t>: chuyển sang trang tiếp theo</a:t>
            </a:r>
          </a:p>
        </p:txBody>
      </p:sp>
      <p:sp>
        <p:nvSpPr>
          <p:cNvPr id="16" name="TextBox 15"/>
          <p:cNvSpPr txBox="1"/>
          <p:nvPr/>
        </p:nvSpPr>
        <p:spPr>
          <a:xfrm>
            <a:off x="6669010" y="2420888"/>
            <a:ext cx="2483768" cy="646331"/>
          </a:xfrm>
          <a:prstGeom prst="rect">
            <a:avLst/>
          </a:prstGeom>
          <a:noFill/>
        </p:spPr>
        <p:txBody>
          <a:bodyPr wrap="square" rtlCol="0">
            <a:spAutoFit/>
          </a:bodyPr>
          <a:lstStyle/>
          <a:p>
            <a:pPr marL="228600" indent="-228600" algn="l">
              <a:buAutoNum type="arabicPeriod"/>
            </a:pPr>
            <a:r>
              <a:rPr lang="en-US" altLang="zh-CN" sz="1200" dirty="0" smtClean="0">
                <a:latin typeface="Times New Roman" pitchFamily="18" charset="0"/>
                <a:cs typeface="Times New Roman" pitchFamily="18" charset="0"/>
              </a:rPr>
              <a:t>Chọn 1 phòng ban cần thao tác</a:t>
            </a:r>
          </a:p>
          <a:p>
            <a:pPr marL="228600" indent="-228600" algn="l">
              <a:buAutoNum type="arabicPeriod"/>
            </a:pPr>
            <a:r>
              <a:rPr lang="en-US" altLang="zh-CN" sz="1200" dirty="0" smtClean="0">
                <a:latin typeface="Times New Roman" pitchFamily="18" charset="0"/>
                <a:cs typeface="Times New Roman" pitchFamily="18" charset="0"/>
              </a:rPr>
              <a:t>Chọn “Xóa” xóa bỏ phòng ban khỏi lần thay đổi này</a:t>
            </a:r>
          </a:p>
        </p:txBody>
      </p:sp>
      <p:pic>
        <p:nvPicPr>
          <p:cNvPr id="2" name="Picture 1"/>
          <p:cNvPicPr>
            <a:picLocks noChangeAspect="1"/>
          </p:cNvPicPr>
          <p:nvPr/>
        </p:nvPicPr>
        <p:blipFill>
          <a:blip r:embed="rId3"/>
          <a:stretch>
            <a:fillRect/>
          </a:stretch>
        </p:blipFill>
        <p:spPr>
          <a:xfrm>
            <a:off x="0" y="1124744"/>
            <a:ext cx="6645958" cy="3740089"/>
          </a:xfrm>
          <a:prstGeom prst="rect">
            <a:avLst/>
          </a:prstGeom>
        </p:spPr>
      </p:pic>
    </p:spTree>
    <p:extLst>
      <p:ext uri="{BB962C8B-B14F-4D97-AF65-F5344CB8AC3E}">
        <p14:creationId xmlns:p14="http://schemas.microsoft.com/office/powerpoint/2010/main" val="14949390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03648" y="116632"/>
            <a:ext cx="3168352" cy="276999"/>
          </a:xfrm>
          <a:prstGeom prst="rect">
            <a:avLst/>
          </a:prstGeom>
          <a:noFill/>
        </p:spPr>
        <p:txBody>
          <a:bodyPr wrap="square" rtlCol="0">
            <a:spAutoFit/>
          </a:bodyPr>
          <a:lstStyle/>
          <a:p>
            <a:r>
              <a:rPr lang="en-US" altLang="zh-CN" sz="1200" dirty="0" smtClean="0">
                <a:latin typeface="Times New Roman" panose="02020603050405020304" pitchFamily="18" charset="0"/>
                <a:cs typeface="Times New Roman" panose="02020603050405020304" pitchFamily="18" charset="0"/>
              </a:rPr>
              <a:t>Thay đổi tổ chức –Kiểm tra trưởng bộ phận</a:t>
            </a:r>
            <a:endParaRPr lang="zh-CN" altLang="en-US" sz="1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732240" y="2231286"/>
            <a:ext cx="827470" cy="261610"/>
          </a:xfrm>
          <a:prstGeom prst="rect">
            <a:avLst/>
          </a:prstGeom>
          <a:noFill/>
        </p:spPr>
        <p:txBody>
          <a:bodyPr wrap="none" rtlCol="0">
            <a:spAutoFit/>
          </a:bodyPr>
          <a:lstStyle/>
          <a:p>
            <a:r>
              <a:rPr lang="vi-VN" altLang="zh-CN" sz="1100" b="1" dirty="0" smtClean="0">
                <a:latin typeface="+mj-lt"/>
              </a:rPr>
              <a:t>Giải thích:</a:t>
            </a:r>
            <a:endParaRPr lang="zh-CN" altLang="en-US" sz="1100" b="1" dirty="0">
              <a:latin typeface="+mj-lt"/>
            </a:endParaRPr>
          </a:p>
        </p:txBody>
      </p:sp>
      <p:sp>
        <p:nvSpPr>
          <p:cNvPr id="8" name="TextBox 7"/>
          <p:cNvSpPr txBox="1"/>
          <p:nvPr/>
        </p:nvSpPr>
        <p:spPr>
          <a:xfrm>
            <a:off x="6662540" y="2492896"/>
            <a:ext cx="2483768" cy="1477328"/>
          </a:xfrm>
          <a:prstGeom prst="rect">
            <a:avLst/>
          </a:prstGeom>
          <a:noFill/>
        </p:spPr>
        <p:txBody>
          <a:bodyPr wrap="square" rtlCol="0">
            <a:spAutoFit/>
          </a:bodyPr>
          <a:lstStyle/>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Các điều kiện tìm kiếm để tìm ra thông tin cần tim</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Nút chức năng thực hiện: Tra cứu, Lưu, In, Xuất Excel, Tiếp theo</a:t>
            </a:r>
          </a:p>
          <a:p>
            <a:pPr algn="l"/>
            <a:r>
              <a:rPr lang="en-US" altLang="zh-CN" sz="1000" dirty="0" smtClean="0">
                <a:latin typeface="Times New Roman" panose="02020603050405020304" pitchFamily="18" charset="0"/>
                <a:cs typeface="Times New Roman" panose="02020603050405020304" pitchFamily="18" charset="0"/>
              </a:rPr>
              <a:t>-- </a:t>
            </a:r>
            <a:r>
              <a:rPr lang="en-US" altLang="zh-CN" sz="1000" dirty="0" smtClean="0">
                <a:solidFill>
                  <a:srgbClr val="0070C0"/>
                </a:solidFill>
                <a:latin typeface="Times New Roman" panose="02020603050405020304" pitchFamily="18" charset="0"/>
                <a:cs typeface="Times New Roman" panose="02020603050405020304" pitchFamily="18" charset="0"/>
              </a:rPr>
              <a:t>Đối với phòng ban chưa có trưởng phòng, người dùng có thể tìm 1 người kiêm nhiệm phòng ban đó bằng cách: phần họ tên tìm kiếm nhân viên, sau đó cột “Kiêm nhiệm” tích chọn và cuối cùng chọn “Lưu”</a:t>
            </a:r>
            <a:endParaRPr lang="en-US" altLang="zh-CN" sz="1000" dirty="0">
              <a:solidFill>
                <a:srgbClr val="0070C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6660232" y="1484784"/>
            <a:ext cx="2483768" cy="830997"/>
          </a:xfrm>
          <a:prstGeom prst="rect">
            <a:avLst/>
          </a:prstGeom>
          <a:noFill/>
        </p:spPr>
        <p:txBody>
          <a:bodyPr wrap="square" rtlCol="0">
            <a:spAutoFit/>
          </a:bodyPr>
          <a:lstStyle/>
          <a:p>
            <a:pPr algn="l"/>
            <a:r>
              <a:rPr lang="en-US" altLang="zh-CN" sz="1200" dirty="0" smtClean="0">
                <a:latin typeface="Times New Roman" panose="02020603050405020304" pitchFamily="18" charset="0"/>
                <a:cs typeface="Times New Roman" panose="02020603050405020304" pitchFamily="18" charset="0"/>
              </a:rPr>
              <a:t>Kiểm tra trưởng các bộ phận, phòng ban sau thay đổi, hoặc có thể thiết lập trưởng phòng khi bộ phận nào đo chưa có người làm</a:t>
            </a:r>
            <a:endParaRPr lang="en-US" altLang="zh-CN" sz="1000" dirty="0" smtClean="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0" y="1052736"/>
            <a:ext cx="6624375" cy="3663297"/>
          </a:xfrm>
          <a:prstGeom prst="rect">
            <a:avLst/>
          </a:prstGeom>
        </p:spPr>
      </p:pic>
    </p:spTree>
    <p:extLst>
      <p:ext uri="{BB962C8B-B14F-4D97-AF65-F5344CB8AC3E}">
        <p14:creationId xmlns:p14="http://schemas.microsoft.com/office/powerpoint/2010/main" val="3827046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331640" y="116632"/>
            <a:ext cx="3168352" cy="276999"/>
          </a:xfrm>
          <a:prstGeom prst="rect">
            <a:avLst/>
          </a:prstGeom>
          <a:noFill/>
        </p:spPr>
        <p:txBody>
          <a:bodyPr wrap="square" rtlCol="0">
            <a:spAutoFit/>
          </a:bodyPr>
          <a:lstStyle/>
          <a:p>
            <a:r>
              <a:rPr lang="en-US" altLang="zh-CN" sz="1200" dirty="0" smtClean="0">
                <a:latin typeface="Times New Roman" panose="02020603050405020304" pitchFamily="18" charset="0"/>
                <a:cs typeface="Times New Roman" panose="02020603050405020304" pitchFamily="18" charset="0"/>
              </a:rPr>
              <a:t>Quy trình thay đổi –Tự động tạo ra quyết định</a:t>
            </a:r>
            <a:endParaRPr lang="zh-CN" altLang="en-US" sz="1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809719" y="2914198"/>
            <a:ext cx="827470" cy="261610"/>
          </a:xfrm>
          <a:prstGeom prst="rect">
            <a:avLst/>
          </a:prstGeom>
          <a:noFill/>
        </p:spPr>
        <p:txBody>
          <a:bodyPr wrap="none" rtlCol="0">
            <a:spAutoFit/>
          </a:bodyPr>
          <a:lstStyle/>
          <a:p>
            <a:r>
              <a:rPr lang="vi-VN" altLang="zh-CN" sz="1100" b="1" dirty="0" smtClean="0">
                <a:latin typeface="+mj-lt"/>
              </a:rPr>
              <a:t>Giải thích:</a:t>
            </a:r>
            <a:endParaRPr lang="zh-CN" altLang="en-US" sz="1100" b="1" dirty="0">
              <a:latin typeface="+mj-lt"/>
            </a:endParaRPr>
          </a:p>
        </p:txBody>
      </p:sp>
      <p:sp>
        <p:nvSpPr>
          <p:cNvPr id="8" name="TextBox 7"/>
          <p:cNvSpPr txBox="1"/>
          <p:nvPr/>
        </p:nvSpPr>
        <p:spPr>
          <a:xfrm>
            <a:off x="6662540" y="3175808"/>
            <a:ext cx="2483768" cy="553998"/>
          </a:xfrm>
          <a:prstGeom prst="rect">
            <a:avLst/>
          </a:prstGeom>
          <a:noFill/>
        </p:spPr>
        <p:txBody>
          <a:bodyPr wrap="square" rtlCol="0">
            <a:spAutoFit/>
          </a:bodyPr>
          <a:lstStyle/>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Tích chọn “Tự động tạo ra quyết định” màu cam</a:t>
            </a:r>
          </a:p>
          <a:p>
            <a:pPr marL="228600" indent="-228600" algn="l">
              <a:buAutoNum type="arabicPeriod"/>
            </a:pPr>
            <a:r>
              <a:rPr lang="en-US" altLang="zh-CN" sz="1000" dirty="0" smtClean="0">
                <a:latin typeface="Times New Roman" panose="02020603050405020304" pitchFamily="18" charset="0"/>
                <a:cs typeface="Times New Roman" panose="02020603050405020304" pitchFamily="18" charset="0"/>
              </a:rPr>
              <a:t>Chọn “Thực hiện” để xử lý thao tác</a:t>
            </a:r>
            <a:endParaRPr lang="en-US" altLang="zh-CN" sz="1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6746118" y="970323"/>
            <a:ext cx="2483768" cy="1938992"/>
          </a:xfrm>
          <a:prstGeom prst="rect">
            <a:avLst/>
          </a:prstGeom>
          <a:noFill/>
        </p:spPr>
        <p:txBody>
          <a:bodyPr wrap="square" rtlCol="0">
            <a:spAutoFit/>
          </a:bodyPr>
          <a:lstStyle/>
          <a:p>
            <a:pPr algn="l"/>
            <a:r>
              <a:rPr lang="en-US" altLang="zh-CN" sz="1200" dirty="0" smtClean="0">
                <a:latin typeface="Times New Roman" panose="02020603050405020304" pitchFamily="18" charset="0"/>
                <a:cs typeface="Times New Roman" panose="02020603050405020304" pitchFamily="18" charset="0"/>
              </a:rPr>
              <a:t>Sau khi kiểm tra trưởng phòng các phòng ban, chọn “Tiếp theo” hệ thống đưa đến trang này để thực hiện “Tự động tạo ra quyết định”</a:t>
            </a:r>
          </a:p>
          <a:p>
            <a:pPr algn="l"/>
            <a:r>
              <a:rPr lang="en-US" altLang="zh-CN" sz="1200" dirty="0" smtClean="0">
                <a:latin typeface="Times New Roman" panose="02020603050405020304" pitchFamily="18" charset="0"/>
                <a:cs typeface="Times New Roman" panose="02020603050405020304" pitchFamily="18" charset="0"/>
              </a:rPr>
              <a:t>Tự động tạo ra quyết định: có nghĩa là để hệ thống phán đoán được trong quá trình thay đổi, có các nhân viên điều chuyển sang phòng ban khác, hoặc kiêm nhiệm, hệ thống tự động xử lý</a:t>
            </a:r>
            <a:endParaRPr lang="en-US" altLang="zh-CN" sz="1000" dirty="0" smtClean="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0" y="938172"/>
            <a:ext cx="6630740" cy="3679887"/>
          </a:xfrm>
          <a:prstGeom prst="rect">
            <a:avLst/>
          </a:prstGeom>
        </p:spPr>
      </p:pic>
    </p:spTree>
    <p:extLst>
      <p:ext uri="{BB962C8B-B14F-4D97-AF65-F5344CB8AC3E}">
        <p14:creationId xmlns:p14="http://schemas.microsoft.com/office/powerpoint/2010/main" val="38836783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1714" y="127665"/>
            <a:ext cx="2668238"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Thay đổi tổ chức- Kiểm tra quyết định</a:t>
            </a:r>
            <a:endParaRPr lang="zh-CN" altLang="en-US" sz="1200" dirty="0">
              <a:latin typeface="Times New Roman" pitchFamily="18" charset="0"/>
              <a:cs typeface="Times New Roman" pitchFamily="18" charset="0"/>
            </a:endParaRPr>
          </a:p>
        </p:txBody>
      </p:sp>
      <p:sp>
        <p:nvSpPr>
          <p:cNvPr id="6" name="TextBox 5"/>
          <p:cNvSpPr txBox="1"/>
          <p:nvPr/>
        </p:nvSpPr>
        <p:spPr>
          <a:xfrm>
            <a:off x="6660232" y="2055331"/>
            <a:ext cx="1919115" cy="276999"/>
          </a:xfrm>
          <a:prstGeom prst="rect">
            <a:avLst/>
          </a:prstGeom>
          <a:noFill/>
        </p:spPr>
        <p:txBody>
          <a:bodyPr wrap="none" rtlCol="0">
            <a:spAutoFit/>
          </a:bodyPr>
          <a:lstStyle/>
          <a:p>
            <a:r>
              <a:rPr lang="vi-VN" altLang="zh-CN" sz="1200" b="1" dirty="0" smtClean="0">
                <a:latin typeface="Times New Roman" pitchFamily="18" charset="0"/>
                <a:cs typeface="Times New Roman" pitchFamily="18" charset="0"/>
              </a:rPr>
              <a:t>Giải thích chức năng nút:</a:t>
            </a:r>
            <a:endParaRPr lang="zh-CN" altLang="en-US" sz="1200" b="1" dirty="0">
              <a:latin typeface="Times New Roman" pitchFamily="18" charset="0"/>
              <a:cs typeface="Times New Roman" pitchFamily="18" charset="0"/>
            </a:endParaRPr>
          </a:p>
        </p:txBody>
      </p:sp>
      <p:sp>
        <p:nvSpPr>
          <p:cNvPr id="8" name="TextBox 7"/>
          <p:cNvSpPr txBox="1"/>
          <p:nvPr/>
        </p:nvSpPr>
        <p:spPr>
          <a:xfrm>
            <a:off x="6660232" y="2310086"/>
            <a:ext cx="2483768" cy="1938992"/>
          </a:xfrm>
          <a:prstGeom prst="rect">
            <a:avLst/>
          </a:prstGeom>
          <a:noFill/>
        </p:spPr>
        <p:txBody>
          <a:bodyPr wrap="square" rtlCol="0">
            <a:spAutoFit/>
          </a:bodyPr>
          <a:lstStyle/>
          <a:p>
            <a:pPr marL="228600" indent="-228600" algn="l">
              <a:buAutoNum type="arabicPeriod"/>
            </a:pPr>
            <a:r>
              <a:rPr lang="en-US" altLang="zh-CN" sz="1200" dirty="0" smtClean="0">
                <a:latin typeface="Times New Roman" pitchFamily="18" charset="0"/>
                <a:cs typeface="Times New Roman" pitchFamily="18" charset="0"/>
              </a:rPr>
              <a:t>Hiển thị các điều kiện tìm kiếm để người dùng tìm ra thông tin nhanh nhất</a:t>
            </a:r>
          </a:p>
          <a:p>
            <a:pPr marL="228600" indent="-228600" algn="l">
              <a:buAutoNum type="arabicPeriod"/>
            </a:pPr>
            <a:r>
              <a:rPr lang="en-US" altLang="zh-CN" sz="1200" dirty="0" smtClean="0">
                <a:latin typeface="Times New Roman" pitchFamily="18" charset="0"/>
                <a:cs typeface="Times New Roman" pitchFamily="18" charset="0"/>
              </a:rPr>
              <a:t>Tích chọn nhân viên cần thực hiện quyết định</a:t>
            </a:r>
          </a:p>
          <a:p>
            <a:pPr marL="228600" indent="-228600" algn="l">
              <a:buAutoNum type="arabicPeriod"/>
            </a:pPr>
            <a:r>
              <a:rPr lang="en-US" altLang="zh-CN" sz="1200" dirty="0" smtClean="0">
                <a:latin typeface="Times New Roman" pitchFamily="18" charset="0"/>
                <a:cs typeface="Times New Roman" pitchFamily="18" charset="0"/>
              </a:rPr>
              <a:t>Chọn quyết định mới </a:t>
            </a:r>
          </a:p>
          <a:p>
            <a:pPr marL="228600" indent="-228600" algn="l">
              <a:buAutoNum type="arabicPeriod"/>
            </a:pPr>
            <a:r>
              <a:rPr lang="en-US" altLang="zh-CN" sz="1200" dirty="0" smtClean="0">
                <a:latin typeface="Times New Roman" pitchFamily="18" charset="0"/>
                <a:cs typeface="Times New Roman" pitchFamily="18" charset="0"/>
              </a:rPr>
              <a:t>Chọn “Lưu” để lưu lại thông tin vừa thực hiện</a:t>
            </a:r>
          </a:p>
          <a:p>
            <a:pPr algn="l"/>
            <a:r>
              <a:rPr lang="en-US" altLang="zh-CN" sz="1200" dirty="0" smtClean="0">
                <a:latin typeface="Times New Roman" pitchFamily="18" charset="0"/>
                <a:cs typeface="Times New Roman" pitchFamily="18" charset="0"/>
              </a:rPr>
              <a:t>--Sau khi thực hiện xong, chọn “Tiếp theo” để sang trang sau</a:t>
            </a:r>
          </a:p>
        </p:txBody>
      </p:sp>
      <p:sp>
        <p:nvSpPr>
          <p:cNvPr id="9" name="TextBox 8"/>
          <p:cNvSpPr txBox="1"/>
          <p:nvPr/>
        </p:nvSpPr>
        <p:spPr>
          <a:xfrm>
            <a:off x="6635141" y="1165358"/>
            <a:ext cx="2483768" cy="830997"/>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Hiển thị các nhân viên điều động, bổ nhiệm, kiêm nhiệm trong quá trình thay đổi tổ chức, đồng thời thiết lập cho nhân viên đó quyết định mới</a:t>
            </a:r>
            <a:endParaRPr lang="zh-CN" altLang="en-US" sz="1200" dirty="0">
              <a:latin typeface="Times New Roman" pitchFamily="18" charset="0"/>
              <a:cs typeface="Times New Roman" pitchFamily="18" charset="0"/>
            </a:endParaRPr>
          </a:p>
        </p:txBody>
      </p:sp>
      <p:pic>
        <p:nvPicPr>
          <p:cNvPr id="10"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5063167"/>
            <a:ext cx="133350" cy="25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2483768" y="3140968"/>
            <a:ext cx="216024"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4" name="矩形 3"/>
          <p:cNvSpPr/>
          <p:nvPr/>
        </p:nvSpPr>
        <p:spPr>
          <a:xfrm>
            <a:off x="4932040" y="2636912"/>
            <a:ext cx="216024"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21" name="矩形 13"/>
          <p:cNvSpPr/>
          <p:nvPr/>
        </p:nvSpPr>
        <p:spPr>
          <a:xfrm>
            <a:off x="1471714" y="2429845"/>
            <a:ext cx="291974" cy="276999"/>
          </a:xfrm>
          <a:prstGeom prst="rect">
            <a:avLst/>
          </a:prstGeom>
          <a:ln>
            <a:noFill/>
          </a:ln>
        </p:spPr>
        <p:txBody>
          <a:bodyPr wrap="square">
            <a:spAutoFit/>
          </a:bodyPr>
          <a:lstStyle/>
          <a:p>
            <a:r>
              <a:rPr lang="zh-CN" altLang="en-US" sz="1200" dirty="0">
                <a:solidFill>
                  <a:srgbClr val="FF0000"/>
                </a:solidFill>
                <a:latin typeface="Times New Roman" pitchFamily="18" charset="0"/>
                <a:cs typeface="Times New Roman" pitchFamily="18" charset="0"/>
              </a:rPr>
              <a:t>①</a:t>
            </a:r>
          </a:p>
        </p:txBody>
      </p:sp>
      <p:sp>
        <p:nvSpPr>
          <p:cNvPr id="23" name="矩形 25"/>
          <p:cNvSpPr/>
          <p:nvPr/>
        </p:nvSpPr>
        <p:spPr>
          <a:xfrm>
            <a:off x="1938808" y="3483953"/>
            <a:ext cx="4577408" cy="1000132"/>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24" name="矩形 26"/>
          <p:cNvSpPr/>
          <p:nvPr/>
        </p:nvSpPr>
        <p:spPr>
          <a:xfrm>
            <a:off x="6120115" y="3689008"/>
            <a:ext cx="291974" cy="276999"/>
          </a:xfrm>
          <a:prstGeom prst="rect">
            <a:avLst/>
          </a:prstGeom>
        </p:spPr>
        <p:txBody>
          <a:bodyPr wrap="square">
            <a:spAutoFit/>
          </a:bodyPr>
          <a:lstStyle/>
          <a:p>
            <a:r>
              <a:rPr lang="zh-CN" altLang="en-US" sz="1200" dirty="0">
                <a:solidFill>
                  <a:srgbClr val="FF0000"/>
                </a:solidFill>
                <a:latin typeface="Times New Roman" pitchFamily="18" charset="0"/>
                <a:cs typeface="Times New Roman" pitchFamily="18" charset="0"/>
              </a:rPr>
              <a:t>②</a:t>
            </a:r>
          </a:p>
        </p:txBody>
      </p:sp>
      <p:pic>
        <p:nvPicPr>
          <p:cNvPr id="5" name="Picture 4"/>
          <p:cNvPicPr>
            <a:picLocks noChangeAspect="1"/>
          </p:cNvPicPr>
          <p:nvPr/>
        </p:nvPicPr>
        <p:blipFill>
          <a:blip r:embed="rId4"/>
          <a:stretch>
            <a:fillRect/>
          </a:stretch>
        </p:blipFill>
        <p:spPr>
          <a:xfrm>
            <a:off x="-5385" y="1196752"/>
            <a:ext cx="6626338" cy="3693993"/>
          </a:xfrm>
          <a:prstGeom prst="rect">
            <a:avLst/>
          </a:prstGeom>
        </p:spPr>
      </p:pic>
    </p:spTree>
    <p:extLst>
      <p:ext uri="{BB962C8B-B14F-4D97-AF65-F5344CB8AC3E}">
        <p14:creationId xmlns:p14="http://schemas.microsoft.com/office/powerpoint/2010/main" val="1274311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3168352"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Thay đổi tổ chức –Kiểm tra quyết định dự kiến</a:t>
            </a:r>
            <a:endParaRPr lang="zh-CN" altLang="en-US" sz="1200" dirty="0">
              <a:latin typeface="Times New Roman" pitchFamily="18" charset="0"/>
              <a:cs typeface="Times New Roman" pitchFamily="18" charset="0"/>
            </a:endParaRPr>
          </a:p>
        </p:txBody>
      </p:sp>
      <p:sp>
        <p:nvSpPr>
          <p:cNvPr id="6" name="TextBox 5"/>
          <p:cNvSpPr txBox="1"/>
          <p:nvPr/>
        </p:nvSpPr>
        <p:spPr>
          <a:xfrm>
            <a:off x="6876256" y="2575937"/>
            <a:ext cx="930063" cy="276999"/>
          </a:xfrm>
          <a:prstGeom prst="rect">
            <a:avLst/>
          </a:prstGeom>
          <a:noFill/>
        </p:spPr>
        <p:txBody>
          <a:bodyPr wrap="none" rtlCol="0">
            <a:spAutoFit/>
          </a:bodyPr>
          <a:lstStyle/>
          <a:p>
            <a:r>
              <a:rPr lang="vi-VN" altLang="zh-CN" sz="1200" b="1" dirty="0" smtClean="0">
                <a:latin typeface="Times New Roman" pitchFamily="18" charset="0"/>
                <a:cs typeface="Times New Roman" pitchFamily="18" charset="0"/>
              </a:rPr>
              <a:t>Giải thích :</a:t>
            </a:r>
            <a:endParaRPr lang="zh-CN" altLang="en-US" sz="1200" b="1" dirty="0">
              <a:latin typeface="Times New Roman" pitchFamily="18" charset="0"/>
              <a:cs typeface="Times New Roman" pitchFamily="18" charset="0"/>
            </a:endParaRPr>
          </a:p>
        </p:txBody>
      </p:sp>
      <p:sp>
        <p:nvSpPr>
          <p:cNvPr id="8" name="TextBox 7"/>
          <p:cNvSpPr txBox="1"/>
          <p:nvPr/>
        </p:nvSpPr>
        <p:spPr>
          <a:xfrm>
            <a:off x="6660232" y="2902292"/>
            <a:ext cx="2483768" cy="2308324"/>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Ví dụ: 1 nhân viên mới vào làm, nhân sự tại hệ thống lựa chọn phòng ban họ làm việc. Trước khi chính thức làm việc tại phòng ban đó, nhân viên có thể tham gia đào tạo tại phòng nhân sự…cuối cùng mới chính thức thuộc phòng ban đã chọn. Tuy nhiên trong quá trinh nhân viên đang đào tạo, cấu trúc tổ chức thay đổi làm phòng ban sau này làm việc thay đổi thì thông tin nhân viên này sẽ hiển thị ở đây</a:t>
            </a:r>
          </a:p>
        </p:txBody>
      </p:sp>
      <p:sp>
        <p:nvSpPr>
          <p:cNvPr id="9" name="TextBox 8"/>
          <p:cNvSpPr txBox="1"/>
          <p:nvPr/>
        </p:nvSpPr>
        <p:spPr>
          <a:xfrm>
            <a:off x="6660232" y="1484784"/>
            <a:ext cx="2483768" cy="1015663"/>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Hiển thị những nhân viên do quá trình thay đổi tổ chức lần này ảnh hưởng đến các quyết định dự kiến được thiết lập trên hệ thống đối với họ</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24744"/>
            <a:ext cx="6623719" cy="359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91412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3168352"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Quy trình thay đổi –Tạo ra nội dung thay đổi</a:t>
            </a:r>
            <a:endParaRPr lang="zh-CN" altLang="en-US" sz="1200" dirty="0">
              <a:latin typeface="Times New Roman" pitchFamily="18" charset="0"/>
              <a:cs typeface="Times New Roman" pitchFamily="18" charset="0"/>
            </a:endParaRPr>
          </a:p>
        </p:txBody>
      </p:sp>
      <p:sp>
        <p:nvSpPr>
          <p:cNvPr id="6" name="TextBox 5"/>
          <p:cNvSpPr txBox="1"/>
          <p:nvPr/>
        </p:nvSpPr>
        <p:spPr>
          <a:xfrm>
            <a:off x="6804248" y="2276872"/>
            <a:ext cx="930063" cy="276999"/>
          </a:xfrm>
          <a:prstGeom prst="rect">
            <a:avLst/>
          </a:prstGeom>
          <a:noFill/>
        </p:spPr>
        <p:txBody>
          <a:bodyPr wrap="none" rtlCol="0">
            <a:spAutoFit/>
          </a:bodyPr>
          <a:lstStyle/>
          <a:p>
            <a:r>
              <a:rPr lang="vi-VN" altLang="zh-CN" sz="1200" b="1" dirty="0" smtClean="0">
                <a:latin typeface="Times New Roman" pitchFamily="18" charset="0"/>
                <a:cs typeface="Times New Roman" pitchFamily="18" charset="0"/>
              </a:rPr>
              <a:t>Giải thích :</a:t>
            </a:r>
            <a:endParaRPr lang="zh-CN" altLang="en-US" sz="1200" b="1" dirty="0">
              <a:latin typeface="Times New Roman" pitchFamily="18" charset="0"/>
              <a:cs typeface="Times New Roman" pitchFamily="18" charset="0"/>
            </a:endParaRPr>
          </a:p>
        </p:txBody>
      </p:sp>
      <p:sp>
        <p:nvSpPr>
          <p:cNvPr id="9" name="TextBox 8"/>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Hệ thống tự động cập nhật tất cả thay đổi trong lần thay đổi tổ chức này</a:t>
            </a:r>
          </a:p>
        </p:txBody>
      </p:sp>
      <p:pic>
        <p:nvPicPr>
          <p:cNvPr id="3" name="Picture 2"/>
          <p:cNvPicPr>
            <a:picLocks noChangeAspect="1"/>
          </p:cNvPicPr>
          <p:nvPr/>
        </p:nvPicPr>
        <p:blipFill>
          <a:blip r:embed="rId3"/>
          <a:stretch>
            <a:fillRect/>
          </a:stretch>
        </p:blipFill>
        <p:spPr>
          <a:xfrm>
            <a:off x="22539" y="1268760"/>
            <a:ext cx="6596970" cy="3365590"/>
          </a:xfrm>
          <a:prstGeom prst="rect">
            <a:avLst/>
          </a:prstGeom>
        </p:spPr>
      </p:pic>
      <p:sp>
        <p:nvSpPr>
          <p:cNvPr id="10" name="TextBox 9"/>
          <p:cNvSpPr txBox="1"/>
          <p:nvPr/>
        </p:nvSpPr>
        <p:spPr>
          <a:xfrm>
            <a:off x="6660232" y="2557319"/>
            <a:ext cx="2483768" cy="1015663"/>
          </a:xfrm>
          <a:prstGeom prst="rect">
            <a:avLst/>
          </a:prstGeom>
          <a:noFill/>
        </p:spPr>
        <p:txBody>
          <a:bodyPr wrap="square" rtlCol="0">
            <a:spAutoFit/>
          </a:bodyPr>
          <a:lstStyle/>
          <a:p>
            <a:pPr marL="228600" indent="-228600" algn="l">
              <a:buAutoNum type="arabicPeriod"/>
            </a:pPr>
            <a:r>
              <a:rPr lang="en-US" altLang="zh-CN" sz="1200" dirty="0" smtClean="0">
                <a:latin typeface="Times New Roman" pitchFamily="18" charset="0"/>
                <a:cs typeface="Times New Roman" pitchFamily="18" charset="0"/>
              </a:rPr>
              <a:t>Chọn “ Tạo ra nội dung thay đổi”</a:t>
            </a:r>
          </a:p>
          <a:p>
            <a:pPr marL="228600" indent="-228600" algn="l">
              <a:buFontTx/>
              <a:buAutoNum type="arabicPeriod"/>
            </a:pPr>
            <a:r>
              <a:rPr lang="en-US" altLang="zh-CN" sz="1200" dirty="0" smtClean="0">
                <a:latin typeface="Times New Roman" pitchFamily="18" charset="0"/>
                <a:cs typeface="Times New Roman" pitchFamily="18" charset="0"/>
              </a:rPr>
              <a:t>Chọn “Thực hiện”, hệ thống </a:t>
            </a:r>
            <a:r>
              <a:rPr lang="en-US" altLang="zh-CN" sz="1200" dirty="0">
                <a:latin typeface="Times New Roman" pitchFamily="18" charset="0"/>
                <a:cs typeface="Times New Roman" pitchFamily="18" charset="0"/>
              </a:rPr>
              <a:t>tự động cập nhật tất cả thay đổi trong lần thay đổi tổ chức này</a:t>
            </a:r>
          </a:p>
          <a:p>
            <a:pPr algn="l"/>
            <a:r>
              <a:rPr lang="en-US" altLang="zh-CN" sz="1200" dirty="0" smtClean="0">
                <a:latin typeface="Times New Roman" pitchFamily="18" charset="0"/>
                <a:cs typeface="Times New Roman" pitchFamily="18" charset="0"/>
              </a:rPr>
              <a:t> </a:t>
            </a:r>
          </a:p>
        </p:txBody>
      </p:sp>
    </p:spTree>
    <p:extLst>
      <p:ext uri="{BB962C8B-B14F-4D97-AF65-F5344CB8AC3E}">
        <p14:creationId xmlns:p14="http://schemas.microsoft.com/office/powerpoint/2010/main" val="29030402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Lịch sử thay đổi</a:t>
            </a:r>
            <a:r>
              <a:rPr lang="vi-VN" altLang="zh-CN" sz="1200" dirty="0" smtClean="0">
                <a:latin typeface="Times New Roman" pitchFamily="18" charset="0"/>
                <a:cs typeface="Times New Roman" pitchFamily="18" charset="0"/>
              </a:rPr>
              <a:t> - cá nhân</a:t>
            </a:r>
            <a:endParaRPr lang="zh-CN" altLang="en-US" sz="1200" dirty="0">
              <a:latin typeface="Times New Roman" pitchFamily="18" charset="0"/>
              <a:cs typeface="Times New Roman" pitchFamily="18" charset="0"/>
            </a:endParaRPr>
          </a:p>
        </p:txBody>
      </p:sp>
      <p:sp>
        <p:nvSpPr>
          <p:cNvPr id="6" name="TextBox 5"/>
          <p:cNvSpPr txBox="1"/>
          <p:nvPr/>
        </p:nvSpPr>
        <p:spPr>
          <a:xfrm>
            <a:off x="6673236" y="1700808"/>
            <a:ext cx="1919115" cy="276999"/>
          </a:xfrm>
          <a:prstGeom prst="rect">
            <a:avLst/>
          </a:prstGeom>
          <a:noFill/>
        </p:spPr>
        <p:txBody>
          <a:bodyPr wrap="none" rtlCol="0">
            <a:spAutoFit/>
          </a:bodyPr>
          <a:lstStyle/>
          <a:p>
            <a:r>
              <a:rPr lang="vi-VN" altLang="zh-CN" sz="1200" b="1" dirty="0" smtClean="0">
                <a:latin typeface="+mj-lt"/>
              </a:rPr>
              <a:t>Giải thích chức năng nút:</a:t>
            </a:r>
            <a:endParaRPr lang="zh-CN" altLang="en-US" sz="1200" b="1" dirty="0">
              <a:latin typeface="+mj-lt"/>
            </a:endParaRPr>
          </a:p>
        </p:txBody>
      </p:sp>
      <p:sp>
        <p:nvSpPr>
          <p:cNvPr id="8" name="TextBox 7"/>
          <p:cNvSpPr txBox="1"/>
          <p:nvPr/>
        </p:nvSpPr>
        <p:spPr>
          <a:xfrm>
            <a:off x="6660232" y="1988840"/>
            <a:ext cx="2483768" cy="1569660"/>
          </a:xfrm>
          <a:prstGeom prst="rect">
            <a:avLst/>
          </a:prstGeom>
          <a:noFill/>
        </p:spPr>
        <p:txBody>
          <a:bodyPr wrap="square" rtlCol="0">
            <a:spAutoFit/>
          </a:bodyPr>
          <a:lstStyle/>
          <a:p>
            <a:pPr algn="l"/>
            <a:r>
              <a:rPr lang="vi-VN" altLang="zh-CN" sz="1200" b="1" dirty="0" smtClean="0">
                <a:latin typeface="+mj-lt"/>
              </a:rPr>
              <a:t>Tra cứu</a:t>
            </a:r>
            <a:r>
              <a:rPr lang="zh-CN" altLang="en-US" sz="1200" b="1" dirty="0" smtClean="0">
                <a:latin typeface="+mj-lt"/>
              </a:rPr>
              <a:t>：</a:t>
            </a:r>
            <a:r>
              <a:rPr lang="vi-VN" altLang="zh-CN" sz="1200" dirty="0">
                <a:latin typeface="+mj-lt"/>
              </a:rPr>
              <a:t>C</a:t>
            </a:r>
            <a:r>
              <a:rPr lang="vi-VN" altLang="zh-CN" sz="1200" dirty="0" smtClean="0">
                <a:latin typeface="+mj-lt"/>
              </a:rPr>
              <a:t>ó thể dựa vào điều kiện tra cứu, tra cứu </a:t>
            </a:r>
            <a:r>
              <a:rPr lang="en-US" altLang="zh-CN" sz="1200" dirty="0" smtClean="0">
                <a:latin typeface="Times New Roman" panose="02020603050405020304" pitchFamily="18" charset="0"/>
                <a:cs typeface="Times New Roman" panose="02020603050405020304" pitchFamily="18" charset="0"/>
              </a:rPr>
              <a:t>thông tin theo lần thay đổi đó</a:t>
            </a:r>
          </a:p>
          <a:p>
            <a:pPr algn="l"/>
            <a:r>
              <a:rPr lang="en-US" altLang="zh-CN" sz="1200" b="1" dirty="0" smtClean="0">
                <a:latin typeface="+mj-lt"/>
              </a:rPr>
              <a:t>Xuất Excel </a:t>
            </a:r>
            <a:r>
              <a:rPr lang="zh-CN" altLang="en-US" sz="1200" b="1" dirty="0" smtClean="0">
                <a:latin typeface="+mj-lt"/>
              </a:rPr>
              <a:t>：</a:t>
            </a:r>
            <a:r>
              <a:rPr lang="vi-VN" altLang="zh-CN" sz="1200" dirty="0" smtClean="0">
                <a:latin typeface="+mj-lt"/>
              </a:rPr>
              <a:t>Dùng xuất thông tin bên dưới.</a:t>
            </a:r>
            <a:endParaRPr lang="en-US" altLang="zh-CN" sz="1200" dirty="0" smtClean="0">
              <a:latin typeface="+mj-lt"/>
            </a:endParaRPr>
          </a:p>
          <a:p>
            <a:pPr algn="l"/>
            <a:r>
              <a:rPr lang="vi-VN" altLang="zh-CN" sz="1200" b="1" dirty="0" smtClean="0">
                <a:latin typeface="+mj-lt"/>
              </a:rPr>
              <a:t>Giai đoạn sau</a:t>
            </a:r>
            <a:r>
              <a:rPr lang="zh-CN" altLang="en-US" sz="1200" b="1" dirty="0" smtClean="0">
                <a:latin typeface="+mj-lt"/>
              </a:rPr>
              <a:t>：</a:t>
            </a:r>
            <a:r>
              <a:rPr lang="vi-VN" altLang="zh-CN" sz="1200" dirty="0" smtClean="0">
                <a:latin typeface="+mj-lt"/>
              </a:rPr>
              <a:t>Phím nhanh, dùng để đi đến trang thao tác tiếp theo của quá trình.</a:t>
            </a:r>
            <a:endParaRPr lang="en-US" altLang="zh-CN" sz="1200" dirty="0">
              <a:latin typeface="+mj-lt"/>
            </a:endParaRPr>
          </a:p>
        </p:txBody>
      </p:sp>
      <p:sp>
        <p:nvSpPr>
          <p:cNvPr id="9" name="TextBox 8"/>
          <p:cNvSpPr txBox="1"/>
          <p:nvPr/>
        </p:nvSpPr>
        <p:spPr>
          <a:xfrm>
            <a:off x="6660232" y="1052736"/>
            <a:ext cx="2483768" cy="461665"/>
          </a:xfrm>
          <a:prstGeom prst="rect">
            <a:avLst/>
          </a:prstGeom>
          <a:noFill/>
        </p:spPr>
        <p:txBody>
          <a:bodyPr wrap="square" rtlCol="0">
            <a:spAutoFit/>
          </a:bodyPr>
          <a:lstStyle/>
          <a:p>
            <a:pPr algn="l"/>
            <a:r>
              <a:rPr lang="en-US" altLang="zh-CN" sz="1200" dirty="0" smtClean="0">
                <a:latin typeface="Times New Roman" panose="02020603050405020304" pitchFamily="18" charset="0"/>
                <a:cs typeface="Times New Roman" panose="02020603050405020304" pitchFamily="18" charset="0"/>
              </a:rPr>
              <a:t>Những nhân viên có sự thay đổi khi tổ chức thay đổi sẽ hiển thị ở đây</a:t>
            </a:r>
            <a:endParaRPr lang="en-US" altLang="zh-CN" sz="1200" dirty="0">
              <a:latin typeface="Times New Roman" pitchFamily="18" charset="0"/>
              <a:cs typeface="Times New Roman" pitchFamily="18" charset="0"/>
            </a:endParaRPr>
          </a:p>
        </p:txBody>
      </p:sp>
      <p:sp>
        <p:nvSpPr>
          <p:cNvPr id="3" name="矩形 2"/>
          <p:cNvSpPr/>
          <p:nvPr/>
        </p:nvSpPr>
        <p:spPr>
          <a:xfrm>
            <a:off x="3306291" y="3140969"/>
            <a:ext cx="689645"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148064" y="2636912"/>
            <a:ext cx="288032" cy="72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076056" y="2492896"/>
            <a:ext cx="288032"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796136" y="2492896"/>
            <a:ext cx="288032"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p:cNvPicPr>
            <a:picLocks noChangeAspect="1"/>
          </p:cNvPicPr>
          <p:nvPr/>
        </p:nvPicPr>
        <p:blipFill>
          <a:blip r:embed="rId3"/>
          <a:stretch>
            <a:fillRect/>
          </a:stretch>
        </p:blipFill>
        <p:spPr>
          <a:xfrm>
            <a:off x="8814" y="1196788"/>
            <a:ext cx="6563008" cy="3009613"/>
          </a:xfrm>
          <a:prstGeom prst="rect">
            <a:avLst/>
          </a:prstGeom>
        </p:spPr>
      </p:pic>
    </p:spTree>
    <p:extLst>
      <p:ext uri="{BB962C8B-B14F-4D97-AF65-F5344CB8AC3E}">
        <p14:creationId xmlns:p14="http://schemas.microsoft.com/office/powerpoint/2010/main" val="2118425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Lịch sử thay đổi -</a:t>
            </a:r>
            <a:r>
              <a:rPr lang="vi-VN" altLang="zh-CN" sz="1200" dirty="0" smtClean="0">
                <a:latin typeface="Times New Roman" pitchFamily="18" charset="0"/>
                <a:cs typeface="Times New Roman" pitchFamily="18" charset="0"/>
              </a:rPr>
              <a:t> Phòng ban</a:t>
            </a:r>
            <a:endParaRPr lang="zh-CN" altLang="en-US" sz="1200" dirty="0">
              <a:latin typeface="Times New Roman" pitchFamily="18" charset="0"/>
              <a:cs typeface="Times New Roman" pitchFamily="18" charset="0"/>
            </a:endParaRPr>
          </a:p>
        </p:txBody>
      </p:sp>
      <p:sp>
        <p:nvSpPr>
          <p:cNvPr id="6" name="TextBox 5"/>
          <p:cNvSpPr txBox="1"/>
          <p:nvPr/>
        </p:nvSpPr>
        <p:spPr>
          <a:xfrm>
            <a:off x="6685333" y="1628800"/>
            <a:ext cx="1919115" cy="276999"/>
          </a:xfrm>
          <a:prstGeom prst="rect">
            <a:avLst/>
          </a:prstGeom>
          <a:noFill/>
        </p:spPr>
        <p:txBody>
          <a:bodyPr wrap="none" rtlCol="0">
            <a:spAutoFit/>
          </a:bodyPr>
          <a:lstStyle/>
          <a:p>
            <a:r>
              <a:rPr lang="vi-VN" altLang="zh-CN" sz="1200" b="1" dirty="0" smtClean="0">
                <a:latin typeface="Times New Roman" pitchFamily="18" charset="0"/>
                <a:cs typeface="Times New Roman" pitchFamily="18" charset="0"/>
              </a:rPr>
              <a:t>Giải thích chức năng nút:</a:t>
            </a:r>
            <a:endParaRPr lang="zh-CN" altLang="en-US" sz="1200" b="1" dirty="0">
              <a:latin typeface="Times New Roman" pitchFamily="18" charset="0"/>
              <a:cs typeface="Times New Roman" pitchFamily="18" charset="0"/>
            </a:endParaRPr>
          </a:p>
        </p:txBody>
      </p:sp>
      <p:sp>
        <p:nvSpPr>
          <p:cNvPr id="8" name="TextBox 7"/>
          <p:cNvSpPr txBox="1"/>
          <p:nvPr/>
        </p:nvSpPr>
        <p:spPr>
          <a:xfrm>
            <a:off x="6660232" y="1922056"/>
            <a:ext cx="2483768" cy="1938992"/>
          </a:xfrm>
          <a:prstGeom prst="rect">
            <a:avLst/>
          </a:prstGeom>
          <a:noFill/>
        </p:spPr>
        <p:txBody>
          <a:bodyPr wrap="square" rtlCol="0">
            <a:spAutoFit/>
          </a:bodyPr>
          <a:lstStyle/>
          <a:p>
            <a:pPr algn="l"/>
            <a:r>
              <a:rPr lang="vi-VN" altLang="zh-CN" sz="1200" b="1" dirty="0" smtClean="0">
                <a:latin typeface="Times New Roman" pitchFamily="18" charset="0"/>
                <a:cs typeface="Times New Roman" pitchFamily="18" charset="0"/>
              </a:rPr>
              <a:t>Tra cứu</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C</a:t>
            </a:r>
            <a:r>
              <a:rPr lang="en-US" altLang="zh-CN" sz="1200" dirty="0" err="1" smtClean="0">
                <a:latin typeface="Times New Roman" pitchFamily="18" charset="0"/>
                <a:cs typeface="Times New Roman" pitchFamily="18" charset="0"/>
              </a:rPr>
              <a:t>ó</a:t>
            </a:r>
            <a:r>
              <a:rPr lang="en-US" altLang="zh-CN" sz="1200" dirty="0" smtClean="0">
                <a:latin typeface="Times New Roman" pitchFamily="18" charset="0"/>
                <a:cs typeface="Times New Roman" pitchFamily="18" charset="0"/>
              </a:rPr>
              <a:t> </a:t>
            </a:r>
            <a:r>
              <a:rPr lang="vi-VN" altLang="zh-CN" sz="1200" dirty="0" smtClean="0">
                <a:latin typeface="Times New Roman" pitchFamily="18" charset="0"/>
                <a:cs typeface="Times New Roman" pitchFamily="18" charset="0"/>
              </a:rPr>
              <a:t>th</a:t>
            </a:r>
            <a:r>
              <a:rPr lang="en-US" altLang="zh-CN" sz="1200" dirty="0" smtClean="0">
                <a:latin typeface="Times New Roman" pitchFamily="18" charset="0"/>
                <a:cs typeface="Times New Roman" pitchFamily="18" charset="0"/>
              </a:rPr>
              <a:t>ể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vào </a:t>
            </a:r>
            <a:r>
              <a:rPr lang="en-US" altLang="zh-CN" sz="1200" dirty="0" err="1" smtClean="0">
                <a:latin typeface="Times New Roman" pitchFamily="18" charset="0"/>
                <a:cs typeface="Times New Roman" pitchFamily="18" charset="0"/>
              </a:rPr>
              <a:t>điều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kiện</a:t>
            </a:r>
            <a:r>
              <a:rPr lang="en-US" altLang="zh-CN" sz="1200" dirty="0" smtClean="0">
                <a:latin typeface="Times New Roman" pitchFamily="18" charset="0"/>
                <a:cs typeface="Times New Roman" pitchFamily="18" charset="0"/>
              </a:rPr>
              <a:t> tra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tra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các </a:t>
            </a:r>
            <a:r>
              <a:rPr lang="en-US" altLang="zh-CN" sz="1200" dirty="0" err="1" smtClean="0">
                <a:latin typeface="Times New Roman" pitchFamily="18" charset="0"/>
                <a:cs typeface="Times New Roman" pitchFamily="18" charset="0"/>
              </a:rPr>
              <a:t>văn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khác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nhau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về</a:t>
            </a:r>
            <a:r>
              <a:rPr lang="en-US" altLang="zh-CN" sz="1200" dirty="0" smtClean="0">
                <a:latin typeface="Times New Roman" pitchFamily="18" charset="0"/>
                <a:cs typeface="Times New Roman" pitchFamily="18" charset="0"/>
              </a:rPr>
              <a:t> thông tin sửa đổi phòng ban. </a:t>
            </a:r>
            <a:endParaRPr lang="vi-VN" altLang="zh-CN" sz="1200" dirty="0" smtClean="0">
              <a:latin typeface="Times New Roman" pitchFamily="18" charset="0"/>
              <a:cs typeface="Times New Roman" pitchFamily="18" charset="0"/>
            </a:endParaRPr>
          </a:p>
          <a:p>
            <a:pPr algn="l"/>
            <a:r>
              <a:rPr lang="vi-VN" altLang="zh-CN" sz="1200" b="1" dirty="0" smtClean="0">
                <a:latin typeface="Times New Roman" pitchFamily="18" charset="0"/>
                <a:cs typeface="Times New Roman" pitchFamily="18" charset="0"/>
              </a:rPr>
              <a:t>In</a:t>
            </a:r>
            <a:r>
              <a:rPr lang="zh-CN" altLang="en-US" sz="1200" b="1"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Có thể trực tiếp in thông tin bên dưới.</a:t>
            </a:r>
            <a:endParaRPr lang="en-US" altLang="zh-CN" sz="1200" dirty="0" smtClean="0">
              <a:latin typeface="Times New Roman" pitchFamily="18" charset="0"/>
              <a:cs typeface="Times New Roman" pitchFamily="18" charset="0"/>
            </a:endParaRPr>
          </a:p>
          <a:p>
            <a:pPr algn="l"/>
            <a:r>
              <a:rPr lang="vi-VN" altLang="zh-CN" sz="1200" b="1" dirty="0" smtClean="0">
                <a:latin typeface="Times New Roman" pitchFamily="18" charset="0"/>
                <a:cs typeface="Times New Roman" pitchFamily="18" charset="0"/>
              </a:rPr>
              <a:t>Lấy tài liệu</a:t>
            </a:r>
            <a:r>
              <a:rPr lang="zh-CN" altLang="en-US" sz="1200" b="1"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Dùng xuất thông tin bên dưới.</a:t>
            </a:r>
            <a:endParaRPr lang="en-US" altLang="zh-CN" sz="1200" dirty="0" smtClean="0">
              <a:latin typeface="Times New Roman" pitchFamily="18" charset="0"/>
              <a:cs typeface="Times New Roman" pitchFamily="18" charset="0"/>
            </a:endParaRPr>
          </a:p>
          <a:p>
            <a:pPr algn="l"/>
            <a:r>
              <a:rPr lang="vi-VN" altLang="zh-CN" sz="1200" b="1" dirty="0" smtClean="0">
                <a:latin typeface="Times New Roman" pitchFamily="18" charset="0"/>
                <a:cs typeface="Times New Roman" pitchFamily="18" charset="0"/>
              </a:rPr>
              <a:t>Giai đoạn sau</a:t>
            </a:r>
            <a:r>
              <a:rPr lang="zh-CN" altLang="en-US" sz="1200" b="1"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Phím nhanh, dùng để đi đến trang thao tác tiếp theo của quá trình.</a:t>
            </a:r>
            <a:endParaRPr lang="en-US" altLang="zh-CN" sz="1200" dirty="0">
              <a:latin typeface="Times New Roman" pitchFamily="18" charset="0"/>
              <a:cs typeface="Times New Roman" pitchFamily="18" charset="0"/>
            </a:endParaRPr>
          </a:p>
        </p:txBody>
      </p:sp>
      <p:sp>
        <p:nvSpPr>
          <p:cNvPr id="9" name="TextBox 8"/>
          <p:cNvSpPr txBox="1"/>
          <p:nvPr/>
        </p:nvSpPr>
        <p:spPr>
          <a:xfrm>
            <a:off x="6660232" y="980728"/>
            <a:ext cx="2483768" cy="646331"/>
          </a:xfrm>
          <a:prstGeom prst="rect">
            <a:avLst/>
          </a:prstGeom>
          <a:noFill/>
        </p:spPr>
        <p:txBody>
          <a:bodyPr wrap="square" rtlCol="0">
            <a:spAutoFit/>
          </a:bodyPr>
          <a:lstStyle/>
          <a:p>
            <a:pPr lvl="0" algn="l"/>
            <a:r>
              <a:rPr lang="zh-CN" altLang="en-US" sz="1200" dirty="0" smtClean="0">
                <a:latin typeface="Times New Roman" pitchFamily="18" charset="0"/>
                <a:cs typeface="Times New Roman" pitchFamily="18" charset="0"/>
              </a:rPr>
              <a:t>     </a:t>
            </a:r>
            <a:r>
              <a:rPr lang="vi-VN" altLang="zh-CN" sz="1200" dirty="0" smtClean="0">
                <a:latin typeface="Times New Roman" pitchFamily="18" charset="0"/>
                <a:cs typeface="Times New Roman" pitchFamily="18" charset="0"/>
              </a:rPr>
              <a:t>D</a:t>
            </a:r>
            <a:r>
              <a:rPr lang="en-US" altLang="zh-CN" sz="1200" dirty="0" err="1" smtClean="0">
                <a:latin typeface="Times New Roman" pitchFamily="18" charset="0"/>
                <a:cs typeface="Times New Roman" pitchFamily="18" charset="0"/>
              </a:rPr>
              <a:t>ùng</a:t>
            </a:r>
            <a:r>
              <a:rPr lang="en-US" altLang="zh-CN" sz="1200" dirty="0">
                <a:latin typeface="Times New Roman" pitchFamily="18" charset="0"/>
                <a:cs typeface="Times New Roman" pitchFamily="18" charset="0"/>
              </a:rPr>
              <a:t> </a:t>
            </a:r>
            <a:r>
              <a:rPr lang="vi-VN" altLang="zh-CN" sz="1200" dirty="0" smtClean="0">
                <a:latin typeface="Times New Roman" pitchFamily="18" charset="0"/>
                <a:cs typeface="Times New Roman" pitchFamily="18" charset="0"/>
              </a:rPr>
              <a:t>tra c</a:t>
            </a:r>
            <a:r>
              <a:rPr lang="en-US" altLang="zh-CN" sz="1200" dirty="0" err="1" smtClean="0">
                <a:latin typeface="Times New Roman" pitchFamily="18" charset="0"/>
                <a:cs typeface="Times New Roman" pitchFamily="18" charset="0"/>
              </a:rPr>
              <a:t>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từng</a:t>
            </a:r>
            <a:r>
              <a:rPr lang="en-US" altLang="zh-CN" sz="1200" dirty="0" smtClean="0">
                <a:latin typeface="Times New Roman" pitchFamily="18" charset="0"/>
                <a:cs typeface="Times New Roman" pitchFamily="18" charset="0"/>
              </a:rPr>
              <a:t> </a:t>
            </a:r>
            <a:r>
              <a:rPr lang="vi-VN" altLang="zh-CN" sz="1200" dirty="0" smtClean="0">
                <a:latin typeface="Times New Roman" pitchFamily="18" charset="0"/>
                <a:cs typeface="Times New Roman" pitchFamily="18" charset="0"/>
              </a:rPr>
              <a:t>b</a:t>
            </a:r>
            <a:r>
              <a:rPr lang="en-US" altLang="zh-CN" sz="1200" dirty="0" err="1" smtClean="0">
                <a:latin typeface="Times New Roman" pitchFamily="18" charset="0"/>
                <a:cs typeface="Times New Roman" pitchFamily="18" charset="0"/>
              </a:rPr>
              <a:t>ản</a:t>
            </a:r>
            <a:r>
              <a:rPr lang="vi-VN" altLang="zh-CN" sz="1200" dirty="0" smtClean="0">
                <a:latin typeface="Times New Roman" pitchFamily="18" charset="0"/>
                <a:cs typeface="Times New Roman" pitchFamily="18" charset="0"/>
              </a:rPr>
              <a:t>, n</a:t>
            </a:r>
            <a:r>
              <a:rPr lang="en-US" altLang="zh-CN" sz="1200" dirty="0" err="1" smtClean="0">
                <a:latin typeface="Times New Roman" pitchFamily="18" charset="0"/>
                <a:cs typeface="Times New Roman" pitchFamily="18" charset="0"/>
              </a:rPr>
              <a:t>ội</a:t>
            </a:r>
            <a:r>
              <a:rPr lang="en-US" altLang="zh-CN" sz="1200" dirty="0" smtClean="0">
                <a:latin typeface="Times New Roman" pitchFamily="18" charset="0"/>
                <a:cs typeface="Times New Roman" pitchFamily="18" charset="0"/>
              </a:rPr>
              <a:t> dung thay đổi thông tin phòng ban do nguyên nhân sửa đổi tổ chức.</a:t>
            </a:r>
          </a:p>
        </p:txBody>
      </p:sp>
      <p:pic>
        <p:nvPicPr>
          <p:cNvPr id="3" name="Picture 2"/>
          <p:cNvPicPr>
            <a:picLocks noChangeAspect="1"/>
          </p:cNvPicPr>
          <p:nvPr/>
        </p:nvPicPr>
        <p:blipFill>
          <a:blip r:embed="rId3"/>
          <a:stretch>
            <a:fillRect/>
          </a:stretch>
        </p:blipFill>
        <p:spPr>
          <a:xfrm>
            <a:off x="11647" y="1199686"/>
            <a:ext cx="6588648" cy="3383731"/>
          </a:xfrm>
          <a:prstGeom prst="rect">
            <a:avLst/>
          </a:prstGeom>
        </p:spPr>
      </p:pic>
    </p:spTree>
    <p:extLst>
      <p:ext uri="{BB962C8B-B14F-4D97-AF65-F5344CB8AC3E}">
        <p14:creationId xmlns:p14="http://schemas.microsoft.com/office/powerpoint/2010/main" val="31279587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331640" y="116632"/>
            <a:ext cx="2880320"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Quy trình thay đổi – Kiểm tra thay đổi</a:t>
            </a:r>
            <a:endParaRPr lang="zh-CN" altLang="en-US" sz="1200" dirty="0">
              <a:latin typeface="Times New Roman" pitchFamily="18" charset="0"/>
              <a:cs typeface="Times New Roman" pitchFamily="18" charset="0"/>
            </a:endParaRPr>
          </a:p>
        </p:txBody>
      </p:sp>
      <p:sp>
        <p:nvSpPr>
          <p:cNvPr id="9" name="TextBox 8"/>
          <p:cNvSpPr txBox="1"/>
          <p:nvPr/>
        </p:nvSpPr>
        <p:spPr>
          <a:xfrm>
            <a:off x="6646472" y="1571612"/>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Kiểm tra lại lần cuối các thay đổi trong lần thực hiện này</a:t>
            </a:r>
            <a:endParaRPr lang="zh-CN" altLang="en-US" sz="1200" dirty="0">
              <a:latin typeface="Times New Roman" pitchFamily="18" charset="0"/>
              <a:cs typeface="Times New Roman" pitchFamily="18" charset="0"/>
            </a:endParaRPr>
          </a:p>
        </p:txBody>
      </p:sp>
      <p:pic>
        <p:nvPicPr>
          <p:cNvPr id="2" name="Picture 1"/>
          <p:cNvPicPr>
            <a:picLocks noChangeAspect="1"/>
          </p:cNvPicPr>
          <p:nvPr/>
        </p:nvPicPr>
        <p:blipFill>
          <a:blip r:embed="rId2"/>
          <a:stretch>
            <a:fillRect/>
          </a:stretch>
        </p:blipFill>
        <p:spPr>
          <a:xfrm>
            <a:off x="0" y="1440550"/>
            <a:ext cx="6646472" cy="3311101"/>
          </a:xfrm>
          <a:prstGeom prst="rect">
            <a:avLst/>
          </a:prstGeom>
        </p:spPr>
      </p:pic>
      <p:pic>
        <p:nvPicPr>
          <p:cNvPr id="3" name="Picture 2"/>
          <p:cNvPicPr>
            <a:picLocks noChangeAspect="1"/>
          </p:cNvPicPr>
          <p:nvPr/>
        </p:nvPicPr>
        <p:blipFill>
          <a:blip r:embed="rId3"/>
          <a:stretch>
            <a:fillRect/>
          </a:stretch>
        </p:blipFill>
        <p:spPr>
          <a:xfrm>
            <a:off x="-15593" y="3569293"/>
            <a:ext cx="6659869" cy="2661168"/>
          </a:xfrm>
          <a:prstGeom prst="rect">
            <a:avLst/>
          </a:prstGeom>
        </p:spPr>
      </p:pic>
    </p:spTree>
    <p:extLst>
      <p:ext uri="{BB962C8B-B14F-4D97-AF65-F5344CB8AC3E}">
        <p14:creationId xmlns:p14="http://schemas.microsoft.com/office/powerpoint/2010/main" val="7504081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547664" y="116632"/>
            <a:ext cx="2880320"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Quy trình thay đổi –Hình thành tổ chức mới</a:t>
            </a:r>
            <a:endParaRPr lang="zh-CN" altLang="en-US" sz="1200" dirty="0">
              <a:latin typeface="Times New Roman" pitchFamily="18" charset="0"/>
              <a:cs typeface="Times New Roman" pitchFamily="18" charset="0"/>
            </a:endParaRPr>
          </a:p>
        </p:txBody>
      </p:sp>
      <p:sp>
        <p:nvSpPr>
          <p:cNvPr id="6" name="TextBox 5"/>
          <p:cNvSpPr txBox="1"/>
          <p:nvPr/>
        </p:nvSpPr>
        <p:spPr>
          <a:xfrm>
            <a:off x="6660232" y="2948139"/>
            <a:ext cx="1919115" cy="276999"/>
          </a:xfrm>
          <a:prstGeom prst="rect">
            <a:avLst/>
          </a:prstGeom>
          <a:noFill/>
        </p:spPr>
        <p:txBody>
          <a:bodyPr wrap="none" rtlCol="0">
            <a:spAutoFit/>
          </a:bodyPr>
          <a:lstStyle/>
          <a:p>
            <a:r>
              <a:rPr lang="vi-VN" altLang="zh-CN" sz="1200" b="1" dirty="0" smtClean="0">
                <a:latin typeface="Times New Roman" pitchFamily="18" charset="0"/>
                <a:cs typeface="Times New Roman" pitchFamily="18" charset="0"/>
              </a:rPr>
              <a:t>Giải thích chức năng nút:</a:t>
            </a:r>
            <a:endParaRPr lang="zh-CN" altLang="en-US" sz="1200" b="1" dirty="0">
              <a:latin typeface="Times New Roman" pitchFamily="18" charset="0"/>
              <a:cs typeface="Times New Roman" pitchFamily="18" charset="0"/>
            </a:endParaRPr>
          </a:p>
        </p:txBody>
      </p:sp>
      <p:sp>
        <p:nvSpPr>
          <p:cNvPr id="8" name="TextBox 7"/>
          <p:cNvSpPr txBox="1"/>
          <p:nvPr/>
        </p:nvSpPr>
        <p:spPr>
          <a:xfrm>
            <a:off x="6660232" y="3225138"/>
            <a:ext cx="2483768" cy="1015663"/>
          </a:xfrm>
          <a:prstGeom prst="rect">
            <a:avLst/>
          </a:prstGeom>
          <a:noFill/>
        </p:spPr>
        <p:txBody>
          <a:bodyPr wrap="square" rtlCol="0">
            <a:spAutoFit/>
          </a:bodyPr>
          <a:lstStyle/>
          <a:p>
            <a:pPr marL="228600" indent="-228600" algn="l">
              <a:buAutoNum type="arabicPeriod"/>
            </a:pPr>
            <a:r>
              <a:rPr lang="en-US" altLang="zh-CN" sz="1200" dirty="0" smtClean="0">
                <a:latin typeface="Times New Roman" pitchFamily="18" charset="0"/>
                <a:cs typeface="Times New Roman" pitchFamily="18" charset="0"/>
              </a:rPr>
              <a:t>Tích chọn “Hình thành tổ chức mới”</a:t>
            </a:r>
          </a:p>
          <a:p>
            <a:pPr marL="228600" indent="-228600" algn="l">
              <a:buAutoNum type="arabicPeriod"/>
            </a:pPr>
            <a:r>
              <a:rPr lang="en-US" altLang="zh-CN" sz="1200" dirty="0" smtClean="0">
                <a:latin typeface="Times New Roman" pitchFamily="18" charset="0"/>
                <a:cs typeface="Times New Roman" pitchFamily="18" charset="0"/>
              </a:rPr>
              <a:t>Chọn “Thực hiện”, cấu trúc tổ chức sẽ thay đổi theo lần thay đổi mới nhất</a:t>
            </a:r>
            <a:endParaRPr lang="en-US" altLang="zh-CN" sz="1200" dirty="0">
              <a:latin typeface="Times New Roman" pitchFamily="18" charset="0"/>
              <a:cs typeface="Times New Roman" pitchFamily="18" charset="0"/>
            </a:endParaRPr>
          </a:p>
        </p:txBody>
      </p:sp>
      <p:sp>
        <p:nvSpPr>
          <p:cNvPr id="9" name="TextBox 8"/>
          <p:cNvSpPr txBox="1"/>
          <p:nvPr/>
        </p:nvSpPr>
        <p:spPr>
          <a:xfrm>
            <a:off x="6646472" y="1571612"/>
            <a:ext cx="2483768" cy="830997"/>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Sau khi kiểm tra tất cả thông tin thay đổi của tổ chức không có vấn đề gì, người dùng vào trang này để xác nhận hình thành tổ chức mới</a:t>
            </a:r>
            <a:endParaRPr lang="zh-CN" altLang="en-US" sz="1200" dirty="0">
              <a:latin typeface="Times New Roman" pitchFamily="18" charset="0"/>
              <a:cs typeface="Times New Roman" pitchFamily="18" charset="0"/>
            </a:endParaRPr>
          </a:p>
        </p:txBody>
      </p:sp>
      <p:pic>
        <p:nvPicPr>
          <p:cNvPr id="2" name="Picture 1"/>
          <p:cNvPicPr>
            <a:picLocks noChangeAspect="1"/>
          </p:cNvPicPr>
          <p:nvPr/>
        </p:nvPicPr>
        <p:blipFill>
          <a:blip r:embed="rId2"/>
          <a:stretch>
            <a:fillRect/>
          </a:stretch>
        </p:blipFill>
        <p:spPr>
          <a:xfrm>
            <a:off x="0" y="998636"/>
            <a:ext cx="6660232" cy="3264139"/>
          </a:xfrm>
          <a:prstGeom prst="rect">
            <a:avLst/>
          </a:prstGeom>
        </p:spPr>
      </p:pic>
    </p:spTree>
    <p:extLst>
      <p:ext uri="{BB962C8B-B14F-4D97-AF65-F5344CB8AC3E}">
        <p14:creationId xmlns:p14="http://schemas.microsoft.com/office/powerpoint/2010/main" val="33215858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Cây sơ đồ tổ chức</a:t>
            </a:r>
            <a:endParaRPr lang="zh-CN" altLang="en-US" sz="1200" dirty="0">
              <a:latin typeface="Times New Roman" pitchFamily="18" charset="0"/>
              <a:cs typeface="Times New Roman" pitchFamily="18" charset="0"/>
            </a:endParaRPr>
          </a:p>
        </p:txBody>
      </p:sp>
      <p:sp>
        <p:nvSpPr>
          <p:cNvPr id="6" name="TextBox 5"/>
          <p:cNvSpPr txBox="1"/>
          <p:nvPr/>
        </p:nvSpPr>
        <p:spPr>
          <a:xfrm>
            <a:off x="6660232" y="1910478"/>
            <a:ext cx="1919115" cy="276999"/>
          </a:xfrm>
          <a:prstGeom prst="rect">
            <a:avLst/>
          </a:prstGeom>
          <a:noFill/>
        </p:spPr>
        <p:txBody>
          <a:bodyPr wrap="none" rtlCol="0">
            <a:spAutoFit/>
          </a:bodyPr>
          <a:lstStyle/>
          <a:p>
            <a:r>
              <a:rPr lang="vi-VN" altLang="zh-CN" sz="1200" b="1" dirty="0" smtClean="0">
                <a:latin typeface="Times New Roman" pitchFamily="18" charset="0"/>
                <a:cs typeface="Times New Roman" pitchFamily="18" charset="0"/>
              </a:rPr>
              <a:t>Giải thích chức năng nút:</a:t>
            </a:r>
            <a:endParaRPr lang="zh-CN" altLang="en-US" sz="1200" b="1" dirty="0">
              <a:latin typeface="Times New Roman" pitchFamily="18" charset="0"/>
              <a:cs typeface="Times New Roman" pitchFamily="18" charset="0"/>
            </a:endParaRPr>
          </a:p>
        </p:txBody>
      </p:sp>
      <p:sp>
        <p:nvSpPr>
          <p:cNvPr id="8" name="TextBox 7"/>
          <p:cNvSpPr txBox="1"/>
          <p:nvPr/>
        </p:nvSpPr>
        <p:spPr>
          <a:xfrm>
            <a:off x="6660232" y="2337847"/>
            <a:ext cx="2483768" cy="1384995"/>
          </a:xfrm>
          <a:prstGeom prst="rect">
            <a:avLst/>
          </a:prstGeom>
          <a:noFill/>
        </p:spPr>
        <p:txBody>
          <a:bodyPr wrap="square" rtlCol="0">
            <a:spAutoFit/>
          </a:bodyPr>
          <a:lstStyle/>
          <a:p>
            <a:pPr marL="228600" indent="-228600" algn="l">
              <a:buAutoNum type="arabicPeriod"/>
            </a:pPr>
            <a:r>
              <a:rPr lang="en-US" altLang="zh-CN" sz="1200" dirty="0" smtClean="0">
                <a:latin typeface="Times New Roman" pitchFamily="18" charset="0"/>
                <a:cs typeface="Times New Roman" pitchFamily="18" charset="0"/>
              </a:rPr>
              <a:t>Chọn phòng ban cần tra cứu thông tin, bên phải hiển thị thông tin trưởng phòng và danh sách nhân viên bên dưới</a:t>
            </a:r>
          </a:p>
          <a:p>
            <a:pPr marL="228600" indent="-228600" algn="l">
              <a:buAutoNum type="arabicPeriod"/>
            </a:pPr>
            <a:r>
              <a:rPr lang="en-US" altLang="zh-CN" sz="1200" dirty="0" smtClean="0">
                <a:latin typeface="Times New Roman" pitchFamily="18" charset="0"/>
                <a:cs typeface="Times New Roman" pitchFamily="18" charset="0"/>
              </a:rPr>
              <a:t>Chọn mã nhân viên màu xanh, hiển thị HR Profile của nhân viên đó</a:t>
            </a:r>
          </a:p>
        </p:txBody>
      </p:sp>
      <p:sp>
        <p:nvSpPr>
          <p:cNvPr id="9" name="TextBox 8"/>
          <p:cNvSpPr txBox="1"/>
          <p:nvPr/>
        </p:nvSpPr>
        <p:spPr>
          <a:xfrm>
            <a:off x="6660232" y="1192139"/>
            <a:ext cx="2483768" cy="276999"/>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Tra cứu thông tin tổ chức mới nhất</a:t>
            </a:r>
          </a:p>
        </p:txBody>
      </p:sp>
      <p:pic>
        <p:nvPicPr>
          <p:cNvPr id="2" name="Picture 1"/>
          <p:cNvPicPr>
            <a:picLocks noChangeAspect="1"/>
          </p:cNvPicPr>
          <p:nvPr/>
        </p:nvPicPr>
        <p:blipFill>
          <a:blip r:embed="rId3"/>
          <a:stretch>
            <a:fillRect/>
          </a:stretch>
        </p:blipFill>
        <p:spPr>
          <a:xfrm>
            <a:off x="0" y="1268760"/>
            <a:ext cx="6660232" cy="3170215"/>
          </a:xfrm>
          <a:prstGeom prst="rect">
            <a:avLst/>
          </a:prstGeom>
        </p:spPr>
      </p:pic>
    </p:spTree>
    <p:extLst>
      <p:ext uri="{BB962C8B-B14F-4D97-AF65-F5344CB8AC3E}">
        <p14:creationId xmlns:p14="http://schemas.microsoft.com/office/powerpoint/2010/main" val="17258944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Cấu trúc tổ chức</a:t>
            </a:r>
            <a:endParaRPr lang="zh-CN" altLang="en-US" sz="1200" dirty="0">
              <a:latin typeface="Times New Roman" pitchFamily="18" charset="0"/>
              <a:cs typeface="Times New Roman" pitchFamily="18" charset="0"/>
            </a:endParaRPr>
          </a:p>
        </p:txBody>
      </p:sp>
      <p:sp>
        <p:nvSpPr>
          <p:cNvPr id="8" name="TextBox 7"/>
          <p:cNvSpPr txBox="1"/>
          <p:nvPr/>
        </p:nvSpPr>
        <p:spPr>
          <a:xfrm>
            <a:off x="6659041" y="1052736"/>
            <a:ext cx="2483768" cy="1615827"/>
          </a:xfrm>
          <a:prstGeom prst="rect">
            <a:avLst/>
          </a:prstGeom>
          <a:noFill/>
        </p:spPr>
        <p:txBody>
          <a:bodyPr wrap="square" rtlCol="0">
            <a:spAutoFit/>
          </a:bodyPr>
          <a:lstStyle/>
          <a:p>
            <a:pPr algn="l"/>
            <a:r>
              <a:rPr lang="en-US" altLang="zh-CN" sz="1100" b="1" dirty="0" smtClean="0">
                <a:latin typeface="Times New Roman" pitchFamily="18" charset="0"/>
                <a:cs typeface="Times New Roman" pitchFamily="18" charset="0"/>
              </a:rPr>
              <a:t>Xem sơ đồ cấu trúc tổ chức theo dạng khác</a:t>
            </a:r>
          </a:p>
          <a:p>
            <a:pPr marL="228600" indent="-228600" algn="l">
              <a:buAutoNum type="arabicPeriod"/>
            </a:pPr>
            <a:r>
              <a:rPr lang="en-US" altLang="zh-CN" sz="1100" dirty="0" smtClean="0">
                <a:latin typeface="Times New Roman" pitchFamily="18" charset="0"/>
                <a:cs typeface="Times New Roman" pitchFamily="18" charset="0"/>
              </a:rPr>
              <a:t>Chọn phòng ban cần xem</a:t>
            </a:r>
          </a:p>
          <a:p>
            <a:pPr marL="228600" indent="-228600" algn="l">
              <a:buAutoNum type="arabicPeriod"/>
            </a:pPr>
            <a:r>
              <a:rPr lang="en-US" altLang="zh-CN" sz="1100" dirty="0" smtClean="0">
                <a:latin typeface="Times New Roman" pitchFamily="18" charset="0"/>
                <a:cs typeface="Times New Roman" pitchFamily="18" charset="0"/>
              </a:rPr>
              <a:t>Chọn “Tra cứu”, hệ thống hiển thị sơ đồ cùng với TeamLeader và Part Leader.</a:t>
            </a:r>
          </a:p>
          <a:p>
            <a:pPr marL="228600" indent="-228600" algn="l">
              <a:buAutoNum type="arabicPeriod"/>
            </a:pPr>
            <a:r>
              <a:rPr lang="en-US" altLang="zh-CN" sz="1100" dirty="0" smtClean="0">
                <a:latin typeface="Times New Roman" pitchFamily="18" charset="0"/>
                <a:cs typeface="Times New Roman" pitchFamily="18" charset="0"/>
              </a:rPr>
              <a:t>Chọn tên TeamLeader hoặc PartLeader để xem danh sách nhân viên phòng ban</a:t>
            </a:r>
          </a:p>
        </p:txBody>
      </p:sp>
      <p:sp>
        <p:nvSpPr>
          <p:cNvPr id="11" name="矩形 10"/>
          <p:cNvSpPr/>
          <p:nvPr/>
        </p:nvSpPr>
        <p:spPr>
          <a:xfrm>
            <a:off x="4644008" y="3140968"/>
            <a:ext cx="216024" cy="7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2" name="矩形 1"/>
          <p:cNvSpPr/>
          <p:nvPr/>
        </p:nvSpPr>
        <p:spPr>
          <a:xfrm>
            <a:off x="4402723" y="3244334"/>
            <a:ext cx="338554" cy="276999"/>
          </a:xfrm>
          <a:prstGeom prst="rect">
            <a:avLst/>
          </a:prstGeom>
        </p:spPr>
        <p:txBody>
          <a:bodyPr wrap="none">
            <a:spAutoFit/>
          </a:bodyPr>
          <a:lstStyle/>
          <a:p>
            <a:r>
              <a:rPr lang="zh-CN" altLang="en-US" sz="1200" dirty="0">
                <a:solidFill>
                  <a:srgbClr val="FF0000"/>
                </a:solidFill>
                <a:latin typeface="Times New Roman" pitchFamily="18" charset="0"/>
                <a:cs typeface="Times New Roman" pitchFamily="18" charset="0"/>
              </a:rPr>
              <a:t>②</a:t>
            </a:r>
          </a:p>
        </p:txBody>
      </p:sp>
      <p:sp>
        <p:nvSpPr>
          <p:cNvPr id="17" name="矩形 16"/>
          <p:cNvSpPr/>
          <p:nvPr/>
        </p:nvSpPr>
        <p:spPr>
          <a:xfrm>
            <a:off x="4500562" y="3429000"/>
            <a:ext cx="291974" cy="276999"/>
          </a:xfrm>
          <a:prstGeom prst="rect">
            <a:avLst/>
          </a:prstGeom>
        </p:spPr>
        <p:txBody>
          <a:bodyPr wrap="square">
            <a:spAutoFit/>
          </a:bodyPr>
          <a:lstStyle/>
          <a:p>
            <a:r>
              <a:rPr lang="zh-CN" altLang="en-US" sz="1200" dirty="0">
                <a:solidFill>
                  <a:srgbClr val="FF0000"/>
                </a:solidFill>
                <a:latin typeface="Times New Roman" pitchFamily="18" charset="0"/>
                <a:cs typeface="Times New Roman" pitchFamily="18" charset="0"/>
              </a:rPr>
              <a:t>②</a:t>
            </a:r>
          </a:p>
        </p:txBody>
      </p:sp>
      <p:sp>
        <p:nvSpPr>
          <p:cNvPr id="28" name="矩形 20"/>
          <p:cNvSpPr/>
          <p:nvPr/>
        </p:nvSpPr>
        <p:spPr>
          <a:xfrm>
            <a:off x="4114320" y="2713847"/>
            <a:ext cx="288403" cy="284207"/>
          </a:xfrm>
          <a:prstGeom prst="rect">
            <a:avLst/>
          </a:prstGeom>
        </p:spPr>
        <p:txBody>
          <a:bodyPr wrap="square">
            <a:spAutoFit/>
          </a:bodyPr>
          <a:lstStyle/>
          <a:p>
            <a:r>
              <a:rPr lang="zh-CN" altLang="en-US" sz="1200" dirty="0">
                <a:solidFill>
                  <a:srgbClr val="FF0000"/>
                </a:solidFill>
                <a:latin typeface="Times New Roman" pitchFamily="18" charset="0"/>
                <a:cs typeface="Times New Roman" pitchFamily="18" charset="0"/>
              </a:rPr>
              <a:t>②</a:t>
            </a:r>
          </a:p>
        </p:txBody>
      </p:sp>
      <p:pic>
        <p:nvPicPr>
          <p:cNvPr id="3" name="Picture 2"/>
          <p:cNvPicPr>
            <a:picLocks noChangeAspect="1"/>
          </p:cNvPicPr>
          <p:nvPr/>
        </p:nvPicPr>
        <p:blipFill>
          <a:blip r:embed="rId3"/>
          <a:stretch>
            <a:fillRect/>
          </a:stretch>
        </p:blipFill>
        <p:spPr>
          <a:xfrm>
            <a:off x="0" y="998610"/>
            <a:ext cx="6659041" cy="2959574"/>
          </a:xfrm>
          <a:prstGeom prst="rect">
            <a:avLst/>
          </a:prstGeom>
        </p:spPr>
      </p:pic>
      <p:pic>
        <p:nvPicPr>
          <p:cNvPr id="4" name="Picture 3"/>
          <p:cNvPicPr>
            <a:picLocks noChangeAspect="1"/>
          </p:cNvPicPr>
          <p:nvPr/>
        </p:nvPicPr>
        <p:blipFill>
          <a:blip r:embed="rId4"/>
          <a:stretch>
            <a:fillRect/>
          </a:stretch>
        </p:blipFill>
        <p:spPr>
          <a:xfrm>
            <a:off x="1363308" y="2469341"/>
            <a:ext cx="4257143" cy="3911987"/>
          </a:xfrm>
          <a:prstGeom prst="rect">
            <a:avLst/>
          </a:prstGeom>
        </p:spPr>
      </p:pic>
      <p:sp>
        <p:nvSpPr>
          <p:cNvPr id="5" name="Rectangle 4"/>
          <p:cNvSpPr/>
          <p:nvPr/>
        </p:nvSpPr>
        <p:spPr>
          <a:xfrm>
            <a:off x="899592" y="2060848"/>
            <a:ext cx="28803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Elbow Connector 6"/>
          <p:cNvCxnSpPr>
            <a:endCxn id="4" idx="1"/>
          </p:cNvCxnSpPr>
          <p:nvPr/>
        </p:nvCxnSpPr>
        <p:spPr>
          <a:xfrm rot="16200000" flipH="1">
            <a:off x="165231" y="3227257"/>
            <a:ext cx="2076455" cy="319700"/>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9843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331640"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Lịch sử tổ chức</a:t>
            </a:r>
            <a:endParaRPr lang="zh-CN" altLang="en-US" sz="1200" dirty="0">
              <a:latin typeface="Times New Roman" pitchFamily="18" charset="0"/>
              <a:cs typeface="Times New Roman" pitchFamily="18" charset="0"/>
            </a:endParaRPr>
          </a:p>
        </p:txBody>
      </p:sp>
      <p:sp>
        <p:nvSpPr>
          <p:cNvPr id="8" name="TextBox 7"/>
          <p:cNvSpPr txBox="1"/>
          <p:nvPr/>
        </p:nvSpPr>
        <p:spPr>
          <a:xfrm>
            <a:off x="6660232" y="980728"/>
            <a:ext cx="2483768" cy="1938992"/>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Tra cứu thông tin tổ chức trước đây</a:t>
            </a:r>
          </a:p>
          <a:p>
            <a:pPr marL="228600" indent="-228600" algn="l">
              <a:buAutoNum type="arabicPeriod"/>
            </a:pPr>
            <a:r>
              <a:rPr lang="en-US" altLang="zh-CN" sz="1200" dirty="0" smtClean="0">
                <a:latin typeface="Times New Roman" pitchFamily="18" charset="0"/>
                <a:cs typeface="Times New Roman" pitchFamily="18" charset="0"/>
              </a:rPr>
              <a:t>Chọn thời gian, </a:t>
            </a:r>
          </a:p>
          <a:p>
            <a:pPr marL="228600" indent="-228600" algn="l">
              <a:buAutoNum type="arabicPeriod"/>
            </a:pPr>
            <a:r>
              <a:rPr lang="en-US" altLang="zh-CN" sz="1200" dirty="0">
                <a:latin typeface="Times New Roman" pitchFamily="18" charset="0"/>
                <a:cs typeface="Times New Roman" pitchFamily="18" charset="0"/>
              </a:rPr>
              <a:t>H</a:t>
            </a:r>
            <a:r>
              <a:rPr lang="en-US" altLang="zh-CN" sz="1200" dirty="0" smtClean="0">
                <a:latin typeface="Times New Roman" pitchFamily="18" charset="0"/>
                <a:cs typeface="Times New Roman" pitchFamily="18" charset="0"/>
              </a:rPr>
              <a:t>ệ thống tự động tìm kiếm tên phiên bản gần với thời gian đó nhất</a:t>
            </a:r>
          </a:p>
          <a:p>
            <a:pPr marL="228600" indent="-228600" algn="l">
              <a:buAutoNum type="arabicPeriod"/>
            </a:pPr>
            <a:r>
              <a:rPr lang="en-US" altLang="zh-CN" sz="1200" dirty="0" smtClean="0">
                <a:latin typeface="Times New Roman" pitchFamily="18" charset="0"/>
                <a:cs typeface="Times New Roman" pitchFamily="18" charset="0"/>
              </a:rPr>
              <a:t>Tại sơ đồ tổ chức, chọn 1 phòng ban đề xem thông tin trưởng phòng cũng như danh sách nhân viên</a:t>
            </a:r>
            <a:endParaRPr lang="en-US" altLang="zh-CN" sz="1200" dirty="0">
              <a:latin typeface="+mj-lt"/>
            </a:endParaRPr>
          </a:p>
          <a:p>
            <a:pPr algn="l"/>
            <a:endParaRPr lang="en-US" altLang="zh-CN" sz="1200" dirty="0" smtClean="0">
              <a:latin typeface="Times New Roman" pitchFamily="18" charset="0"/>
              <a:cs typeface="Times New Roman" pitchFamily="18" charset="0"/>
            </a:endParaRPr>
          </a:p>
        </p:txBody>
      </p:sp>
      <p:pic>
        <p:nvPicPr>
          <p:cNvPr id="2" name="Picture 1"/>
          <p:cNvPicPr>
            <a:picLocks noChangeAspect="1"/>
          </p:cNvPicPr>
          <p:nvPr/>
        </p:nvPicPr>
        <p:blipFill>
          <a:blip r:embed="rId2"/>
          <a:stretch>
            <a:fillRect/>
          </a:stretch>
        </p:blipFill>
        <p:spPr>
          <a:xfrm>
            <a:off x="-14517" y="973342"/>
            <a:ext cx="6673007" cy="3188717"/>
          </a:xfrm>
          <a:prstGeom prst="rect">
            <a:avLst/>
          </a:prstGeom>
        </p:spPr>
      </p:pic>
      <p:pic>
        <p:nvPicPr>
          <p:cNvPr id="3" name="Picture 2"/>
          <p:cNvPicPr>
            <a:picLocks noChangeAspect="1"/>
          </p:cNvPicPr>
          <p:nvPr/>
        </p:nvPicPr>
        <p:blipFill>
          <a:blip r:embed="rId3"/>
          <a:stretch>
            <a:fillRect/>
          </a:stretch>
        </p:blipFill>
        <p:spPr>
          <a:xfrm>
            <a:off x="751467" y="2567700"/>
            <a:ext cx="5192794" cy="2712352"/>
          </a:xfrm>
          <a:prstGeom prst="rect">
            <a:avLst/>
          </a:prstGeom>
        </p:spPr>
      </p:pic>
    </p:spTree>
    <p:extLst>
      <p:ext uri="{BB962C8B-B14F-4D97-AF65-F5344CB8AC3E}">
        <p14:creationId xmlns:p14="http://schemas.microsoft.com/office/powerpoint/2010/main" val="3688442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187624" y="116632"/>
            <a:ext cx="2016224" cy="276999"/>
          </a:xfrm>
          <a:prstGeom prst="rect">
            <a:avLst/>
          </a:prstGeom>
          <a:noFill/>
        </p:spPr>
        <p:txBody>
          <a:bodyPr wrap="square" rtlCol="0">
            <a:spAutoFit/>
          </a:bodyPr>
          <a:lstStyle/>
          <a:p>
            <a:r>
              <a:rPr lang="en-US" altLang="zh-CN" sz="1200" dirty="0" smtClean="0">
                <a:latin typeface="Times New Roman" panose="02020603050405020304" pitchFamily="18" charset="0"/>
                <a:cs typeface="Times New Roman" panose="02020603050405020304" pitchFamily="18" charset="0"/>
              </a:rPr>
              <a:t>Lý lịch tổ chức</a:t>
            </a:r>
            <a:endParaRPr lang="zh-CN" altLang="en-US" sz="1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757341" y="1484784"/>
            <a:ext cx="1919115" cy="276999"/>
          </a:xfrm>
          <a:prstGeom prst="rect">
            <a:avLst/>
          </a:prstGeom>
          <a:noFill/>
        </p:spPr>
        <p:txBody>
          <a:bodyPr wrap="none" rtlCol="0">
            <a:spAutoFit/>
          </a:bodyPr>
          <a:lstStyle/>
          <a:p>
            <a:r>
              <a:rPr lang="vi-VN" altLang="zh-CN" sz="1200" b="1" dirty="0" smtClean="0">
                <a:latin typeface="+mj-lt"/>
              </a:rPr>
              <a:t>Giải thích chức năng nút:</a:t>
            </a:r>
            <a:endParaRPr lang="zh-CN" altLang="en-US" sz="1200" b="1" dirty="0">
              <a:latin typeface="+mj-lt"/>
            </a:endParaRPr>
          </a:p>
        </p:txBody>
      </p:sp>
      <p:sp>
        <p:nvSpPr>
          <p:cNvPr id="8" name="TextBox 7"/>
          <p:cNvSpPr txBox="1"/>
          <p:nvPr/>
        </p:nvSpPr>
        <p:spPr>
          <a:xfrm>
            <a:off x="6660232" y="1772816"/>
            <a:ext cx="2483768" cy="1384995"/>
          </a:xfrm>
          <a:prstGeom prst="rect">
            <a:avLst/>
          </a:prstGeom>
          <a:noFill/>
        </p:spPr>
        <p:txBody>
          <a:bodyPr wrap="square" rtlCol="0">
            <a:spAutoFit/>
          </a:bodyPr>
          <a:lstStyle/>
          <a:p>
            <a:pPr marL="228600" indent="-228600" algn="l">
              <a:buAutoNum type="arabicPeriod"/>
            </a:pPr>
            <a:r>
              <a:rPr lang="en-US" altLang="zh-CN" sz="1200" dirty="0">
                <a:latin typeface="Times New Roman" panose="02020603050405020304" pitchFamily="18" charset="0"/>
                <a:cs typeface="Times New Roman" panose="02020603050405020304" pitchFamily="18" charset="0"/>
              </a:rPr>
              <a:t>H</a:t>
            </a:r>
            <a:r>
              <a:rPr lang="en-US" altLang="zh-CN" sz="1200" dirty="0" smtClean="0">
                <a:latin typeface="Times New Roman" panose="02020603050405020304" pitchFamily="18" charset="0"/>
                <a:cs typeface="Times New Roman" panose="02020603050405020304" pitchFamily="18" charset="0"/>
              </a:rPr>
              <a:t>ệ thống tự động hiển thị lần thay đổi mới nhất; có thể tìm kiếm tên phiên bản khác nhau</a:t>
            </a:r>
          </a:p>
          <a:p>
            <a:pPr marL="228600" indent="-228600" algn="l">
              <a:buAutoNum type="arabicPeriod"/>
            </a:pPr>
            <a:r>
              <a:rPr lang="en-US" altLang="zh-CN" sz="1200" dirty="0" smtClean="0">
                <a:latin typeface="Times New Roman" panose="02020603050405020304" pitchFamily="18" charset="0"/>
                <a:cs typeface="Times New Roman" panose="02020603050405020304" pitchFamily="18" charset="0"/>
              </a:rPr>
              <a:t>Chọn phòng ban cần xem thông tin</a:t>
            </a:r>
          </a:p>
          <a:p>
            <a:pPr marL="228600" indent="-228600" algn="l">
              <a:buAutoNum type="arabicPeriod"/>
            </a:pPr>
            <a:r>
              <a:rPr lang="en-US" altLang="zh-CN" sz="1200" dirty="0" smtClean="0">
                <a:latin typeface="Times New Roman" panose="02020603050405020304" pitchFamily="18" charset="0"/>
                <a:cs typeface="Times New Roman" panose="02020603050405020304" pitchFamily="18" charset="0"/>
              </a:rPr>
              <a:t>Bên phải hiển thị các thông tin tương ứng</a:t>
            </a:r>
          </a:p>
        </p:txBody>
      </p:sp>
      <p:sp>
        <p:nvSpPr>
          <p:cNvPr id="9" name="TextBox 8"/>
          <p:cNvSpPr txBox="1"/>
          <p:nvPr/>
        </p:nvSpPr>
        <p:spPr>
          <a:xfrm>
            <a:off x="6660232" y="980728"/>
            <a:ext cx="2483768" cy="276999"/>
          </a:xfrm>
          <a:prstGeom prst="rect">
            <a:avLst/>
          </a:prstGeom>
          <a:noFill/>
        </p:spPr>
        <p:txBody>
          <a:bodyPr wrap="square" rtlCol="0">
            <a:spAutoFit/>
          </a:bodyPr>
          <a:lstStyle/>
          <a:p>
            <a:pPr algn="l"/>
            <a:r>
              <a:rPr lang="en-US" altLang="zh-CN" sz="1200" dirty="0" smtClean="0">
                <a:latin typeface="Times New Roman" panose="02020603050405020304" pitchFamily="18" charset="0"/>
                <a:cs typeface="Times New Roman" panose="02020603050405020304" pitchFamily="18" charset="0"/>
              </a:rPr>
              <a:t>Xem thông tin các tổ chức trước đây</a:t>
            </a:r>
            <a:endParaRPr lang="zh-CN" altLang="en-US" sz="1200" dirty="0">
              <a:latin typeface="Times New Roman" panose="02020603050405020304" pitchFamily="18" charset="0"/>
              <a:cs typeface="Times New Roman" panose="02020603050405020304" pitchFamily="18" charset="0"/>
            </a:endParaRPr>
          </a:p>
        </p:txBody>
      </p:sp>
      <p:cxnSp>
        <p:nvCxnSpPr>
          <p:cNvPr id="18" name="直接连接符 17"/>
          <p:cNvCxnSpPr/>
          <p:nvPr/>
        </p:nvCxnSpPr>
        <p:spPr>
          <a:xfrm>
            <a:off x="0" y="5727158"/>
            <a:ext cx="6286512" cy="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stretch>
            <a:fillRect/>
          </a:stretch>
        </p:blipFill>
        <p:spPr>
          <a:xfrm>
            <a:off x="0" y="980728"/>
            <a:ext cx="6660232" cy="3251699"/>
          </a:xfrm>
          <a:prstGeom prst="rect">
            <a:avLst/>
          </a:prstGeom>
        </p:spPr>
      </p:pic>
    </p:spTree>
    <p:extLst>
      <p:ext uri="{BB962C8B-B14F-4D97-AF65-F5344CB8AC3E}">
        <p14:creationId xmlns:p14="http://schemas.microsoft.com/office/powerpoint/2010/main" val="38695573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03648"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Quản lý nghiệp vụ</a:t>
            </a:r>
            <a:endParaRPr lang="zh-CN" altLang="en-US" sz="1200" dirty="0">
              <a:latin typeface="Times New Roman" pitchFamily="18" charset="0"/>
              <a:cs typeface="Times New Roman" pitchFamily="18" charset="0"/>
            </a:endParaRPr>
          </a:p>
        </p:txBody>
      </p:sp>
      <p:sp>
        <p:nvSpPr>
          <p:cNvPr id="14" name="TextBox 13"/>
          <p:cNvSpPr txBox="1"/>
          <p:nvPr/>
        </p:nvSpPr>
        <p:spPr>
          <a:xfrm>
            <a:off x="6660232" y="980728"/>
            <a:ext cx="2483768" cy="276999"/>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Xem nghiệp vụ của từng phòng ban</a:t>
            </a:r>
            <a:endParaRPr lang="zh-CN" altLang="en-US" sz="1200" dirty="0">
              <a:latin typeface="Times New Roman" pitchFamily="18" charset="0"/>
              <a:cs typeface="Times New Roman" pitchFamily="18" charset="0"/>
            </a:endParaRPr>
          </a:p>
        </p:txBody>
      </p:sp>
      <p:sp>
        <p:nvSpPr>
          <p:cNvPr id="15" name="TextBox 14"/>
          <p:cNvSpPr txBox="1"/>
          <p:nvPr/>
        </p:nvSpPr>
        <p:spPr>
          <a:xfrm>
            <a:off x="6660232" y="1772816"/>
            <a:ext cx="2483768" cy="830997"/>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1. Chọn tên phiên bản để xem</a:t>
            </a:r>
            <a:endParaRPr lang="en-US" altLang="zh-CN" sz="1200" dirty="0">
              <a:latin typeface="Times New Roman" pitchFamily="18" charset="0"/>
              <a:cs typeface="Times New Roman" pitchFamily="18" charset="0"/>
            </a:endParaRPr>
          </a:p>
          <a:p>
            <a:pPr algn="l"/>
            <a:r>
              <a:rPr lang="en-US" altLang="zh-CN" sz="1200" dirty="0" smtClean="0">
                <a:latin typeface="Times New Roman" pitchFamily="18" charset="0"/>
                <a:cs typeface="Times New Roman" pitchFamily="18" charset="0"/>
              </a:rPr>
              <a:t>2. Chọn phòng ban cần xem</a:t>
            </a:r>
          </a:p>
          <a:p>
            <a:pPr algn="l"/>
            <a:r>
              <a:rPr lang="en-US" altLang="zh-CN" sz="1200" dirty="0" smtClean="0">
                <a:latin typeface="Times New Roman" pitchFamily="18" charset="0"/>
                <a:cs typeface="Times New Roman" pitchFamily="18" charset="0"/>
              </a:rPr>
              <a:t>3. Bên phải hiển thị nghiệp vụ của phòng ban đó</a:t>
            </a:r>
          </a:p>
        </p:txBody>
      </p:sp>
      <p:sp>
        <p:nvSpPr>
          <p:cNvPr id="16" name="TextBox 15"/>
          <p:cNvSpPr txBox="1"/>
          <p:nvPr/>
        </p:nvSpPr>
        <p:spPr>
          <a:xfrm>
            <a:off x="6372200" y="1492750"/>
            <a:ext cx="2097462" cy="276999"/>
          </a:xfrm>
          <a:prstGeom prst="rect">
            <a:avLst/>
          </a:prstGeom>
          <a:noFill/>
        </p:spPr>
        <p:txBody>
          <a:bodyPr wrap="square" rtlCol="0">
            <a:spAutoFit/>
          </a:bodyPr>
          <a:lstStyle/>
          <a:p>
            <a:r>
              <a:rPr lang="vi-VN" altLang="zh-CN" sz="1200" b="1" dirty="0" smtClean="0">
                <a:latin typeface="Times New Roman" pitchFamily="18" charset="0"/>
                <a:cs typeface="Times New Roman" pitchFamily="18" charset="0"/>
              </a:rPr>
              <a:t>Giải thích :</a:t>
            </a:r>
            <a:endParaRPr lang="zh-CN" altLang="en-US" sz="1200" b="1" dirty="0">
              <a:latin typeface="Times New Roman" pitchFamily="18" charset="0"/>
              <a:cs typeface="Times New Roman" pitchFamily="18" charset="0"/>
            </a:endParaRPr>
          </a:p>
        </p:txBody>
      </p:sp>
      <p:sp>
        <p:nvSpPr>
          <p:cNvPr id="17" name="矩形 16"/>
          <p:cNvSpPr/>
          <p:nvPr/>
        </p:nvSpPr>
        <p:spPr>
          <a:xfrm>
            <a:off x="4562769" y="2936840"/>
            <a:ext cx="184024" cy="720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24" name="矩形 23"/>
          <p:cNvSpPr/>
          <p:nvPr/>
        </p:nvSpPr>
        <p:spPr>
          <a:xfrm>
            <a:off x="4016988" y="2111493"/>
            <a:ext cx="490730" cy="15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Times New Roman" pitchFamily="18" charset="0"/>
              <a:cs typeface="Times New Roman" pitchFamily="18" charset="0"/>
            </a:endParaRPr>
          </a:p>
        </p:txBody>
      </p:sp>
      <p:sp>
        <p:nvSpPr>
          <p:cNvPr id="29" name="矩形 20"/>
          <p:cNvSpPr/>
          <p:nvPr/>
        </p:nvSpPr>
        <p:spPr>
          <a:xfrm>
            <a:off x="5929321" y="2483199"/>
            <a:ext cx="288403" cy="284207"/>
          </a:xfrm>
          <a:prstGeom prst="rect">
            <a:avLst/>
          </a:prstGeom>
        </p:spPr>
        <p:txBody>
          <a:bodyPr wrap="square">
            <a:spAutoFit/>
          </a:bodyPr>
          <a:lstStyle/>
          <a:p>
            <a:r>
              <a:rPr lang="zh-CN" altLang="en-US" sz="1200" dirty="0">
                <a:solidFill>
                  <a:srgbClr val="FF0000"/>
                </a:solidFill>
                <a:latin typeface="Times New Roman" pitchFamily="18" charset="0"/>
                <a:cs typeface="Times New Roman" pitchFamily="18" charset="0"/>
              </a:rPr>
              <a:t>②</a:t>
            </a:r>
          </a:p>
        </p:txBody>
      </p:sp>
      <p:sp>
        <p:nvSpPr>
          <p:cNvPr id="31" name="矩形 17"/>
          <p:cNvSpPr/>
          <p:nvPr/>
        </p:nvSpPr>
        <p:spPr>
          <a:xfrm>
            <a:off x="1426077" y="2428868"/>
            <a:ext cx="288403" cy="284207"/>
          </a:xfrm>
          <a:prstGeom prst="rect">
            <a:avLst/>
          </a:prstGeom>
          <a:ln>
            <a:noFill/>
          </a:ln>
        </p:spPr>
        <p:txBody>
          <a:bodyPr wrap="square">
            <a:spAutoFit/>
          </a:bodyPr>
          <a:lstStyle/>
          <a:p>
            <a:r>
              <a:rPr lang="zh-CN" altLang="en-US" sz="1200" dirty="0">
                <a:solidFill>
                  <a:srgbClr val="FF0000"/>
                </a:solidFill>
                <a:latin typeface="Times New Roman" pitchFamily="18" charset="0"/>
                <a:cs typeface="Times New Roman" pitchFamily="18" charset="0"/>
              </a:rPr>
              <a:t>①</a:t>
            </a:r>
          </a:p>
        </p:txBody>
      </p:sp>
      <p:pic>
        <p:nvPicPr>
          <p:cNvPr id="2" name="Picture 1"/>
          <p:cNvPicPr>
            <a:picLocks noChangeAspect="1"/>
          </p:cNvPicPr>
          <p:nvPr/>
        </p:nvPicPr>
        <p:blipFill>
          <a:blip r:embed="rId3"/>
          <a:stretch>
            <a:fillRect/>
          </a:stretch>
        </p:blipFill>
        <p:spPr>
          <a:xfrm>
            <a:off x="-48691" y="1120351"/>
            <a:ext cx="6591663" cy="3294109"/>
          </a:xfrm>
          <a:prstGeom prst="rect">
            <a:avLst/>
          </a:prstGeom>
        </p:spPr>
      </p:pic>
    </p:spTree>
    <p:extLst>
      <p:ext uri="{BB962C8B-B14F-4D97-AF65-F5344CB8AC3E}">
        <p14:creationId xmlns:p14="http://schemas.microsoft.com/office/powerpoint/2010/main" val="23192195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1475656"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Quản lý mã chi phí</a:t>
            </a:r>
            <a:endParaRPr lang="zh-CN" altLang="en-US" sz="1200" dirty="0">
              <a:latin typeface="Times New Roman" pitchFamily="18" charset="0"/>
              <a:cs typeface="Times New Roman" pitchFamily="18" charset="0"/>
            </a:endParaRPr>
          </a:p>
        </p:txBody>
      </p:sp>
      <p:sp>
        <p:nvSpPr>
          <p:cNvPr id="11" name="TextBox 10"/>
          <p:cNvSpPr txBox="1"/>
          <p:nvPr/>
        </p:nvSpPr>
        <p:spPr>
          <a:xfrm>
            <a:off x="6659041" y="1052736"/>
            <a:ext cx="2483768" cy="1569660"/>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Hiển thị tất cả mã chi phí tương ứng với từng phòng ban</a:t>
            </a:r>
          </a:p>
          <a:p>
            <a:pPr algn="l"/>
            <a:r>
              <a:rPr lang="en-US" altLang="zh-CN" sz="1200" dirty="0" smtClean="0">
                <a:latin typeface="Times New Roman" pitchFamily="18" charset="0"/>
                <a:cs typeface="Times New Roman" pitchFamily="18" charset="0"/>
              </a:rPr>
              <a:t>Có thể dựa vào điều kiện tìm kiếm bên trên để tra cứu</a:t>
            </a:r>
          </a:p>
          <a:p>
            <a:pPr algn="l"/>
            <a:r>
              <a:rPr lang="en-US" altLang="zh-CN" sz="1200" dirty="0" smtClean="0">
                <a:latin typeface="Times New Roman" pitchFamily="18" charset="0"/>
                <a:cs typeface="Times New Roman" pitchFamily="18" charset="0"/>
              </a:rPr>
              <a:t>Chọn 1 phòng ban, bên phải hiển thị mã chi phí tương ứng</a:t>
            </a:r>
          </a:p>
          <a:p>
            <a:pPr algn="l"/>
            <a:r>
              <a:rPr lang="en-US" altLang="zh-CN" sz="1200" dirty="0" smtClean="0">
                <a:latin typeface="Times New Roman" pitchFamily="18" charset="0"/>
                <a:cs typeface="Times New Roman" pitchFamily="18" charset="0"/>
              </a:rPr>
              <a:t>Có thể “Thêm mới”, “Xóa”, “Xuất Excel”</a:t>
            </a:r>
          </a:p>
        </p:txBody>
      </p:sp>
      <p:sp>
        <p:nvSpPr>
          <p:cNvPr id="14" name="矩形 13"/>
          <p:cNvSpPr/>
          <p:nvPr/>
        </p:nvSpPr>
        <p:spPr>
          <a:xfrm>
            <a:off x="4644008" y="3112044"/>
            <a:ext cx="170747" cy="713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20" name="矩形 19"/>
          <p:cNvSpPr/>
          <p:nvPr/>
        </p:nvSpPr>
        <p:spPr>
          <a:xfrm>
            <a:off x="4098226" y="2287690"/>
            <a:ext cx="455327" cy="1535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Times New Roman" pitchFamily="18" charset="0"/>
              <a:cs typeface="Times New Roman" pitchFamily="18" charset="0"/>
            </a:endParaRPr>
          </a:p>
        </p:txBody>
      </p:sp>
      <p:sp>
        <p:nvSpPr>
          <p:cNvPr id="22" name="矩形 14"/>
          <p:cNvSpPr/>
          <p:nvPr/>
        </p:nvSpPr>
        <p:spPr>
          <a:xfrm>
            <a:off x="1424084" y="2511038"/>
            <a:ext cx="267596" cy="277397"/>
          </a:xfrm>
          <a:prstGeom prst="rect">
            <a:avLst/>
          </a:prstGeom>
          <a:ln>
            <a:noFill/>
          </a:ln>
        </p:spPr>
        <p:txBody>
          <a:bodyPr wrap="square">
            <a:spAutoFit/>
          </a:bodyPr>
          <a:lstStyle/>
          <a:p>
            <a:r>
              <a:rPr lang="zh-CN" altLang="en-US" sz="1200" dirty="0">
                <a:solidFill>
                  <a:srgbClr val="FF0000"/>
                </a:solidFill>
                <a:latin typeface="Times New Roman" pitchFamily="18" charset="0"/>
                <a:cs typeface="Times New Roman" pitchFamily="18" charset="0"/>
              </a:rPr>
              <a:t>①</a:t>
            </a:r>
          </a:p>
        </p:txBody>
      </p:sp>
      <p:sp>
        <p:nvSpPr>
          <p:cNvPr id="24" name="矩形 18"/>
          <p:cNvSpPr/>
          <p:nvPr/>
        </p:nvSpPr>
        <p:spPr>
          <a:xfrm>
            <a:off x="6330745" y="2428623"/>
            <a:ext cx="267596" cy="277397"/>
          </a:xfrm>
          <a:prstGeom prst="rect">
            <a:avLst/>
          </a:prstGeom>
        </p:spPr>
        <p:txBody>
          <a:bodyPr wrap="square">
            <a:spAutoFit/>
          </a:bodyPr>
          <a:lstStyle/>
          <a:p>
            <a:r>
              <a:rPr lang="zh-CN" altLang="en-US" sz="1200" dirty="0">
                <a:solidFill>
                  <a:srgbClr val="FF0000"/>
                </a:solidFill>
                <a:latin typeface="Times New Roman" pitchFamily="18" charset="0"/>
                <a:cs typeface="Times New Roman" pitchFamily="18" charset="0"/>
              </a:rPr>
              <a:t>②</a:t>
            </a:r>
          </a:p>
        </p:txBody>
      </p:sp>
      <p:pic>
        <p:nvPicPr>
          <p:cNvPr id="3" name="Picture 2"/>
          <p:cNvPicPr>
            <a:picLocks noChangeAspect="1"/>
          </p:cNvPicPr>
          <p:nvPr/>
        </p:nvPicPr>
        <p:blipFill>
          <a:blip r:embed="rId2"/>
          <a:stretch>
            <a:fillRect/>
          </a:stretch>
        </p:blipFill>
        <p:spPr>
          <a:xfrm>
            <a:off x="-57749" y="861730"/>
            <a:ext cx="6656090" cy="3429000"/>
          </a:xfrm>
          <a:prstGeom prst="rect">
            <a:avLst/>
          </a:prstGeom>
        </p:spPr>
      </p:pic>
    </p:spTree>
    <p:extLst>
      <p:ext uri="{BB962C8B-B14F-4D97-AF65-F5344CB8AC3E}">
        <p14:creationId xmlns:p14="http://schemas.microsoft.com/office/powerpoint/2010/main" val="3905441412"/>
      </p:ext>
    </p:extLst>
  </p:cSld>
  <p:clrMapOvr>
    <a:masterClrMapping/>
  </p:clrMapOvr>
  <p:timing>
    <p:tnLst>
      <p:par>
        <p:cTn id="1" dur="indefinite" restart="never" nodeType="tmRoot"/>
      </p:par>
    </p:tnLst>
  </p:timing>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17797</TotalTime>
  <Words>2190</Words>
  <Application>Microsoft Office PowerPoint</Application>
  <PresentationFormat>On-screen Show (4:3)</PresentationFormat>
  <Paragraphs>211</Paragraphs>
  <Slides>26</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 Unicode MS</vt:lpstr>
      <vt:lpstr>微软雅黑</vt:lpstr>
      <vt:lpstr>宋体</vt:lpstr>
      <vt:lpstr>Arial</vt:lpstr>
      <vt:lpstr>Calibri</vt:lpstr>
      <vt:lpstr>Times New Roman</vt:lpstr>
      <vt:lpstr>2_自定义设计方案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huong chuot</cp:lastModifiedBy>
  <cp:revision>2941</cp:revision>
  <dcterms:created xsi:type="dcterms:W3CDTF">2010-07-06T05:38:31Z</dcterms:created>
  <dcterms:modified xsi:type="dcterms:W3CDTF">2018-01-26T10:25:03Z</dcterms:modified>
</cp:coreProperties>
</file>